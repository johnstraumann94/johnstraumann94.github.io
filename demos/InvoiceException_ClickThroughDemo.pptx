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1EDFB4-963F-4375-822A-30288BD6B4D8}"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479260-FFE7-4FFD-B334-AD27F5448165}" type="slidenum">
              <a:rPr lang="en-US" smtClean="0"/>
              <a:t>‹#›</a:t>
            </a:fld>
            <a:endParaRPr lang="en-US"/>
          </a:p>
        </p:txBody>
      </p:sp>
    </p:spTree>
    <p:extLst>
      <p:ext uri="{BB962C8B-B14F-4D97-AF65-F5344CB8AC3E}">
        <p14:creationId xmlns:p14="http://schemas.microsoft.com/office/powerpoint/2010/main" val="2244265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challenge: Analysts manually compare invoices, purchase orders and receiving records. Duplicate bills, price variances and unexplained payment-detail changes stall legitimate work and create avoidable payment risk.</a:t>
            </a:r>
          </a:p>
          <a:p>
            <a:r>
              <a:rPr lang="en-US"/>
              <a:t>Business value: Produce an evidence-linked exception brief and a supplier clarification draft. Measure analyst minutes per invoice, rule-match accuracy and review completion; do not claim payment savings before measuring a baseline.</a:t>
            </a:r>
          </a:p>
          <a:p>
            <a:r>
              <a:rPr lang="en-US"/>
              <a:t>Measurement targets are hypotheses: no analyst-time baseline or monetary savings was measured. MVP: MVP boundary: One company, one currency and synthetic purchase orders. Upload a PDF invoice, review extraction, compare exact amounts and quantities, then approve an internal brief. No payment execution or supplier-master updates.</a:t>
            </a:r>
          </a:p>
          <a:p>
            <a:r>
              <a:rPr lang="en-US"/>
              <a:t>Boundary: Human boundary: A bank-detail change always requires independent verified supplier-contact procedures. AI cannot label a supplier fraudulent, approve payment or overwrite finance records.</a:t>
            </a:r>
          </a:p>
        </p:txBody>
      </p:sp>
      <p:sp>
        <p:nvSpPr>
          <p:cNvPr id="4" name="Slide Number Placeholder 3"/>
          <p:cNvSpPr>
            <a:spLocks noGrp="1"/>
          </p:cNvSpPr>
          <p:nvPr>
            <p:ph type="sldNum" sz="quarter" idx="5"/>
          </p:nvPr>
        </p:nvSpPr>
        <p:spPr/>
        <p:txBody>
          <a:bodyPr/>
          <a:lstStyle/>
          <a:p>
            <a:fld id="{E4479260-FFE7-4FFD-B334-AD27F5448165}" type="slidenum">
              <a:rPr lang="en-US" smtClean="0"/>
              <a:t>1</a:t>
            </a:fld>
            <a:endParaRPr lang="en-US"/>
          </a:p>
        </p:txBody>
      </p:sp>
    </p:spTree>
    <p:extLst>
      <p:ext uri="{BB962C8B-B14F-4D97-AF65-F5344CB8AC3E}">
        <p14:creationId xmlns:p14="http://schemas.microsoft.com/office/powerpoint/2010/main" val="15980739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Actual deployed Azure inventory is in Infrastructure\deployed-resources.json. Each use case has a separate resource group in subscription dfc418e8-191e-453b-ad84-a10e863314ca. A shared private execution network lives in the invoice resource group; SQL private endpoints live with each demo. The temporary container is deleted after execution. Azure CLI operator tokens are supplied as secure container environment values, not embedded credentials. This desktop demo does not claim hosted managed-identity APIs or production app roles. Business benefit: a repeatable, evidence-visible workflow with exact rules outside the model. Screenshots are replay of saved live service output, not fresh calls from PowerPoint. Existing Key Vault is unnecessary because the app has no stored secrets.</a:t>
            </a:r>
          </a:p>
        </p:txBody>
      </p:sp>
      <p:sp>
        <p:nvSpPr>
          <p:cNvPr id="4" name="Slide Number Placeholder 3"/>
          <p:cNvSpPr>
            <a:spLocks noGrp="1"/>
          </p:cNvSpPr>
          <p:nvPr>
            <p:ph type="sldNum" sz="quarter" idx="5"/>
          </p:nvPr>
        </p:nvSpPr>
        <p:spPr/>
        <p:txBody>
          <a:bodyPr/>
          <a:lstStyle/>
          <a:p>
            <a:fld id="{E4479260-FFE7-4FFD-B334-AD27F5448165}" type="slidenum">
              <a:rPr lang="en-US" smtClean="0"/>
              <a:t>2</a:t>
            </a:fld>
            <a:endParaRPr lang="en-US"/>
          </a:p>
        </p:txBody>
      </p:sp>
    </p:spTree>
    <p:extLst>
      <p:ext uri="{BB962C8B-B14F-4D97-AF65-F5344CB8AC3E}">
        <p14:creationId xmlns:p14="http://schemas.microsoft.com/office/powerpoint/2010/main" val="20663114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Load the clean invoice fixture and inspect extracted supplier, number, line items and total.</a:t>
            </a:r>
          </a:p>
          <a:p>
            <a:r>
              <a:rPr lang="en-US"/>
              <a:t>Fixture: normal-01. Capture timestamp: 2026-10-28T15:34:42.2452576Z. State: ReviewReady. Rule findings: .</a:t>
            </a:r>
          </a:p>
          <a:p>
            <a:r>
              <a:rPr lang="en-US"/>
              <a:t>Business value and benefits: Produce an evidence-linked exception brief and a supplier clarification draft. Measure analyst minutes per invoice, rule-match accuracy and review completion; do not claim payment savings before measuring a baseline. This step makes the evidence, uncertainty or human boundary visible. Human boundary: A bank-detail change always requires independent verified supplier-contact procedures. AI cannot label a supplier fraudulent, approve payment or overwrite finance records.</a:t>
            </a:r>
          </a:p>
          <a:p>
            <a:r>
              <a:rPr lang="en-US"/>
              <a:t>What the user sees: Exact fixture facts and deterministic checks, a source-linked internal AI draft, and explicit human-review limits.</a:t>
            </a:r>
          </a:p>
          <a:p>
            <a:r>
              <a:rPr lang="en-US"/>
              <a:t>Evidence: saved live run 2026-10-28T15:21:35.7175317+00:00, mode Live Azure captured; 2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A bank-detail change always requires independent verified supplier-contact procedures. AI cannot label a supplier fraudulent, approve payment or overwrite finance records.</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E4479260-FFE7-4FFD-B334-AD27F5448165}" type="slidenum">
              <a:rPr lang="en-US" smtClean="0"/>
              <a:t>3</a:t>
            </a:fld>
            <a:endParaRPr lang="en-US"/>
          </a:p>
        </p:txBody>
      </p:sp>
    </p:spTree>
    <p:extLst>
      <p:ext uri="{BB962C8B-B14F-4D97-AF65-F5344CB8AC3E}">
        <p14:creationId xmlns:p14="http://schemas.microsoft.com/office/powerpoint/2010/main" val="6886761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Run matching and open the exact PO/receipt evidence behind each comparison.</a:t>
            </a:r>
          </a:p>
          <a:p>
            <a:r>
              <a:rPr lang="en-US"/>
              <a:t>Fixture: normal-01. Capture timestamp: 2026-10-28T15:34:43.2399036Z. State: ReviewReady. Rule findings: .</a:t>
            </a:r>
          </a:p>
          <a:p>
            <a:r>
              <a:rPr lang="en-US"/>
              <a:t>Business value and benefits: Produce an evidence-linked exception brief and a supplier clarification draft. Measure analyst minutes per invoice, rule-match accuracy and review completion; do not claim payment savings before measuring a baseline. This step makes the evidence, uncertainty or human boundary visible. Human boundary: A bank-detail change always requires independent verified supplier-contact procedures. AI cannot label a supplier fraudulent, approve payment or overwrite finance records.</a:t>
            </a:r>
          </a:p>
          <a:p>
            <a:r>
              <a:rPr lang="en-US"/>
              <a:t>What the user sees: Exact fixture facts and deterministic checks, a source-linked internal AI draft, and explicit human-review limits.</a:t>
            </a:r>
          </a:p>
          <a:p>
            <a:r>
              <a:rPr lang="en-US"/>
              <a:t>Evidence: saved live run 2026-10-28T15:21:35.7175317+00:00, mode Live Azure captured; 2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A bank-detail change always requires independent verified supplier-contact procedures. AI cannot label a supplier fraudulent, approve payment or overwrite finance records.</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E4479260-FFE7-4FFD-B334-AD27F5448165}" type="slidenum">
              <a:rPr lang="en-US" smtClean="0"/>
              <a:t>4</a:t>
            </a:fld>
            <a:endParaRPr lang="en-US"/>
          </a:p>
        </p:txBody>
      </p:sp>
    </p:spTree>
    <p:extLst>
      <p:ext uri="{BB962C8B-B14F-4D97-AF65-F5344CB8AC3E}">
        <p14:creationId xmlns:p14="http://schemas.microsoft.com/office/powerpoint/2010/main" val="1807890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Load the mismatch fixture; inspect quantity variance and the grounded clarification draft.</a:t>
            </a:r>
          </a:p>
          <a:p>
            <a:r>
              <a:rPr lang="en-US"/>
              <a:t>Fixture: contradictory-01. Capture timestamp: 2026-10-28T15:34:44.2376803Z. State: NeedsInformation. Rule findings: QUANTITY.</a:t>
            </a:r>
          </a:p>
          <a:p>
            <a:r>
              <a:rPr lang="en-US"/>
              <a:t>Business value and benefits: Produce an evidence-linked exception brief and a supplier clarification draft. Measure analyst minutes per invoice, rule-match accuracy and review completion; do not claim payment savings before measuring a baseline. This step makes the evidence, uncertainty or human boundary visible. Human boundary: A bank-detail change always requires independent verified supplier-contact procedures. AI cannot label a supplier fraudulent, approve payment or overwrite finance records.</a:t>
            </a:r>
          </a:p>
          <a:p>
            <a:r>
              <a:rPr lang="en-US"/>
              <a:t>What the user sees: NeedsInformation: QUANTITY. The finding remains visible beside the evidence and approved sources.</a:t>
            </a:r>
          </a:p>
          <a:p>
            <a:r>
              <a:rPr lang="en-US"/>
              <a:t>Evidence: saved live run 2026-10-28T15:21:38.9925209+00:00, mode Live Azure captured; 2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A bank-detail change always requires independent verified supplier-contact procedures. AI cannot label a supplier fraudulent, approve payment or overwrite finance records.</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E4479260-FFE7-4FFD-B334-AD27F5448165}" type="slidenum">
              <a:rPr lang="en-US" smtClean="0"/>
              <a:t>5</a:t>
            </a:fld>
            <a:endParaRPr lang="en-US"/>
          </a:p>
        </p:txBody>
      </p:sp>
    </p:spTree>
    <p:extLst>
      <p:ext uri="{BB962C8B-B14F-4D97-AF65-F5344CB8AC3E}">
        <p14:creationId xmlns:p14="http://schemas.microsoft.com/office/powerpoint/2010/main" val="30970665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Upload the same invoice again; demonstrate the duplicate finding rather than a second case/payment.</a:t>
            </a:r>
          </a:p>
          <a:p>
            <a:r>
              <a:rPr lang="en-US"/>
              <a:t>Fixture: domain-01. Capture timestamp: 2026-10-28T15:34:45.2619246Z. State: NeedsInformation. Rule findings: DUPLICATE.</a:t>
            </a:r>
          </a:p>
          <a:p>
            <a:r>
              <a:rPr lang="en-US"/>
              <a:t>Business value and benefits: Produce an evidence-linked exception brief and a supplier clarification draft. Measure analyst minutes per invoice, rule-match accuracy and review completion; do not claim payment savings before measuring a baseline. This step makes the evidence, uncertainty or human boundary visible. Human boundary: A bank-detail change always requires independent verified supplier-contact procedures. AI cannot label a supplier fraudulent, approve payment or overwrite finance records.</a:t>
            </a:r>
          </a:p>
          <a:p>
            <a:r>
              <a:rPr lang="en-US"/>
              <a:t>What the user sees: NeedsInformation: DUPLICATE. The finding remains visible beside the evidence and approved sources.</a:t>
            </a:r>
          </a:p>
          <a:p>
            <a:r>
              <a:rPr lang="en-US"/>
              <a:t>Evidence: saved live run 2026-10-28T15:21:41.666957+00:00, mode Live Azure captured; 2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A bank-detail change always requires independent verified supplier-contact procedures. AI cannot label a supplier fraudulent, approve payment or overwrite finance records.</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E4479260-FFE7-4FFD-B334-AD27F5448165}" type="slidenum">
              <a:rPr lang="en-US" smtClean="0"/>
              <a:t>6</a:t>
            </a:fld>
            <a:endParaRPr lang="en-US"/>
          </a:p>
        </p:txBody>
      </p:sp>
    </p:spTree>
    <p:extLst>
      <p:ext uri="{BB962C8B-B14F-4D97-AF65-F5344CB8AC3E}">
        <p14:creationId xmlns:p14="http://schemas.microsoft.com/office/powerpoint/2010/main" val="9937630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Change a supplier bank field; show the mandatory independent-verification hold.</a:t>
            </a:r>
          </a:p>
          <a:p>
            <a:r>
              <a:rPr lang="en-US"/>
              <a:t>Fixture: domain-02. Capture timestamp: 2026-10-28T15:34:46.2674680Z. State: HumanReviewRequired. Rule findings: BANK_HOLD.</a:t>
            </a:r>
          </a:p>
          <a:p>
            <a:r>
              <a:rPr lang="en-US"/>
              <a:t>Business value and benefits: Produce an evidence-linked exception brief and a supplier clarification draft. Measure analyst minutes per invoice, rule-match accuracy and review completion; do not claim payment savings before measuring a baseline. This step makes the evidence, uncertainty or human boundary visible. Human boundary: A bank-detail change always requires independent verified supplier-contact procedures. AI cannot label a supplier fraudulent, approve payment or overwrite finance records.</a:t>
            </a:r>
          </a:p>
          <a:p>
            <a:r>
              <a:rPr lang="en-US"/>
              <a:t>What the user sees: HumanReviewRequired: BANK_HOLD. The finding remains visible beside the evidence and approved sources.</a:t>
            </a:r>
          </a:p>
          <a:p>
            <a:r>
              <a:rPr lang="en-US"/>
              <a:t>Evidence: saved live run 2026-10-28T15:21:44.8694848+00:00, mode Live Azure captured; 2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A bank-detail change always requires independent verified supplier-contact procedures. AI cannot label a supplier fraudulent, approve payment or overwrite finance records.</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E4479260-FFE7-4FFD-B334-AD27F5448165}" type="slidenum">
              <a:rPr lang="en-US" smtClean="0"/>
              <a:t>7</a:t>
            </a:fld>
            <a:endParaRPr lang="en-US"/>
          </a:p>
        </p:txBody>
      </p:sp>
    </p:spTree>
    <p:extLst>
      <p:ext uri="{BB962C8B-B14F-4D97-AF65-F5344CB8AC3E}">
        <p14:creationId xmlns:p14="http://schemas.microsoft.com/office/powerpoint/2010/main" val="41990834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Approve the internal brief and open the notification sink plus audit timeline.</a:t>
            </a:r>
          </a:p>
          <a:p>
            <a:r>
              <a:rPr lang="en-US"/>
              <a:t>Fixture: normal-01. Capture timestamp: 2026-10-28T15:34:47.2674112Z. State: ReviewReady. Rule findings: .</a:t>
            </a:r>
          </a:p>
          <a:p>
            <a:r>
              <a:rPr lang="en-US"/>
              <a:t>Business value and benefits: Produce an evidence-linked exception brief and a supplier clarification draft. Measure analyst minutes per invoice, rule-match accuracy and review completion; do not claim payment savings before measuring a baseline. This step makes the evidence, uncertainty or human boundary visible. Human boundary: A bank-detail change always requires independent verified supplier-contact procedures. AI cannot label a supplier fraudulent, approve payment or overwrite finance records.</a:t>
            </a:r>
          </a:p>
          <a:p>
            <a:r>
              <a:rPr lang="en-US"/>
              <a:t>What the user sees: A persisted internal approval, duplicate-safe operation key, audit timeline and explicitly Simulated handoff.</a:t>
            </a:r>
          </a:p>
          <a:p>
            <a:r>
              <a:rPr lang="en-US"/>
              <a:t>Evidence: saved live run 2026-10-28T15:21:35.7175317+00:00, mode Live Azure captured; 2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A bank-detail change always requires independent verified supplier-contact procedures. AI cannot label a supplier fraudulent, approve payment or overwrite finance records.</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E4479260-FFE7-4FFD-B334-AD27F5448165}" type="slidenum">
              <a:rPr lang="en-US" smtClean="0"/>
              <a:t>8</a:t>
            </a:fld>
            <a:endParaRPr lang="en-US"/>
          </a:p>
        </p:txBody>
      </p:sp>
    </p:spTree>
    <p:extLst>
      <p:ext uri="{BB962C8B-B14F-4D97-AF65-F5344CB8AC3E}">
        <p14:creationId xmlns:p14="http://schemas.microsoft.com/office/powerpoint/2010/main" val="26479752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value: staff receive a reproducible internal review packet with source provenance, exact calculations where relevant, visible uncertainty and a traceable human decision. Benefits are demonstrated workflow properties, not measured economic gains. Setup, source, fixtures, raw Azure evidence, screenshots and IaC are retained in the demo folder. The source blueprint contains a larger production backlog; these deliverables intentionally do not claim a public intake service, malware-scanned upload path, durable background worker or operational integration. Azure SQL, Search and shared NAT/private networking have recurring costs until deliberately decommissioned.</a:t>
            </a:r>
          </a:p>
        </p:txBody>
      </p:sp>
      <p:sp>
        <p:nvSpPr>
          <p:cNvPr id="4" name="Slide Number Placeholder 3"/>
          <p:cNvSpPr>
            <a:spLocks noGrp="1"/>
          </p:cNvSpPr>
          <p:nvPr>
            <p:ph type="sldNum" sz="quarter" idx="5"/>
          </p:nvPr>
        </p:nvSpPr>
        <p:spPr/>
        <p:txBody>
          <a:bodyPr/>
          <a:lstStyle/>
          <a:p>
            <a:fld id="{E4479260-FFE7-4FFD-B334-AD27F5448165}" type="slidenum">
              <a:rPr lang="en-US" smtClean="0"/>
              <a:t>9</a:t>
            </a:fld>
            <a:endParaRPr lang="en-US"/>
          </a:p>
        </p:txBody>
      </p:sp>
    </p:spTree>
    <p:extLst>
      <p:ext uri="{BB962C8B-B14F-4D97-AF65-F5344CB8AC3E}">
        <p14:creationId xmlns:p14="http://schemas.microsoft.com/office/powerpoint/2010/main" val="35395158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78CB0-B2F5-8270-CF3B-788E5FA49D03}"/>
              </a:ext>
            </a:extLst>
          </p:cNvPr>
          <p:cNvSpPr>
            <a:spLocks noGrp="1"/>
          </p:cNvSpPr>
          <p:nvPr>
            <p:ph type="ctrTitle"/>
          </p:nvPr>
        </p:nvSpPr>
        <p:spPr>
          <a:xfrm>
            <a:off x="2286000" y="1683545"/>
            <a:ext cx="13716000" cy="35814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E8C6047-21E0-D27A-F0A0-B5CD148977BF}"/>
              </a:ext>
            </a:extLst>
          </p:cNvPr>
          <p:cNvSpPr>
            <a:spLocks noGrp="1"/>
          </p:cNvSpPr>
          <p:nvPr>
            <p:ph type="subTitle" idx="1"/>
          </p:nvPr>
        </p:nvSpPr>
        <p:spPr>
          <a:xfrm>
            <a:off x="2286000" y="5403057"/>
            <a:ext cx="13716000" cy="248364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2481889-B648-5DA3-BC9A-E4ED881BC1F5}"/>
              </a:ext>
            </a:extLst>
          </p:cNvPr>
          <p:cNvSpPr>
            <a:spLocks noGrp="1"/>
          </p:cNvSpPr>
          <p:nvPr>
            <p:ph type="dt" sz="half" idx="10"/>
          </p:nvPr>
        </p:nvSpPr>
        <p:spPr/>
        <p:txBody>
          <a:bodyPr/>
          <a:lstStyle/>
          <a:p>
            <a:fld id="{01A0E18A-16C8-4A53-AA8F-4783F3F26508}" type="datetimeFigureOut">
              <a:rPr lang="en-US" smtClean="0"/>
              <a:t>10/28/2026</a:t>
            </a:fld>
            <a:endParaRPr lang="en-US"/>
          </a:p>
        </p:txBody>
      </p:sp>
      <p:sp>
        <p:nvSpPr>
          <p:cNvPr id="5" name="Footer Placeholder 4">
            <a:extLst>
              <a:ext uri="{FF2B5EF4-FFF2-40B4-BE49-F238E27FC236}">
                <a16:creationId xmlns:a16="http://schemas.microsoft.com/office/drawing/2014/main" id="{72E03427-0CE6-9677-8901-BB414BBEE9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454F1B-1AE9-D644-23B7-9B305F3E9AE2}"/>
              </a:ext>
            </a:extLst>
          </p:cNvPr>
          <p:cNvSpPr>
            <a:spLocks noGrp="1"/>
          </p:cNvSpPr>
          <p:nvPr>
            <p:ph type="sldNum" sz="quarter" idx="12"/>
          </p:nvPr>
        </p:nvSpPr>
        <p:spPr/>
        <p:txBody>
          <a:bodyPr/>
          <a:lstStyle/>
          <a:p>
            <a:fld id="{77698996-9858-4C69-A22C-3F7A757CD1B2}" type="slidenum">
              <a:rPr lang="en-US" smtClean="0"/>
              <a:t>‹#›</a:t>
            </a:fld>
            <a:endParaRPr lang="en-US"/>
          </a:p>
        </p:txBody>
      </p:sp>
    </p:spTree>
    <p:extLst>
      <p:ext uri="{BB962C8B-B14F-4D97-AF65-F5344CB8AC3E}">
        <p14:creationId xmlns:p14="http://schemas.microsoft.com/office/powerpoint/2010/main" val="2963531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79D79-603D-C10F-D969-309F39B6EF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13342A-0B0D-1C12-1739-EFC381AA6B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E38A2C-A143-11D9-A1F9-238450704BDA}"/>
              </a:ext>
            </a:extLst>
          </p:cNvPr>
          <p:cNvSpPr>
            <a:spLocks noGrp="1"/>
          </p:cNvSpPr>
          <p:nvPr>
            <p:ph type="dt" sz="half" idx="10"/>
          </p:nvPr>
        </p:nvSpPr>
        <p:spPr/>
        <p:txBody>
          <a:bodyPr/>
          <a:lstStyle/>
          <a:p>
            <a:fld id="{01A0E18A-16C8-4A53-AA8F-4783F3F26508}" type="datetimeFigureOut">
              <a:rPr lang="en-US" smtClean="0"/>
              <a:t>10/28/2026</a:t>
            </a:fld>
            <a:endParaRPr lang="en-US"/>
          </a:p>
        </p:txBody>
      </p:sp>
      <p:sp>
        <p:nvSpPr>
          <p:cNvPr id="5" name="Footer Placeholder 4">
            <a:extLst>
              <a:ext uri="{FF2B5EF4-FFF2-40B4-BE49-F238E27FC236}">
                <a16:creationId xmlns:a16="http://schemas.microsoft.com/office/drawing/2014/main" id="{8BF5C6F7-8680-1126-DFC3-1023464E5D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21CEED-9B33-EAFE-0D85-44A1B8BEB131}"/>
              </a:ext>
            </a:extLst>
          </p:cNvPr>
          <p:cNvSpPr>
            <a:spLocks noGrp="1"/>
          </p:cNvSpPr>
          <p:nvPr>
            <p:ph type="sldNum" sz="quarter" idx="12"/>
          </p:nvPr>
        </p:nvSpPr>
        <p:spPr/>
        <p:txBody>
          <a:bodyPr/>
          <a:lstStyle/>
          <a:p>
            <a:fld id="{77698996-9858-4C69-A22C-3F7A757CD1B2}" type="slidenum">
              <a:rPr lang="en-US" smtClean="0"/>
              <a:t>‹#›</a:t>
            </a:fld>
            <a:endParaRPr lang="en-US"/>
          </a:p>
        </p:txBody>
      </p:sp>
    </p:spTree>
    <p:extLst>
      <p:ext uri="{BB962C8B-B14F-4D97-AF65-F5344CB8AC3E}">
        <p14:creationId xmlns:p14="http://schemas.microsoft.com/office/powerpoint/2010/main" val="3746867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87AFD-6F71-A362-3A7D-49EBE15F63FF}"/>
              </a:ext>
            </a:extLst>
          </p:cNvPr>
          <p:cNvSpPr>
            <a:spLocks noGrp="1"/>
          </p:cNvSpPr>
          <p:nvPr>
            <p:ph type="title"/>
          </p:nvPr>
        </p:nvSpPr>
        <p:spPr>
          <a:xfrm>
            <a:off x="1247775" y="2564609"/>
            <a:ext cx="15773400" cy="4279106"/>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684F774-5B39-BE76-01BF-045E817FD8EF}"/>
              </a:ext>
            </a:extLst>
          </p:cNvPr>
          <p:cNvSpPr>
            <a:spLocks noGrp="1"/>
          </p:cNvSpPr>
          <p:nvPr>
            <p:ph type="body" idx="1"/>
          </p:nvPr>
        </p:nvSpPr>
        <p:spPr>
          <a:xfrm>
            <a:off x="1247775" y="6884197"/>
            <a:ext cx="15773400" cy="2250281"/>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12C66E-638D-D93F-654A-F14B95F4077A}"/>
              </a:ext>
            </a:extLst>
          </p:cNvPr>
          <p:cNvSpPr>
            <a:spLocks noGrp="1"/>
          </p:cNvSpPr>
          <p:nvPr>
            <p:ph type="dt" sz="half" idx="10"/>
          </p:nvPr>
        </p:nvSpPr>
        <p:spPr/>
        <p:txBody>
          <a:bodyPr/>
          <a:lstStyle/>
          <a:p>
            <a:fld id="{01A0E18A-16C8-4A53-AA8F-4783F3F26508}" type="datetimeFigureOut">
              <a:rPr lang="en-US" smtClean="0"/>
              <a:t>10/28/2026</a:t>
            </a:fld>
            <a:endParaRPr lang="en-US"/>
          </a:p>
        </p:txBody>
      </p:sp>
      <p:sp>
        <p:nvSpPr>
          <p:cNvPr id="5" name="Footer Placeholder 4">
            <a:extLst>
              <a:ext uri="{FF2B5EF4-FFF2-40B4-BE49-F238E27FC236}">
                <a16:creationId xmlns:a16="http://schemas.microsoft.com/office/drawing/2014/main" id="{E9C38FAF-C22C-4066-D753-1B53AEF6A6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5FF36C-1DF3-D82C-05C9-D1FE207C1CF2}"/>
              </a:ext>
            </a:extLst>
          </p:cNvPr>
          <p:cNvSpPr>
            <a:spLocks noGrp="1"/>
          </p:cNvSpPr>
          <p:nvPr>
            <p:ph type="sldNum" sz="quarter" idx="12"/>
          </p:nvPr>
        </p:nvSpPr>
        <p:spPr/>
        <p:txBody>
          <a:bodyPr/>
          <a:lstStyle/>
          <a:p>
            <a:fld id="{77698996-9858-4C69-A22C-3F7A757CD1B2}" type="slidenum">
              <a:rPr lang="en-US" smtClean="0"/>
              <a:t>‹#›</a:t>
            </a:fld>
            <a:endParaRPr lang="en-US"/>
          </a:p>
        </p:txBody>
      </p:sp>
    </p:spTree>
    <p:extLst>
      <p:ext uri="{BB962C8B-B14F-4D97-AF65-F5344CB8AC3E}">
        <p14:creationId xmlns:p14="http://schemas.microsoft.com/office/powerpoint/2010/main" val="3561646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462BA-886C-4B3A-B411-08B0B9F8FB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153EE2-8BCE-B48E-6360-B1939035B0C8}"/>
              </a:ext>
            </a:extLst>
          </p:cNvPr>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D943D05-B2B5-836A-EB72-5C9B4D92782B}"/>
              </a:ext>
            </a:extLst>
          </p:cNvPr>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5C9D94A-3132-C401-5BC8-476381FACC86}"/>
              </a:ext>
            </a:extLst>
          </p:cNvPr>
          <p:cNvSpPr>
            <a:spLocks noGrp="1"/>
          </p:cNvSpPr>
          <p:nvPr>
            <p:ph type="dt" sz="half" idx="10"/>
          </p:nvPr>
        </p:nvSpPr>
        <p:spPr/>
        <p:txBody>
          <a:bodyPr/>
          <a:lstStyle/>
          <a:p>
            <a:fld id="{01A0E18A-16C8-4A53-AA8F-4783F3F26508}" type="datetimeFigureOut">
              <a:rPr lang="en-US" smtClean="0"/>
              <a:t>10/28/2026</a:t>
            </a:fld>
            <a:endParaRPr lang="en-US"/>
          </a:p>
        </p:txBody>
      </p:sp>
      <p:sp>
        <p:nvSpPr>
          <p:cNvPr id="6" name="Footer Placeholder 5">
            <a:extLst>
              <a:ext uri="{FF2B5EF4-FFF2-40B4-BE49-F238E27FC236}">
                <a16:creationId xmlns:a16="http://schemas.microsoft.com/office/drawing/2014/main" id="{F747C9E3-5535-AEF4-F1D7-31F567E09C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FC8FDB-1CB6-AD54-2333-46DF745F68C8}"/>
              </a:ext>
            </a:extLst>
          </p:cNvPr>
          <p:cNvSpPr>
            <a:spLocks noGrp="1"/>
          </p:cNvSpPr>
          <p:nvPr>
            <p:ph type="sldNum" sz="quarter" idx="12"/>
          </p:nvPr>
        </p:nvSpPr>
        <p:spPr/>
        <p:txBody>
          <a:bodyPr/>
          <a:lstStyle/>
          <a:p>
            <a:fld id="{77698996-9858-4C69-A22C-3F7A757CD1B2}" type="slidenum">
              <a:rPr lang="en-US" smtClean="0"/>
              <a:t>‹#›</a:t>
            </a:fld>
            <a:endParaRPr lang="en-US"/>
          </a:p>
        </p:txBody>
      </p:sp>
    </p:spTree>
    <p:extLst>
      <p:ext uri="{BB962C8B-B14F-4D97-AF65-F5344CB8AC3E}">
        <p14:creationId xmlns:p14="http://schemas.microsoft.com/office/powerpoint/2010/main" val="674125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79A21-87F1-D012-457A-E52F1F04F17C}"/>
              </a:ext>
            </a:extLst>
          </p:cNvPr>
          <p:cNvSpPr>
            <a:spLocks noGrp="1"/>
          </p:cNvSpPr>
          <p:nvPr>
            <p:ph type="title"/>
          </p:nvPr>
        </p:nvSpPr>
        <p:spPr>
          <a:xfrm>
            <a:off x="1259682" y="547690"/>
            <a:ext cx="15773400" cy="1988345"/>
          </a:xfrm>
        </p:spPr>
        <p:txBody>
          <a:bodyPr/>
          <a:lstStyle/>
          <a:p>
            <a:r>
              <a:rPr lang="en-US"/>
              <a:t>Click to edit Master title style</a:t>
            </a:r>
          </a:p>
        </p:txBody>
      </p:sp>
      <p:sp>
        <p:nvSpPr>
          <p:cNvPr id="3" name="Text Placeholder 2">
            <a:extLst>
              <a:ext uri="{FF2B5EF4-FFF2-40B4-BE49-F238E27FC236}">
                <a16:creationId xmlns:a16="http://schemas.microsoft.com/office/drawing/2014/main" id="{118DDAE4-7965-CC0D-77B9-52D7FE4472D1}"/>
              </a:ext>
            </a:extLst>
          </p:cNvPr>
          <p:cNvSpPr>
            <a:spLocks noGrp="1"/>
          </p:cNvSpPr>
          <p:nvPr>
            <p:ph type="body" idx="1"/>
          </p:nvPr>
        </p:nvSpPr>
        <p:spPr>
          <a:xfrm>
            <a:off x="1259684" y="2521745"/>
            <a:ext cx="7736681"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7309BF-3C81-DB84-3A40-4FEE39155B03}"/>
              </a:ext>
            </a:extLst>
          </p:cNvPr>
          <p:cNvSpPr>
            <a:spLocks noGrp="1"/>
          </p:cNvSpPr>
          <p:nvPr>
            <p:ph sz="half" idx="2"/>
          </p:nvPr>
        </p:nvSpPr>
        <p:spPr>
          <a:xfrm>
            <a:off x="1259684"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74B66DF-8AA9-FDBB-A0C0-A58509701300}"/>
              </a:ext>
            </a:extLst>
          </p:cNvPr>
          <p:cNvSpPr>
            <a:spLocks noGrp="1"/>
          </p:cNvSpPr>
          <p:nvPr>
            <p:ph type="body" sz="quarter" idx="3"/>
          </p:nvPr>
        </p:nvSpPr>
        <p:spPr>
          <a:xfrm>
            <a:off x="9258300" y="2521745"/>
            <a:ext cx="7774782"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2D78F2-D7E6-CA1D-F24E-18380D11E6E5}"/>
              </a:ext>
            </a:extLst>
          </p:cNvPr>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DF59E06-F0A6-222B-E2D6-957AA1228693}"/>
              </a:ext>
            </a:extLst>
          </p:cNvPr>
          <p:cNvSpPr>
            <a:spLocks noGrp="1"/>
          </p:cNvSpPr>
          <p:nvPr>
            <p:ph type="dt" sz="half" idx="10"/>
          </p:nvPr>
        </p:nvSpPr>
        <p:spPr/>
        <p:txBody>
          <a:bodyPr/>
          <a:lstStyle/>
          <a:p>
            <a:fld id="{01A0E18A-16C8-4A53-AA8F-4783F3F26508}" type="datetimeFigureOut">
              <a:rPr lang="en-US" smtClean="0"/>
              <a:t>10/28/2026</a:t>
            </a:fld>
            <a:endParaRPr lang="en-US"/>
          </a:p>
        </p:txBody>
      </p:sp>
      <p:sp>
        <p:nvSpPr>
          <p:cNvPr id="8" name="Footer Placeholder 7">
            <a:extLst>
              <a:ext uri="{FF2B5EF4-FFF2-40B4-BE49-F238E27FC236}">
                <a16:creationId xmlns:a16="http://schemas.microsoft.com/office/drawing/2014/main" id="{B98B72E8-4ACE-41C0-C339-65CD3627948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539F5D-A68E-B633-3866-5BD163768473}"/>
              </a:ext>
            </a:extLst>
          </p:cNvPr>
          <p:cNvSpPr>
            <a:spLocks noGrp="1"/>
          </p:cNvSpPr>
          <p:nvPr>
            <p:ph type="sldNum" sz="quarter" idx="12"/>
          </p:nvPr>
        </p:nvSpPr>
        <p:spPr/>
        <p:txBody>
          <a:bodyPr/>
          <a:lstStyle/>
          <a:p>
            <a:fld id="{77698996-9858-4C69-A22C-3F7A757CD1B2}" type="slidenum">
              <a:rPr lang="en-US" smtClean="0"/>
              <a:t>‹#›</a:t>
            </a:fld>
            <a:endParaRPr lang="en-US"/>
          </a:p>
        </p:txBody>
      </p:sp>
    </p:spTree>
    <p:extLst>
      <p:ext uri="{BB962C8B-B14F-4D97-AF65-F5344CB8AC3E}">
        <p14:creationId xmlns:p14="http://schemas.microsoft.com/office/powerpoint/2010/main" val="865985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0A729-CEA8-F313-2BAD-32EF8F5CC0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722D55-A5A2-E4FC-C84E-E828B262D06C}"/>
              </a:ext>
            </a:extLst>
          </p:cNvPr>
          <p:cNvSpPr>
            <a:spLocks noGrp="1"/>
          </p:cNvSpPr>
          <p:nvPr>
            <p:ph type="dt" sz="half" idx="10"/>
          </p:nvPr>
        </p:nvSpPr>
        <p:spPr/>
        <p:txBody>
          <a:bodyPr/>
          <a:lstStyle/>
          <a:p>
            <a:fld id="{01A0E18A-16C8-4A53-AA8F-4783F3F26508}" type="datetimeFigureOut">
              <a:rPr lang="en-US" smtClean="0"/>
              <a:t>10/28/2026</a:t>
            </a:fld>
            <a:endParaRPr lang="en-US"/>
          </a:p>
        </p:txBody>
      </p:sp>
      <p:sp>
        <p:nvSpPr>
          <p:cNvPr id="4" name="Footer Placeholder 3">
            <a:extLst>
              <a:ext uri="{FF2B5EF4-FFF2-40B4-BE49-F238E27FC236}">
                <a16:creationId xmlns:a16="http://schemas.microsoft.com/office/drawing/2014/main" id="{711D2B1E-35F1-AD97-4283-D85A32FD769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41B33BA-1B97-67AE-7B06-0813A5CC783B}"/>
              </a:ext>
            </a:extLst>
          </p:cNvPr>
          <p:cNvSpPr>
            <a:spLocks noGrp="1"/>
          </p:cNvSpPr>
          <p:nvPr>
            <p:ph type="sldNum" sz="quarter" idx="12"/>
          </p:nvPr>
        </p:nvSpPr>
        <p:spPr/>
        <p:txBody>
          <a:bodyPr/>
          <a:lstStyle/>
          <a:p>
            <a:fld id="{77698996-9858-4C69-A22C-3F7A757CD1B2}" type="slidenum">
              <a:rPr lang="en-US" smtClean="0"/>
              <a:t>‹#›</a:t>
            </a:fld>
            <a:endParaRPr lang="en-US"/>
          </a:p>
        </p:txBody>
      </p:sp>
    </p:spTree>
    <p:extLst>
      <p:ext uri="{BB962C8B-B14F-4D97-AF65-F5344CB8AC3E}">
        <p14:creationId xmlns:p14="http://schemas.microsoft.com/office/powerpoint/2010/main" val="3436116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C4719B-7F44-5D52-DE05-42BAC8EE769D}"/>
              </a:ext>
            </a:extLst>
          </p:cNvPr>
          <p:cNvSpPr>
            <a:spLocks noGrp="1"/>
          </p:cNvSpPr>
          <p:nvPr>
            <p:ph type="dt" sz="half" idx="10"/>
          </p:nvPr>
        </p:nvSpPr>
        <p:spPr/>
        <p:txBody>
          <a:bodyPr/>
          <a:lstStyle/>
          <a:p>
            <a:fld id="{01A0E18A-16C8-4A53-AA8F-4783F3F26508}" type="datetimeFigureOut">
              <a:rPr lang="en-US" smtClean="0"/>
              <a:t>10/28/2026</a:t>
            </a:fld>
            <a:endParaRPr lang="en-US"/>
          </a:p>
        </p:txBody>
      </p:sp>
      <p:sp>
        <p:nvSpPr>
          <p:cNvPr id="3" name="Footer Placeholder 2">
            <a:extLst>
              <a:ext uri="{FF2B5EF4-FFF2-40B4-BE49-F238E27FC236}">
                <a16:creationId xmlns:a16="http://schemas.microsoft.com/office/drawing/2014/main" id="{20445937-0BA1-87AB-25D8-B863B108D80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1A74E15-712B-082F-CD2F-78BC28443F6D}"/>
              </a:ext>
            </a:extLst>
          </p:cNvPr>
          <p:cNvSpPr>
            <a:spLocks noGrp="1"/>
          </p:cNvSpPr>
          <p:nvPr>
            <p:ph type="sldNum" sz="quarter" idx="12"/>
          </p:nvPr>
        </p:nvSpPr>
        <p:spPr/>
        <p:txBody>
          <a:bodyPr/>
          <a:lstStyle/>
          <a:p>
            <a:fld id="{77698996-9858-4C69-A22C-3F7A757CD1B2}" type="slidenum">
              <a:rPr lang="en-US" smtClean="0"/>
              <a:t>‹#›</a:t>
            </a:fld>
            <a:endParaRPr lang="en-US"/>
          </a:p>
        </p:txBody>
      </p:sp>
    </p:spTree>
    <p:extLst>
      <p:ext uri="{BB962C8B-B14F-4D97-AF65-F5344CB8AC3E}">
        <p14:creationId xmlns:p14="http://schemas.microsoft.com/office/powerpoint/2010/main" val="1223828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67EFD-166C-6E47-0E26-241356BE46DA}"/>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5B684F7-B6BD-D4C1-F638-64D989AC18B2}"/>
              </a:ext>
            </a:extLst>
          </p:cNvPr>
          <p:cNvSpPr>
            <a:spLocks noGrp="1"/>
          </p:cNvSpPr>
          <p:nvPr>
            <p:ph idx="1"/>
          </p:nvPr>
        </p:nvSpPr>
        <p:spPr>
          <a:xfrm>
            <a:off x="7774782" y="1481140"/>
            <a:ext cx="9258300" cy="731043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AF53F6-4BF5-91B9-CFD6-506BEFE7EE77}"/>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25B2C3-2CEF-4B55-B835-09155C2D1F78}"/>
              </a:ext>
            </a:extLst>
          </p:cNvPr>
          <p:cNvSpPr>
            <a:spLocks noGrp="1"/>
          </p:cNvSpPr>
          <p:nvPr>
            <p:ph type="dt" sz="half" idx="10"/>
          </p:nvPr>
        </p:nvSpPr>
        <p:spPr/>
        <p:txBody>
          <a:bodyPr/>
          <a:lstStyle/>
          <a:p>
            <a:fld id="{01A0E18A-16C8-4A53-AA8F-4783F3F26508}" type="datetimeFigureOut">
              <a:rPr lang="en-US" smtClean="0"/>
              <a:t>10/28/2026</a:t>
            </a:fld>
            <a:endParaRPr lang="en-US"/>
          </a:p>
        </p:txBody>
      </p:sp>
      <p:sp>
        <p:nvSpPr>
          <p:cNvPr id="6" name="Footer Placeholder 5">
            <a:extLst>
              <a:ext uri="{FF2B5EF4-FFF2-40B4-BE49-F238E27FC236}">
                <a16:creationId xmlns:a16="http://schemas.microsoft.com/office/drawing/2014/main" id="{4A454482-FEAA-3D93-B657-57C1880E31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0DDABE-476A-3DB1-0D81-DDBC6471EBC5}"/>
              </a:ext>
            </a:extLst>
          </p:cNvPr>
          <p:cNvSpPr>
            <a:spLocks noGrp="1"/>
          </p:cNvSpPr>
          <p:nvPr>
            <p:ph type="sldNum" sz="quarter" idx="12"/>
          </p:nvPr>
        </p:nvSpPr>
        <p:spPr/>
        <p:txBody>
          <a:bodyPr/>
          <a:lstStyle/>
          <a:p>
            <a:fld id="{77698996-9858-4C69-A22C-3F7A757CD1B2}" type="slidenum">
              <a:rPr lang="en-US" smtClean="0"/>
              <a:t>‹#›</a:t>
            </a:fld>
            <a:endParaRPr lang="en-US"/>
          </a:p>
        </p:txBody>
      </p:sp>
    </p:spTree>
    <p:extLst>
      <p:ext uri="{BB962C8B-B14F-4D97-AF65-F5344CB8AC3E}">
        <p14:creationId xmlns:p14="http://schemas.microsoft.com/office/powerpoint/2010/main" val="41569039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7CAD9-4E04-F8A2-933B-824A7B21BE61}"/>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1567DFA-1A17-802E-6E75-53B9D7E96242}"/>
              </a:ext>
            </a:extLst>
          </p:cNvPr>
          <p:cNvSpPr>
            <a:spLocks noGrp="1" noChangeAspect="1"/>
          </p:cNvSpPr>
          <p:nvPr>
            <p:ph type="pic" idx="1"/>
          </p:nvPr>
        </p:nvSpPr>
        <p:spPr>
          <a:xfrm>
            <a:off x="7774782" y="1481140"/>
            <a:ext cx="9258300" cy="73104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2A24750-DEBE-D839-9969-DC3621CF89AA}"/>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E1A586-3319-89B6-8F0E-8B0F10B28104}"/>
              </a:ext>
            </a:extLst>
          </p:cNvPr>
          <p:cNvSpPr>
            <a:spLocks noGrp="1"/>
          </p:cNvSpPr>
          <p:nvPr>
            <p:ph type="dt" sz="half" idx="10"/>
          </p:nvPr>
        </p:nvSpPr>
        <p:spPr/>
        <p:txBody>
          <a:bodyPr/>
          <a:lstStyle/>
          <a:p>
            <a:fld id="{01A0E18A-16C8-4A53-AA8F-4783F3F26508}" type="datetimeFigureOut">
              <a:rPr lang="en-US" smtClean="0"/>
              <a:t>10/28/2026</a:t>
            </a:fld>
            <a:endParaRPr lang="en-US"/>
          </a:p>
        </p:txBody>
      </p:sp>
      <p:sp>
        <p:nvSpPr>
          <p:cNvPr id="6" name="Footer Placeholder 5">
            <a:extLst>
              <a:ext uri="{FF2B5EF4-FFF2-40B4-BE49-F238E27FC236}">
                <a16:creationId xmlns:a16="http://schemas.microsoft.com/office/drawing/2014/main" id="{6D6C00C4-B628-2DE0-B699-F08FCAD3E1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B41EBD-000E-99FD-635A-52A263C79C1C}"/>
              </a:ext>
            </a:extLst>
          </p:cNvPr>
          <p:cNvSpPr>
            <a:spLocks noGrp="1"/>
          </p:cNvSpPr>
          <p:nvPr>
            <p:ph type="sldNum" sz="quarter" idx="12"/>
          </p:nvPr>
        </p:nvSpPr>
        <p:spPr/>
        <p:txBody>
          <a:bodyPr/>
          <a:lstStyle/>
          <a:p>
            <a:fld id="{77698996-9858-4C69-A22C-3F7A757CD1B2}" type="slidenum">
              <a:rPr lang="en-US" smtClean="0"/>
              <a:t>‹#›</a:t>
            </a:fld>
            <a:endParaRPr lang="en-US"/>
          </a:p>
        </p:txBody>
      </p:sp>
    </p:spTree>
    <p:extLst>
      <p:ext uri="{BB962C8B-B14F-4D97-AF65-F5344CB8AC3E}">
        <p14:creationId xmlns:p14="http://schemas.microsoft.com/office/powerpoint/2010/main" val="2963372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6D626-1897-C2FE-9BD9-EA25692F54F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3A6A673-36F5-37A7-6934-FFA108B996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3E5DE9-E208-B0BA-1ED8-33D70A74CACD}"/>
              </a:ext>
            </a:extLst>
          </p:cNvPr>
          <p:cNvSpPr>
            <a:spLocks noGrp="1"/>
          </p:cNvSpPr>
          <p:nvPr>
            <p:ph type="dt" sz="half" idx="10"/>
          </p:nvPr>
        </p:nvSpPr>
        <p:spPr/>
        <p:txBody>
          <a:bodyPr/>
          <a:lstStyle/>
          <a:p>
            <a:fld id="{01A0E18A-16C8-4A53-AA8F-4783F3F26508}" type="datetimeFigureOut">
              <a:rPr lang="en-US" smtClean="0"/>
              <a:t>10/28/2026</a:t>
            </a:fld>
            <a:endParaRPr lang="en-US"/>
          </a:p>
        </p:txBody>
      </p:sp>
      <p:sp>
        <p:nvSpPr>
          <p:cNvPr id="5" name="Footer Placeholder 4">
            <a:extLst>
              <a:ext uri="{FF2B5EF4-FFF2-40B4-BE49-F238E27FC236}">
                <a16:creationId xmlns:a16="http://schemas.microsoft.com/office/drawing/2014/main" id="{0F476A73-9BAB-02AC-6B97-BC9451CD37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97581B-1463-021F-3151-A48D74252022}"/>
              </a:ext>
            </a:extLst>
          </p:cNvPr>
          <p:cNvSpPr>
            <a:spLocks noGrp="1"/>
          </p:cNvSpPr>
          <p:nvPr>
            <p:ph type="sldNum" sz="quarter" idx="12"/>
          </p:nvPr>
        </p:nvSpPr>
        <p:spPr/>
        <p:txBody>
          <a:bodyPr/>
          <a:lstStyle/>
          <a:p>
            <a:fld id="{77698996-9858-4C69-A22C-3F7A757CD1B2}" type="slidenum">
              <a:rPr lang="en-US" smtClean="0"/>
              <a:t>‹#›</a:t>
            </a:fld>
            <a:endParaRPr lang="en-US"/>
          </a:p>
        </p:txBody>
      </p:sp>
    </p:spTree>
    <p:extLst>
      <p:ext uri="{BB962C8B-B14F-4D97-AF65-F5344CB8AC3E}">
        <p14:creationId xmlns:p14="http://schemas.microsoft.com/office/powerpoint/2010/main" val="1379411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D808A2-1653-08AC-E224-7A6554FEF562}"/>
              </a:ext>
            </a:extLst>
          </p:cNvPr>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71A1EB-44CA-B162-077B-A1C616A18156}"/>
              </a:ext>
            </a:extLst>
          </p:cNvPr>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3D044D-042F-D552-9D78-966D52260461}"/>
              </a:ext>
            </a:extLst>
          </p:cNvPr>
          <p:cNvSpPr>
            <a:spLocks noGrp="1"/>
          </p:cNvSpPr>
          <p:nvPr>
            <p:ph type="dt" sz="half" idx="10"/>
          </p:nvPr>
        </p:nvSpPr>
        <p:spPr/>
        <p:txBody>
          <a:bodyPr/>
          <a:lstStyle/>
          <a:p>
            <a:fld id="{01A0E18A-16C8-4A53-AA8F-4783F3F26508}" type="datetimeFigureOut">
              <a:rPr lang="en-US" smtClean="0"/>
              <a:t>10/28/2026</a:t>
            </a:fld>
            <a:endParaRPr lang="en-US"/>
          </a:p>
        </p:txBody>
      </p:sp>
      <p:sp>
        <p:nvSpPr>
          <p:cNvPr id="5" name="Footer Placeholder 4">
            <a:extLst>
              <a:ext uri="{FF2B5EF4-FFF2-40B4-BE49-F238E27FC236}">
                <a16:creationId xmlns:a16="http://schemas.microsoft.com/office/drawing/2014/main" id="{8F5578E1-2BF7-014D-D1EB-F238FCD09E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39521F-9F3D-EC20-938D-06522B045063}"/>
              </a:ext>
            </a:extLst>
          </p:cNvPr>
          <p:cNvSpPr>
            <a:spLocks noGrp="1"/>
          </p:cNvSpPr>
          <p:nvPr>
            <p:ph type="sldNum" sz="quarter" idx="12"/>
          </p:nvPr>
        </p:nvSpPr>
        <p:spPr/>
        <p:txBody>
          <a:bodyPr/>
          <a:lstStyle/>
          <a:p>
            <a:fld id="{77698996-9858-4C69-A22C-3F7A757CD1B2}" type="slidenum">
              <a:rPr lang="en-US" smtClean="0"/>
              <a:t>‹#›</a:t>
            </a:fld>
            <a:endParaRPr lang="en-US"/>
          </a:p>
        </p:txBody>
      </p:sp>
    </p:spTree>
    <p:extLst>
      <p:ext uri="{BB962C8B-B14F-4D97-AF65-F5344CB8AC3E}">
        <p14:creationId xmlns:p14="http://schemas.microsoft.com/office/powerpoint/2010/main" val="1552798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7E89BB-37A1-4641-92EC-9D9ABFCD08A9}"/>
              </a:ext>
            </a:extLst>
          </p:cNvPr>
          <p:cNvSpPr>
            <a:spLocks noGrp="1"/>
          </p:cNvSpPr>
          <p:nvPr>
            <p:ph type="title"/>
          </p:nvPr>
        </p:nvSpPr>
        <p:spPr>
          <a:xfrm>
            <a:off x="1257300" y="547690"/>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778E56B-0E59-3D7F-8DB3-2677DF860D4C}"/>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BC2B1A-F6DE-B3D5-011D-870F61A16C40}"/>
              </a:ext>
            </a:extLst>
          </p:cNvPr>
          <p:cNvSpPr>
            <a:spLocks noGrp="1"/>
          </p:cNvSpPr>
          <p:nvPr>
            <p:ph type="dt" sz="half" idx="2"/>
          </p:nvPr>
        </p:nvSpPr>
        <p:spPr>
          <a:xfrm>
            <a:off x="1257300" y="9534527"/>
            <a:ext cx="4114800" cy="547688"/>
          </a:xfrm>
          <a:prstGeom prst="rect">
            <a:avLst/>
          </a:prstGeom>
        </p:spPr>
        <p:txBody>
          <a:bodyPr vert="horz" lIns="91440" tIns="45720" rIns="91440" bIns="45720" rtlCol="0" anchor="ctr"/>
          <a:lstStyle>
            <a:lvl1pPr algn="l">
              <a:defRPr sz="1200">
                <a:solidFill>
                  <a:schemeClr val="tx1">
                    <a:tint val="82000"/>
                  </a:schemeClr>
                </a:solidFill>
              </a:defRPr>
            </a:lvl1pPr>
          </a:lstStyle>
          <a:p>
            <a:fld id="{01A0E18A-16C8-4A53-AA8F-4783F3F26508}" type="datetimeFigureOut">
              <a:rPr lang="en-US" smtClean="0"/>
              <a:t>10/28/2026</a:t>
            </a:fld>
            <a:endParaRPr lang="en-US"/>
          </a:p>
        </p:txBody>
      </p:sp>
      <p:sp>
        <p:nvSpPr>
          <p:cNvPr id="5" name="Footer Placeholder 4">
            <a:extLst>
              <a:ext uri="{FF2B5EF4-FFF2-40B4-BE49-F238E27FC236}">
                <a16:creationId xmlns:a16="http://schemas.microsoft.com/office/drawing/2014/main" id="{EA09FCAE-B7E7-94EE-F126-734DEBB55399}"/>
              </a:ext>
            </a:extLst>
          </p:cNvPr>
          <p:cNvSpPr>
            <a:spLocks noGrp="1"/>
          </p:cNvSpPr>
          <p:nvPr>
            <p:ph type="ftr" sz="quarter" idx="3"/>
          </p:nvPr>
        </p:nvSpPr>
        <p:spPr>
          <a:xfrm>
            <a:off x="6057900" y="9534527"/>
            <a:ext cx="6172200" cy="547688"/>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4747FC6-3C83-E930-3A68-A8C247D1A229}"/>
              </a:ext>
            </a:extLst>
          </p:cNvPr>
          <p:cNvSpPr>
            <a:spLocks noGrp="1"/>
          </p:cNvSpPr>
          <p:nvPr>
            <p:ph type="sldNum" sz="quarter" idx="4"/>
          </p:nvPr>
        </p:nvSpPr>
        <p:spPr>
          <a:xfrm>
            <a:off x="12915900" y="9534527"/>
            <a:ext cx="4114800" cy="547688"/>
          </a:xfrm>
          <a:prstGeom prst="rect">
            <a:avLst/>
          </a:prstGeom>
        </p:spPr>
        <p:txBody>
          <a:bodyPr vert="horz" lIns="91440" tIns="45720" rIns="91440" bIns="45720" rtlCol="0" anchor="ctr"/>
          <a:lstStyle>
            <a:lvl1pPr algn="r">
              <a:defRPr sz="1200">
                <a:solidFill>
                  <a:schemeClr val="tx1">
                    <a:tint val="82000"/>
                  </a:schemeClr>
                </a:solidFill>
              </a:defRPr>
            </a:lvl1pPr>
          </a:lstStyle>
          <a:p>
            <a:fld id="{77698996-9858-4C69-A22C-3F7A757CD1B2}" type="slidenum">
              <a:rPr lang="en-US" smtClean="0"/>
              <a:t>‹#›</a:t>
            </a:fld>
            <a:endParaRPr lang="en-US"/>
          </a:p>
        </p:txBody>
      </p:sp>
    </p:spTree>
    <p:extLst>
      <p:ext uri="{BB962C8B-B14F-4D97-AF65-F5344CB8AC3E}">
        <p14:creationId xmlns:p14="http://schemas.microsoft.com/office/powerpoint/2010/main" val="4929352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slide" Target="slide2.xml"/></Relationships>
</file>

<file path=ppt/slides/_rels/slide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slide" Target="slide3.xml"/><Relationship Id="rId4" Type="http://schemas.openxmlformats.org/officeDocument/2006/relationships/slide" Target="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slide" Target="slide4.xml"/><Relationship Id="rId4" Type="http://schemas.openxmlformats.org/officeDocument/2006/relationships/slide" Target="slide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slide" Target="slide5.xml"/><Relationship Id="rId5" Type="http://schemas.openxmlformats.org/officeDocument/2006/relationships/slide" Target="slide2.xml"/><Relationship Id="rId4" Type="http://schemas.openxmlformats.org/officeDocument/2006/relationships/slide" Target="slide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slide" Target="slide6.xml"/><Relationship Id="rId5" Type="http://schemas.openxmlformats.org/officeDocument/2006/relationships/slide" Target="slide2.xml"/><Relationship Id="rId4" Type="http://schemas.openxmlformats.org/officeDocument/2006/relationships/slide" Target="slide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slide" Target="slide7.xml"/><Relationship Id="rId5" Type="http://schemas.openxmlformats.org/officeDocument/2006/relationships/slide" Target="slide2.xml"/><Relationship Id="rId4" Type="http://schemas.openxmlformats.org/officeDocument/2006/relationships/slide" Target="slide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slide" Target="slide8.xml"/><Relationship Id="rId5" Type="http://schemas.openxmlformats.org/officeDocument/2006/relationships/slide" Target="slide2.xml"/><Relationship Id="rId4" Type="http://schemas.openxmlformats.org/officeDocument/2006/relationships/slide" Target="slide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slide" Target="slide7.xml"/></Relationships>
</file>

<file path=ppt/slides/_rels/slide9.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slide" Target="slide9.xml"/><Relationship Id="rId4" Type="http://schemas.openxmlformats.org/officeDocument/2006/relationships/slide" Target="slid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05A79-1784-56FA-109E-3E87691779DF}"/>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01 / BUSINESS CONTEXT</a:t>
            </a:r>
          </a:p>
        </p:txBody>
      </p:sp>
      <p:sp>
        <p:nvSpPr>
          <p:cNvPr id="3" name="TextBox 2">
            <a:extLst>
              <a:ext uri="{FF2B5EF4-FFF2-40B4-BE49-F238E27FC236}">
                <a16:creationId xmlns:a16="http://schemas.microsoft.com/office/drawing/2014/main" id="{A5AAFDEF-92B6-1618-F5BA-20E89D29156B}"/>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Supplier Invoice Exception Desk</a:t>
            </a:r>
          </a:p>
        </p:txBody>
      </p:sp>
      <p:sp>
        <p:nvSpPr>
          <p:cNvPr id="4" name="TextBox 3">
            <a:extLst>
              <a:ext uri="{FF2B5EF4-FFF2-40B4-BE49-F238E27FC236}">
                <a16:creationId xmlns:a16="http://schemas.microsoft.com/office/drawing/2014/main" id="{2B7F8198-6C45-43CF-7912-A801F50B59FD}"/>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Rectangle: Rounded Corners 4">
            <a:extLst>
              <a:ext uri="{FF2B5EF4-FFF2-40B4-BE49-F238E27FC236}">
                <a16:creationId xmlns:a16="http://schemas.microsoft.com/office/drawing/2014/main" id="{7AE4C15F-B6F3-1890-A98A-AB06B59A4B42}"/>
              </a:ext>
            </a:extLst>
          </p:cNvPr>
          <p:cNvSpPr/>
          <p:nvPr/>
        </p:nvSpPr>
        <p:spPr>
          <a:xfrm>
            <a:off x="406400" y="1651000"/>
            <a:ext cx="11049000" cy="7175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167012E-5380-13B6-5E31-B9029DA6D535}"/>
              </a:ext>
            </a:extLst>
          </p:cNvPr>
          <p:cNvSpPr txBox="1"/>
          <p:nvPr/>
        </p:nvSpPr>
        <p:spPr>
          <a:xfrm>
            <a:off x="762000" y="2006600"/>
            <a:ext cx="10287000" cy="276999"/>
          </a:xfrm>
          <a:prstGeom prst="rect">
            <a:avLst/>
          </a:prstGeom>
          <a:noFill/>
        </p:spPr>
        <p:txBody>
          <a:bodyPr vert="horz" wrap="square" lIns="0" tIns="0" rIns="0" bIns="0" rtlCol="0">
            <a:spAutoFit/>
          </a:bodyPr>
          <a:lstStyle/>
          <a:p>
            <a:r>
              <a:rPr lang="en-US" b="1">
                <a:solidFill>
                  <a:srgbClr val="007F85"/>
                </a:solidFill>
                <a:latin typeface="Aptos" panose="020B0004020202020204" pitchFamily="34" charset="0"/>
              </a:rPr>
              <a:t>THE CHALLENGE</a:t>
            </a:r>
          </a:p>
        </p:txBody>
      </p:sp>
      <p:sp>
        <p:nvSpPr>
          <p:cNvPr id="7" name="TextBox 6">
            <a:extLst>
              <a:ext uri="{FF2B5EF4-FFF2-40B4-BE49-F238E27FC236}">
                <a16:creationId xmlns:a16="http://schemas.microsoft.com/office/drawing/2014/main" id="{57FF45A4-23AA-6108-2372-320B86BE0FB3}"/>
              </a:ext>
            </a:extLst>
          </p:cNvPr>
          <p:cNvSpPr txBox="1"/>
          <p:nvPr/>
        </p:nvSpPr>
        <p:spPr>
          <a:xfrm>
            <a:off x="762000" y="2565400"/>
            <a:ext cx="10287000" cy="1661993"/>
          </a:xfrm>
          <a:prstGeom prst="rect">
            <a:avLst/>
          </a:prstGeom>
          <a:noFill/>
        </p:spPr>
        <p:txBody>
          <a:bodyPr vert="horz" wrap="square" lIns="0" tIns="0" rIns="0" bIns="0" rtlCol="0">
            <a:spAutoFit/>
          </a:bodyPr>
          <a:lstStyle/>
          <a:p>
            <a:r>
              <a:rPr lang="en-US" sz="2700">
                <a:solidFill>
                  <a:srgbClr val="122D46"/>
                </a:solidFill>
                <a:latin typeface="Aptos" panose="020B0004020202020204" pitchFamily="34" charset="0"/>
              </a:rPr>
              <a:t>Analysts manually compare invoices, purchase orders and receiving records. Duplicate bills, price variances and unexplained payment-detail changes stall legitimate work and create avoidable payment risk.</a:t>
            </a:r>
          </a:p>
        </p:txBody>
      </p:sp>
      <p:sp>
        <p:nvSpPr>
          <p:cNvPr id="8" name="TextBox 7">
            <a:extLst>
              <a:ext uri="{FF2B5EF4-FFF2-40B4-BE49-F238E27FC236}">
                <a16:creationId xmlns:a16="http://schemas.microsoft.com/office/drawing/2014/main" id="{DB734335-1536-2FF5-3D6C-88025419E357}"/>
              </a:ext>
            </a:extLst>
          </p:cNvPr>
          <p:cNvSpPr txBox="1"/>
          <p:nvPr/>
        </p:nvSpPr>
        <p:spPr>
          <a:xfrm>
            <a:off x="762000" y="4800600"/>
            <a:ext cx="10287000" cy="276999"/>
          </a:xfrm>
          <a:prstGeom prst="rect">
            <a:avLst/>
          </a:prstGeom>
          <a:noFill/>
        </p:spPr>
        <p:txBody>
          <a:bodyPr vert="horz" wrap="square" lIns="0" tIns="0" rIns="0" bIns="0" rtlCol="0">
            <a:spAutoFit/>
          </a:bodyPr>
          <a:lstStyle/>
          <a:p>
            <a:r>
              <a:rPr lang="en-US" b="1">
                <a:solidFill>
                  <a:srgbClr val="007F85"/>
                </a:solidFill>
                <a:latin typeface="Aptos" panose="020B0004020202020204" pitchFamily="34" charset="0"/>
              </a:rPr>
              <a:t>THE REVIEWABLE OUTCOME</a:t>
            </a:r>
          </a:p>
        </p:txBody>
      </p:sp>
      <p:sp>
        <p:nvSpPr>
          <p:cNvPr id="9" name="TextBox 8">
            <a:extLst>
              <a:ext uri="{FF2B5EF4-FFF2-40B4-BE49-F238E27FC236}">
                <a16:creationId xmlns:a16="http://schemas.microsoft.com/office/drawing/2014/main" id="{0EF03BCE-B517-8FA3-77DD-786F3D66A068}"/>
              </a:ext>
            </a:extLst>
          </p:cNvPr>
          <p:cNvSpPr txBox="1"/>
          <p:nvPr/>
        </p:nvSpPr>
        <p:spPr>
          <a:xfrm>
            <a:off x="762000" y="5397500"/>
            <a:ext cx="10287000" cy="1538883"/>
          </a:xfrm>
          <a:prstGeom prst="rect">
            <a:avLst/>
          </a:prstGeom>
          <a:noFill/>
        </p:spPr>
        <p:txBody>
          <a:bodyPr vert="horz" wrap="square" lIns="0" tIns="0" rIns="0" bIns="0" rtlCol="0">
            <a:spAutoFit/>
          </a:bodyPr>
          <a:lstStyle/>
          <a:p>
            <a:r>
              <a:rPr lang="en-US" sz="2500">
                <a:solidFill>
                  <a:srgbClr val="122D46"/>
                </a:solidFill>
                <a:latin typeface="Aptos" panose="020B0004020202020204" pitchFamily="34" charset="0"/>
              </a:rPr>
              <a:t>Produce an evidence-linked exception brief and a supplier clarification draft. Measure analyst minutes per invoice, rule-match accuracy and review completion; do not claim payment savings before measuring a baseline.</a:t>
            </a:r>
          </a:p>
        </p:txBody>
      </p:sp>
      <p:sp>
        <p:nvSpPr>
          <p:cNvPr id="10" name="TextBox 9">
            <a:extLst>
              <a:ext uri="{FF2B5EF4-FFF2-40B4-BE49-F238E27FC236}">
                <a16:creationId xmlns:a16="http://schemas.microsoft.com/office/drawing/2014/main" id="{74A06221-165F-E93C-CFBC-9B06BC8C129D}"/>
              </a:ext>
            </a:extLst>
          </p:cNvPr>
          <p:cNvSpPr txBox="1"/>
          <p:nvPr/>
        </p:nvSpPr>
        <p:spPr>
          <a:xfrm>
            <a:off x="12065000" y="2006600"/>
            <a:ext cx="546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TRUST BOUNDARY</a:t>
            </a:r>
          </a:p>
        </p:txBody>
      </p:sp>
      <p:sp>
        <p:nvSpPr>
          <p:cNvPr id="11" name="TextBox 10">
            <a:extLst>
              <a:ext uri="{FF2B5EF4-FFF2-40B4-BE49-F238E27FC236}">
                <a16:creationId xmlns:a16="http://schemas.microsoft.com/office/drawing/2014/main" id="{661B45AE-3ACD-FF13-2B03-70B39E6F4B9D}"/>
              </a:ext>
            </a:extLst>
          </p:cNvPr>
          <p:cNvSpPr txBox="1"/>
          <p:nvPr/>
        </p:nvSpPr>
        <p:spPr>
          <a:xfrm>
            <a:off x="12065000" y="2628900"/>
            <a:ext cx="5461000" cy="1769715"/>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Human boundary: A bank-detail change always requires independent verified supplier-contact procedures. AI cannot label a supplier fraudulent, approve payment or overwrite finance records.</a:t>
            </a:r>
          </a:p>
        </p:txBody>
      </p:sp>
      <p:sp>
        <p:nvSpPr>
          <p:cNvPr id="12" name="TextBox 11">
            <a:extLst>
              <a:ext uri="{FF2B5EF4-FFF2-40B4-BE49-F238E27FC236}">
                <a16:creationId xmlns:a16="http://schemas.microsoft.com/office/drawing/2014/main" id="{4B9C13D0-62AB-CFAA-0735-2C00E7AD8A8B}"/>
              </a:ext>
            </a:extLst>
          </p:cNvPr>
          <p:cNvSpPr txBox="1"/>
          <p:nvPr/>
        </p:nvSpPr>
        <p:spPr>
          <a:xfrm>
            <a:off x="12065000" y="6731000"/>
            <a:ext cx="5461000" cy="1015663"/>
          </a:xfrm>
          <a:prstGeom prst="rect">
            <a:avLst/>
          </a:prstGeom>
          <a:noFill/>
        </p:spPr>
        <p:txBody>
          <a:bodyPr vert="horz" wrap="square" lIns="0" tIns="0" rIns="0" bIns="0" rtlCol="0">
            <a:spAutoFit/>
          </a:bodyPr>
          <a:lstStyle/>
          <a:p>
            <a:r>
              <a:rPr lang="en-US" sz="2200">
                <a:solidFill>
                  <a:srgbClr val="516478"/>
                </a:solidFill>
                <a:latin typeface="Aptos" panose="020B0004020202020204" pitchFamily="34" charset="0"/>
              </a:rPr>
              <a:t>Six-step native .NET MAUI walkthrough. All people, records, policies and evidence are fictional.</a:t>
            </a:r>
          </a:p>
        </p:txBody>
      </p:sp>
      <p:sp>
        <p:nvSpPr>
          <p:cNvPr id="13" name="TextBox 12">
            <a:hlinkClick r:id="rId3" action="ppaction://hlinksldjump"/>
            <a:extLst>
              <a:ext uri="{FF2B5EF4-FFF2-40B4-BE49-F238E27FC236}">
                <a16:creationId xmlns:a16="http://schemas.microsoft.com/office/drawing/2014/main" id="{DB1562AD-4E83-1DCE-D145-ECCAD15035D3}"/>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4" name="TextBox 13">
            <a:hlinkClick r:id="rId4" action="ppaction://hlinksldjump"/>
            <a:extLst>
              <a:ext uri="{FF2B5EF4-FFF2-40B4-BE49-F238E27FC236}">
                <a16:creationId xmlns:a16="http://schemas.microsoft.com/office/drawing/2014/main" id="{D94E051F-232D-4838-C4E3-66686C10E7A5}"/>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5" name="TextBox 14">
            <a:hlinkClick r:id="rId4" action="ppaction://hlinksldjump"/>
            <a:extLst>
              <a:ext uri="{FF2B5EF4-FFF2-40B4-BE49-F238E27FC236}">
                <a16:creationId xmlns:a16="http://schemas.microsoft.com/office/drawing/2014/main" id="{C4F51B6E-7027-4921-85C1-872F51F45209}"/>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753954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C7E782-ACD7-EB9E-3541-53C105F1FDF4}"/>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02 / PRODUCTS, FLOW AND EVIDENCE</a:t>
            </a:r>
          </a:p>
        </p:txBody>
      </p:sp>
      <p:sp>
        <p:nvSpPr>
          <p:cNvPr id="3" name="TextBox 2">
            <a:extLst>
              <a:ext uri="{FF2B5EF4-FFF2-40B4-BE49-F238E27FC236}">
                <a16:creationId xmlns:a16="http://schemas.microsoft.com/office/drawing/2014/main" id="{CEEB837B-A8B7-1188-BEA3-CE03D52EB616}"/>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How this demo is implemented</a:t>
            </a:r>
          </a:p>
        </p:txBody>
      </p:sp>
      <p:sp>
        <p:nvSpPr>
          <p:cNvPr id="4" name="TextBox 3">
            <a:extLst>
              <a:ext uri="{FF2B5EF4-FFF2-40B4-BE49-F238E27FC236}">
                <a16:creationId xmlns:a16="http://schemas.microsoft.com/office/drawing/2014/main" id="{F86A1202-71B2-F105-A98D-83100F4D26C1}"/>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Rectangle: Rounded Corners 4">
            <a:extLst>
              <a:ext uri="{FF2B5EF4-FFF2-40B4-BE49-F238E27FC236}">
                <a16:creationId xmlns:a16="http://schemas.microsoft.com/office/drawing/2014/main" id="{A07C6A22-456E-D5FB-74DE-BF2913027682}"/>
              </a:ext>
            </a:extLst>
          </p:cNvPr>
          <p:cNvSpPr/>
          <p:nvPr/>
        </p:nvSpPr>
        <p:spPr>
          <a:xfrm>
            <a:off x="4064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38A4005-12B4-4E53-2686-98C5ACC2A708}"/>
              </a:ext>
            </a:extLst>
          </p:cNvPr>
          <p:cNvSpPr txBox="1"/>
          <p:nvPr/>
        </p:nvSpPr>
        <p:spPr>
          <a:xfrm>
            <a:off x="6604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01</a:t>
            </a:r>
          </a:p>
        </p:txBody>
      </p:sp>
      <p:sp>
        <p:nvSpPr>
          <p:cNvPr id="7" name="TextBox 6">
            <a:extLst>
              <a:ext uri="{FF2B5EF4-FFF2-40B4-BE49-F238E27FC236}">
                <a16:creationId xmlns:a16="http://schemas.microsoft.com/office/drawing/2014/main" id="{DD54A156-130D-5362-84D3-952A80ED8374}"/>
              </a:ext>
            </a:extLst>
          </p:cNvPr>
          <p:cNvSpPr txBox="1"/>
          <p:nvPr/>
        </p:nvSpPr>
        <p:spPr>
          <a:xfrm>
            <a:off x="6604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Windows .NET MAUI</a:t>
            </a:r>
          </a:p>
        </p:txBody>
      </p:sp>
      <p:sp>
        <p:nvSpPr>
          <p:cNvPr id="8" name="TextBox 7">
            <a:extLst>
              <a:ext uri="{FF2B5EF4-FFF2-40B4-BE49-F238E27FC236}">
                <a16:creationId xmlns:a16="http://schemas.microsoft.com/office/drawing/2014/main" id="{103A4611-D6AD-8ECF-4CA7-732B47B89011}"/>
              </a:ext>
            </a:extLst>
          </p:cNvPr>
          <p:cNvSpPr txBox="1"/>
          <p:nvPr/>
        </p:nvSpPr>
        <p:spPr>
          <a:xfrm>
            <a:off x="660400" y="3937000"/>
            <a:ext cx="3619500" cy="615553"/>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Synthetic staff workbench; exact C# rules; reviewer control.</a:t>
            </a:r>
          </a:p>
        </p:txBody>
      </p:sp>
      <p:sp>
        <p:nvSpPr>
          <p:cNvPr id="9" name="Rectangle: Rounded Corners 8">
            <a:extLst>
              <a:ext uri="{FF2B5EF4-FFF2-40B4-BE49-F238E27FC236}">
                <a16:creationId xmlns:a16="http://schemas.microsoft.com/office/drawing/2014/main" id="{6478543C-7FF7-784B-2E11-9B853EB08794}"/>
              </a:ext>
            </a:extLst>
          </p:cNvPr>
          <p:cNvSpPr/>
          <p:nvPr/>
        </p:nvSpPr>
        <p:spPr>
          <a:xfrm>
            <a:off x="48768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01C7C97-F1BF-F6DF-D80F-44E03DA951A6}"/>
              </a:ext>
            </a:extLst>
          </p:cNvPr>
          <p:cNvSpPr txBox="1"/>
          <p:nvPr/>
        </p:nvSpPr>
        <p:spPr>
          <a:xfrm>
            <a:off x="51308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02</a:t>
            </a:r>
          </a:p>
        </p:txBody>
      </p:sp>
      <p:sp>
        <p:nvSpPr>
          <p:cNvPr id="11" name="TextBox 10">
            <a:extLst>
              <a:ext uri="{FF2B5EF4-FFF2-40B4-BE49-F238E27FC236}">
                <a16:creationId xmlns:a16="http://schemas.microsoft.com/office/drawing/2014/main" id="{7C3EE15E-EEE2-367C-6AB9-9F479BBD08F9}"/>
              </a:ext>
            </a:extLst>
          </p:cNvPr>
          <p:cNvSpPr txBox="1"/>
          <p:nvPr/>
        </p:nvSpPr>
        <p:spPr>
          <a:xfrm>
            <a:off x="51308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Azure SQL - private</a:t>
            </a:r>
          </a:p>
        </p:txBody>
      </p:sp>
      <p:sp>
        <p:nvSpPr>
          <p:cNvPr id="12" name="TextBox 11">
            <a:extLst>
              <a:ext uri="{FF2B5EF4-FFF2-40B4-BE49-F238E27FC236}">
                <a16:creationId xmlns:a16="http://schemas.microsoft.com/office/drawing/2014/main" id="{B836F788-E4B8-920E-D5FE-A944B36275C1}"/>
              </a:ext>
            </a:extLst>
          </p:cNvPr>
          <p:cNvSpPr txBox="1"/>
          <p:nvPr/>
        </p:nvSpPr>
        <p:spPr>
          <a:xfrm>
            <a:off x="5130800" y="3937000"/>
            <a:ext cx="3619500" cy="923330"/>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Fixture snapshots, review versions, audit events and idempotent internal outbox.</a:t>
            </a:r>
          </a:p>
        </p:txBody>
      </p:sp>
      <p:sp>
        <p:nvSpPr>
          <p:cNvPr id="13" name="Rectangle: Rounded Corners 12">
            <a:extLst>
              <a:ext uri="{FF2B5EF4-FFF2-40B4-BE49-F238E27FC236}">
                <a16:creationId xmlns:a16="http://schemas.microsoft.com/office/drawing/2014/main" id="{6DB95807-FCCF-8321-4522-A8AF5103613B}"/>
              </a:ext>
            </a:extLst>
          </p:cNvPr>
          <p:cNvSpPr/>
          <p:nvPr/>
        </p:nvSpPr>
        <p:spPr>
          <a:xfrm>
            <a:off x="93472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984020AC-A8A4-7E79-763B-82537D534494}"/>
              </a:ext>
            </a:extLst>
          </p:cNvPr>
          <p:cNvSpPr txBox="1"/>
          <p:nvPr/>
        </p:nvSpPr>
        <p:spPr>
          <a:xfrm>
            <a:off x="96012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03</a:t>
            </a:r>
          </a:p>
        </p:txBody>
      </p:sp>
      <p:sp>
        <p:nvSpPr>
          <p:cNvPr id="15" name="TextBox 14">
            <a:extLst>
              <a:ext uri="{FF2B5EF4-FFF2-40B4-BE49-F238E27FC236}">
                <a16:creationId xmlns:a16="http://schemas.microsoft.com/office/drawing/2014/main" id="{BB9CE9C4-8ACE-950F-A2CD-301C4AB71B40}"/>
              </a:ext>
            </a:extLst>
          </p:cNvPr>
          <p:cNvSpPr txBox="1"/>
          <p:nvPr/>
        </p:nvSpPr>
        <p:spPr>
          <a:xfrm>
            <a:off x="96012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Azure AI services</a:t>
            </a:r>
          </a:p>
        </p:txBody>
      </p:sp>
      <p:sp>
        <p:nvSpPr>
          <p:cNvPr id="16" name="TextBox 15">
            <a:extLst>
              <a:ext uri="{FF2B5EF4-FFF2-40B4-BE49-F238E27FC236}">
                <a16:creationId xmlns:a16="http://schemas.microsoft.com/office/drawing/2014/main" id="{C3925BF1-9C15-666E-5E89-B8215520455E}"/>
              </a:ext>
            </a:extLst>
          </p:cNvPr>
          <p:cNvSpPr txBox="1"/>
          <p:nvPr/>
        </p:nvSpPr>
        <p:spPr>
          <a:xfrm>
            <a:off x="9601200" y="3937000"/>
            <a:ext cx="3619500" cy="923330"/>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OpenAI structured draft + Content Safety + Document Intelligence</a:t>
            </a:r>
          </a:p>
        </p:txBody>
      </p:sp>
      <p:sp>
        <p:nvSpPr>
          <p:cNvPr id="17" name="Rectangle: Rounded Corners 16">
            <a:extLst>
              <a:ext uri="{FF2B5EF4-FFF2-40B4-BE49-F238E27FC236}">
                <a16:creationId xmlns:a16="http://schemas.microsoft.com/office/drawing/2014/main" id="{FA901B80-DACD-BF6D-286A-20703184343F}"/>
              </a:ext>
            </a:extLst>
          </p:cNvPr>
          <p:cNvSpPr/>
          <p:nvPr/>
        </p:nvSpPr>
        <p:spPr>
          <a:xfrm>
            <a:off x="138176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083997F-5920-7621-6A2F-9BAE9715447C}"/>
              </a:ext>
            </a:extLst>
          </p:cNvPr>
          <p:cNvSpPr txBox="1"/>
          <p:nvPr/>
        </p:nvSpPr>
        <p:spPr>
          <a:xfrm>
            <a:off x="140716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04</a:t>
            </a:r>
          </a:p>
        </p:txBody>
      </p:sp>
      <p:sp>
        <p:nvSpPr>
          <p:cNvPr id="19" name="TextBox 18">
            <a:extLst>
              <a:ext uri="{FF2B5EF4-FFF2-40B4-BE49-F238E27FC236}">
                <a16:creationId xmlns:a16="http://schemas.microsoft.com/office/drawing/2014/main" id="{4EF1E458-AF1B-FEFB-7C13-C87DF66C0910}"/>
              </a:ext>
            </a:extLst>
          </p:cNvPr>
          <p:cNvSpPr txBox="1"/>
          <p:nvPr/>
        </p:nvSpPr>
        <p:spPr>
          <a:xfrm>
            <a:off x="140716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Internal review / demo sink</a:t>
            </a:r>
          </a:p>
        </p:txBody>
      </p:sp>
      <p:sp>
        <p:nvSpPr>
          <p:cNvPr id="20" name="TextBox 19">
            <a:extLst>
              <a:ext uri="{FF2B5EF4-FFF2-40B4-BE49-F238E27FC236}">
                <a16:creationId xmlns:a16="http://schemas.microsoft.com/office/drawing/2014/main" id="{F2223F97-93DE-13B6-96C4-CFCEEBA6D48B}"/>
              </a:ext>
            </a:extLst>
          </p:cNvPr>
          <p:cNvSpPr txBox="1"/>
          <p:nvPr/>
        </p:nvSpPr>
        <p:spPr>
          <a:xfrm>
            <a:off x="14071600" y="3937000"/>
            <a:ext cx="3619500" cy="923330"/>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Recorded approval; Simulated notification. External connectors disabled.</a:t>
            </a:r>
          </a:p>
        </p:txBody>
      </p:sp>
      <p:sp>
        <p:nvSpPr>
          <p:cNvPr id="21" name="TextBox 20">
            <a:extLst>
              <a:ext uri="{FF2B5EF4-FFF2-40B4-BE49-F238E27FC236}">
                <a16:creationId xmlns:a16="http://schemas.microsoft.com/office/drawing/2014/main" id="{B61B89C6-8561-817D-8592-E14DAAD008C7}"/>
              </a:ext>
            </a:extLst>
          </p:cNvPr>
          <p:cNvSpPr txBox="1"/>
          <p:nvPr/>
        </p:nvSpPr>
        <p:spPr>
          <a:xfrm>
            <a:off x="508000" y="6032500"/>
            <a:ext cx="16764000" cy="1061829"/>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Live validation: 2026-10-28T15:21:48.9615991+00:00
Resource group: rg-demo-invoice
Model deployment: brief / gpt-4.1-mini | Tokens: 3298 in / 1167 out</a:t>
            </a:r>
          </a:p>
        </p:txBody>
      </p:sp>
      <p:sp>
        <p:nvSpPr>
          <p:cNvPr id="22" name="TextBox 21">
            <a:extLst>
              <a:ext uri="{FF2B5EF4-FFF2-40B4-BE49-F238E27FC236}">
                <a16:creationId xmlns:a16="http://schemas.microsoft.com/office/drawing/2014/main" id="{7377F951-8CFC-CE07-FD05-28640402F9E8}"/>
              </a:ext>
            </a:extLst>
          </p:cNvPr>
          <p:cNvSpPr txBox="1"/>
          <p:nvPr/>
        </p:nvSpPr>
        <p:spPr>
          <a:xfrm>
            <a:off x="508000" y="7493000"/>
            <a:ext cx="16764000" cy="707886"/>
          </a:xfrm>
          <a:prstGeom prst="rect">
            <a:avLst/>
          </a:prstGeom>
          <a:noFill/>
        </p:spPr>
        <p:txBody>
          <a:bodyPr vert="horz" wrap="square" lIns="0" tIns="0" rIns="0" bIns="0" rtlCol="0">
            <a:spAutoFit/>
          </a:bodyPr>
          <a:lstStyle/>
          <a:p>
            <a:r>
              <a:rPr lang="en-US" sz="2300">
                <a:solidFill>
                  <a:srgbClr val="007F85"/>
                </a:solidFill>
                <a:latin typeface="Aptos" panose="020B0004020202020204" pitchFamily="34" charset="0"/>
              </a:rPr>
              <a:t>SQL public access stays disabled. An ephemeral Azure container executes inside the private VNet; desktop screens replay its recorded outputs.</a:t>
            </a:r>
          </a:p>
        </p:txBody>
      </p:sp>
      <p:sp>
        <p:nvSpPr>
          <p:cNvPr id="23" name="TextBox 22">
            <a:extLst>
              <a:ext uri="{FF2B5EF4-FFF2-40B4-BE49-F238E27FC236}">
                <a16:creationId xmlns:a16="http://schemas.microsoft.com/office/drawing/2014/main" id="{DF84DEFB-800D-F184-13C5-632E5A8DB5CD}"/>
              </a:ext>
            </a:extLst>
          </p:cNvPr>
          <p:cNvSpPr txBox="1"/>
          <p:nvPr/>
        </p:nvSpPr>
        <p:spPr>
          <a:xfrm>
            <a:off x="508000" y="8572500"/>
            <a:ext cx="16764000" cy="307777"/>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Limits: curated documents only; no arbitrary upload/scanning claim; no public production API; Search is filtered keyword retrieval.</a:t>
            </a:r>
          </a:p>
        </p:txBody>
      </p:sp>
      <p:sp>
        <p:nvSpPr>
          <p:cNvPr id="24" name="TextBox 23">
            <a:hlinkClick r:id="rId3" action="ppaction://hlinksldjump"/>
            <a:extLst>
              <a:ext uri="{FF2B5EF4-FFF2-40B4-BE49-F238E27FC236}">
                <a16:creationId xmlns:a16="http://schemas.microsoft.com/office/drawing/2014/main" id="{B7401035-9E7B-9F78-70E8-4AE868C3B7B0}"/>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25" name="TextBox 24">
            <a:hlinkClick r:id="rId4" action="ppaction://hlinksldjump"/>
            <a:extLst>
              <a:ext uri="{FF2B5EF4-FFF2-40B4-BE49-F238E27FC236}">
                <a16:creationId xmlns:a16="http://schemas.microsoft.com/office/drawing/2014/main" id="{A53B2441-03A6-A537-3230-6E11A79C4798}"/>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26" name="TextBox 25">
            <a:hlinkClick r:id="rId5" action="ppaction://hlinksldjump"/>
            <a:extLst>
              <a:ext uri="{FF2B5EF4-FFF2-40B4-BE49-F238E27FC236}">
                <a16:creationId xmlns:a16="http://schemas.microsoft.com/office/drawing/2014/main" id="{3C74EE96-CEEC-2FD0-D572-064CC0781E66}"/>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2711811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EA2123-2323-A7DD-B038-219C67A5BC87}"/>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9D840661-D8EE-D300-457F-9A3E2E55EA94}"/>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01: Clean invoice</a:t>
            </a:r>
          </a:p>
        </p:txBody>
      </p:sp>
      <p:sp>
        <p:nvSpPr>
          <p:cNvPr id="4" name="TextBox 3">
            <a:extLst>
              <a:ext uri="{FF2B5EF4-FFF2-40B4-BE49-F238E27FC236}">
                <a16:creationId xmlns:a16="http://schemas.microsoft.com/office/drawing/2014/main" id="{89AEC48B-2DC9-9D58-515D-D4C0A373DC0E}"/>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A902D83F-B295-9751-A924-9823CF4FFA5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CE2C14DA-EBAE-87AB-957F-E80C33AABE19}"/>
              </a:ext>
            </a:extLst>
          </p:cNvPr>
          <p:cNvSpPr/>
          <p:nvPr/>
        </p:nvSpPr>
        <p:spPr>
          <a:xfrm>
            <a:off x="611815" y="355135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D153968-629F-9D68-4AC6-AB78E8F9059B}"/>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09B96405-9DAB-0801-ED7A-183004DF8C5E}"/>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01 in the left-hand flow.</a:t>
            </a:r>
          </a:p>
        </p:txBody>
      </p:sp>
      <p:sp>
        <p:nvSpPr>
          <p:cNvPr id="10" name="TextBox 9">
            <a:extLst>
              <a:ext uri="{FF2B5EF4-FFF2-40B4-BE49-F238E27FC236}">
                <a16:creationId xmlns:a16="http://schemas.microsoft.com/office/drawing/2014/main" id="{9D52357B-815B-CB10-05E5-0DD8EE27E109}"/>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CB8F969D-5A3A-3A4D-ECAA-3ECC26895D8D}"/>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Exact fixture facts and deterministic checks, a source-linked internal AI draft, and explicit human-review limits.</a:t>
            </a:r>
          </a:p>
        </p:txBody>
      </p:sp>
      <p:sp>
        <p:nvSpPr>
          <p:cNvPr id="12" name="TextBox 11">
            <a:extLst>
              <a:ext uri="{FF2B5EF4-FFF2-40B4-BE49-F238E27FC236}">
                <a16:creationId xmlns:a16="http://schemas.microsoft.com/office/drawing/2014/main" id="{B81C6831-0CB5-072A-EF1E-070B1CB57501}"/>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EB8B1889-6A46-CED4-5902-E93659FB1D4B}"/>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Reduce reassembly of context while keeping the source and decision boundary visible.</a:t>
            </a:r>
          </a:p>
        </p:txBody>
      </p:sp>
      <p:sp>
        <p:nvSpPr>
          <p:cNvPr id="14" name="TextBox 13">
            <a:hlinkClick r:id="rId4" action="ppaction://hlinksldjump"/>
            <a:extLst>
              <a:ext uri="{FF2B5EF4-FFF2-40B4-BE49-F238E27FC236}">
                <a16:creationId xmlns:a16="http://schemas.microsoft.com/office/drawing/2014/main" id="{6586294C-2B6C-2A5A-A642-9F727967290F}"/>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4" action="ppaction://hlinksldjump"/>
            <a:extLst>
              <a:ext uri="{FF2B5EF4-FFF2-40B4-BE49-F238E27FC236}">
                <a16:creationId xmlns:a16="http://schemas.microsoft.com/office/drawing/2014/main" id="{AC718440-3C33-D8C5-979F-B9D3C0A8254F}"/>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5" action="ppaction://hlinksldjump"/>
            <a:extLst>
              <a:ext uri="{FF2B5EF4-FFF2-40B4-BE49-F238E27FC236}">
                <a16:creationId xmlns:a16="http://schemas.microsoft.com/office/drawing/2014/main" id="{01E519CA-32F9-F668-32C3-9E96CC193D2B}"/>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2983153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68E2F4-A904-7768-135B-DC0FEADE9922}"/>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57A297E5-00F4-EB7F-707B-6E911840ADC6}"/>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02: PO / receipt checks</a:t>
            </a:r>
          </a:p>
        </p:txBody>
      </p:sp>
      <p:sp>
        <p:nvSpPr>
          <p:cNvPr id="4" name="TextBox 3">
            <a:extLst>
              <a:ext uri="{FF2B5EF4-FFF2-40B4-BE49-F238E27FC236}">
                <a16:creationId xmlns:a16="http://schemas.microsoft.com/office/drawing/2014/main" id="{1C5EFB24-DECF-429C-0DC9-0F2D3EDA89BD}"/>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CE2AF975-E0DD-27B1-BAC1-4062E00FCC2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5A2E5CBB-23C5-4485-6163-4823040F9E17}"/>
              </a:ext>
            </a:extLst>
          </p:cNvPr>
          <p:cNvSpPr/>
          <p:nvPr/>
        </p:nvSpPr>
        <p:spPr>
          <a:xfrm>
            <a:off x="611815" y="429263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4E96452-19A4-7489-DC0A-2A4A00F69014}"/>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ACF70AAA-B00E-DA46-A701-2588132D4B1E}"/>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02 in the left-hand flow.</a:t>
            </a:r>
          </a:p>
        </p:txBody>
      </p:sp>
      <p:sp>
        <p:nvSpPr>
          <p:cNvPr id="10" name="TextBox 9">
            <a:extLst>
              <a:ext uri="{FF2B5EF4-FFF2-40B4-BE49-F238E27FC236}">
                <a16:creationId xmlns:a16="http://schemas.microsoft.com/office/drawing/2014/main" id="{52F39893-032D-625C-45AC-4A53424BC0F9}"/>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2E0F4B9D-AEF6-CF53-3CA9-2AB50AF73598}"/>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Exact fixture facts and deterministic checks, a source-linked internal AI draft, and explicit human-review limits.</a:t>
            </a:r>
          </a:p>
        </p:txBody>
      </p:sp>
      <p:sp>
        <p:nvSpPr>
          <p:cNvPr id="12" name="TextBox 11">
            <a:extLst>
              <a:ext uri="{FF2B5EF4-FFF2-40B4-BE49-F238E27FC236}">
                <a16:creationId xmlns:a16="http://schemas.microsoft.com/office/drawing/2014/main" id="{B02ABB81-ED18-0F57-2763-F4FFC3B7B65A}"/>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4DEDA603-0652-7D86-0C4C-397BC3AB8254}"/>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Reduce reassembly of context while keeping the source and decision boundary visible.</a:t>
            </a:r>
          </a:p>
        </p:txBody>
      </p:sp>
      <p:sp>
        <p:nvSpPr>
          <p:cNvPr id="14" name="TextBox 13">
            <a:hlinkClick r:id="rId4" action="ppaction://hlinksldjump"/>
            <a:extLst>
              <a:ext uri="{FF2B5EF4-FFF2-40B4-BE49-F238E27FC236}">
                <a16:creationId xmlns:a16="http://schemas.microsoft.com/office/drawing/2014/main" id="{B5393C78-AADA-1787-8E36-D640A793FC29}"/>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892C770C-3ED6-8AC6-BB7F-B77348969F2F}"/>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5F7DF155-72BE-B903-E13D-BFE24151114E}"/>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287491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D6F4A6-E5AE-FF35-EC69-440EB5EE2573}"/>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771097E5-0573-EB90-BAF3-4F8883E23C30}"/>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03: Quantity variance</a:t>
            </a:r>
          </a:p>
        </p:txBody>
      </p:sp>
      <p:sp>
        <p:nvSpPr>
          <p:cNvPr id="4" name="TextBox 3">
            <a:extLst>
              <a:ext uri="{FF2B5EF4-FFF2-40B4-BE49-F238E27FC236}">
                <a16:creationId xmlns:a16="http://schemas.microsoft.com/office/drawing/2014/main" id="{5D0E01A1-A6B6-6934-D4E7-477C8FFC0E25}"/>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0506EC25-F5B3-54C7-233C-61723B80D54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70442022-73DB-8D10-400E-BB999A490266}"/>
              </a:ext>
            </a:extLst>
          </p:cNvPr>
          <p:cNvSpPr/>
          <p:nvPr/>
        </p:nvSpPr>
        <p:spPr>
          <a:xfrm>
            <a:off x="611815" y="503391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6AC5955-DCE3-1762-754F-94DE7C612E88}"/>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00A2B62F-DDF3-58AE-58D0-A11AF7462750}"/>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03 in the left-hand flow.</a:t>
            </a:r>
          </a:p>
        </p:txBody>
      </p:sp>
      <p:sp>
        <p:nvSpPr>
          <p:cNvPr id="10" name="TextBox 9">
            <a:extLst>
              <a:ext uri="{FF2B5EF4-FFF2-40B4-BE49-F238E27FC236}">
                <a16:creationId xmlns:a16="http://schemas.microsoft.com/office/drawing/2014/main" id="{2B87B909-53E9-AA1C-4BF0-29B14C7CE1D8}"/>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FD6C7C7A-9573-279D-3256-3A207EA3ACB1}"/>
              </a:ext>
            </a:extLst>
          </p:cNvPr>
          <p:cNvSpPr txBox="1"/>
          <p:nvPr/>
        </p:nvSpPr>
        <p:spPr>
          <a:xfrm>
            <a:off x="13462000" y="4089400"/>
            <a:ext cx="4254500" cy="1015663"/>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NeedsInformation: QUANTITY. The finding remains visible beside the evidence and approved sources.</a:t>
            </a:r>
          </a:p>
        </p:txBody>
      </p:sp>
      <p:sp>
        <p:nvSpPr>
          <p:cNvPr id="12" name="TextBox 11">
            <a:extLst>
              <a:ext uri="{FF2B5EF4-FFF2-40B4-BE49-F238E27FC236}">
                <a16:creationId xmlns:a16="http://schemas.microsoft.com/office/drawing/2014/main" id="{B8B93726-06C2-40A7-691B-D63FBD9C9B73}"/>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8F1F6196-A5D9-AA86-BA1B-23C4C7C45F77}"/>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Surface the exception early and focus staff on the precise correction or escalation.</a:t>
            </a:r>
          </a:p>
        </p:txBody>
      </p:sp>
      <p:sp>
        <p:nvSpPr>
          <p:cNvPr id="14" name="TextBox 13">
            <a:hlinkClick r:id="rId4" action="ppaction://hlinksldjump"/>
            <a:extLst>
              <a:ext uri="{FF2B5EF4-FFF2-40B4-BE49-F238E27FC236}">
                <a16:creationId xmlns:a16="http://schemas.microsoft.com/office/drawing/2014/main" id="{7AEB6E85-F580-7C5C-787B-107836234F05}"/>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4887EC94-CDB9-93E0-BED6-6AD1696D48B9}"/>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255C37D6-F100-A3D1-0C68-F5617455479B}"/>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15536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4D4B84-E58A-3FA1-D4B4-BCA3503B6903}"/>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C71A2F75-EF16-D8C0-5DBF-A9932088835F}"/>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04: Duplicate invoice</a:t>
            </a:r>
          </a:p>
        </p:txBody>
      </p:sp>
      <p:sp>
        <p:nvSpPr>
          <p:cNvPr id="4" name="TextBox 3">
            <a:extLst>
              <a:ext uri="{FF2B5EF4-FFF2-40B4-BE49-F238E27FC236}">
                <a16:creationId xmlns:a16="http://schemas.microsoft.com/office/drawing/2014/main" id="{CBB2FD70-86DB-EFA2-A415-87B29925EFD6}"/>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E3E4DD9B-3758-360F-5D2C-DCC0E329839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CDA24C4B-008F-7847-B185-B88BE7B62498}"/>
              </a:ext>
            </a:extLst>
          </p:cNvPr>
          <p:cNvSpPr/>
          <p:nvPr/>
        </p:nvSpPr>
        <p:spPr>
          <a:xfrm>
            <a:off x="611815" y="577519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C283D8E-C472-9401-E60F-A72436BB1C77}"/>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62C57C70-B566-A36B-48BF-701CFF4653F3}"/>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04 in the left-hand flow.</a:t>
            </a:r>
          </a:p>
        </p:txBody>
      </p:sp>
      <p:sp>
        <p:nvSpPr>
          <p:cNvPr id="10" name="TextBox 9">
            <a:extLst>
              <a:ext uri="{FF2B5EF4-FFF2-40B4-BE49-F238E27FC236}">
                <a16:creationId xmlns:a16="http://schemas.microsoft.com/office/drawing/2014/main" id="{6824B488-0775-C6D9-836C-D4A5194F68DE}"/>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BA8231D9-BBFB-A737-0A4D-25D9AC324413}"/>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NeedsInformation: DUPLICATE. The finding remains visible beside the evidence and approved sources.</a:t>
            </a:r>
          </a:p>
        </p:txBody>
      </p:sp>
      <p:sp>
        <p:nvSpPr>
          <p:cNvPr id="12" name="TextBox 11">
            <a:extLst>
              <a:ext uri="{FF2B5EF4-FFF2-40B4-BE49-F238E27FC236}">
                <a16:creationId xmlns:a16="http://schemas.microsoft.com/office/drawing/2014/main" id="{A907D016-1468-9D0D-6F76-F1BEADEF100A}"/>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8BBD98E8-5E05-6373-1708-C198C4A8D7C7}"/>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Surface the exception early and focus staff on the precise correction or escalation.</a:t>
            </a:r>
          </a:p>
        </p:txBody>
      </p:sp>
      <p:sp>
        <p:nvSpPr>
          <p:cNvPr id="14" name="TextBox 13">
            <a:hlinkClick r:id="rId4" action="ppaction://hlinksldjump"/>
            <a:extLst>
              <a:ext uri="{FF2B5EF4-FFF2-40B4-BE49-F238E27FC236}">
                <a16:creationId xmlns:a16="http://schemas.microsoft.com/office/drawing/2014/main" id="{0711F753-98BA-26CD-42D4-578045F04251}"/>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F60801DB-AADC-4E83-B11D-CEB264CF930E}"/>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1D14178F-B77B-7C82-4BDA-F5DDD5D256A5}"/>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2304821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843EAA-5D89-BDC6-F569-6055E662CEE1}"/>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AB7F7B84-8619-DB5C-4BCB-5B8E99062940}"/>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05: Bank-change hold</a:t>
            </a:r>
          </a:p>
        </p:txBody>
      </p:sp>
      <p:sp>
        <p:nvSpPr>
          <p:cNvPr id="4" name="TextBox 3">
            <a:extLst>
              <a:ext uri="{FF2B5EF4-FFF2-40B4-BE49-F238E27FC236}">
                <a16:creationId xmlns:a16="http://schemas.microsoft.com/office/drawing/2014/main" id="{A95A9926-32A6-2347-CC63-1AA1DEC85B12}"/>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9D29BCC3-AD16-1F80-3DBC-9A5B07C898B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D3656D1A-C2E2-96DB-D900-09F2B9F1CE4A}"/>
              </a:ext>
            </a:extLst>
          </p:cNvPr>
          <p:cNvSpPr/>
          <p:nvPr/>
        </p:nvSpPr>
        <p:spPr>
          <a:xfrm>
            <a:off x="611815" y="6516475"/>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9A1271D-D4B3-6D93-0E7E-9FF5085A42E1}"/>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9E0749D9-1951-24B1-EDB4-5DA992AC21CA}"/>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05 in the left-hand flow.</a:t>
            </a:r>
          </a:p>
        </p:txBody>
      </p:sp>
      <p:sp>
        <p:nvSpPr>
          <p:cNvPr id="10" name="TextBox 9">
            <a:extLst>
              <a:ext uri="{FF2B5EF4-FFF2-40B4-BE49-F238E27FC236}">
                <a16:creationId xmlns:a16="http://schemas.microsoft.com/office/drawing/2014/main" id="{13C994E3-5B48-7094-1394-2CF43AC527F3}"/>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FE34FC61-8CCF-E188-CADE-B9011ADBB987}"/>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HumanReviewRequired: BANK_HOLD. The finding remains visible beside the evidence and approved sources.</a:t>
            </a:r>
          </a:p>
        </p:txBody>
      </p:sp>
      <p:sp>
        <p:nvSpPr>
          <p:cNvPr id="12" name="TextBox 11">
            <a:extLst>
              <a:ext uri="{FF2B5EF4-FFF2-40B4-BE49-F238E27FC236}">
                <a16:creationId xmlns:a16="http://schemas.microsoft.com/office/drawing/2014/main" id="{0891E4D4-0DAE-6BBD-92D6-EE492E7A1BB2}"/>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85971C8A-AF71-016E-667E-C20D6BC489BE}"/>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Surface the exception early and focus staff on the precise correction or escalation.</a:t>
            </a:r>
          </a:p>
        </p:txBody>
      </p:sp>
      <p:sp>
        <p:nvSpPr>
          <p:cNvPr id="14" name="TextBox 13">
            <a:hlinkClick r:id="rId4" action="ppaction://hlinksldjump"/>
            <a:extLst>
              <a:ext uri="{FF2B5EF4-FFF2-40B4-BE49-F238E27FC236}">
                <a16:creationId xmlns:a16="http://schemas.microsoft.com/office/drawing/2014/main" id="{509F33E8-D97F-D671-9647-4FF2C6441138}"/>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EC011A28-04DD-4FD9-23A6-134E8253CDCE}"/>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58803D8B-8657-D7B5-329E-EEBC181C4424}"/>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403551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1AAD01-281E-22D6-AB50-E5221B56EBBA}"/>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59A1986F-8E6D-DB4E-2567-2E9840650A0A}"/>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06: Approve / audit</a:t>
            </a:r>
          </a:p>
        </p:txBody>
      </p:sp>
      <p:sp>
        <p:nvSpPr>
          <p:cNvPr id="4" name="TextBox 3">
            <a:extLst>
              <a:ext uri="{FF2B5EF4-FFF2-40B4-BE49-F238E27FC236}">
                <a16:creationId xmlns:a16="http://schemas.microsoft.com/office/drawing/2014/main" id="{6B07BB70-1731-3506-024A-9EAE6DE61C34}"/>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D5EFB0FF-1307-BDC6-327B-BB8560D3BC0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2B294FD4-746D-BD4F-2687-6BD0061E182E}"/>
              </a:ext>
            </a:extLst>
          </p:cNvPr>
          <p:cNvSpPr/>
          <p:nvPr/>
        </p:nvSpPr>
        <p:spPr>
          <a:xfrm>
            <a:off x="611815" y="7257755"/>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5766738-0A4B-EB92-77B1-94DADB952B48}"/>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0F02EC4D-0397-4111-5669-22722F94CBB1}"/>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06 in the left-hand flow.</a:t>
            </a:r>
          </a:p>
        </p:txBody>
      </p:sp>
      <p:sp>
        <p:nvSpPr>
          <p:cNvPr id="10" name="TextBox 9">
            <a:extLst>
              <a:ext uri="{FF2B5EF4-FFF2-40B4-BE49-F238E27FC236}">
                <a16:creationId xmlns:a16="http://schemas.microsoft.com/office/drawing/2014/main" id="{44A5904F-E9E0-0ED2-0311-412153B61DF9}"/>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2A670A2E-ECBE-58ED-08F8-86A77F486577}"/>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A persisted internal approval, duplicate-safe operation key, audit timeline and explicitly Simulated handoff.</a:t>
            </a:r>
          </a:p>
        </p:txBody>
      </p:sp>
      <p:sp>
        <p:nvSpPr>
          <p:cNvPr id="12" name="TextBox 11">
            <a:extLst>
              <a:ext uri="{FF2B5EF4-FFF2-40B4-BE49-F238E27FC236}">
                <a16:creationId xmlns:a16="http://schemas.microsoft.com/office/drawing/2014/main" id="{FFFE7825-FC91-FA46-02FA-28515C34BB68}"/>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1E70FCDB-E161-0C83-05EF-ECAD98EA7801}"/>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Traceable handoff without silently executing a consequential business action.</a:t>
            </a:r>
          </a:p>
        </p:txBody>
      </p:sp>
      <p:sp>
        <p:nvSpPr>
          <p:cNvPr id="14" name="TextBox 13">
            <a:hlinkClick r:id="rId4" action="ppaction://hlinksldjump"/>
            <a:extLst>
              <a:ext uri="{FF2B5EF4-FFF2-40B4-BE49-F238E27FC236}">
                <a16:creationId xmlns:a16="http://schemas.microsoft.com/office/drawing/2014/main" id="{769EF391-B42C-8DBA-BC19-7BBFBC1DEC80}"/>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2C48D6E1-6EE9-4C3C-EBDF-734AFEF9E4EE}"/>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A6D891A4-2535-1857-5F37-069E2D15317B}"/>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1957649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015C1A-7B66-7E28-E1EF-9557F4D6FD11}"/>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09 / DEMO HANDOFF</a:t>
            </a:r>
          </a:p>
        </p:txBody>
      </p:sp>
      <p:sp>
        <p:nvSpPr>
          <p:cNvPr id="3" name="TextBox 2">
            <a:extLst>
              <a:ext uri="{FF2B5EF4-FFF2-40B4-BE49-F238E27FC236}">
                <a16:creationId xmlns:a16="http://schemas.microsoft.com/office/drawing/2014/main" id="{9525BBE2-426E-A65D-5ED7-141E960FF376}"/>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Verified outcome and honest operating limits</a:t>
            </a:r>
          </a:p>
        </p:txBody>
      </p:sp>
      <p:sp>
        <p:nvSpPr>
          <p:cNvPr id="4" name="TextBox 3">
            <a:extLst>
              <a:ext uri="{FF2B5EF4-FFF2-40B4-BE49-F238E27FC236}">
                <a16:creationId xmlns:a16="http://schemas.microsoft.com/office/drawing/2014/main" id="{D6946DB4-3CBB-8184-9B51-940CF92EB61D}"/>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TextBox 4">
            <a:extLst>
              <a:ext uri="{FF2B5EF4-FFF2-40B4-BE49-F238E27FC236}">
                <a16:creationId xmlns:a16="http://schemas.microsoft.com/office/drawing/2014/main" id="{FAFBE3AE-B867-B443-624E-4E6C273CC249}"/>
              </a:ext>
            </a:extLst>
          </p:cNvPr>
          <p:cNvSpPr txBox="1"/>
          <p:nvPr/>
        </p:nvSpPr>
        <p:spPr>
          <a:xfrm>
            <a:off x="635000" y="1968500"/>
            <a:ext cx="10287000" cy="2077492"/>
          </a:xfrm>
          <a:prstGeom prst="rect">
            <a:avLst/>
          </a:prstGeom>
          <a:noFill/>
        </p:spPr>
        <p:txBody>
          <a:bodyPr vert="horz" wrap="square" lIns="0" tIns="0" rIns="0" bIns="0" rtlCol="0">
            <a:spAutoFit/>
          </a:bodyPr>
          <a:lstStyle/>
          <a:p>
            <a:r>
              <a:rPr lang="en-US" sz="2700">
                <a:solidFill>
                  <a:srgbClr val="122D46"/>
                </a:solidFill>
                <a:latin typeface="Aptos" panose="020B0004020202020204" pitchFamily="34" charset="0"/>
              </a:rPr>
              <a:t>LIVE EVIDENCE
16 recorded service requests
3298 input / 1167 output tokens
1 extracted document pages
SQL approval + duplicate, owner, stale-input and expiry guards</a:t>
            </a:r>
          </a:p>
        </p:txBody>
      </p:sp>
      <p:sp>
        <p:nvSpPr>
          <p:cNvPr id="6" name="TextBox 5">
            <a:extLst>
              <a:ext uri="{FF2B5EF4-FFF2-40B4-BE49-F238E27FC236}">
                <a16:creationId xmlns:a16="http://schemas.microsoft.com/office/drawing/2014/main" id="{08E914DB-88DD-CD8C-2EA2-F337F7518EE4}"/>
              </a:ext>
            </a:extLst>
          </p:cNvPr>
          <p:cNvSpPr txBox="1"/>
          <p:nvPr/>
        </p:nvSpPr>
        <p:spPr>
          <a:xfrm>
            <a:off x="12065000" y="1968500"/>
            <a:ext cx="5397500" cy="1600438"/>
          </a:xfrm>
          <a:prstGeom prst="rect">
            <a:avLst/>
          </a:prstGeom>
          <a:noFill/>
        </p:spPr>
        <p:txBody>
          <a:bodyPr vert="horz" wrap="square" lIns="0" tIns="0" rIns="0" bIns="0" rtlCol="0">
            <a:spAutoFit/>
          </a:bodyPr>
          <a:lstStyle/>
          <a:p>
            <a:r>
              <a:rPr lang="en-US" sz="2600" b="1">
                <a:solidFill>
                  <a:srgbClr val="007F85"/>
                </a:solidFill>
                <a:latin typeface="Aptos" panose="020B0004020202020204" pitchFamily="34" charset="0"/>
              </a:rPr>
              <a:t>VISIBLE DEMO OUTCOME
InternalBriefOnly
Notification sink: Simulated
External notifications: 0</a:t>
            </a:r>
          </a:p>
        </p:txBody>
      </p:sp>
      <p:sp>
        <p:nvSpPr>
          <p:cNvPr id="7" name="TextBox 6">
            <a:extLst>
              <a:ext uri="{FF2B5EF4-FFF2-40B4-BE49-F238E27FC236}">
                <a16:creationId xmlns:a16="http://schemas.microsoft.com/office/drawing/2014/main" id="{112FF25F-DE74-A539-74FB-E26890C64B5C}"/>
              </a:ext>
            </a:extLst>
          </p:cNvPr>
          <p:cNvSpPr txBox="1"/>
          <p:nvPr/>
        </p:nvSpPr>
        <p:spPr>
          <a:xfrm>
            <a:off x="635000" y="5905500"/>
            <a:ext cx="16764000" cy="2031325"/>
          </a:xfrm>
          <a:prstGeom prst="rect">
            <a:avLst/>
          </a:prstGeom>
          <a:noFill/>
        </p:spPr>
        <p:txBody>
          <a:bodyPr vert="horz" wrap="square" lIns="0" tIns="0" rIns="0" bIns="0" rtlCol="0">
            <a:spAutoFit/>
          </a:bodyPr>
          <a:lstStyle/>
          <a:p>
            <a:r>
              <a:rPr lang="en-US" sz="2200">
                <a:solidFill>
                  <a:srgbClr val="516478"/>
                </a:solidFill>
                <a:latin typeface="Aptos" panose="020B0004020202020204" pitchFamily="34" charset="0"/>
              </a:rPr>
              <a:t>Synthetic single-operator desktop demonstration, not production public intake.
No malware-scanned arbitrary upload pipeline; only curated local fixtures.
No hosted API, unattended durable worker or external operational connector.
No measured business-time baseline or current-price cost estimate.
Search is filtered keyword retrieval, not hybrid/vector retrieval.
Screenshots are replay of these saved live results; slide advance never calls Azure.</a:t>
            </a:r>
          </a:p>
        </p:txBody>
      </p:sp>
      <p:sp>
        <p:nvSpPr>
          <p:cNvPr id="8" name="TextBox 7">
            <a:hlinkClick r:id="rId3" action="ppaction://hlinksldjump"/>
            <a:extLst>
              <a:ext uri="{FF2B5EF4-FFF2-40B4-BE49-F238E27FC236}">
                <a16:creationId xmlns:a16="http://schemas.microsoft.com/office/drawing/2014/main" id="{DE22632A-C13A-BAF7-0A77-5E5EBD0DD877}"/>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9" name="TextBox 8">
            <a:hlinkClick r:id="rId4" action="ppaction://hlinksldjump"/>
            <a:extLst>
              <a:ext uri="{FF2B5EF4-FFF2-40B4-BE49-F238E27FC236}">
                <a16:creationId xmlns:a16="http://schemas.microsoft.com/office/drawing/2014/main" id="{B2FDBC80-BB05-4E0A-82F2-420768E31EA8}"/>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0" name="TextBox 9">
            <a:hlinkClick r:id="rId5" action="ppaction://hlinksldjump"/>
            <a:extLst>
              <a:ext uri="{FF2B5EF4-FFF2-40B4-BE49-F238E27FC236}">
                <a16:creationId xmlns:a16="http://schemas.microsoft.com/office/drawing/2014/main" id="{29406226-520D-77D7-68DF-277AC5C92262}"/>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25467397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2730</Words>
  <Application>Microsoft Office PowerPoint</Application>
  <PresentationFormat>Custom</PresentationFormat>
  <Paragraphs>172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MOD Administrator</dc:creator>
  <cp:lastModifiedBy>MOD Administrator</cp:lastModifiedBy>
  <cp:revision>1</cp:revision>
  <dcterms:created xsi:type="dcterms:W3CDTF">2026-10-28T15:36:46Z</dcterms:created>
  <dcterms:modified xsi:type="dcterms:W3CDTF">2026-10-28T15:36:47Z</dcterms:modified>
</cp:coreProperties>
</file>