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D6409E-EA4B-4FB0-9F6D-B67A8A94F20A}" type="datetimeFigureOut">
              <a:rPr lang="en-US" smtClean="0"/>
              <a:t>10/28/2026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194436-BD78-4F80-93A6-9535256D8C3A}" type="slidenum">
              <a:rPr lang="en-US" smtClean="0"/>
              <a:t>‹#›</a:t>
            </a:fld>
            <a:endParaRPr lang="en-US"/>
          </a:p>
        </p:txBody>
      </p:sp>
    </p:spTree>
    <p:extLst>
      <p:ext uri="{BB962C8B-B14F-4D97-AF65-F5344CB8AC3E}">
        <p14:creationId xmlns:p14="http://schemas.microsoft.com/office/powerpoint/2010/main" val="28607004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challenge: First-notice-of-loss submissions mix incomplete narratives, dates, invoices and estimates. Intake staff must organize the facts and ask targeted follow-up questions before an adjuster can review.</a:t>
            </a:r>
          </a:p>
          <a:p>
            <a:r>
              <a:rPr lang="en-US"/>
              <a:t>Business value: Create an evidence-linked intake packet and adjuster briefing. Track document completeness and review preparation time; no automated coverage, fraud, settlement or denial decision.</a:t>
            </a:r>
          </a:p>
          <a:p>
            <a:r>
              <a:rPr lang="en-US"/>
              <a:t>Measurement targets are hypotheses: no analyst-time baseline or monetary savings was measured. MVP: MVP boundary: Fictional home-property claims and synthetic policy records. Organize a loss narrative, receipt and estimate; preserve disputed facts and let an adjuster decide next steps.</a:t>
            </a:r>
          </a:p>
          <a:p>
            <a:r>
              <a:rPr lang="en-US"/>
              <a:t>Boundary: Human boundary: A date discrepancy is a review flag, not proof of no coverage or fraud. Avoid protected-attribute profiling and unsupported credibility scoring. Only the adjuster may determine coverage.</a:t>
            </a:r>
          </a:p>
        </p:txBody>
      </p:sp>
      <p:sp>
        <p:nvSpPr>
          <p:cNvPr id="4" name="Slide Number Placeholder 3"/>
          <p:cNvSpPr>
            <a:spLocks noGrp="1"/>
          </p:cNvSpPr>
          <p:nvPr>
            <p:ph type="sldNum" sz="quarter" idx="5"/>
          </p:nvPr>
        </p:nvSpPr>
        <p:spPr/>
        <p:txBody>
          <a:bodyPr/>
          <a:lstStyle/>
          <a:p>
            <a:fld id="{03194436-BD78-4F80-93A6-9535256D8C3A}" type="slidenum">
              <a:rPr lang="en-US" smtClean="0"/>
              <a:t>1</a:t>
            </a:fld>
            <a:endParaRPr lang="en-US"/>
          </a:p>
        </p:txBody>
      </p:sp>
    </p:spTree>
    <p:extLst>
      <p:ext uri="{BB962C8B-B14F-4D97-AF65-F5344CB8AC3E}">
        <p14:creationId xmlns:p14="http://schemas.microsoft.com/office/powerpoint/2010/main" val="3453186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Actual deployed Azure inventory is in Infrastructure\deployed-resources.json. Each use case has a separate resource group in subscription dfc418e8-191e-453b-ad84-a10e863314ca. A shared private execution network lives in the invoice resource group; SQL private endpoints live with each demo. The temporary container is deleted after execution. Azure CLI operator tokens are supplied as secure container environment values, not embedded credentials. This desktop demo does not claim hosted managed-identity APIs or production app roles. Business benefit: a repeatable, evidence-visible workflow with exact rules outside the model. Screenshots are replay of saved live service output, not fresh calls from PowerPoint. Existing Key Vault is unnecessary because the app has no stored secrets.</a:t>
            </a:r>
          </a:p>
        </p:txBody>
      </p:sp>
      <p:sp>
        <p:nvSpPr>
          <p:cNvPr id="4" name="Slide Number Placeholder 3"/>
          <p:cNvSpPr>
            <a:spLocks noGrp="1"/>
          </p:cNvSpPr>
          <p:nvPr>
            <p:ph type="sldNum" sz="quarter" idx="5"/>
          </p:nvPr>
        </p:nvSpPr>
        <p:spPr/>
        <p:txBody>
          <a:bodyPr/>
          <a:lstStyle/>
          <a:p>
            <a:fld id="{03194436-BD78-4F80-93A6-9535256D8C3A}" type="slidenum">
              <a:rPr lang="en-US" smtClean="0"/>
              <a:t>2</a:t>
            </a:fld>
            <a:endParaRPr lang="en-US"/>
          </a:p>
        </p:txBody>
      </p:sp>
    </p:spTree>
    <p:extLst>
      <p:ext uri="{BB962C8B-B14F-4D97-AF65-F5344CB8AC3E}">
        <p14:creationId xmlns:p14="http://schemas.microsoft.com/office/powerpoint/2010/main" val="4961509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Load the complete synthetic property-loss inquiry and supporting estimate.</a:t>
            </a:r>
          </a:p>
          <a:p>
            <a:r>
              <a:rPr lang="en-US"/>
              <a:t>Fixture: normal-01. Capture timestamp: 2026-10-28T15:35:24.0896202Z. State: ReviewReady. Rule findings: .</a:t>
            </a:r>
          </a:p>
          <a:p>
            <a:r>
              <a:rPr lang="en-US"/>
              <a:t>Business value and benefits: Create an evidence-linked intake packet and adjuster briefing. Track document completeness and review preparation time; no automated coverage, fraud, settlement or denial decision. This step makes the evidence, uncertainty or human boundary visible. Human boundary: A date discrepancy is a review flag, not proof of no coverage or fraud. Avoid protected-attribute profiling and unsupported credibility scoring. Only the adjuster may determine coverage.</a:t>
            </a:r>
          </a:p>
          <a:p>
            <a:r>
              <a:rPr lang="en-US"/>
              <a:t>What the user sees: Exact fixture facts and deterministic checks, a source-linked internal AI draft, and explicit human-review limits.</a:t>
            </a:r>
          </a:p>
          <a:p>
            <a:r>
              <a:rPr lang="en-US"/>
              <a:t>Evidence: saved live run 2026-10-28T15:27:35.0827044+00:00,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date discrepancy is a review flag, not proof of no coverage or fraud. Avoid protected-attribute profiling and unsupported credibility scoring. Only the adjuster may determine coverage.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03194436-BD78-4F80-93A6-9535256D8C3A}" type="slidenum">
              <a:rPr lang="en-US" smtClean="0"/>
              <a:t>3</a:t>
            </a:fld>
            <a:endParaRPr lang="en-US"/>
          </a:p>
        </p:txBody>
      </p:sp>
    </p:spTree>
    <p:extLst>
      <p:ext uri="{BB962C8B-B14F-4D97-AF65-F5344CB8AC3E}">
        <p14:creationId xmlns:p14="http://schemas.microsoft.com/office/powerpoint/2010/main" val="28515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Inspect the timeline alongside original page evidence.</a:t>
            </a:r>
          </a:p>
          <a:p>
            <a:r>
              <a:rPr lang="en-US"/>
              <a:t>Fixture: normal-01. Capture timestamp: 2026-10-28T15:35:25.0957156Z. State: ReviewReady. Rule findings: .</a:t>
            </a:r>
          </a:p>
          <a:p>
            <a:r>
              <a:rPr lang="en-US"/>
              <a:t>Business value and benefits: Create an evidence-linked intake packet and adjuster briefing. Track document completeness and review preparation time; no automated coverage, fraud, settlement or denial decision. This step makes the evidence, uncertainty or human boundary visible. Human boundary: A date discrepancy is a review flag, not proof of no coverage or fraud. Avoid protected-attribute profiling and unsupported credibility scoring. Only the adjuster may determine coverage.</a:t>
            </a:r>
          </a:p>
          <a:p>
            <a:r>
              <a:rPr lang="en-US"/>
              <a:t>What the user sees: Exact fixture facts and deterministic checks, a source-linked internal AI draft, and explicit human-review limits.</a:t>
            </a:r>
          </a:p>
          <a:p>
            <a:r>
              <a:rPr lang="en-US"/>
              <a:t>Evidence: saved live run 2026-10-28T15:27:35.0827044+00:00,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date discrepancy is a review flag, not proof of no coverage or fraud. Avoid protected-attribute profiling and unsupported credibility scoring. Only the adjuster may determine coverage.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03194436-BD78-4F80-93A6-9535256D8C3A}" type="slidenum">
              <a:rPr lang="en-US" smtClean="0"/>
              <a:t>4</a:t>
            </a:fld>
            <a:endParaRPr lang="en-US"/>
          </a:p>
        </p:txBody>
      </p:sp>
    </p:spTree>
    <p:extLst>
      <p:ext uri="{BB962C8B-B14F-4D97-AF65-F5344CB8AC3E}">
        <p14:creationId xmlns:p14="http://schemas.microsoft.com/office/powerpoint/2010/main" val="3376987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Open a fixture with conflicting dates; show both versions and the review flag.</a:t>
            </a:r>
          </a:p>
          <a:p>
            <a:r>
              <a:rPr lang="en-US"/>
              <a:t>Fixture: contradictory-01. Capture timestamp: 2026-10-28T15:35:26.1054999Z. State: NeedsInformation. Rule findings: DATE_CONFLICT.</a:t>
            </a:r>
          </a:p>
          <a:p>
            <a:r>
              <a:rPr lang="en-US"/>
              <a:t>Business value and benefits: Create an evidence-linked intake packet and adjuster briefing. Track document completeness and review preparation time; no automated coverage, fraud, settlement or denial decision. This step makes the evidence, uncertainty or human boundary visible. Human boundary: A date discrepancy is a review flag, not proof of no coverage or fraud. Avoid protected-attribute profiling and unsupported credibility scoring. Only the adjuster may determine coverage.</a:t>
            </a:r>
          </a:p>
          <a:p>
            <a:r>
              <a:rPr lang="en-US"/>
              <a:t>What the user sees: NeedsInformation: DATE_CONFLICT. The finding remains visible beside the evidence and approved sources.</a:t>
            </a:r>
          </a:p>
          <a:p>
            <a:r>
              <a:rPr lang="en-US"/>
              <a:t>Evidence: saved live run 2026-10-28T15:27:38.4948523+00:00,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date discrepancy is a review flag, not proof of no coverage or fraud. Avoid protected-attribute profiling and unsupported credibility scoring. Only the adjuster may determine coverage.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03194436-BD78-4F80-93A6-9535256D8C3A}" type="slidenum">
              <a:rPr lang="en-US" smtClean="0"/>
              <a:t>5</a:t>
            </a:fld>
            <a:endParaRPr lang="en-US"/>
          </a:p>
        </p:txBody>
      </p:sp>
    </p:spTree>
    <p:extLst>
      <p:ext uri="{BB962C8B-B14F-4D97-AF65-F5344CB8AC3E}">
        <p14:creationId xmlns:p14="http://schemas.microsoft.com/office/powerpoint/2010/main" val="3804843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Ask for an unsupported coverage conclusion; demonstrate abstention and adjuster referral.</a:t>
            </a:r>
          </a:p>
          <a:p>
            <a:r>
              <a:rPr lang="en-US"/>
              <a:t>Fixture: domain-01. Capture timestamp: 2026-10-28T15:35:27.1073605Z. State: NeedsInformation. Rule findings: ADJUSTER_ONLY.</a:t>
            </a:r>
          </a:p>
          <a:p>
            <a:r>
              <a:rPr lang="en-US"/>
              <a:t>Business value and benefits: Create an evidence-linked intake packet and adjuster briefing. Track document completeness and review preparation time; no automated coverage, fraud, settlement or denial decision. This step makes the evidence, uncertainty or human boundary visible. Human boundary: A date discrepancy is a review flag, not proof of no coverage or fraud. Avoid protected-attribute profiling and unsupported credibility scoring. Only the adjuster may determine coverage.</a:t>
            </a:r>
          </a:p>
          <a:p>
            <a:r>
              <a:rPr lang="en-US"/>
              <a:t>What the user sees: NeedsInformation: ADJUSTER_ONLY. The finding remains visible beside the evidence and approved sources.</a:t>
            </a:r>
          </a:p>
          <a:p>
            <a:r>
              <a:rPr lang="en-US"/>
              <a:t>Evidence: saved live run 2026-10-28T15:27:46.1199339+00:00,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date discrepancy is a review flag, not proof of no coverage or fraud. Avoid protected-attribute profiling and unsupported credibility scoring. Only the adjuster may determine coverage.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03194436-BD78-4F80-93A6-9535256D8C3A}" type="slidenum">
              <a:rPr lang="en-US" smtClean="0"/>
              <a:t>6</a:t>
            </a:fld>
            <a:endParaRPr lang="en-US"/>
          </a:p>
        </p:txBody>
      </p:sp>
    </p:spTree>
    <p:extLst>
      <p:ext uri="{BB962C8B-B14F-4D97-AF65-F5344CB8AC3E}">
        <p14:creationId xmlns:p14="http://schemas.microsoft.com/office/powerpoint/2010/main" val="1558082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Inspect the missing-document request and applicable guide citations.</a:t>
            </a:r>
          </a:p>
          <a:p>
            <a:r>
              <a:rPr lang="en-US"/>
              <a:t>Fixture: incomplete-01. Capture timestamp: 2026-10-28T15:35:28.1228155Z. State: NeedsInformation. Rule findings: MISSING_ESTIMATE.</a:t>
            </a:r>
          </a:p>
          <a:p>
            <a:r>
              <a:rPr lang="en-US"/>
              <a:t>Business value and benefits: Create an evidence-linked intake packet and adjuster briefing. Track document completeness and review preparation time; no automated coverage, fraud, settlement or denial decision. This step makes the evidence, uncertainty or human boundary visible. Human boundary: A date discrepancy is a review flag, not proof of no coverage or fraud. Avoid protected-attribute profiling and unsupported credibility scoring. Only the adjuster may determine coverage.</a:t>
            </a:r>
          </a:p>
          <a:p>
            <a:r>
              <a:rPr lang="en-US"/>
              <a:t>What the user sees: NeedsInformation: MISSING_ESTIMATE. The finding remains visible beside the evidence and approved sources.</a:t>
            </a:r>
          </a:p>
          <a:p>
            <a:r>
              <a:rPr lang="en-US"/>
              <a:t>Evidence: saved live run 2026-10-28T15:27:49.5506916+00:00,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date discrepancy is a review flag, not proof of no coverage or fraud. Avoid protected-attribute profiling and unsupported credibility scoring. Only the adjuster may determine coverage.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03194436-BD78-4F80-93A6-9535256D8C3A}" type="slidenum">
              <a:rPr lang="en-US" smtClean="0"/>
              <a:t>7</a:t>
            </a:fld>
            <a:endParaRPr lang="en-US"/>
          </a:p>
        </p:txBody>
      </p:sp>
    </p:spTree>
    <p:extLst>
      <p:ext uri="{BB962C8B-B14F-4D97-AF65-F5344CB8AC3E}">
        <p14:creationId xmlns:p14="http://schemas.microsoft.com/office/powerpoint/2010/main" val="1072988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Action: Approve the intake packet without accepting or denying the claim.</a:t>
            </a:r>
          </a:p>
          <a:p>
            <a:r>
              <a:rPr lang="en-US"/>
              <a:t>Fixture: normal-01. Capture timestamp: 2026-10-28T15:35:29.1832869Z. State: ReviewReady. Rule findings: .</a:t>
            </a:r>
          </a:p>
          <a:p>
            <a:r>
              <a:rPr lang="en-US"/>
              <a:t>Business value and benefits: Create an evidence-linked intake packet and adjuster briefing. Track document completeness and review preparation time; no automated coverage, fraud, settlement or denial decision. This step makes the evidence, uncertainty or human boundary visible. Human boundary: A date discrepancy is a review flag, not proof of no coverage or fraud. Avoid protected-attribute profiling and unsupported credibility scoring. Only the adjuster may determine coverage.</a:t>
            </a:r>
          </a:p>
          <a:p>
            <a:r>
              <a:rPr lang="en-US"/>
              <a:t>What the user sees: A persisted internal approval, duplicate-safe operation key, audit timeline and explicitly Simulated handoff.</a:t>
            </a:r>
          </a:p>
          <a:p>
            <a:r>
              <a:rPr lang="en-US"/>
              <a:t>Evidence: saved live run 2026-10-28T15:27:35.0827044+00:00, mode Live Azure captured; 3 calls recorded for this fixture. Service request IDs, latency and usage are in Evidence. The screenshot itself is a Windows UI Automation-driven replay. Red rectangles identify the actual native control invoked during capture; they do not represent a new Azure request. Slide navigation advances screenshots only.</a:t>
            </a:r>
          </a:p>
          <a:p>
            <a:r>
              <a:rPr lang="en-US"/>
              <a:t>Boundary: Human boundary: A date discrepancy is a review flag, not proof of no coverage or fraud. Avoid protected-attribute profiling and unsupported credibility scoring. Only the adjuster may determine coverage.</a:t>
            </a:r>
          </a:p>
          <a:p>
            <a:r>
              <a:rPr lang="en-US"/>
              <a:t>No measured time savings or production performance is asserted.</a:t>
            </a:r>
          </a:p>
        </p:txBody>
      </p:sp>
      <p:sp>
        <p:nvSpPr>
          <p:cNvPr id="4" name="Slide Number Placeholder 3"/>
          <p:cNvSpPr>
            <a:spLocks noGrp="1"/>
          </p:cNvSpPr>
          <p:nvPr>
            <p:ph type="sldNum" sz="quarter" idx="5"/>
          </p:nvPr>
        </p:nvSpPr>
        <p:spPr/>
        <p:txBody>
          <a:bodyPr/>
          <a:lstStyle/>
          <a:p>
            <a:fld id="{03194436-BD78-4F80-93A6-9535256D8C3A}" type="slidenum">
              <a:rPr lang="en-US" smtClean="0"/>
              <a:t>8</a:t>
            </a:fld>
            <a:endParaRPr lang="en-US"/>
          </a:p>
        </p:txBody>
      </p:sp>
    </p:spTree>
    <p:extLst>
      <p:ext uri="{BB962C8B-B14F-4D97-AF65-F5344CB8AC3E}">
        <p14:creationId xmlns:p14="http://schemas.microsoft.com/office/powerpoint/2010/main" val="1242945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Business value: staff receive a reproducible internal review packet with source provenance, exact calculations where relevant, visible uncertainty and a traceable human decision. Benefits are demonstrated workflow properties, not measured economic gains. Setup, source, fixtures, raw Azure evidence, screenshots and IaC are retained in the demo folder. The source blueprint contains a larger production backlog; these deliverables intentionally do not claim a public intake service, malware-scanned upload path, durable background worker or operational integration. Azure SQL, Search and shared NAT/private networking have recurring costs until deliberately decommissioned.</a:t>
            </a:r>
          </a:p>
        </p:txBody>
      </p:sp>
      <p:sp>
        <p:nvSpPr>
          <p:cNvPr id="4" name="Slide Number Placeholder 3"/>
          <p:cNvSpPr>
            <a:spLocks noGrp="1"/>
          </p:cNvSpPr>
          <p:nvPr>
            <p:ph type="sldNum" sz="quarter" idx="5"/>
          </p:nvPr>
        </p:nvSpPr>
        <p:spPr/>
        <p:txBody>
          <a:bodyPr/>
          <a:lstStyle/>
          <a:p>
            <a:fld id="{03194436-BD78-4F80-93A6-9535256D8C3A}" type="slidenum">
              <a:rPr lang="en-US" smtClean="0"/>
              <a:t>9</a:t>
            </a:fld>
            <a:endParaRPr lang="en-US"/>
          </a:p>
        </p:txBody>
      </p:sp>
    </p:spTree>
    <p:extLst>
      <p:ext uri="{BB962C8B-B14F-4D97-AF65-F5344CB8AC3E}">
        <p14:creationId xmlns:p14="http://schemas.microsoft.com/office/powerpoint/2010/main" val="20570925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DE238-4C8D-C27C-5777-81CD5752B0EE}"/>
              </a:ext>
            </a:extLst>
          </p:cNvPr>
          <p:cNvSpPr>
            <a:spLocks noGrp="1"/>
          </p:cNvSpPr>
          <p:nvPr>
            <p:ph type="ctrTitle"/>
          </p:nvPr>
        </p:nvSpPr>
        <p:spPr>
          <a:xfrm>
            <a:off x="2286000" y="1683545"/>
            <a:ext cx="13716000" cy="35814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29A75BD-86DE-C3C6-E578-5B86A09798D9}"/>
              </a:ext>
            </a:extLst>
          </p:cNvPr>
          <p:cNvSpPr>
            <a:spLocks noGrp="1"/>
          </p:cNvSpPr>
          <p:nvPr>
            <p:ph type="subTitle" idx="1"/>
          </p:nvPr>
        </p:nvSpPr>
        <p:spPr>
          <a:xfrm>
            <a:off x="2286000" y="5403057"/>
            <a:ext cx="13716000" cy="2483643"/>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E869B7-F0B1-573A-C54F-49085C31F4E4}"/>
              </a:ext>
            </a:extLst>
          </p:cNvPr>
          <p:cNvSpPr>
            <a:spLocks noGrp="1"/>
          </p:cNvSpPr>
          <p:nvPr>
            <p:ph type="dt" sz="half" idx="10"/>
          </p:nvPr>
        </p:nvSpPr>
        <p:spPr/>
        <p:txBody>
          <a:bodyPr/>
          <a:lstStyle/>
          <a:p>
            <a:fld id="{703D546D-F21E-4ECF-8810-0B6A53368B12}" type="datetimeFigureOut">
              <a:rPr lang="en-US" smtClean="0"/>
              <a:t>10/28/2026</a:t>
            </a:fld>
            <a:endParaRPr lang="en-US"/>
          </a:p>
        </p:txBody>
      </p:sp>
      <p:sp>
        <p:nvSpPr>
          <p:cNvPr id="5" name="Footer Placeholder 4">
            <a:extLst>
              <a:ext uri="{FF2B5EF4-FFF2-40B4-BE49-F238E27FC236}">
                <a16:creationId xmlns:a16="http://schemas.microsoft.com/office/drawing/2014/main" id="{4DB1A30B-6F42-3D3D-DC1D-CA059B3F97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A6F05F-7382-E699-D214-D65350C18591}"/>
              </a:ext>
            </a:extLst>
          </p:cNvPr>
          <p:cNvSpPr>
            <a:spLocks noGrp="1"/>
          </p:cNvSpPr>
          <p:nvPr>
            <p:ph type="sldNum" sz="quarter" idx="12"/>
          </p:nvPr>
        </p:nvSpPr>
        <p:spPr/>
        <p:txBody>
          <a:bodyPr/>
          <a:lstStyle/>
          <a:p>
            <a:fld id="{086E0E70-0E19-4F72-9280-E8FB3D9A54A5}" type="slidenum">
              <a:rPr lang="en-US" smtClean="0"/>
              <a:t>‹#›</a:t>
            </a:fld>
            <a:endParaRPr lang="en-US"/>
          </a:p>
        </p:txBody>
      </p:sp>
    </p:spTree>
    <p:extLst>
      <p:ext uri="{BB962C8B-B14F-4D97-AF65-F5344CB8AC3E}">
        <p14:creationId xmlns:p14="http://schemas.microsoft.com/office/powerpoint/2010/main" val="2849425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C99CB-52F1-3259-A495-33B749F4E9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736152-0AA7-15CD-A688-6700DB087B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7B90EC-F2DC-032A-E98B-6377D07E4CB5}"/>
              </a:ext>
            </a:extLst>
          </p:cNvPr>
          <p:cNvSpPr>
            <a:spLocks noGrp="1"/>
          </p:cNvSpPr>
          <p:nvPr>
            <p:ph type="dt" sz="half" idx="10"/>
          </p:nvPr>
        </p:nvSpPr>
        <p:spPr/>
        <p:txBody>
          <a:bodyPr/>
          <a:lstStyle/>
          <a:p>
            <a:fld id="{703D546D-F21E-4ECF-8810-0B6A53368B12}" type="datetimeFigureOut">
              <a:rPr lang="en-US" smtClean="0"/>
              <a:t>10/28/2026</a:t>
            </a:fld>
            <a:endParaRPr lang="en-US"/>
          </a:p>
        </p:txBody>
      </p:sp>
      <p:sp>
        <p:nvSpPr>
          <p:cNvPr id="5" name="Footer Placeholder 4">
            <a:extLst>
              <a:ext uri="{FF2B5EF4-FFF2-40B4-BE49-F238E27FC236}">
                <a16:creationId xmlns:a16="http://schemas.microsoft.com/office/drawing/2014/main" id="{14EA31B7-B078-33BA-3A28-848BB10AFF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7478E4-6085-B8C9-4CC4-CC5053BAA29F}"/>
              </a:ext>
            </a:extLst>
          </p:cNvPr>
          <p:cNvSpPr>
            <a:spLocks noGrp="1"/>
          </p:cNvSpPr>
          <p:nvPr>
            <p:ph type="sldNum" sz="quarter" idx="12"/>
          </p:nvPr>
        </p:nvSpPr>
        <p:spPr/>
        <p:txBody>
          <a:bodyPr/>
          <a:lstStyle/>
          <a:p>
            <a:fld id="{086E0E70-0E19-4F72-9280-E8FB3D9A54A5}" type="slidenum">
              <a:rPr lang="en-US" smtClean="0"/>
              <a:t>‹#›</a:t>
            </a:fld>
            <a:endParaRPr lang="en-US"/>
          </a:p>
        </p:txBody>
      </p:sp>
    </p:spTree>
    <p:extLst>
      <p:ext uri="{BB962C8B-B14F-4D97-AF65-F5344CB8AC3E}">
        <p14:creationId xmlns:p14="http://schemas.microsoft.com/office/powerpoint/2010/main" val="567267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3E495-33C2-4597-D3B8-8609ED813400}"/>
              </a:ext>
            </a:extLst>
          </p:cNvPr>
          <p:cNvSpPr>
            <a:spLocks noGrp="1"/>
          </p:cNvSpPr>
          <p:nvPr>
            <p:ph type="title"/>
          </p:nvPr>
        </p:nvSpPr>
        <p:spPr>
          <a:xfrm>
            <a:off x="1247775" y="2564609"/>
            <a:ext cx="15773400" cy="4279106"/>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EBD193-5A94-837C-71FF-FE5E633ABDBD}"/>
              </a:ext>
            </a:extLst>
          </p:cNvPr>
          <p:cNvSpPr>
            <a:spLocks noGrp="1"/>
          </p:cNvSpPr>
          <p:nvPr>
            <p:ph type="body" idx="1"/>
          </p:nvPr>
        </p:nvSpPr>
        <p:spPr>
          <a:xfrm>
            <a:off x="1247775" y="6884197"/>
            <a:ext cx="15773400" cy="225028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9B2423-60BB-85D4-BDF1-9F2B0C17F54C}"/>
              </a:ext>
            </a:extLst>
          </p:cNvPr>
          <p:cNvSpPr>
            <a:spLocks noGrp="1"/>
          </p:cNvSpPr>
          <p:nvPr>
            <p:ph type="dt" sz="half" idx="10"/>
          </p:nvPr>
        </p:nvSpPr>
        <p:spPr/>
        <p:txBody>
          <a:bodyPr/>
          <a:lstStyle/>
          <a:p>
            <a:fld id="{703D546D-F21E-4ECF-8810-0B6A53368B12}" type="datetimeFigureOut">
              <a:rPr lang="en-US" smtClean="0"/>
              <a:t>10/28/2026</a:t>
            </a:fld>
            <a:endParaRPr lang="en-US"/>
          </a:p>
        </p:txBody>
      </p:sp>
      <p:sp>
        <p:nvSpPr>
          <p:cNvPr id="5" name="Footer Placeholder 4">
            <a:extLst>
              <a:ext uri="{FF2B5EF4-FFF2-40B4-BE49-F238E27FC236}">
                <a16:creationId xmlns:a16="http://schemas.microsoft.com/office/drawing/2014/main" id="{169A2CEF-3619-67D9-349D-C0A5D61A97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359433-FD63-DDE4-BB03-AC80F7BA9F04}"/>
              </a:ext>
            </a:extLst>
          </p:cNvPr>
          <p:cNvSpPr>
            <a:spLocks noGrp="1"/>
          </p:cNvSpPr>
          <p:nvPr>
            <p:ph type="sldNum" sz="quarter" idx="12"/>
          </p:nvPr>
        </p:nvSpPr>
        <p:spPr/>
        <p:txBody>
          <a:bodyPr/>
          <a:lstStyle/>
          <a:p>
            <a:fld id="{086E0E70-0E19-4F72-9280-E8FB3D9A54A5}" type="slidenum">
              <a:rPr lang="en-US" smtClean="0"/>
              <a:t>‹#›</a:t>
            </a:fld>
            <a:endParaRPr lang="en-US"/>
          </a:p>
        </p:txBody>
      </p:sp>
    </p:spTree>
    <p:extLst>
      <p:ext uri="{BB962C8B-B14F-4D97-AF65-F5344CB8AC3E}">
        <p14:creationId xmlns:p14="http://schemas.microsoft.com/office/powerpoint/2010/main" val="3704341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F833A-4A9D-0F34-4D41-B55E4A181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BCE2DB-4619-77DA-201E-DC2A4CC5F87A}"/>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5D2CE29-6A11-D1FA-1AB2-2737E76B61AE}"/>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6FC1557-242B-D0F5-31D7-CCAEFF56B63D}"/>
              </a:ext>
            </a:extLst>
          </p:cNvPr>
          <p:cNvSpPr>
            <a:spLocks noGrp="1"/>
          </p:cNvSpPr>
          <p:nvPr>
            <p:ph type="dt" sz="half" idx="10"/>
          </p:nvPr>
        </p:nvSpPr>
        <p:spPr/>
        <p:txBody>
          <a:bodyPr/>
          <a:lstStyle/>
          <a:p>
            <a:fld id="{703D546D-F21E-4ECF-8810-0B6A53368B12}" type="datetimeFigureOut">
              <a:rPr lang="en-US" smtClean="0"/>
              <a:t>10/28/2026</a:t>
            </a:fld>
            <a:endParaRPr lang="en-US"/>
          </a:p>
        </p:txBody>
      </p:sp>
      <p:sp>
        <p:nvSpPr>
          <p:cNvPr id="6" name="Footer Placeholder 5">
            <a:extLst>
              <a:ext uri="{FF2B5EF4-FFF2-40B4-BE49-F238E27FC236}">
                <a16:creationId xmlns:a16="http://schemas.microsoft.com/office/drawing/2014/main" id="{8C7F73A5-7C97-EBEB-781D-3297089400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1E49D5-F1B3-9FD0-79FA-D102FAF049E4}"/>
              </a:ext>
            </a:extLst>
          </p:cNvPr>
          <p:cNvSpPr>
            <a:spLocks noGrp="1"/>
          </p:cNvSpPr>
          <p:nvPr>
            <p:ph type="sldNum" sz="quarter" idx="12"/>
          </p:nvPr>
        </p:nvSpPr>
        <p:spPr/>
        <p:txBody>
          <a:bodyPr/>
          <a:lstStyle/>
          <a:p>
            <a:fld id="{086E0E70-0E19-4F72-9280-E8FB3D9A54A5}" type="slidenum">
              <a:rPr lang="en-US" smtClean="0"/>
              <a:t>‹#›</a:t>
            </a:fld>
            <a:endParaRPr lang="en-US"/>
          </a:p>
        </p:txBody>
      </p:sp>
    </p:spTree>
    <p:extLst>
      <p:ext uri="{BB962C8B-B14F-4D97-AF65-F5344CB8AC3E}">
        <p14:creationId xmlns:p14="http://schemas.microsoft.com/office/powerpoint/2010/main" val="77587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EFAFC-8967-A00A-06A6-F5020A777F45}"/>
              </a:ext>
            </a:extLst>
          </p:cNvPr>
          <p:cNvSpPr>
            <a:spLocks noGrp="1"/>
          </p:cNvSpPr>
          <p:nvPr>
            <p:ph type="title"/>
          </p:nvPr>
        </p:nvSpPr>
        <p:spPr>
          <a:xfrm>
            <a:off x="1259682" y="547690"/>
            <a:ext cx="15773400" cy="1988345"/>
          </a:xfrm>
        </p:spPr>
        <p:txBody>
          <a:bodyPr/>
          <a:lstStyle/>
          <a:p>
            <a:r>
              <a:rPr lang="en-US"/>
              <a:t>Click to edit Master title style</a:t>
            </a:r>
          </a:p>
        </p:txBody>
      </p:sp>
      <p:sp>
        <p:nvSpPr>
          <p:cNvPr id="3" name="Text Placeholder 2">
            <a:extLst>
              <a:ext uri="{FF2B5EF4-FFF2-40B4-BE49-F238E27FC236}">
                <a16:creationId xmlns:a16="http://schemas.microsoft.com/office/drawing/2014/main" id="{5F91C896-FB71-FD32-704D-1E31001B93D7}"/>
              </a:ext>
            </a:extLst>
          </p:cNvPr>
          <p:cNvSpPr>
            <a:spLocks noGrp="1"/>
          </p:cNvSpPr>
          <p:nvPr>
            <p:ph type="body" idx="1"/>
          </p:nvPr>
        </p:nvSpPr>
        <p:spPr>
          <a:xfrm>
            <a:off x="1259684" y="2521745"/>
            <a:ext cx="7736681"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35C5F80-FE8C-16D5-600C-85FD658943D2}"/>
              </a:ext>
            </a:extLst>
          </p:cNvPr>
          <p:cNvSpPr>
            <a:spLocks noGrp="1"/>
          </p:cNvSpPr>
          <p:nvPr>
            <p:ph sz="half" idx="2"/>
          </p:nvPr>
        </p:nvSpPr>
        <p:spPr>
          <a:xfrm>
            <a:off x="1259684"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B93981C-68EA-446A-2BBB-B3DEB293DD77}"/>
              </a:ext>
            </a:extLst>
          </p:cNvPr>
          <p:cNvSpPr>
            <a:spLocks noGrp="1"/>
          </p:cNvSpPr>
          <p:nvPr>
            <p:ph type="body" sz="quarter" idx="3"/>
          </p:nvPr>
        </p:nvSpPr>
        <p:spPr>
          <a:xfrm>
            <a:off x="9258300" y="2521745"/>
            <a:ext cx="7774782" cy="123586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A52DB1-22BA-AE47-2656-49960DD3DA83}"/>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66B9BBE-946C-8936-A0ED-B8C3629CFA38}"/>
              </a:ext>
            </a:extLst>
          </p:cNvPr>
          <p:cNvSpPr>
            <a:spLocks noGrp="1"/>
          </p:cNvSpPr>
          <p:nvPr>
            <p:ph type="dt" sz="half" idx="10"/>
          </p:nvPr>
        </p:nvSpPr>
        <p:spPr/>
        <p:txBody>
          <a:bodyPr/>
          <a:lstStyle/>
          <a:p>
            <a:fld id="{703D546D-F21E-4ECF-8810-0B6A53368B12}" type="datetimeFigureOut">
              <a:rPr lang="en-US" smtClean="0"/>
              <a:t>10/28/2026</a:t>
            </a:fld>
            <a:endParaRPr lang="en-US"/>
          </a:p>
        </p:txBody>
      </p:sp>
      <p:sp>
        <p:nvSpPr>
          <p:cNvPr id="8" name="Footer Placeholder 7">
            <a:extLst>
              <a:ext uri="{FF2B5EF4-FFF2-40B4-BE49-F238E27FC236}">
                <a16:creationId xmlns:a16="http://schemas.microsoft.com/office/drawing/2014/main" id="{A802E0B6-F6F9-A686-51C7-A651CD22EEF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3D6C0E7-361E-2C2F-1B4C-B51B25F425C4}"/>
              </a:ext>
            </a:extLst>
          </p:cNvPr>
          <p:cNvSpPr>
            <a:spLocks noGrp="1"/>
          </p:cNvSpPr>
          <p:nvPr>
            <p:ph type="sldNum" sz="quarter" idx="12"/>
          </p:nvPr>
        </p:nvSpPr>
        <p:spPr/>
        <p:txBody>
          <a:bodyPr/>
          <a:lstStyle/>
          <a:p>
            <a:fld id="{086E0E70-0E19-4F72-9280-E8FB3D9A54A5}" type="slidenum">
              <a:rPr lang="en-US" smtClean="0"/>
              <a:t>‹#›</a:t>
            </a:fld>
            <a:endParaRPr lang="en-US"/>
          </a:p>
        </p:txBody>
      </p:sp>
    </p:spTree>
    <p:extLst>
      <p:ext uri="{BB962C8B-B14F-4D97-AF65-F5344CB8AC3E}">
        <p14:creationId xmlns:p14="http://schemas.microsoft.com/office/powerpoint/2010/main" val="956952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AEE69-BB29-22E0-6066-65471F9A3B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A4F169-50F0-8016-FA99-C642C2D4578A}"/>
              </a:ext>
            </a:extLst>
          </p:cNvPr>
          <p:cNvSpPr>
            <a:spLocks noGrp="1"/>
          </p:cNvSpPr>
          <p:nvPr>
            <p:ph type="dt" sz="half" idx="10"/>
          </p:nvPr>
        </p:nvSpPr>
        <p:spPr/>
        <p:txBody>
          <a:bodyPr/>
          <a:lstStyle/>
          <a:p>
            <a:fld id="{703D546D-F21E-4ECF-8810-0B6A53368B12}" type="datetimeFigureOut">
              <a:rPr lang="en-US" smtClean="0"/>
              <a:t>10/28/2026</a:t>
            </a:fld>
            <a:endParaRPr lang="en-US"/>
          </a:p>
        </p:txBody>
      </p:sp>
      <p:sp>
        <p:nvSpPr>
          <p:cNvPr id="4" name="Footer Placeholder 3">
            <a:extLst>
              <a:ext uri="{FF2B5EF4-FFF2-40B4-BE49-F238E27FC236}">
                <a16:creationId xmlns:a16="http://schemas.microsoft.com/office/drawing/2014/main" id="{D7B0AF07-B903-4817-987E-4D2A218C16F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75C3990-0B3E-5019-491F-F3AEB293B880}"/>
              </a:ext>
            </a:extLst>
          </p:cNvPr>
          <p:cNvSpPr>
            <a:spLocks noGrp="1"/>
          </p:cNvSpPr>
          <p:nvPr>
            <p:ph type="sldNum" sz="quarter" idx="12"/>
          </p:nvPr>
        </p:nvSpPr>
        <p:spPr/>
        <p:txBody>
          <a:bodyPr/>
          <a:lstStyle/>
          <a:p>
            <a:fld id="{086E0E70-0E19-4F72-9280-E8FB3D9A54A5}" type="slidenum">
              <a:rPr lang="en-US" smtClean="0"/>
              <a:t>‹#›</a:t>
            </a:fld>
            <a:endParaRPr lang="en-US"/>
          </a:p>
        </p:txBody>
      </p:sp>
    </p:spTree>
    <p:extLst>
      <p:ext uri="{BB962C8B-B14F-4D97-AF65-F5344CB8AC3E}">
        <p14:creationId xmlns:p14="http://schemas.microsoft.com/office/powerpoint/2010/main" val="1214500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18569E-1898-AE66-4930-8C06672FB382}"/>
              </a:ext>
            </a:extLst>
          </p:cNvPr>
          <p:cNvSpPr>
            <a:spLocks noGrp="1"/>
          </p:cNvSpPr>
          <p:nvPr>
            <p:ph type="dt" sz="half" idx="10"/>
          </p:nvPr>
        </p:nvSpPr>
        <p:spPr/>
        <p:txBody>
          <a:bodyPr/>
          <a:lstStyle/>
          <a:p>
            <a:fld id="{703D546D-F21E-4ECF-8810-0B6A53368B12}" type="datetimeFigureOut">
              <a:rPr lang="en-US" smtClean="0"/>
              <a:t>10/28/2026</a:t>
            </a:fld>
            <a:endParaRPr lang="en-US"/>
          </a:p>
        </p:txBody>
      </p:sp>
      <p:sp>
        <p:nvSpPr>
          <p:cNvPr id="3" name="Footer Placeholder 2">
            <a:extLst>
              <a:ext uri="{FF2B5EF4-FFF2-40B4-BE49-F238E27FC236}">
                <a16:creationId xmlns:a16="http://schemas.microsoft.com/office/drawing/2014/main" id="{04F82662-9227-A730-2382-46C84A1F763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7385427-E6A3-3893-2342-A300968EFDF5}"/>
              </a:ext>
            </a:extLst>
          </p:cNvPr>
          <p:cNvSpPr>
            <a:spLocks noGrp="1"/>
          </p:cNvSpPr>
          <p:nvPr>
            <p:ph type="sldNum" sz="quarter" idx="12"/>
          </p:nvPr>
        </p:nvSpPr>
        <p:spPr/>
        <p:txBody>
          <a:bodyPr/>
          <a:lstStyle/>
          <a:p>
            <a:fld id="{086E0E70-0E19-4F72-9280-E8FB3D9A54A5}" type="slidenum">
              <a:rPr lang="en-US" smtClean="0"/>
              <a:t>‹#›</a:t>
            </a:fld>
            <a:endParaRPr lang="en-US"/>
          </a:p>
        </p:txBody>
      </p:sp>
    </p:spTree>
    <p:extLst>
      <p:ext uri="{BB962C8B-B14F-4D97-AF65-F5344CB8AC3E}">
        <p14:creationId xmlns:p14="http://schemas.microsoft.com/office/powerpoint/2010/main" val="3989406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736AF-3D96-608C-4AE7-0C962200FE89}"/>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A6F4E0C-39A5-5DAD-412A-5CD950CF0699}"/>
              </a:ext>
            </a:extLst>
          </p:cNvPr>
          <p:cNvSpPr>
            <a:spLocks noGrp="1"/>
          </p:cNvSpPr>
          <p:nvPr>
            <p:ph idx="1"/>
          </p:nvPr>
        </p:nvSpPr>
        <p:spPr>
          <a:xfrm>
            <a:off x="7774782" y="1481140"/>
            <a:ext cx="9258300" cy="731043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62F7ED-B92C-2CBE-AFFE-C797B6BCD3E5}"/>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97E3AC-E1CA-74E5-A322-107EDE30F820}"/>
              </a:ext>
            </a:extLst>
          </p:cNvPr>
          <p:cNvSpPr>
            <a:spLocks noGrp="1"/>
          </p:cNvSpPr>
          <p:nvPr>
            <p:ph type="dt" sz="half" idx="10"/>
          </p:nvPr>
        </p:nvSpPr>
        <p:spPr/>
        <p:txBody>
          <a:bodyPr/>
          <a:lstStyle/>
          <a:p>
            <a:fld id="{703D546D-F21E-4ECF-8810-0B6A53368B12}" type="datetimeFigureOut">
              <a:rPr lang="en-US" smtClean="0"/>
              <a:t>10/28/2026</a:t>
            </a:fld>
            <a:endParaRPr lang="en-US"/>
          </a:p>
        </p:txBody>
      </p:sp>
      <p:sp>
        <p:nvSpPr>
          <p:cNvPr id="6" name="Footer Placeholder 5">
            <a:extLst>
              <a:ext uri="{FF2B5EF4-FFF2-40B4-BE49-F238E27FC236}">
                <a16:creationId xmlns:a16="http://schemas.microsoft.com/office/drawing/2014/main" id="{46CDD103-0055-B996-CFD1-3EB28604FE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5EE8A4-0114-9145-41C6-74BBBD848F6A}"/>
              </a:ext>
            </a:extLst>
          </p:cNvPr>
          <p:cNvSpPr>
            <a:spLocks noGrp="1"/>
          </p:cNvSpPr>
          <p:nvPr>
            <p:ph type="sldNum" sz="quarter" idx="12"/>
          </p:nvPr>
        </p:nvSpPr>
        <p:spPr/>
        <p:txBody>
          <a:bodyPr/>
          <a:lstStyle/>
          <a:p>
            <a:fld id="{086E0E70-0E19-4F72-9280-E8FB3D9A54A5}" type="slidenum">
              <a:rPr lang="en-US" smtClean="0"/>
              <a:t>‹#›</a:t>
            </a:fld>
            <a:endParaRPr lang="en-US"/>
          </a:p>
        </p:txBody>
      </p:sp>
    </p:spTree>
    <p:extLst>
      <p:ext uri="{BB962C8B-B14F-4D97-AF65-F5344CB8AC3E}">
        <p14:creationId xmlns:p14="http://schemas.microsoft.com/office/powerpoint/2010/main" val="1125732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A8855-DF14-D16A-31E4-8EA58AA6685C}"/>
              </a:ext>
            </a:extLst>
          </p:cNvPr>
          <p:cNvSpPr>
            <a:spLocks noGrp="1"/>
          </p:cNvSpPr>
          <p:nvPr>
            <p:ph type="title"/>
          </p:nvPr>
        </p:nvSpPr>
        <p:spPr>
          <a:xfrm>
            <a:off x="1259683" y="685800"/>
            <a:ext cx="5898356" cy="24003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E37CDE-63C9-67B8-CB4D-A254C540A055}"/>
              </a:ext>
            </a:extLst>
          </p:cNvPr>
          <p:cNvSpPr>
            <a:spLocks noGrp="1" noChangeAspect="1"/>
          </p:cNvSpPr>
          <p:nvPr>
            <p:ph type="pic" idx="1"/>
          </p:nvPr>
        </p:nvSpPr>
        <p:spPr>
          <a:xfrm>
            <a:off x="7774782" y="1481140"/>
            <a:ext cx="9258300" cy="73104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074FD3C-D041-D663-38F7-B7405587BF4B}"/>
              </a:ext>
            </a:extLst>
          </p:cNvPr>
          <p:cNvSpPr>
            <a:spLocks noGrp="1"/>
          </p:cNvSpPr>
          <p:nvPr>
            <p:ph type="body" sz="half" idx="2"/>
          </p:nvPr>
        </p:nvSpPr>
        <p:spPr>
          <a:xfrm>
            <a:off x="1259683" y="3086100"/>
            <a:ext cx="5898356" cy="571738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0AC837-2D71-5D1E-2ABF-032A3683FA0A}"/>
              </a:ext>
            </a:extLst>
          </p:cNvPr>
          <p:cNvSpPr>
            <a:spLocks noGrp="1"/>
          </p:cNvSpPr>
          <p:nvPr>
            <p:ph type="dt" sz="half" idx="10"/>
          </p:nvPr>
        </p:nvSpPr>
        <p:spPr/>
        <p:txBody>
          <a:bodyPr/>
          <a:lstStyle/>
          <a:p>
            <a:fld id="{703D546D-F21E-4ECF-8810-0B6A53368B12}" type="datetimeFigureOut">
              <a:rPr lang="en-US" smtClean="0"/>
              <a:t>10/28/2026</a:t>
            </a:fld>
            <a:endParaRPr lang="en-US"/>
          </a:p>
        </p:txBody>
      </p:sp>
      <p:sp>
        <p:nvSpPr>
          <p:cNvPr id="6" name="Footer Placeholder 5">
            <a:extLst>
              <a:ext uri="{FF2B5EF4-FFF2-40B4-BE49-F238E27FC236}">
                <a16:creationId xmlns:a16="http://schemas.microsoft.com/office/drawing/2014/main" id="{7D34E11A-105A-649A-FAA0-178B16BE3C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F66E3A-C006-03B4-6D89-3C7913B479A0}"/>
              </a:ext>
            </a:extLst>
          </p:cNvPr>
          <p:cNvSpPr>
            <a:spLocks noGrp="1"/>
          </p:cNvSpPr>
          <p:nvPr>
            <p:ph type="sldNum" sz="quarter" idx="12"/>
          </p:nvPr>
        </p:nvSpPr>
        <p:spPr/>
        <p:txBody>
          <a:bodyPr/>
          <a:lstStyle/>
          <a:p>
            <a:fld id="{086E0E70-0E19-4F72-9280-E8FB3D9A54A5}" type="slidenum">
              <a:rPr lang="en-US" smtClean="0"/>
              <a:t>‹#›</a:t>
            </a:fld>
            <a:endParaRPr lang="en-US"/>
          </a:p>
        </p:txBody>
      </p:sp>
    </p:spTree>
    <p:extLst>
      <p:ext uri="{BB962C8B-B14F-4D97-AF65-F5344CB8AC3E}">
        <p14:creationId xmlns:p14="http://schemas.microsoft.com/office/powerpoint/2010/main" val="11363676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550B4-F625-D3BF-8075-98B936960F1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1C2584D-9456-52AF-0548-1C374FE4A4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24FD0B-21A5-722F-28EA-DC0C7D38BE6F}"/>
              </a:ext>
            </a:extLst>
          </p:cNvPr>
          <p:cNvSpPr>
            <a:spLocks noGrp="1"/>
          </p:cNvSpPr>
          <p:nvPr>
            <p:ph type="dt" sz="half" idx="10"/>
          </p:nvPr>
        </p:nvSpPr>
        <p:spPr/>
        <p:txBody>
          <a:bodyPr/>
          <a:lstStyle/>
          <a:p>
            <a:fld id="{703D546D-F21E-4ECF-8810-0B6A53368B12}" type="datetimeFigureOut">
              <a:rPr lang="en-US" smtClean="0"/>
              <a:t>10/28/2026</a:t>
            </a:fld>
            <a:endParaRPr lang="en-US"/>
          </a:p>
        </p:txBody>
      </p:sp>
      <p:sp>
        <p:nvSpPr>
          <p:cNvPr id="5" name="Footer Placeholder 4">
            <a:extLst>
              <a:ext uri="{FF2B5EF4-FFF2-40B4-BE49-F238E27FC236}">
                <a16:creationId xmlns:a16="http://schemas.microsoft.com/office/drawing/2014/main" id="{EED9025E-A391-4688-42E4-1824047AF4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F4C5EFE-CD55-7E06-A360-C8659BEEF10C}"/>
              </a:ext>
            </a:extLst>
          </p:cNvPr>
          <p:cNvSpPr>
            <a:spLocks noGrp="1"/>
          </p:cNvSpPr>
          <p:nvPr>
            <p:ph type="sldNum" sz="quarter" idx="12"/>
          </p:nvPr>
        </p:nvSpPr>
        <p:spPr/>
        <p:txBody>
          <a:bodyPr/>
          <a:lstStyle/>
          <a:p>
            <a:fld id="{086E0E70-0E19-4F72-9280-E8FB3D9A54A5}" type="slidenum">
              <a:rPr lang="en-US" smtClean="0"/>
              <a:t>‹#›</a:t>
            </a:fld>
            <a:endParaRPr lang="en-US"/>
          </a:p>
        </p:txBody>
      </p:sp>
    </p:spTree>
    <p:extLst>
      <p:ext uri="{BB962C8B-B14F-4D97-AF65-F5344CB8AC3E}">
        <p14:creationId xmlns:p14="http://schemas.microsoft.com/office/powerpoint/2010/main" val="1764369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3E1889-0E6E-89AC-A7D6-EAD846F4C897}"/>
              </a:ext>
            </a:extLst>
          </p:cNvPr>
          <p:cNvSpPr>
            <a:spLocks noGrp="1"/>
          </p:cNvSpPr>
          <p:nvPr>
            <p:ph type="title" orient="vert"/>
          </p:nvPr>
        </p:nvSpPr>
        <p:spPr>
          <a:xfrm>
            <a:off x="13087350" y="547688"/>
            <a:ext cx="3943350" cy="871775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A70CAE9-BCB0-E7EB-0006-86B76803989A}"/>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D64719-AB6B-97B6-02A0-2B36A6B9CAA4}"/>
              </a:ext>
            </a:extLst>
          </p:cNvPr>
          <p:cNvSpPr>
            <a:spLocks noGrp="1"/>
          </p:cNvSpPr>
          <p:nvPr>
            <p:ph type="dt" sz="half" idx="10"/>
          </p:nvPr>
        </p:nvSpPr>
        <p:spPr/>
        <p:txBody>
          <a:bodyPr/>
          <a:lstStyle/>
          <a:p>
            <a:fld id="{703D546D-F21E-4ECF-8810-0B6A53368B12}" type="datetimeFigureOut">
              <a:rPr lang="en-US" smtClean="0"/>
              <a:t>10/28/2026</a:t>
            </a:fld>
            <a:endParaRPr lang="en-US"/>
          </a:p>
        </p:txBody>
      </p:sp>
      <p:sp>
        <p:nvSpPr>
          <p:cNvPr id="5" name="Footer Placeholder 4">
            <a:extLst>
              <a:ext uri="{FF2B5EF4-FFF2-40B4-BE49-F238E27FC236}">
                <a16:creationId xmlns:a16="http://schemas.microsoft.com/office/drawing/2014/main" id="{33D25AE7-AC0A-D9F9-E9A4-4248A0684D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1325F7-BC98-110D-9401-97DC9FA41DEB}"/>
              </a:ext>
            </a:extLst>
          </p:cNvPr>
          <p:cNvSpPr>
            <a:spLocks noGrp="1"/>
          </p:cNvSpPr>
          <p:nvPr>
            <p:ph type="sldNum" sz="quarter" idx="12"/>
          </p:nvPr>
        </p:nvSpPr>
        <p:spPr/>
        <p:txBody>
          <a:bodyPr/>
          <a:lstStyle/>
          <a:p>
            <a:fld id="{086E0E70-0E19-4F72-9280-E8FB3D9A54A5}" type="slidenum">
              <a:rPr lang="en-US" smtClean="0"/>
              <a:t>‹#›</a:t>
            </a:fld>
            <a:endParaRPr lang="en-US"/>
          </a:p>
        </p:txBody>
      </p:sp>
    </p:spTree>
    <p:extLst>
      <p:ext uri="{BB962C8B-B14F-4D97-AF65-F5344CB8AC3E}">
        <p14:creationId xmlns:p14="http://schemas.microsoft.com/office/powerpoint/2010/main" val="3510705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2E5B9F-B911-01FB-2306-7FD27385E9EA}"/>
              </a:ext>
            </a:extLst>
          </p:cNvPr>
          <p:cNvSpPr>
            <a:spLocks noGrp="1"/>
          </p:cNvSpPr>
          <p:nvPr>
            <p:ph type="title"/>
          </p:nvPr>
        </p:nvSpPr>
        <p:spPr>
          <a:xfrm>
            <a:off x="1257300" y="547690"/>
            <a:ext cx="15773400" cy="198834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3A7313-D625-935A-3C9A-063CFB7DD467}"/>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284C17-E867-5755-37F1-2EC3AA8FA529}"/>
              </a:ext>
            </a:extLst>
          </p:cNvPr>
          <p:cNvSpPr>
            <a:spLocks noGrp="1"/>
          </p:cNvSpPr>
          <p:nvPr>
            <p:ph type="dt" sz="half" idx="2"/>
          </p:nvPr>
        </p:nvSpPr>
        <p:spPr>
          <a:xfrm>
            <a:off x="1257300" y="9534527"/>
            <a:ext cx="4114800" cy="547688"/>
          </a:xfrm>
          <a:prstGeom prst="rect">
            <a:avLst/>
          </a:prstGeom>
        </p:spPr>
        <p:txBody>
          <a:bodyPr vert="horz" lIns="91440" tIns="45720" rIns="91440" bIns="45720" rtlCol="0" anchor="ctr"/>
          <a:lstStyle>
            <a:lvl1pPr algn="l">
              <a:defRPr sz="1200">
                <a:solidFill>
                  <a:schemeClr val="tx1">
                    <a:tint val="82000"/>
                  </a:schemeClr>
                </a:solidFill>
              </a:defRPr>
            </a:lvl1pPr>
          </a:lstStyle>
          <a:p>
            <a:fld id="{703D546D-F21E-4ECF-8810-0B6A53368B12}" type="datetimeFigureOut">
              <a:rPr lang="en-US" smtClean="0"/>
              <a:t>10/28/2026</a:t>
            </a:fld>
            <a:endParaRPr lang="en-US"/>
          </a:p>
        </p:txBody>
      </p:sp>
      <p:sp>
        <p:nvSpPr>
          <p:cNvPr id="5" name="Footer Placeholder 4">
            <a:extLst>
              <a:ext uri="{FF2B5EF4-FFF2-40B4-BE49-F238E27FC236}">
                <a16:creationId xmlns:a16="http://schemas.microsoft.com/office/drawing/2014/main" id="{281A7DCE-71B5-0536-4ED8-ED4B0E166BE5}"/>
              </a:ext>
            </a:extLst>
          </p:cNvPr>
          <p:cNvSpPr>
            <a:spLocks noGrp="1"/>
          </p:cNvSpPr>
          <p:nvPr>
            <p:ph type="ftr" sz="quarter" idx="3"/>
          </p:nvPr>
        </p:nvSpPr>
        <p:spPr>
          <a:xfrm>
            <a:off x="6057900" y="9534527"/>
            <a:ext cx="6172200" cy="547688"/>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3EDEA41-59EF-9004-ED7B-5479B94853A3}"/>
              </a:ext>
            </a:extLst>
          </p:cNvPr>
          <p:cNvSpPr>
            <a:spLocks noGrp="1"/>
          </p:cNvSpPr>
          <p:nvPr>
            <p:ph type="sldNum" sz="quarter" idx="4"/>
          </p:nvPr>
        </p:nvSpPr>
        <p:spPr>
          <a:xfrm>
            <a:off x="12915900" y="9534527"/>
            <a:ext cx="4114800" cy="547688"/>
          </a:xfrm>
          <a:prstGeom prst="rect">
            <a:avLst/>
          </a:prstGeom>
        </p:spPr>
        <p:txBody>
          <a:bodyPr vert="horz" lIns="91440" tIns="45720" rIns="91440" bIns="45720" rtlCol="0" anchor="ctr"/>
          <a:lstStyle>
            <a:lvl1pPr algn="r">
              <a:defRPr sz="1200">
                <a:solidFill>
                  <a:schemeClr val="tx1">
                    <a:tint val="82000"/>
                  </a:schemeClr>
                </a:solidFill>
              </a:defRPr>
            </a:lvl1pPr>
          </a:lstStyle>
          <a:p>
            <a:fld id="{086E0E70-0E19-4F72-9280-E8FB3D9A54A5}" type="slidenum">
              <a:rPr lang="en-US" smtClean="0"/>
              <a:t>‹#›</a:t>
            </a:fld>
            <a:endParaRPr lang="en-US"/>
          </a:p>
        </p:txBody>
      </p:sp>
    </p:spTree>
    <p:extLst>
      <p:ext uri="{BB962C8B-B14F-4D97-AF65-F5344CB8AC3E}">
        <p14:creationId xmlns:p14="http://schemas.microsoft.com/office/powerpoint/2010/main" val="2302092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slide" Target="slide3.xml"/><Relationship Id="rId4" Type="http://schemas.openxmlformats.org/officeDocument/2006/relationships/slide" Target="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slide" Target="slide4.xml"/><Relationship Id="rId4" Type="http://schemas.openxmlformats.org/officeDocument/2006/relationships/slide" Target="slide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slide" Target="slide6.xml"/><Relationship Id="rId5" Type="http://schemas.openxmlformats.org/officeDocument/2006/relationships/slide" Target="slide2.xml"/><Relationship Id="rId4" Type="http://schemas.openxmlformats.org/officeDocument/2006/relationships/slide" Target="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slide" Target="slide7.xml"/><Relationship Id="rId5" Type="http://schemas.openxmlformats.org/officeDocument/2006/relationships/slide" Target="slide2.xml"/><Relationship Id="rId4" Type="http://schemas.openxmlformats.org/officeDocument/2006/relationships/slide" Target="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slide" Target="slide8.xml"/><Relationship Id="rId5" Type="http://schemas.openxmlformats.org/officeDocument/2006/relationships/slide" Target="slide2.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slide" Target="slide7.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slide" Target="slide9.xml"/><Relationship Id="rId4" Type="http://schemas.openxmlformats.org/officeDocument/2006/relationships/slide" Target="slid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1CF586-1F3D-5F61-1C85-A30D231FD4AE}"/>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01 / BUSINESS CONTEXT</a:t>
            </a:r>
          </a:p>
        </p:txBody>
      </p:sp>
      <p:sp>
        <p:nvSpPr>
          <p:cNvPr id="3" name="TextBox 2">
            <a:extLst>
              <a:ext uri="{FF2B5EF4-FFF2-40B4-BE49-F238E27FC236}">
                <a16:creationId xmlns:a16="http://schemas.microsoft.com/office/drawing/2014/main" id="{B9DE60A5-DB4D-5604-C07A-B518B58472FD}"/>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Insurance Claim Intake Organizer</a:t>
            </a:r>
          </a:p>
        </p:txBody>
      </p:sp>
      <p:sp>
        <p:nvSpPr>
          <p:cNvPr id="4" name="TextBox 3">
            <a:extLst>
              <a:ext uri="{FF2B5EF4-FFF2-40B4-BE49-F238E27FC236}">
                <a16:creationId xmlns:a16="http://schemas.microsoft.com/office/drawing/2014/main" id="{99A88020-4E88-DD65-0572-BFE21C629705}"/>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D0DA66DC-5EC8-BAB3-CE7C-634416C33EA3}"/>
              </a:ext>
            </a:extLst>
          </p:cNvPr>
          <p:cNvSpPr/>
          <p:nvPr/>
        </p:nvSpPr>
        <p:spPr>
          <a:xfrm>
            <a:off x="406400" y="1651000"/>
            <a:ext cx="11049000" cy="7175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DCF58DB4-0202-644F-6779-90CEB6C091F3}"/>
              </a:ext>
            </a:extLst>
          </p:cNvPr>
          <p:cNvSpPr txBox="1"/>
          <p:nvPr/>
        </p:nvSpPr>
        <p:spPr>
          <a:xfrm>
            <a:off x="762000" y="2006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CHALLENGE</a:t>
            </a:r>
          </a:p>
        </p:txBody>
      </p:sp>
      <p:sp>
        <p:nvSpPr>
          <p:cNvPr id="7" name="TextBox 6">
            <a:extLst>
              <a:ext uri="{FF2B5EF4-FFF2-40B4-BE49-F238E27FC236}">
                <a16:creationId xmlns:a16="http://schemas.microsoft.com/office/drawing/2014/main" id="{9DA96443-5E4E-176C-7BC7-5584C3B12EA4}"/>
              </a:ext>
            </a:extLst>
          </p:cNvPr>
          <p:cNvSpPr txBox="1"/>
          <p:nvPr/>
        </p:nvSpPr>
        <p:spPr>
          <a:xfrm>
            <a:off x="762000" y="2565400"/>
            <a:ext cx="10287000" cy="1246495"/>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First-notice-of-loss submissions mix incomplete narratives, dates, invoices and estimates. Intake staff must organize the facts and ask targeted follow-up questions before an adjuster can review.</a:t>
            </a:r>
          </a:p>
        </p:txBody>
      </p:sp>
      <p:sp>
        <p:nvSpPr>
          <p:cNvPr id="8" name="TextBox 7">
            <a:extLst>
              <a:ext uri="{FF2B5EF4-FFF2-40B4-BE49-F238E27FC236}">
                <a16:creationId xmlns:a16="http://schemas.microsoft.com/office/drawing/2014/main" id="{EEE56019-3660-25EA-5F23-5FE5AE8621E5}"/>
              </a:ext>
            </a:extLst>
          </p:cNvPr>
          <p:cNvSpPr txBox="1"/>
          <p:nvPr/>
        </p:nvSpPr>
        <p:spPr>
          <a:xfrm>
            <a:off x="762000" y="4800600"/>
            <a:ext cx="10287000" cy="276999"/>
          </a:xfrm>
          <a:prstGeom prst="rect">
            <a:avLst/>
          </a:prstGeom>
          <a:noFill/>
        </p:spPr>
        <p:txBody>
          <a:bodyPr vert="horz" wrap="square" lIns="0" tIns="0" rIns="0" bIns="0" rtlCol="0">
            <a:spAutoFit/>
          </a:bodyPr>
          <a:lstStyle/>
          <a:p>
            <a:r>
              <a:rPr lang="en-US" b="1">
                <a:solidFill>
                  <a:srgbClr val="007F85"/>
                </a:solidFill>
                <a:latin typeface="Aptos" panose="020B0004020202020204" pitchFamily="34" charset="0"/>
              </a:rPr>
              <a:t>THE REVIEWABLE OUTCOME</a:t>
            </a:r>
          </a:p>
        </p:txBody>
      </p:sp>
      <p:sp>
        <p:nvSpPr>
          <p:cNvPr id="9" name="TextBox 8">
            <a:extLst>
              <a:ext uri="{FF2B5EF4-FFF2-40B4-BE49-F238E27FC236}">
                <a16:creationId xmlns:a16="http://schemas.microsoft.com/office/drawing/2014/main" id="{A6A350D1-EBED-1C99-587B-9FB6C4DF8A6B}"/>
              </a:ext>
            </a:extLst>
          </p:cNvPr>
          <p:cNvSpPr txBox="1"/>
          <p:nvPr/>
        </p:nvSpPr>
        <p:spPr>
          <a:xfrm>
            <a:off x="762000" y="5397500"/>
            <a:ext cx="10287000" cy="1154162"/>
          </a:xfrm>
          <a:prstGeom prst="rect">
            <a:avLst/>
          </a:prstGeom>
          <a:noFill/>
        </p:spPr>
        <p:txBody>
          <a:bodyPr vert="horz" wrap="square" lIns="0" tIns="0" rIns="0" bIns="0" rtlCol="0">
            <a:spAutoFit/>
          </a:bodyPr>
          <a:lstStyle/>
          <a:p>
            <a:r>
              <a:rPr lang="en-US" sz="2500">
                <a:solidFill>
                  <a:srgbClr val="122D46"/>
                </a:solidFill>
                <a:latin typeface="Aptos" panose="020B0004020202020204" pitchFamily="34" charset="0"/>
              </a:rPr>
              <a:t>Create an evidence-linked intake packet and adjuster briefing. Track document completeness and review preparation time; no automated coverage, fraud, settlement or denial decision.</a:t>
            </a:r>
          </a:p>
        </p:txBody>
      </p:sp>
      <p:sp>
        <p:nvSpPr>
          <p:cNvPr id="10" name="TextBox 9">
            <a:extLst>
              <a:ext uri="{FF2B5EF4-FFF2-40B4-BE49-F238E27FC236}">
                <a16:creationId xmlns:a16="http://schemas.microsoft.com/office/drawing/2014/main" id="{4C26B224-6AB0-425D-EF6F-F51997C1827E}"/>
              </a:ext>
            </a:extLst>
          </p:cNvPr>
          <p:cNvSpPr txBox="1"/>
          <p:nvPr/>
        </p:nvSpPr>
        <p:spPr>
          <a:xfrm>
            <a:off x="12065000" y="2006600"/>
            <a:ext cx="546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TRUST BOUNDARY</a:t>
            </a:r>
          </a:p>
        </p:txBody>
      </p:sp>
      <p:sp>
        <p:nvSpPr>
          <p:cNvPr id="11" name="TextBox 10">
            <a:extLst>
              <a:ext uri="{FF2B5EF4-FFF2-40B4-BE49-F238E27FC236}">
                <a16:creationId xmlns:a16="http://schemas.microsoft.com/office/drawing/2014/main" id="{92887233-B13F-4F08-72AE-080E8DFA6636}"/>
              </a:ext>
            </a:extLst>
          </p:cNvPr>
          <p:cNvSpPr txBox="1"/>
          <p:nvPr/>
        </p:nvSpPr>
        <p:spPr>
          <a:xfrm>
            <a:off x="12065000" y="2628900"/>
            <a:ext cx="5461000" cy="1769715"/>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Human boundary: A date discrepancy is a review flag, not proof of no coverage or fraud. Avoid protected-attribute profiling and unsupported credibility scoring. Only the adjuster may determine coverage.</a:t>
            </a:r>
          </a:p>
        </p:txBody>
      </p:sp>
      <p:sp>
        <p:nvSpPr>
          <p:cNvPr id="12" name="TextBox 11">
            <a:extLst>
              <a:ext uri="{FF2B5EF4-FFF2-40B4-BE49-F238E27FC236}">
                <a16:creationId xmlns:a16="http://schemas.microsoft.com/office/drawing/2014/main" id="{920363B1-F6A5-7890-B781-ED74F9040FDC}"/>
              </a:ext>
            </a:extLst>
          </p:cNvPr>
          <p:cNvSpPr txBox="1"/>
          <p:nvPr/>
        </p:nvSpPr>
        <p:spPr>
          <a:xfrm>
            <a:off x="12065000" y="6731000"/>
            <a:ext cx="5461000" cy="1015663"/>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Six-step native .NET MAUI walkthrough. All people, records, policies and evidence are fictional.</a:t>
            </a:r>
          </a:p>
        </p:txBody>
      </p:sp>
      <p:sp>
        <p:nvSpPr>
          <p:cNvPr id="13" name="TextBox 12">
            <a:hlinkClick r:id="rId3" action="ppaction://hlinksldjump"/>
            <a:extLst>
              <a:ext uri="{FF2B5EF4-FFF2-40B4-BE49-F238E27FC236}">
                <a16:creationId xmlns:a16="http://schemas.microsoft.com/office/drawing/2014/main" id="{D337B01A-2B06-8FC0-EF0E-DF00509F317C}"/>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4" name="TextBox 13">
            <a:hlinkClick r:id="rId4" action="ppaction://hlinksldjump"/>
            <a:extLst>
              <a:ext uri="{FF2B5EF4-FFF2-40B4-BE49-F238E27FC236}">
                <a16:creationId xmlns:a16="http://schemas.microsoft.com/office/drawing/2014/main" id="{1410A4C4-5B92-7878-E857-E0C2687FD45D}"/>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5" name="TextBox 14">
            <a:hlinkClick r:id="rId4" action="ppaction://hlinksldjump"/>
            <a:extLst>
              <a:ext uri="{FF2B5EF4-FFF2-40B4-BE49-F238E27FC236}">
                <a16:creationId xmlns:a16="http://schemas.microsoft.com/office/drawing/2014/main" id="{700B5306-22F4-E72A-6404-305F9B906170}"/>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0574747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345601-9DAE-4030-065F-2419C5CE4BA8}"/>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02 / PRODUCTS, FLOW AND EVIDENCE</a:t>
            </a:r>
          </a:p>
        </p:txBody>
      </p:sp>
      <p:sp>
        <p:nvSpPr>
          <p:cNvPr id="3" name="TextBox 2">
            <a:extLst>
              <a:ext uri="{FF2B5EF4-FFF2-40B4-BE49-F238E27FC236}">
                <a16:creationId xmlns:a16="http://schemas.microsoft.com/office/drawing/2014/main" id="{3C253015-98A8-2BE7-620E-5D4D5258A517}"/>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How this demo is implemented</a:t>
            </a:r>
          </a:p>
        </p:txBody>
      </p:sp>
      <p:sp>
        <p:nvSpPr>
          <p:cNvPr id="4" name="TextBox 3">
            <a:extLst>
              <a:ext uri="{FF2B5EF4-FFF2-40B4-BE49-F238E27FC236}">
                <a16:creationId xmlns:a16="http://schemas.microsoft.com/office/drawing/2014/main" id="{3DEF20BB-C769-9715-B8FC-DE5C2FAB5B26}"/>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Rectangle: Rounded Corners 4">
            <a:extLst>
              <a:ext uri="{FF2B5EF4-FFF2-40B4-BE49-F238E27FC236}">
                <a16:creationId xmlns:a16="http://schemas.microsoft.com/office/drawing/2014/main" id="{4E0CD2AA-8552-5F75-06E9-E977AADF16AC}"/>
              </a:ext>
            </a:extLst>
          </p:cNvPr>
          <p:cNvSpPr/>
          <p:nvPr/>
        </p:nvSpPr>
        <p:spPr>
          <a:xfrm>
            <a:off x="4064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289D4750-7B10-DB54-FD01-AE7E89A955B3}"/>
              </a:ext>
            </a:extLst>
          </p:cNvPr>
          <p:cNvSpPr txBox="1"/>
          <p:nvPr/>
        </p:nvSpPr>
        <p:spPr>
          <a:xfrm>
            <a:off x="6604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01</a:t>
            </a:r>
          </a:p>
        </p:txBody>
      </p:sp>
      <p:sp>
        <p:nvSpPr>
          <p:cNvPr id="7" name="TextBox 6">
            <a:extLst>
              <a:ext uri="{FF2B5EF4-FFF2-40B4-BE49-F238E27FC236}">
                <a16:creationId xmlns:a16="http://schemas.microsoft.com/office/drawing/2014/main" id="{5A9A2927-75E1-B9BF-BE4C-42B6993F0FFD}"/>
              </a:ext>
            </a:extLst>
          </p:cNvPr>
          <p:cNvSpPr txBox="1"/>
          <p:nvPr/>
        </p:nvSpPr>
        <p:spPr>
          <a:xfrm>
            <a:off x="6604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Windows .NET MAUI</a:t>
            </a:r>
          </a:p>
        </p:txBody>
      </p:sp>
      <p:sp>
        <p:nvSpPr>
          <p:cNvPr id="8" name="TextBox 7">
            <a:extLst>
              <a:ext uri="{FF2B5EF4-FFF2-40B4-BE49-F238E27FC236}">
                <a16:creationId xmlns:a16="http://schemas.microsoft.com/office/drawing/2014/main" id="{EFAE534F-DB25-DB36-3D1C-CB103A2F9AA7}"/>
              </a:ext>
            </a:extLst>
          </p:cNvPr>
          <p:cNvSpPr txBox="1"/>
          <p:nvPr/>
        </p:nvSpPr>
        <p:spPr>
          <a:xfrm>
            <a:off x="660400" y="3937000"/>
            <a:ext cx="3619500" cy="615553"/>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Synthetic staff workbench; exact C# rules; reviewer control.</a:t>
            </a:r>
          </a:p>
        </p:txBody>
      </p:sp>
      <p:sp>
        <p:nvSpPr>
          <p:cNvPr id="9" name="Rectangle: Rounded Corners 8">
            <a:extLst>
              <a:ext uri="{FF2B5EF4-FFF2-40B4-BE49-F238E27FC236}">
                <a16:creationId xmlns:a16="http://schemas.microsoft.com/office/drawing/2014/main" id="{D0D8BAE9-002A-216E-ABD7-0B2A298CCDC0}"/>
              </a:ext>
            </a:extLst>
          </p:cNvPr>
          <p:cNvSpPr/>
          <p:nvPr/>
        </p:nvSpPr>
        <p:spPr>
          <a:xfrm>
            <a:off x="48768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E412A3F-2A7D-5385-741E-BCE4466D474B}"/>
              </a:ext>
            </a:extLst>
          </p:cNvPr>
          <p:cNvSpPr txBox="1"/>
          <p:nvPr/>
        </p:nvSpPr>
        <p:spPr>
          <a:xfrm>
            <a:off x="51308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02</a:t>
            </a:r>
          </a:p>
        </p:txBody>
      </p:sp>
      <p:sp>
        <p:nvSpPr>
          <p:cNvPr id="11" name="TextBox 10">
            <a:extLst>
              <a:ext uri="{FF2B5EF4-FFF2-40B4-BE49-F238E27FC236}">
                <a16:creationId xmlns:a16="http://schemas.microsoft.com/office/drawing/2014/main" id="{2BC916A3-639B-01BB-6424-12617A5D1A45}"/>
              </a:ext>
            </a:extLst>
          </p:cNvPr>
          <p:cNvSpPr txBox="1"/>
          <p:nvPr/>
        </p:nvSpPr>
        <p:spPr>
          <a:xfrm>
            <a:off x="51308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SQL - private</a:t>
            </a:r>
          </a:p>
        </p:txBody>
      </p:sp>
      <p:sp>
        <p:nvSpPr>
          <p:cNvPr id="12" name="TextBox 11">
            <a:extLst>
              <a:ext uri="{FF2B5EF4-FFF2-40B4-BE49-F238E27FC236}">
                <a16:creationId xmlns:a16="http://schemas.microsoft.com/office/drawing/2014/main" id="{7F619CBF-8F2F-9BAE-2B9F-8A2C4515CD81}"/>
              </a:ext>
            </a:extLst>
          </p:cNvPr>
          <p:cNvSpPr txBox="1"/>
          <p:nvPr/>
        </p:nvSpPr>
        <p:spPr>
          <a:xfrm>
            <a:off x="51308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Fixture snapshots, review versions, audit events and idempotent internal outbox.</a:t>
            </a:r>
          </a:p>
        </p:txBody>
      </p:sp>
      <p:sp>
        <p:nvSpPr>
          <p:cNvPr id="13" name="Rectangle: Rounded Corners 12">
            <a:extLst>
              <a:ext uri="{FF2B5EF4-FFF2-40B4-BE49-F238E27FC236}">
                <a16:creationId xmlns:a16="http://schemas.microsoft.com/office/drawing/2014/main" id="{D0247909-832B-DE0F-2A47-969E1C861DBA}"/>
              </a:ext>
            </a:extLst>
          </p:cNvPr>
          <p:cNvSpPr/>
          <p:nvPr/>
        </p:nvSpPr>
        <p:spPr>
          <a:xfrm>
            <a:off x="93472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A657B22-67FB-F1AF-69D6-1409C0516127}"/>
              </a:ext>
            </a:extLst>
          </p:cNvPr>
          <p:cNvSpPr txBox="1"/>
          <p:nvPr/>
        </p:nvSpPr>
        <p:spPr>
          <a:xfrm>
            <a:off x="96012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03</a:t>
            </a:r>
          </a:p>
        </p:txBody>
      </p:sp>
      <p:sp>
        <p:nvSpPr>
          <p:cNvPr id="15" name="TextBox 14">
            <a:extLst>
              <a:ext uri="{FF2B5EF4-FFF2-40B4-BE49-F238E27FC236}">
                <a16:creationId xmlns:a16="http://schemas.microsoft.com/office/drawing/2014/main" id="{A668803D-6490-515A-463E-54C210315119}"/>
              </a:ext>
            </a:extLst>
          </p:cNvPr>
          <p:cNvSpPr txBox="1"/>
          <p:nvPr/>
        </p:nvSpPr>
        <p:spPr>
          <a:xfrm>
            <a:off x="96012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Azure AI services</a:t>
            </a:r>
          </a:p>
        </p:txBody>
      </p:sp>
      <p:sp>
        <p:nvSpPr>
          <p:cNvPr id="16" name="TextBox 15">
            <a:extLst>
              <a:ext uri="{FF2B5EF4-FFF2-40B4-BE49-F238E27FC236}">
                <a16:creationId xmlns:a16="http://schemas.microsoft.com/office/drawing/2014/main" id="{7A7C8559-38C6-28DD-CF1D-992D1AFEB4ED}"/>
              </a:ext>
            </a:extLst>
          </p:cNvPr>
          <p:cNvSpPr txBox="1"/>
          <p:nvPr/>
        </p:nvSpPr>
        <p:spPr>
          <a:xfrm>
            <a:off x="96012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OpenAI structured draft + Content Safety + filtered AI Search + Document Intelligence</a:t>
            </a:r>
          </a:p>
        </p:txBody>
      </p:sp>
      <p:sp>
        <p:nvSpPr>
          <p:cNvPr id="17" name="Rectangle: Rounded Corners 16">
            <a:extLst>
              <a:ext uri="{FF2B5EF4-FFF2-40B4-BE49-F238E27FC236}">
                <a16:creationId xmlns:a16="http://schemas.microsoft.com/office/drawing/2014/main" id="{6FE1A430-7E1C-DAFC-4ECD-40D1CEC25B25}"/>
              </a:ext>
            </a:extLst>
          </p:cNvPr>
          <p:cNvSpPr/>
          <p:nvPr/>
        </p:nvSpPr>
        <p:spPr>
          <a:xfrm>
            <a:off x="13817600" y="1968500"/>
            <a:ext cx="4165600" cy="34925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E999BB4-3302-61C0-98B0-9CF68C1BF287}"/>
              </a:ext>
            </a:extLst>
          </p:cNvPr>
          <p:cNvSpPr txBox="1"/>
          <p:nvPr/>
        </p:nvSpPr>
        <p:spPr>
          <a:xfrm>
            <a:off x="14071600" y="2222500"/>
            <a:ext cx="3492500" cy="461665"/>
          </a:xfrm>
          <a:prstGeom prst="rect">
            <a:avLst/>
          </a:prstGeom>
          <a:noFill/>
        </p:spPr>
        <p:txBody>
          <a:bodyPr vert="horz" wrap="square" lIns="0" tIns="0" rIns="0" bIns="0" rtlCol="0">
            <a:spAutoFit/>
          </a:bodyPr>
          <a:lstStyle/>
          <a:p>
            <a:r>
              <a:rPr lang="en-US" sz="3000" b="1">
                <a:solidFill>
                  <a:srgbClr val="007F85"/>
                </a:solidFill>
                <a:latin typeface="Aptos" panose="020B0004020202020204" pitchFamily="34" charset="0"/>
              </a:rPr>
              <a:t>04</a:t>
            </a:r>
          </a:p>
        </p:txBody>
      </p:sp>
      <p:sp>
        <p:nvSpPr>
          <p:cNvPr id="19" name="TextBox 18">
            <a:extLst>
              <a:ext uri="{FF2B5EF4-FFF2-40B4-BE49-F238E27FC236}">
                <a16:creationId xmlns:a16="http://schemas.microsoft.com/office/drawing/2014/main" id="{49A39C20-0797-ED51-BDEC-E09999E97143}"/>
              </a:ext>
            </a:extLst>
          </p:cNvPr>
          <p:cNvSpPr txBox="1"/>
          <p:nvPr/>
        </p:nvSpPr>
        <p:spPr>
          <a:xfrm>
            <a:off x="14071600" y="2984500"/>
            <a:ext cx="3619500" cy="353943"/>
          </a:xfrm>
          <a:prstGeom prst="rect">
            <a:avLst/>
          </a:prstGeom>
          <a:noFill/>
        </p:spPr>
        <p:txBody>
          <a:bodyPr vert="horz" wrap="square" lIns="0" tIns="0" rIns="0" bIns="0" rtlCol="0">
            <a:spAutoFit/>
          </a:bodyPr>
          <a:lstStyle/>
          <a:p>
            <a:r>
              <a:rPr lang="en-US" sz="2300" b="1">
                <a:solidFill>
                  <a:srgbClr val="122D46"/>
                </a:solidFill>
                <a:latin typeface="Aptos" panose="020B0004020202020204" pitchFamily="34" charset="0"/>
              </a:rPr>
              <a:t>Internal review / demo sink</a:t>
            </a:r>
          </a:p>
        </p:txBody>
      </p:sp>
      <p:sp>
        <p:nvSpPr>
          <p:cNvPr id="20" name="TextBox 19">
            <a:extLst>
              <a:ext uri="{FF2B5EF4-FFF2-40B4-BE49-F238E27FC236}">
                <a16:creationId xmlns:a16="http://schemas.microsoft.com/office/drawing/2014/main" id="{32D09901-665F-5044-4E0E-60492136D076}"/>
              </a:ext>
            </a:extLst>
          </p:cNvPr>
          <p:cNvSpPr txBox="1"/>
          <p:nvPr/>
        </p:nvSpPr>
        <p:spPr>
          <a:xfrm>
            <a:off x="14071600" y="3937000"/>
            <a:ext cx="3619500" cy="923330"/>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Recorded approval; Simulated notification. External connectors disabled.</a:t>
            </a:r>
          </a:p>
        </p:txBody>
      </p:sp>
      <p:sp>
        <p:nvSpPr>
          <p:cNvPr id="21" name="TextBox 20">
            <a:extLst>
              <a:ext uri="{FF2B5EF4-FFF2-40B4-BE49-F238E27FC236}">
                <a16:creationId xmlns:a16="http://schemas.microsoft.com/office/drawing/2014/main" id="{3F87E598-82B0-3F34-0A5A-7C885E79218F}"/>
              </a:ext>
            </a:extLst>
          </p:cNvPr>
          <p:cNvSpPr txBox="1"/>
          <p:nvPr/>
        </p:nvSpPr>
        <p:spPr>
          <a:xfrm>
            <a:off x="508000" y="6032500"/>
            <a:ext cx="16764000" cy="1061829"/>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Live validation: 2026-10-28T15:27:53.064517+00:00
Resource group: rg-demo-claims
Model deployment: brief / gpt-4.1-mini | Tokens: 6844 in / 1272 out</a:t>
            </a:r>
          </a:p>
        </p:txBody>
      </p:sp>
      <p:sp>
        <p:nvSpPr>
          <p:cNvPr id="22" name="TextBox 21">
            <a:extLst>
              <a:ext uri="{FF2B5EF4-FFF2-40B4-BE49-F238E27FC236}">
                <a16:creationId xmlns:a16="http://schemas.microsoft.com/office/drawing/2014/main" id="{5AEF9DC6-B6AD-C85B-1CD8-7E68B4EE835B}"/>
              </a:ext>
            </a:extLst>
          </p:cNvPr>
          <p:cNvSpPr txBox="1"/>
          <p:nvPr/>
        </p:nvSpPr>
        <p:spPr>
          <a:xfrm>
            <a:off x="508000" y="7493000"/>
            <a:ext cx="16764000" cy="707886"/>
          </a:xfrm>
          <a:prstGeom prst="rect">
            <a:avLst/>
          </a:prstGeom>
          <a:noFill/>
        </p:spPr>
        <p:txBody>
          <a:bodyPr vert="horz" wrap="square" lIns="0" tIns="0" rIns="0" bIns="0" rtlCol="0">
            <a:spAutoFit/>
          </a:bodyPr>
          <a:lstStyle/>
          <a:p>
            <a:r>
              <a:rPr lang="en-US" sz="2300">
                <a:solidFill>
                  <a:srgbClr val="007F85"/>
                </a:solidFill>
                <a:latin typeface="Aptos" panose="020B0004020202020204" pitchFamily="34" charset="0"/>
              </a:rPr>
              <a:t>SQL public access stays disabled. An ephemeral Azure container executes inside the private VNet; desktop screens replay its recorded outputs.</a:t>
            </a:r>
          </a:p>
        </p:txBody>
      </p:sp>
      <p:sp>
        <p:nvSpPr>
          <p:cNvPr id="23" name="TextBox 22">
            <a:extLst>
              <a:ext uri="{FF2B5EF4-FFF2-40B4-BE49-F238E27FC236}">
                <a16:creationId xmlns:a16="http://schemas.microsoft.com/office/drawing/2014/main" id="{C3A2A756-4C11-EFF7-83C8-86932325CB17}"/>
              </a:ext>
            </a:extLst>
          </p:cNvPr>
          <p:cNvSpPr txBox="1"/>
          <p:nvPr/>
        </p:nvSpPr>
        <p:spPr>
          <a:xfrm>
            <a:off x="508000" y="8572500"/>
            <a:ext cx="16764000" cy="307777"/>
          </a:xfrm>
          <a:prstGeom prst="rect">
            <a:avLst/>
          </a:prstGeom>
          <a:noFill/>
        </p:spPr>
        <p:txBody>
          <a:bodyPr vert="horz" wrap="square" lIns="0" tIns="0" rIns="0" bIns="0" rtlCol="0">
            <a:spAutoFit/>
          </a:bodyPr>
          <a:lstStyle/>
          <a:p>
            <a:r>
              <a:rPr lang="en-US" sz="2000">
                <a:solidFill>
                  <a:srgbClr val="516478"/>
                </a:solidFill>
                <a:latin typeface="Aptos" panose="020B0004020202020204" pitchFamily="34" charset="0"/>
              </a:rPr>
              <a:t>Limits: curated documents only; no arbitrary upload/scanning claim; no public production API; Search is filtered keyword retrieval.</a:t>
            </a:r>
          </a:p>
        </p:txBody>
      </p:sp>
      <p:sp>
        <p:nvSpPr>
          <p:cNvPr id="24" name="TextBox 23">
            <a:hlinkClick r:id="rId3" action="ppaction://hlinksldjump"/>
            <a:extLst>
              <a:ext uri="{FF2B5EF4-FFF2-40B4-BE49-F238E27FC236}">
                <a16:creationId xmlns:a16="http://schemas.microsoft.com/office/drawing/2014/main" id="{9BB13528-F362-93A0-0668-ECB3DC3DDD6F}"/>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25" name="TextBox 24">
            <a:hlinkClick r:id="rId4" action="ppaction://hlinksldjump"/>
            <a:extLst>
              <a:ext uri="{FF2B5EF4-FFF2-40B4-BE49-F238E27FC236}">
                <a16:creationId xmlns:a16="http://schemas.microsoft.com/office/drawing/2014/main" id="{F4425A12-C17C-6623-2F1C-84D8DBB79D7E}"/>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26" name="TextBox 25">
            <a:hlinkClick r:id="rId5" action="ppaction://hlinksldjump"/>
            <a:extLst>
              <a:ext uri="{FF2B5EF4-FFF2-40B4-BE49-F238E27FC236}">
                <a16:creationId xmlns:a16="http://schemas.microsoft.com/office/drawing/2014/main" id="{AB4B63BD-7A15-A03B-2876-CEEBCAE2A97E}"/>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21954735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7355E8-E583-2943-0386-72FB137895C5}"/>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997E27E5-F2DB-02A3-C3A1-13E21C9BEEE2}"/>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01: Loss inquiry</a:t>
            </a:r>
          </a:p>
        </p:txBody>
      </p:sp>
      <p:sp>
        <p:nvSpPr>
          <p:cNvPr id="4" name="TextBox 3">
            <a:extLst>
              <a:ext uri="{FF2B5EF4-FFF2-40B4-BE49-F238E27FC236}">
                <a16:creationId xmlns:a16="http://schemas.microsoft.com/office/drawing/2014/main" id="{A534355C-CB57-2D32-738B-F51E69E1A6BF}"/>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7AE37B8C-237A-B08F-A31E-62A3041A8CA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F0C6D29D-7908-D7AC-6931-7B8D04B17FA1}"/>
              </a:ext>
            </a:extLst>
          </p:cNvPr>
          <p:cNvSpPr/>
          <p:nvPr/>
        </p:nvSpPr>
        <p:spPr>
          <a:xfrm>
            <a:off x="611815" y="355135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1D7569CA-227B-5F0D-11D0-EC8AAE350837}"/>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2888039B-0B16-0E88-EA17-29A365DB5DDC}"/>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01 in the left-hand flow.</a:t>
            </a:r>
          </a:p>
        </p:txBody>
      </p:sp>
      <p:sp>
        <p:nvSpPr>
          <p:cNvPr id="10" name="TextBox 9">
            <a:extLst>
              <a:ext uri="{FF2B5EF4-FFF2-40B4-BE49-F238E27FC236}">
                <a16:creationId xmlns:a16="http://schemas.microsoft.com/office/drawing/2014/main" id="{3DCA3FC5-FD97-8BCF-920A-2C75B410381F}"/>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380DEE58-6434-061B-7CE4-CAA81445AB9D}"/>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E1B31FCB-DC50-7681-4E9A-4614603C1ECA}"/>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4476BC90-FEC9-86B5-BFA6-351F22876099}"/>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DAFADC24-505D-9B30-0C94-F0FF4AADC000}"/>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4" action="ppaction://hlinksldjump"/>
            <a:extLst>
              <a:ext uri="{FF2B5EF4-FFF2-40B4-BE49-F238E27FC236}">
                <a16:creationId xmlns:a16="http://schemas.microsoft.com/office/drawing/2014/main" id="{0AFFA3BB-8AB2-6639-7041-A3383C741A2C}"/>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5" action="ppaction://hlinksldjump"/>
            <a:extLst>
              <a:ext uri="{FF2B5EF4-FFF2-40B4-BE49-F238E27FC236}">
                <a16:creationId xmlns:a16="http://schemas.microsoft.com/office/drawing/2014/main" id="{E68FC63D-21CF-CC7B-679F-5FC95CEDCCFD}"/>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3011832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D97244-9E72-0B89-58EA-49DD5E083B98}"/>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733A80D7-C543-6AEF-DD5D-F6E00B558109}"/>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02: Timeline / evidence</a:t>
            </a:r>
          </a:p>
        </p:txBody>
      </p:sp>
      <p:sp>
        <p:nvSpPr>
          <p:cNvPr id="4" name="TextBox 3">
            <a:extLst>
              <a:ext uri="{FF2B5EF4-FFF2-40B4-BE49-F238E27FC236}">
                <a16:creationId xmlns:a16="http://schemas.microsoft.com/office/drawing/2014/main" id="{191C99C4-4ACC-899E-657A-A02A56CDA9EB}"/>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E5CA93AE-28E0-0FE9-924A-457F731C07C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F56B93FE-3B6F-7961-1346-CA8D67339C30}"/>
              </a:ext>
            </a:extLst>
          </p:cNvPr>
          <p:cNvSpPr/>
          <p:nvPr/>
        </p:nvSpPr>
        <p:spPr>
          <a:xfrm>
            <a:off x="611815" y="429263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AC6CEB59-A129-8735-F0C8-A8F27F255D26}"/>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42F71D69-BCD7-7CAA-C7EF-CCBDEE59CAB1}"/>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02 in the left-hand flow.</a:t>
            </a:r>
          </a:p>
        </p:txBody>
      </p:sp>
      <p:sp>
        <p:nvSpPr>
          <p:cNvPr id="10" name="TextBox 9">
            <a:extLst>
              <a:ext uri="{FF2B5EF4-FFF2-40B4-BE49-F238E27FC236}">
                <a16:creationId xmlns:a16="http://schemas.microsoft.com/office/drawing/2014/main" id="{FFB62A49-A110-7AC4-E1DF-53ECF547340D}"/>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D1EF2903-6585-6785-208F-0A9E41039C1B}"/>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Exact fixture facts and deterministic checks, a source-linked internal AI draft, and explicit human-review limits.</a:t>
            </a:r>
          </a:p>
        </p:txBody>
      </p:sp>
      <p:sp>
        <p:nvSpPr>
          <p:cNvPr id="12" name="TextBox 11">
            <a:extLst>
              <a:ext uri="{FF2B5EF4-FFF2-40B4-BE49-F238E27FC236}">
                <a16:creationId xmlns:a16="http://schemas.microsoft.com/office/drawing/2014/main" id="{D47B2D5F-8959-0F6E-910B-209A204194B1}"/>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35D2DB7A-A2EA-760A-45F4-79F262FEF2AE}"/>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Reduce reassembly of context while keeping the source and decision boundary visible.</a:t>
            </a:r>
          </a:p>
        </p:txBody>
      </p:sp>
      <p:sp>
        <p:nvSpPr>
          <p:cNvPr id="14" name="TextBox 13">
            <a:hlinkClick r:id="rId4" action="ppaction://hlinksldjump"/>
            <a:extLst>
              <a:ext uri="{FF2B5EF4-FFF2-40B4-BE49-F238E27FC236}">
                <a16:creationId xmlns:a16="http://schemas.microsoft.com/office/drawing/2014/main" id="{3E7673B7-6739-7951-1DBD-135FC4B8B6DF}"/>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10950AD2-C1DC-3528-076E-6A282C86532A}"/>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C4E7798C-61EB-B660-3A53-AD3D3206C983}"/>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9124713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D3AAB7-B091-F4B2-98A9-D495910B01C2}"/>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DF92ABD0-1194-7B32-6842-50CFCDAFE98B}"/>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03: Conflicting dates</a:t>
            </a:r>
          </a:p>
        </p:txBody>
      </p:sp>
      <p:sp>
        <p:nvSpPr>
          <p:cNvPr id="4" name="TextBox 3">
            <a:extLst>
              <a:ext uri="{FF2B5EF4-FFF2-40B4-BE49-F238E27FC236}">
                <a16:creationId xmlns:a16="http://schemas.microsoft.com/office/drawing/2014/main" id="{EB0D39B1-3190-7B21-ED16-3903A6B5C645}"/>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56FE8B85-DBD0-345E-32C6-C8311186EE4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30EF5934-7272-F224-FB53-61A6A8DF3B2A}"/>
              </a:ext>
            </a:extLst>
          </p:cNvPr>
          <p:cNvSpPr/>
          <p:nvPr/>
        </p:nvSpPr>
        <p:spPr>
          <a:xfrm>
            <a:off x="611815" y="503391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8FE92E13-4E03-09D8-9BF8-CE03AC432CCD}"/>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E22AD106-BB0F-50C9-5E38-AA8221FB96D1}"/>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03 in the left-hand flow.</a:t>
            </a:r>
          </a:p>
        </p:txBody>
      </p:sp>
      <p:sp>
        <p:nvSpPr>
          <p:cNvPr id="10" name="TextBox 9">
            <a:extLst>
              <a:ext uri="{FF2B5EF4-FFF2-40B4-BE49-F238E27FC236}">
                <a16:creationId xmlns:a16="http://schemas.microsoft.com/office/drawing/2014/main" id="{F7A4AD54-9609-7FB3-B419-7DEE1DF5E276}"/>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BAE5FDF2-744B-18FC-FF84-430EA9315997}"/>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DATE_CONFLICT. The finding remains visible beside the evidence and approved sources.</a:t>
            </a:r>
          </a:p>
        </p:txBody>
      </p:sp>
      <p:sp>
        <p:nvSpPr>
          <p:cNvPr id="12" name="TextBox 11">
            <a:extLst>
              <a:ext uri="{FF2B5EF4-FFF2-40B4-BE49-F238E27FC236}">
                <a16:creationId xmlns:a16="http://schemas.microsoft.com/office/drawing/2014/main" id="{04505C60-6E8E-2DA5-48C8-8104A424F330}"/>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04042787-E78C-1688-E6C8-DA8BF6616C50}"/>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BF81065F-F3F4-9C6F-ABA6-5E40C0FA6634}"/>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5BD4355B-B028-FDA5-0193-0249FE34A991}"/>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A410515C-C4B5-50E7-8FEC-38E15321E415}"/>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947233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70FF33-190C-7646-8C93-4201AA71749C}"/>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B8B6BA22-C146-C78D-F384-4F3F32BF3AAA}"/>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04: Adjuster referral</a:t>
            </a:r>
          </a:p>
        </p:txBody>
      </p:sp>
      <p:sp>
        <p:nvSpPr>
          <p:cNvPr id="4" name="TextBox 3">
            <a:extLst>
              <a:ext uri="{FF2B5EF4-FFF2-40B4-BE49-F238E27FC236}">
                <a16:creationId xmlns:a16="http://schemas.microsoft.com/office/drawing/2014/main" id="{B04CD31C-C414-11DE-036D-75927C2B5CEA}"/>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2079083F-892A-C797-771F-90CF4C2F93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ED1BDD7B-D09E-051B-4632-6447822F7AA1}"/>
              </a:ext>
            </a:extLst>
          </p:cNvPr>
          <p:cNvSpPr/>
          <p:nvPr/>
        </p:nvSpPr>
        <p:spPr>
          <a:xfrm>
            <a:off x="611815" y="5775196"/>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96B08D25-D171-EFA9-51EE-FABD6119999E}"/>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01D6120B-D938-179F-4182-AE678CFB09A0}"/>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04 in the left-hand flow.</a:t>
            </a:r>
          </a:p>
        </p:txBody>
      </p:sp>
      <p:sp>
        <p:nvSpPr>
          <p:cNvPr id="10" name="TextBox 9">
            <a:extLst>
              <a:ext uri="{FF2B5EF4-FFF2-40B4-BE49-F238E27FC236}">
                <a16:creationId xmlns:a16="http://schemas.microsoft.com/office/drawing/2014/main" id="{17FA7516-152F-D9F6-64BC-39854B36D4D2}"/>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22C8CD84-3159-1E10-800C-E3691677C1D0}"/>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ADJUSTER_ONLY. The finding remains visible beside the evidence and approved sources.</a:t>
            </a:r>
          </a:p>
        </p:txBody>
      </p:sp>
      <p:sp>
        <p:nvSpPr>
          <p:cNvPr id="12" name="TextBox 11">
            <a:extLst>
              <a:ext uri="{FF2B5EF4-FFF2-40B4-BE49-F238E27FC236}">
                <a16:creationId xmlns:a16="http://schemas.microsoft.com/office/drawing/2014/main" id="{725557CD-211F-A893-DAF0-EA1B776C43C2}"/>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EF4A4F12-3EB9-7A00-1367-84DAE2F12D51}"/>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CB566615-599B-28B5-E902-D42FCF49641C}"/>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F66016A0-9A1C-978C-C471-21F9B6B263C2}"/>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ECAC762F-BCFE-71CE-9529-1310E2CDCD1B}"/>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734563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C7F2C03-DEB7-1FA3-1665-D822B5B91332}"/>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23BC01C8-B3F8-5178-5726-8C0E3540D93B}"/>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05: Missing estimate</a:t>
            </a:r>
          </a:p>
        </p:txBody>
      </p:sp>
      <p:sp>
        <p:nvSpPr>
          <p:cNvPr id="4" name="TextBox 3">
            <a:extLst>
              <a:ext uri="{FF2B5EF4-FFF2-40B4-BE49-F238E27FC236}">
                <a16:creationId xmlns:a16="http://schemas.microsoft.com/office/drawing/2014/main" id="{09AE61FC-AAF5-690C-8D77-34074687D07E}"/>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A60079DD-E859-5C7D-8E36-6C0080795DB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7F042E7D-B21A-3DA7-DD17-21735F143469}"/>
              </a:ext>
            </a:extLst>
          </p:cNvPr>
          <p:cNvSpPr/>
          <p:nvPr/>
        </p:nvSpPr>
        <p:spPr>
          <a:xfrm>
            <a:off x="611815" y="651647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8486AF4-77B3-E07A-E792-97C747598188}"/>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37350CCB-9ECF-D46F-78B8-531E3EC41D42}"/>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05 in the left-hand flow.</a:t>
            </a:r>
          </a:p>
        </p:txBody>
      </p:sp>
      <p:sp>
        <p:nvSpPr>
          <p:cNvPr id="10" name="TextBox 9">
            <a:extLst>
              <a:ext uri="{FF2B5EF4-FFF2-40B4-BE49-F238E27FC236}">
                <a16:creationId xmlns:a16="http://schemas.microsoft.com/office/drawing/2014/main" id="{97DA25B8-05D5-FD20-F0C1-EB0B63084272}"/>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896B5571-216A-C529-D2C5-35526F925FF2}"/>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NeedsInformation: MISSING_ESTIMATE. The finding remains visible beside the evidence and approved sources.</a:t>
            </a:r>
          </a:p>
        </p:txBody>
      </p:sp>
      <p:sp>
        <p:nvSpPr>
          <p:cNvPr id="12" name="TextBox 11">
            <a:extLst>
              <a:ext uri="{FF2B5EF4-FFF2-40B4-BE49-F238E27FC236}">
                <a16:creationId xmlns:a16="http://schemas.microsoft.com/office/drawing/2014/main" id="{3E6CB861-F487-BEAD-804E-AC9E0F548043}"/>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327799CE-D4EF-C69D-4763-7D446220BB52}"/>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Surface the exception early and focus staff on the precise correction or escalation.</a:t>
            </a:r>
          </a:p>
        </p:txBody>
      </p:sp>
      <p:sp>
        <p:nvSpPr>
          <p:cNvPr id="14" name="TextBox 13">
            <a:hlinkClick r:id="rId4" action="ppaction://hlinksldjump"/>
            <a:extLst>
              <a:ext uri="{FF2B5EF4-FFF2-40B4-BE49-F238E27FC236}">
                <a16:creationId xmlns:a16="http://schemas.microsoft.com/office/drawing/2014/main" id="{DE277362-32B6-26D3-03DD-4E6FCA250211}"/>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BA99F012-6147-F1EB-59D6-E2D6F7AB80BD}"/>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EA15B948-F677-1680-18B7-12D356D927DD}"/>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153482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E58B91-C5D8-F1F4-6917-E0F2BA4A443C}"/>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NATIVE MAUI / REPLAY OF CAPTURED AZURE RUN</a:t>
            </a:r>
          </a:p>
        </p:txBody>
      </p:sp>
      <p:sp>
        <p:nvSpPr>
          <p:cNvPr id="3" name="TextBox 2">
            <a:extLst>
              <a:ext uri="{FF2B5EF4-FFF2-40B4-BE49-F238E27FC236}">
                <a16:creationId xmlns:a16="http://schemas.microsoft.com/office/drawing/2014/main" id="{3574CCC3-E02F-D8BA-0888-2477526C5BCD}"/>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Step 06: Approve intake only</a:t>
            </a:r>
          </a:p>
        </p:txBody>
      </p:sp>
      <p:sp>
        <p:nvSpPr>
          <p:cNvPr id="4" name="TextBox 3">
            <a:extLst>
              <a:ext uri="{FF2B5EF4-FFF2-40B4-BE49-F238E27FC236}">
                <a16:creationId xmlns:a16="http://schemas.microsoft.com/office/drawing/2014/main" id="{A65C99A2-B4CE-A564-E9BF-AF24481470EB}"/>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pic>
        <p:nvPicPr>
          <p:cNvPr id="6" name="Picture 5">
            <a:extLst>
              <a:ext uri="{FF2B5EF4-FFF2-40B4-BE49-F238E27FC236}">
                <a16:creationId xmlns:a16="http://schemas.microsoft.com/office/drawing/2014/main" id="{7FC3DE77-9763-C22C-A381-97911C0015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406400" y="1524000"/>
            <a:ext cx="12700000" cy="8020113"/>
          </a:xfrm>
          <a:prstGeom prst="rect">
            <a:avLst/>
          </a:prstGeom>
        </p:spPr>
      </p:pic>
      <p:sp>
        <p:nvSpPr>
          <p:cNvPr id="7" name="Rectangle 6">
            <a:extLst>
              <a:ext uri="{FF2B5EF4-FFF2-40B4-BE49-F238E27FC236}">
                <a16:creationId xmlns:a16="http://schemas.microsoft.com/office/drawing/2014/main" id="{0A0CF47B-5680-17C9-6E33-C83E5D698524}"/>
              </a:ext>
            </a:extLst>
          </p:cNvPr>
          <p:cNvSpPr/>
          <p:nvPr/>
        </p:nvSpPr>
        <p:spPr>
          <a:xfrm>
            <a:off x="611815" y="7257755"/>
            <a:ext cx="2188115" cy="660900"/>
          </a:xfrm>
          <a:prstGeom prst="rect">
            <a:avLst/>
          </a:prstGeom>
          <a:noFill/>
          <a:ln w="38100" cap="flat" cmpd="sng" algn="ctr">
            <a:solidFill>
              <a:srgbClr val="D22525"/>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34FD8B2-BD76-F6FD-6668-347E6939DBFB}"/>
              </a:ext>
            </a:extLst>
          </p:cNvPr>
          <p:cNvSpPr txBox="1"/>
          <p:nvPr/>
        </p:nvSpPr>
        <p:spPr>
          <a:xfrm>
            <a:off x="13462000" y="1714500"/>
            <a:ext cx="4191000" cy="276999"/>
          </a:xfrm>
          <a:prstGeom prst="rect">
            <a:avLst/>
          </a:prstGeom>
          <a:noFill/>
        </p:spPr>
        <p:txBody>
          <a:bodyPr vert="horz" wrap="square" lIns="0" tIns="0" rIns="0" bIns="0" rtlCol="0">
            <a:spAutoFit/>
          </a:bodyPr>
          <a:lstStyle/>
          <a:p>
            <a:r>
              <a:rPr lang="en-US" b="1">
                <a:solidFill>
                  <a:srgbClr val="D22525"/>
                </a:solidFill>
                <a:latin typeface="Aptos" panose="020B0004020202020204" pitchFamily="34" charset="0"/>
              </a:rPr>
              <a:t>CLICK</a:t>
            </a:r>
          </a:p>
        </p:txBody>
      </p:sp>
      <p:sp>
        <p:nvSpPr>
          <p:cNvPr id="9" name="TextBox 8">
            <a:extLst>
              <a:ext uri="{FF2B5EF4-FFF2-40B4-BE49-F238E27FC236}">
                <a16:creationId xmlns:a16="http://schemas.microsoft.com/office/drawing/2014/main" id="{540A3CAD-8F97-D0A2-6A03-CE3B371FACD5}"/>
              </a:ext>
            </a:extLst>
          </p:cNvPr>
          <p:cNvSpPr txBox="1"/>
          <p:nvPr/>
        </p:nvSpPr>
        <p:spPr>
          <a:xfrm>
            <a:off x="13462000" y="2222500"/>
            <a:ext cx="4254500" cy="707886"/>
          </a:xfrm>
          <a:prstGeom prst="rect">
            <a:avLst/>
          </a:prstGeom>
          <a:noFill/>
        </p:spPr>
        <p:txBody>
          <a:bodyPr vert="horz" wrap="square" lIns="0" tIns="0" rIns="0" bIns="0" rtlCol="0">
            <a:spAutoFit/>
          </a:bodyPr>
          <a:lstStyle/>
          <a:p>
            <a:r>
              <a:rPr lang="en-US" sz="2300">
                <a:solidFill>
                  <a:srgbClr val="122D46"/>
                </a:solidFill>
                <a:latin typeface="Aptos" panose="020B0004020202020204" pitchFamily="34" charset="0"/>
              </a:rPr>
              <a:t>Select step 06 in the left-hand flow.</a:t>
            </a:r>
          </a:p>
        </p:txBody>
      </p:sp>
      <p:sp>
        <p:nvSpPr>
          <p:cNvPr id="10" name="TextBox 9">
            <a:extLst>
              <a:ext uri="{FF2B5EF4-FFF2-40B4-BE49-F238E27FC236}">
                <a16:creationId xmlns:a16="http://schemas.microsoft.com/office/drawing/2014/main" id="{F3FB39FE-E038-7E63-11FB-CFBD84EE96AC}"/>
              </a:ext>
            </a:extLst>
          </p:cNvPr>
          <p:cNvSpPr txBox="1"/>
          <p:nvPr/>
        </p:nvSpPr>
        <p:spPr>
          <a:xfrm>
            <a:off x="13462000" y="3556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WHAT YOU ARE SEEING</a:t>
            </a:r>
          </a:p>
        </p:txBody>
      </p:sp>
      <p:sp>
        <p:nvSpPr>
          <p:cNvPr id="11" name="TextBox 10">
            <a:extLst>
              <a:ext uri="{FF2B5EF4-FFF2-40B4-BE49-F238E27FC236}">
                <a16:creationId xmlns:a16="http://schemas.microsoft.com/office/drawing/2014/main" id="{7CFEE426-AD3C-23B0-E586-9DA64FB42D78}"/>
              </a:ext>
            </a:extLst>
          </p:cNvPr>
          <p:cNvSpPr txBox="1"/>
          <p:nvPr/>
        </p:nvSpPr>
        <p:spPr>
          <a:xfrm>
            <a:off x="13462000" y="4089400"/>
            <a:ext cx="4254500" cy="1354217"/>
          </a:xfrm>
          <a:prstGeom prst="rect">
            <a:avLst/>
          </a:prstGeom>
          <a:noFill/>
        </p:spPr>
        <p:txBody>
          <a:bodyPr vert="horz" wrap="square" lIns="0" tIns="0" rIns="0" bIns="0" rtlCol="0">
            <a:spAutoFit/>
          </a:bodyPr>
          <a:lstStyle/>
          <a:p>
            <a:r>
              <a:rPr lang="en-US" sz="2200">
                <a:solidFill>
                  <a:srgbClr val="122D46"/>
                </a:solidFill>
                <a:latin typeface="Aptos" panose="020B0004020202020204" pitchFamily="34" charset="0"/>
              </a:rPr>
              <a:t>A persisted internal approval, duplicate-safe operation key, audit timeline and explicitly Simulated handoff.</a:t>
            </a:r>
          </a:p>
        </p:txBody>
      </p:sp>
      <p:sp>
        <p:nvSpPr>
          <p:cNvPr id="12" name="TextBox 11">
            <a:extLst>
              <a:ext uri="{FF2B5EF4-FFF2-40B4-BE49-F238E27FC236}">
                <a16:creationId xmlns:a16="http://schemas.microsoft.com/office/drawing/2014/main" id="{9CBD7E57-F60B-5165-B3A8-27D80FF18305}"/>
              </a:ext>
            </a:extLst>
          </p:cNvPr>
          <p:cNvSpPr txBox="1"/>
          <p:nvPr/>
        </p:nvSpPr>
        <p:spPr>
          <a:xfrm>
            <a:off x="13462000" y="7239000"/>
            <a:ext cx="4254500" cy="261610"/>
          </a:xfrm>
          <a:prstGeom prst="rect">
            <a:avLst/>
          </a:prstGeom>
          <a:noFill/>
        </p:spPr>
        <p:txBody>
          <a:bodyPr vert="horz" wrap="square" lIns="0" tIns="0" rIns="0" bIns="0" rtlCol="0">
            <a:spAutoFit/>
          </a:bodyPr>
          <a:lstStyle/>
          <a:p>
            <a:r>
              <a:rPr lang="en-US" sz="1700" b="1">
                <a:solidFill>
                  <a:srgbClr val="007F85"/>
                </a:solidFill>
                <a:latin typeface="Aptos" panose="020B0004020202020204" pitchFamily="34" charset="0"/>
              </a:rPr>
              <a:t>BUSINESS VALUE</a:t>
            </a:r>
          </a:p>
        </p:txBody>
      </p:sp>
      <p:sp>
        <p:nvSpPr>
          <p:cNvPr id="13" name="TextBox 12">
            <a:extLst>
              <a:ext uri="{FF2B5EF4-FFF2-40B4-BE49-F238E27FC236}">
                <a16:creationId xmlns:a16="http://schemas.microsoft.com/office/drawing/2014/main" id="{4BBED0A0-5D47-E13E-D8F1-FFA6E4981628}"/>
              </a:ext>
            </a:extLst>
          </p:cNvPr>
          <p:cNvSpPr txBox="1"/>
          <p:nvPr/>
        </p:nvSpPr>
        <p:spPr>
          <a:xfrm>
            <a:off x="13462000" y="7772400"/>
            <a:ext cx="4254500" cy="969496"/>
          </a:xfrm>
          <a:prstGeom prst="rect">
            <a:avLst/>
          </a:prstGeom>
          <a:noFill/>
        </p:spPr>
        <p:txBody>
          <a:bodyPr vert="horz" wrap="square" lIns="0" tIns="0" rIns="0" bIns="0" rtlCol="0">
            <a:spAutoFit/>
          </a:bodyPr>
          <a:lstStyle/>
          <a:p>
            <a:r>
              <a:rPr lang="en-US" sz="2100">
                <a:solidFill>
                  <a:srgbClr val="516478"/>
                </a:solidFill>
                <a:latin typeface="Aptos" panose="020B0004020202020204" pitchFamily="34" charset="0"/>
              </a:rPr>
              <a:t>Traceable handoff without silently executing a consequential business action.</a:t>
            </a:r>
          </a:p>
        </p:txBody>
      </p:sp>
      <p:sp>
        <p:nvSpPr>
          <p:cNvPr id="14" name="TextBox 13">
            <a:hlinkClick r:id="rId4" action="ppaction://hlinksldjump"/>
            <a:extLst>
              <a:ext uri="{FF2B5EF4-FFF2-40B4-BE49-F238E27FC236}">
                <a16:creationId xmlns:a16="http://schemas.microsoft.com/office/drawing/2014/main" id="{ABE3DA73-738D-423D-A222-DF9FCA4B8188}"/>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15" name="TextBox 14">
            <a:hlinkClick r:id="rId5" action="ppaction://hlinksldjump"/>
            <a:extLst>
              <a:ext uri="{FF2B5EF4-FFF2-40B4-BE49-F238E27FC236}">
                <a16:creationId xmlns:a16="http://schemas.microsoft.com/office/drawing/2014/main" id="{51A46B44-FCC3-DFB8-5BD5-1590145BC4B6}"/>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6" name="TextBox 15">
            <a:hlinkClick r:id="rId6" action="ppaction://hlinksldjump"/>
            <a:extLst>
              <a:ext uri="{FF2B5EF4-FFF2-40B4-BE49-F238E27FC236}">
                <a16:creationId xmlns:a16="http://schemas.microsoft.com/office/drawing/2014/main" id="{F4F35388-EC62-53B7-0473-1F33BDA6B231}"/>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2956822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489FE4-EEA1-0D85-DDCA-A9EF01E37FA4}"/>
              </a:ext>
            </a:extLst>
          </p:cNvPr>
          <p:cNvSpPr txBox="1"/>
          <p:nvPr/>
        </p:nvSpPr>
        <p:spPr>
          <a:xfrm>
            <a:off x="406400" y="279400"/>
            <a:ext cx="168910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09 / DEMO HANDOFF</a:t>
            </a:r>
          </a:p>
        </p:txBody>
      </p:sp>
      <p:sp>
        <p:nvSpPr>
          <p:cNvPr id="3" name="TextBox 2">
            <a:extLst>
              <a:ext uri="{FF2B5EF4-FFF2-40B4-BE49-F238E27FC236}">
                <a16:creationId xmlns:a16="http://schemas.microsoft.com/office/drawing/2014/main" id="{906E7507-017D-6D4F-B457-A99A0ECE2E80}"/>
              </a:ext>
            </a:extLst>
          </p:cNvPr>
          <p:cNvSpPr txBox="1"/>
          <p:nvPr/>
        </p:nvSpPr>
        <p:spPr>
          <a:xfrm>
            <a:off x="406400" y="698500"/>
            <a:ext cx="17272000" cy="461665"/>
          </a:xfrm>
          <a:prstGeom prst="rect">
            <a:avLst/>
          </a:prstGeom>
          <a:noFill/>
        </p:spPr>
        <p:txBody>
          <a:bodyPr vert="horz" wrap="square" lIns="0" tIns="0" rIns="0" bIns="0" rtlCol="0">
            <a:spAutoFit/>
          </a:bodyPr>
          <a:lstStyle/>
          <a:p>
            <a:r>
              <a:rPr lang="en-US" sz="3000" b="1">
                <a:solidFill>
                  <a:srgbClr val="122D46"/>
                </a:solidFill>
                <a:latin typeface="Aptos" panose="020B0004020202020204" pitchFamily="34" charset="0"/>
              </a:rPr>
              <a:t>Verified outcome and honest operating limits</a:t>
            </a:r>
          </a:p>
        </p:txBody>
      </p:sp>
      <p:sp>
        <p:nvSpPr>
          <p:cNvPr id="4" name="TextBox 3">
            <a:extLst>
              <a:ext uri="{FF2B5EF4-FFF2-40B4-BE49-F238E27FC236}">
                <a16:creationId xmlns:a16="http://schemas.microsoft.com/office/drawing/2014/main" id="{90EDE9B4-AAE7-6B06-DD6F-2A63DD80A4FA}"/>
              </a:ext>
            </a:extLst>
          </p:cNvPr>
          <p:cNvSpPr txBox="1"/>
          <p:nvPr/>
        </p:nvSpPr>
        <p:spPr>
          <a:xfrm>
            <a:off x="406400" y="9906000"/>
            <a:ext cx="14605000" cy="184666"/>
          </a:xfrm>
          <a:prstGeom prst="rect">
            <a:avLst/>
          </a:prstGeom>
          <a:noFill/>
        </p:spPr>
        <p:txBody>
          <a:bodyPr vert="horz" wrap="square" lIns="0" tIns="0" rIns="0" bIns="0" rtlCol="0">
            <a:spAutoFit/>
          </a:bodyPr>
          <a:lstStyle/>
          <a:p>
            <a:r>
              <a:rPr lang="en-US" sz="1200">
                <a:solidFill>
                  <a:srgbClr val="516478"/>
                </a:solidFill>
                <a:latin typeface="Aptos" panose="020B0004020202020204" pitchFamily="34" charset="0"/>
              </a:rPr>
              <a:t>Synthetic demonstration | Captured replay, not a live slide | Human decisions remain explicit</a:t>
            </a:r>
          </a:p>
        </p:txBody>
      </p:sp>
      <p:sp>
        <p:nvSpPr>
          <p:cNvPr id="5" name="TextBox 4">
            <a:extLst>
              <a:ext uri="{FF2B5EF4-FFF2-40B4-BE49-F238E27FC236}">
                <a16:creationId xmlns:a16="http://schemas.microsoft.com/office/drawing/2014/main" id="{4B0D5C41-257F-8148-AFA3-D8105C7B2F43}"/>
              </a:ext>
            </a:extLst>
          </p:cNvPr>
          <p:cNvSpPr txBox="1"/>
          <p:nvPr/>
        </p:nvSpPr>
        <p:spPr>
          <a:xfrm>
            <a:off x="635000" y="1968500"/>
            <a:ext cx="10287000" cy="2077492"/>
          </a:xfrm>
          <a:prstGeom prst="rect">
            <a:avLst/>
          </a:prstGeom>
          <a:noFill/>
        </p:spPr>
        <p:txBody>
          <a:bodyPr vert="horz" wrap="square" lIns="0" tIns="0" rIns="0" bIns="0" rtlCol="0">
            <a:spAutoFit/>
          </a:bodyPr>
          <a:lstStyle/>
          <a:p>
            <a:r>
              <a:rPr lang="en-US" sz="2700">
                <a:solidFill>
                  <a:srgbClr val="122D46"/>
                </a:solidFill>
                <a:latin typeface="Aptos" panose="020B0004020202020204" pitchFamily="34" charset="0"/>
              </a:rPr>
              <a:t>LIVE EVIDENCE
20 recorded service requests
6844 input / 1272 output tokens
1 extracted document pages
SQL approval + duplicate, owner, stale-input and expiry guards</a:t>
            </a:r>
          </a:p>
        </p:txBody>
      </p:sp>
      <p:sp>
        <p:nvSpPr>
          <p:cNvPr id="6" name="TextBox 5">
            <a:extLst>
              <a:ext uri="{FF2B5EF4-FFF2-40B4-BE49-F238E27FC236}">
                <a16:creationId xmlns:a16="http://schemas.microsoft.com/office/drawing/2014/main" id="{C93B6FA5-845D-1A05-ED48-4AB7CBAAF1FB}"/>
              </a:ext>
            </a:extLst>
          </p:cNvPr>
          <p:cNvSpPr txBox="1"/>
          <p:nvPr/>
        </p:nvSpPr>
        <p:spPr>
          <a:xfrm>
            <a:off x="12065000" y="1968500"/>
            <a:ext cx="5397500" cy="1600438"/>
          </a:xfrm>
          <a:prstGeom prst="rect">
            <a:avLst/>
          </a:prstGeom>
          <a:noFill/>
        </p:spPr>
        <p:txBody>
          <a:bodyPr vert="horz" wrap="square" lIns="0" tIns="0" rIns="0" bIns="0" rtlCol="0">
            <a:spAutoFit/>
          </a:bodyPr>
          <a:lstStyle/>
          <a:p>
            <a:r>
              <a:rPr lang="en-US" sz="2600" b="1">
                <a:solidFill>
                  <a:srgbClr val="007F85"/>
                </a:solidFill>
                <a:latin typeface="Aptos" panose="020B0004020202020204" pitchFamily="34" charset="0"/>
              </a:rPr>
              <a:t>VISIBLE DEMO OUTCOME
InternalBriefOnly
Notification sink: Simulated
External notifications: 0</a:t>
            </a:r>
          </a:p>
        </p:txBody>
      </p:sp>
      <p:sp>
        <p:nvSpPr>
          <p:cNvPr id="7" name="TextBox 6">
            <a:extLst>
              <a:ext uri="{FF2B5EF4-FFF2-40B4-BE49-F238E27FC236}">
                <a16:creationId xmlns:a16="http://schemas.microsoft.com/office/drawing/2014/main" id="{1BB9D506-9DA5-48C2-C92E-934E73FC5E19}"/>
              </a:ext>
            </a:extLst>
          </p:cNvPr>
          <p:cNvSpPr txBox="1"/>
          <p:nvPr/>
        </p:nvSpPr>
        <p:spPr>
          <a:xfrm>
            <a:off x="635000" y="5905500"/>
            <a:ext cx="16764000" cy="2031325"/>
          </a:xfrm>
          <a:prstGeom prst="rect">
            <a:avLst/>
          </a:prstGeom>
          <a:noFill/>
        </p:spPr>
        <p:txBody>
          <a:bodyPr vert="horz" wrap="square" lIns="0" tIns="0" rIns="0" bIns="0" rtlCol="0">
            <a:spAutoFit/>
          </a:bodyPr>
          <a:lstStyle/>
          <a:p>
            <a:r>
              <a:rPr lang="en-US" sz="2200">
                <a:solidFill>
                  <a:srgbClr val="516478"/>
                </a:solidFill>
                <a:latin typeface="Aptos" panose="020B0004020202020204" pitchFamily="34" charset="0"/>
              </a:rPr>
              <a:t>Synthetic single-operator desktop demonstration, not production public intake.
No malware-scanned arbitrary upload pipeline; only curated local fixtures.
No hosted API, unattended durable worker or external operational connector.
No measured business-time baseline or current-price cost estimate.
Search is filtered keyword retrieval, not hybrid/vector retrieval.
Screenshots are replay of these saved live results; slide advance never calls Azure.</a:t>
            </a:r>
          </a:p>
        </p:txBody>
      </p:sp>
      <p:sp>
        <p:nvSpPr>
          <p:cNvPr id="8" name="TextBox 7">
            <a:hlinkClick r:id="rId3" action="ppaction://hlinksldjump"/>
            <a:extLst>
              <a:ext uri="{FF2B5EF4-FFF2-40B4-BE49-F238E27FC236}">
                <a16:creationId xmlns:a16="http://schemas.microsoft.com/office/drawing/2014/main" id="{552CCA45-00F8-99C3-07DF-BA49EC8CB18D}"/>
              </a:ext>
            </a:extLst>
          </p:cNvPr>
          <p:cNvSpPr txBox="1"/>
          <p:nvPr/>
        </p:nvSpPr>
        <p:spPr>
          <a:xfrm>
            <a:off x="14859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PREV</a:t>
            </a:r>
          </a:p>
        </p:txBody>
      </p:sp>
      <p:sp>
        <p:nvSpPr>
          <p:cNvPr id="9" name="TextBox 8">
            <a:hlinkClick r:id="rId4" action="ppaction://hlinksldjump"/>
            <a:extLst>
              <a:ext uri="{FF2B5EF4-FFF2-40B4-BE49-F238E27FC236}">
                <a16:creationId xmlns:a16="http://schemas.microsoft.com/office/drawing/2014/main" id="{A8D39A31-3257-D6DD-ACF8-ED18DA8E26B7}"/>
              </a:ext>
            </a:extLst>
          </p:cNvPr>
          <p:cNvSpPr txBox="1"/>
          <p:nvPr/>
        </p:nvSpPr>
        <p:spPr>
          <a:xfrm>
            <a:off x="15875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MENU</a:t>
            </a:r>
          </a:p>
        </p:txBody>
      </p:sp>
      <p:sp>
        <p:nvSpPr>
          <p:cNvPr id="10" name="TextBox 9">
            <a:hlinkClick r:id="rId5" action="ppaction://hlinksldjump"/>
            <a:extLst>
              <a:ext uri="{FF2B5EF4-FFF2-40B4-BE49-F238E27FC236}">
                <a16:creationId xmlns:a16="http://schemas.microsoft.com/office/drawing/2014/main" id="{256648D2-1D75-E441-4146-6135F0F2D70A}"/>
              </a:ext>
            </a:extLst>
          </p:cNvPr>
          <p:cNvSpPr txBox="1"/>
          <p:nvPr/>
        </p:nvSpPr>
        <p:spPr>
          <a:xfrm>
            <a:off x="16891000" y="9906000"/>
            <a:ext cx="914400" cy="200055"/>
          </a:xfrm>
          <a:prstGeom prst="rect">
            <a:avLst/>
          </a:prstGeom>
          <a:noFill/>
        </p:spPr>
        <p:txBody>
          <a:bodyPr vert="horz" wrap="square" lIns="0" tIns="0" rIns="0" bIns="0" rtlCol="0">
            <a:spAutoFit/>
          </a:bodyPr>
          <a:lstStyle/>
          <a:p>
            <a:r>
              <a:rPr lang="en-US" sz="1300" b="1">
                <a:solidFill>
                  <a:srgbClr val="007F85"/>
                </a:solidFill>
                <a:latin typeface="Aptos" panose="020B0004020202020204" pitchFamily="34" charset="0"/>
              </a:rPr>
              <a:t>NEXT</a:t>
            </a:r>
          </a:p>
        </p:txBody>
      </p:sp>
    </p:spTree>
    <p:extLst>
      <p:ext uri="{BB962C8B-B14F-4D97-AF65-F5344CB8AC3E}">
        <p14:creationId xmlns:p14="http://schemas.microsoft.com/office/powerpoint/2010/main" val="18505682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2772</Words>
  <Application>Microsoft Office PowerPoint</Application>
  <PresentationFormat>Custom</PresentationFormat>
  <Paragraphs>172</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MOD Administrator</dc:creator>
  <cp:lastModifiedBy>MOD Administrator</cp:lastModifiedBy>
  <cp:revision>1</cp:revision>
  <dcterms:created xsi:type="dcterms:W3CDTF">2026-10-28T15:37:01Z</dcterms:created>
  <dcterms:modified xsi:type="dcterms:W3CDTF">2026-10-28T15:37:01Z</dcterms:modified>
</cp:coreProperties>
</file>