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1754E-146A-4296-8926-A844B9276F17}"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54BEC2-56BA-4AD3-B3E9-09935D7D3451}" type="slidenum">
              <a:rPr lang="en-US" smtClean="0"/>
              <a:t>‹#›</a:t>
            </a:fld>
            <a:endParaRPr lang="en-US"/>
          </a:p>
        </p:txBody>
      </p:sp>
    </p:spTree>
    <p:extLst>
      <p:ext uri="{BB962C8B-B14F-4D97-AF65-F5344CB8AC3E}">
        <p14:creationId xmlns:p14="http://schemas.microsoft.com/office/powerpoint/2010/main" val="1487202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Delayed, damaged or incomplete shipments generate fragmented carrier events and customer emails. Teams need one consistent timeline and a defensible next update without inventing delivery promises.</a:t>
            </a:r>
          </a:p>
          <a:p>
            <a:r>
              <a:rPr lang="en-US"/>
              <a:t>Business value: Create an exception timeline, next-action checklist and customer-update draft. Measure duplicate-event suppression, exception detection and time to prepare an update.</a:t>
            </a:r>
          </a:p>
          <a:p>
            <a:r>
              <a:rPr lang="en-US"/>
              <a:t>Measurement targets are hypotheses: no analyst-time baseline or monetary savings was measured. MVP: MVP boundary: Two simulated carriers, seeded orders and JSON event playback. No live carrier tracking, routing optimization, customs advice or guaranteed arrival estimates.</a:t>
            </a:r>
          </a:p>
          <a:p>
            <a:r>
              <a:rPr lang="en-US"/>
              <a:t>Boundary: Human boundary: A model cannot create carrier facts, promise an arrival date or accuse a carrier/customer of fraud. Event playback and any estimated timeline must be clearly labeled.</a:t>
            </a:r>
          </a:p>
        </p:txBody>
      </p:sp>
      <p:sp>
        <p:nvSpPr>
          <p:cNvPr id="4" name="Slide Number Placeholder 3"/>
          <p:cNvSpPr>
            <a:spLocks noGrp="1"/>
          </p:cNvSpPr>
          <p:nvPr>
            <p:ph type="sldNum" sz="quarter" idx="5"/>
          </p:nvPr>
        </p:nvSpPr>
        <p:spPr/>
        <p:txBody>
          <a:bodyPr/>
          <a:lstStyle/>
          <a:p>
            <a:fld id="{0354BEC2-56BA-4AD3-B3E9-09935D7D3451}" type="slidenum">
              <a:rPr lang="en-US" smtClean="0"/>
              <a:t>1</a:t>
            </a:fld>
            <a:endParaRPr lang="en-US"/>
          </a:p>
        </p:txBody>
      </p:sp>
    </p:spTree>
    <p:extLst>
      <p:ext uri="{BB962C8B-B14F-4D97-AF65-F5344CB8AC3E}">
        <p14:creationId xmlns:p14="http://schemas.microsoft.com/office/powerpoint/2010/main" val="2637396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0354BEC2-56BA-4AD3-B3E9-09935D7D3451}" type="slidenum">
              <a:rPr lang="en-US" smtClean="0"/>
              <a:t>2</a:t>
            </a:fld>
            <a:endParaRPr lang="en-US"/>
          </a:p>
        </p:txBody>
      </p:sp>
    </p:spTree>
    <p:extLst>
      <p:ext uri="{BB962C8B-B14F-4D97-AF65-F5344CB8AC3E}">
        <p14:creationId xmlns:p14="http://schemas.microsoft.com/office/powerpoint/2010/main" val="346051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a seeded on-time shipment and replay its carrier events.</a:t>
            </a:r>
          </a:p>
          <a:p>
            <a:r>
              <a:rPr lang="en-US"/>
              <a:t>Fixture: normal-01. Capture timestamp: 2026-10-28T15:36:07.3757157Z. State: ReviewReady. Rule findings: .</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Exact fixture facts and deterministic checks, a source-linked internal AI draft, and explicit human-review limits.</a:t>
            </a:r>
          </a:p>
          <a:p>
            <a:r>
              <a:rPr lang="en-US"/>
              <a:t>Evidence: saved live run 2026-10-28T15:21:55.9555996+00:00,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3</a:t>
            </a:fld>
            <a:endParaRPr lang="en-US"/>
          </a:p>
        </p:txBody>
      </p:sp>
    </p:spTree>
    <p:extLst>
      <p:ext uri="{BB962C8B-B14F-4D97-AF65-F5344CB8AC3E}">
        <p14:creationId xmlns:p14="http://schemas.microsoft.com/office/powerpoint/2010/main" val="1149377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Inject a missed-window event and inspect the rule-backed exception.</a:t>
            </a:r>
          </a:p>
          <a:p>
            <a:r>
              <a:rPr lang="en-US"/>
              <a:t>Fixture: incomplete-01. Capture timestamp: 2026-10-28T15:36:08.3655948Z. State: NeedsInformation. Rule findings: MISSED_WINDOW.</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NeedsInformation: MISSED_WINDOW. The finding remains visible beside the evidence and approved sources.</a:t>
            </a:r>
          </a:p>
          <a:p>
            <a:r>
              <a:rPr lang="en-US"/>
              <a:t>Evidence: saved live run 2026-10-28T15:21:58.5064291+00:00,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4</a:t>
            </a:fld>
            <a:endParaRPr lang="en-US"/>
          </a:p>
        </p:txBody>
      </p:sp>
    </p:spTree>
    <p:extLst>
      <p:ext uri="{BB962C8B-B14F-4D97-AF65-F5344CB8AC3E}">
        <p14:creationId xmlns:p14="http://schemas.microsoft.com/office/powerpoint/2010/main" val="1560392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Replay the same event twice; show one ledger entry and one exception.</a:t>
            </a:r>
          </a:p>
          <a:p>
            <a:r>
              <a:rPr lang="en-US"/>
              <a:t>Fixture: contradictory-01. Capture timestamp: 2026-10-28T15:36:09.3566271Z. State: ReviewReady. Rule findings: DUPLICATE_SUPPRESSED.</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ReviewReady: DUPLICATE_SUPPRESSED. The finding remains visible beside the evidence and approved sources.</a:t>
            </a:r>
          </a:p>
          <a:p>
            <a:r>
              <a:rPr lang="en-US"/>
              <a:t>Evidence: saved live run 2026-10-28T15:22:01.1676694+00:00,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5</a:t>
            </a:fld>
            <a:endParaRPr lang="en-US"/>
          </a:p>
        </p:txBody>
      </p:sp>
    </p:spTree>
    <p:extLst>
      <p:ext uri="{BB962C8B-B14F-4D97-AF65-F5344CB8AC3E}">
        <p14:creationId xmlns:p14="http://schemas.microsoft.com/office/powerpoint/2010/main" val="2160885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Inject an older event and show that it cannot overwrite newer verified status.</a:t>
            </a:r>
          </a:p>
          <a:p>
            <a:r>
              <a:rPr lang="en-US"/>
              <a:t>Fixture: contradictory-02. Capture timestamp: 2026-10-28T15:36:10.3639065Z. State: ReviewReady. Rule findings: LATE_EVENT.</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ReviewReady: LATE_EVENT. The finding remains visible beside the evidence and approved sources.</a:t>
            </a:r>
          </a:p>
          <a:p>
            <a:r>
              <a:rPr lang="en-US"/>
              <a:t>Evidence: saved live run 2026-10-28T15:22:03.4648487+00:00,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6</a:t>
            </a:fld>
            <a:endParaRPr lang="en-US"/>
          </a:p>
        </p:txBody>
      </p:sp>
    </p:spTree>
    <p:extLst>
      <p:ext uri="{BB962C8B-B14F-4D97-AF65-F5344CB8AC3E}">
        <p14:creationId xmlns:p14="http://schemas.microsoft.com/office/powerpoint/2010/main" val="4281999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Request a firm ETA when no carrier ETA exists; demonstrate an explicit unknown.</a:t>
            </a:r>
          </a:p>
          <a:p>
            <a:r>
              <a:rPr lang="en-US"/>
              <a:t>Fixture: incomplete-02. Capture timestamp: 2026-10-28T15:36:11.3932333Z. State: NeedsInformation. Rule findings: ETA_UNKNOWN.</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NeedsInformation: ETA_UNKNOWN. The finding remains visible beside the evidence and approved sources.</a:t>
            </a:r>
          </a:p>
          <a:p>
            <a:r>
              <a:rPr lang="en-US"/>
              <a:t>Evidence: saved live run 2026-10-28T15:22:06.2651637+00:00,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7</a:t>
            </a:fld>
            <a:endParaRPr lang="en-US"/>
          </a:p>
        </p:txBody>
      </p:sp>
    </p:spTree>
    <p:extLst>
      <p:ext uri="{BB962C8B-B14F-4D97-AF65-F5344CB8AC3E}">
        <p14:creationId xmlns:p14="http://schemas.microsoft.com/office/powerpoint/2010/main" val="2321378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customer update and inspect the event-to-notification audit trace.</a:t>
            </a:r>
          </a:p>
          <a:p>
            <a:r>
              <a:rPr lang="en-US"/>
              <a:t>Fixture: normal-01. Capture timestamp: 2026-10-28T15:36:12.4203238Z. State: ReviewReady. Rule findings: .</a:t>
            </a:r>
          </a:p>
          <a:p>
            <a:r>
              <a:rPr lang="en-US"/>
              <a:t>Business value and benefits: Create an exception timeline, next-action checklist and customer-update draft. Measure duplicate-event suppression, exception detection and time to prepare an update. This step makes the evidence, uncertainty or human boundary visible. Human boundary: A model cannot create carrier facts, promise an arrival date or accuse a carrier/customer of fraud. Event playback and any estimated timeline must be clearly labeled.</a:t>
            </a:r>
          </a:p>
          <a:p>
            <a:r>
              <a:rPr lang="en-US"/>
              <a:t>What the user sees: A persisted internal approval, duplicate-safe operation key, audit timeline and explicitly Simulated handoff.</a:t>
            </a:r>
          </a:p>
          <a:p>
            <a:r>
              <a:rPr lang="en-US"/>
              <a:t>Evidence: saved live run 2026-10-28T15:21:55.9555996+00:00,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model cannot create carrier facts, promise an arrival date or accuse a carrier/customer of fraud. Event playback and any estimated timeline must be clearly labeled.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54BEC2-56BA-4AD3-B3E9-09935D7D3451}" type="slidenum">
              <a:rPr lang="en-US" smtClean="0"/>
              <a:t>8</a:t>
            </a:fld>
            <a:endParaRPr lang="en-US"/>
          </a:p>
        </p:txBody>
      </p:sp>
    </p:spTree>
    <p:extLst>
      <p:ext uri="{BB962C8B-B14F-4D97-AF65-F5344CB8AC3E}">
        <p14:creationId xmlns:p14="http://schemas.microsoft.com/office/powerpoint/2010/main" val="1847368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0354BEC2-56BA-4AD3-B3E9-09935D7D3451}" type="slidenum">
              <a:rPr lang="en-US" smtClean="0"/>
              <a:t>9</a:t>
            </a:fld>
            <a:endParaRPr lang="en-US"/>
          </a:p>
        </p:txBody>
      </p:sp>
    </p:spTree>
    <p:extLst>
      <p:ext uri="{BB962C8B-B14F-4D97-AF65-F5344CB8AC3E}">
        <p14:creationId xmlns:p14="http://schemas.microsoft.com/office/powerpoint/2010/main" val="2784029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B9E1-EE0C-8DF7-1F67-6CF99C91392C}"/>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E0808C-2E4F-A0F3-6EBD-914387984542}"/>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CA2ACB-63AF-54F5-B810-87CB646554AB}"/>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60E88147-88E4-8542-D6B7-26D50FC6C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D47DB-1C41-9898-0E2D-A8955272A493}"/>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1482475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C216-4981-0C8F-72F9-3DEFBCF99A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6886F0-E403-3CD0-2B04-ADA1BC7646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0FC5B-401C-011C-78AD-0A7793D8DC02}"/>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B5F0B1E3-D035-17CB-3BF3-8EFE80B62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2F6CF-8253-972C-8CBB-5914B3E5AE8D}"/>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155212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19CB-BB4E-9ECA-CEF9-E003C21862E4}"/>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795C77-7E81-0559-D6DA-BDA729B4BEB0}"/>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5D3545-F2DD-BAF5-2BDF-BBE60BA716FD}"/>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9367C93B-0716-39A1-9507-265D304FD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BD431-8BFF-9E38-7749-0B47069674B7}"/>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1427130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2F60-EAF0-0B25-A5F1-A3D3513129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E12D13-B088-9D6F-968E-856F5A680DA0}"/>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7FCA9B-3A33-26BE-AD5A-EE987AF13388}"/>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BB0FD2-F888-21F8-C327-004C6ED2F2F2}"/>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6" name="Footer Placeholder 5">
            <a:extLst>
              <a:ext uri="{FF2B5EF4-FFF2-40B4-BE49-F238E27FC236}">
                <a16:creationId xmlns:a16="http://schemas.microsoft.com/office/drawing/2014/main" id="{2D772344-949B-51A0-E09E-AE4F08A3A1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DADCFC-F469-45F3-CC1F-433B04E0405F}"/>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85977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83FE4-CC7D-37E8-95B4-D86E72555B6F}"/>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DAC184-7AFD-9481-66D0-BCF744428A65}"/>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D6391B-BEFF-DDBB-FB96-24BF842E42BF}"/>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2C845C-66E0-94FB-2524-E51FFA29E73A}"/>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0578D4-0810-632C-E8C8-706E0D08FCCA}"/>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94269A-6A40-596D-3FC5-0F26AF4FD00F}"/>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8" name="Footer Placeholder 7">
            <a:extLst>
              <a:ext uri="{FF2B5EF4-FFF2-40B4-BE49-F238E27FC236}">
                <a16:creationId xmlns:a16="http://schemas.microsoft.com/office/drawing/2014/main" id="{152E0E51-C541-1481-C236-C9B1A4642C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4A4579-6634-FD31-FD7D-98780044AAA3}"/>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3124656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D8DA0-1A18-8125-10A8-3FBBF65A54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49D282-C73A-5F61-EE79-944F95752564}"/>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4" name="Footer Placeholder 3">
            <a:extLst>
              <a:ext uri="{FF2B5EF4-FFF2-40B4-BE49-F238E27FC236}">
                <a16:creationId xmlns:a16="http://schemas.microsoft.com/office/drawing/2014/main" id="{A9BA69B0-569B-4F60-4DBE-289A52C0AD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819972-22CA-ABFF-7772-1816360AA65C}"/>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358732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F0767-796A-FC92-8529-12B6234CB733}"/>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3" name="Footer Placeholder 2">
            <a:extLst>
              <a:ext uri="{FF2B5EF4-FFF2-40B4-BE49-F238E27FC236}">
                <a16:creationId xmlns:a16="http://schemas.microsoft.com/office/drawing/2014/main" id="{2F4790CD-BED4-2FD4-5FED-AB1B33ECAA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F37F3-7B0E-83B5-A298-12D47645E8F5}"/>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138454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1567-EED6-E5EF-7524-2140467D6D2D}"/>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1D6A9D-0004-B689-9FDA-2F834C3699D9}"/>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FE2913-1CF9-07ED-C72B-40B2CEAF0616}"/>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660B4-3CF6-79D5-FC51-7EDE969F190E}"/>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6" name="Footer Placeholder 5">
            <a:extLst>
              <a:ext uri="{FF2B5EF4-FFF2-40B4-BE49-F238E27FC236}">
                <a16:creationId xmlns:a16="http://schemas.microsoft.com/office/drawing/2014/main" id="{7FF6B741-066A-71C6-F859-A55B3319CD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52190B-0211-07C7-311E-802910EEF50C}"/>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1119898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2A32-0DEA-A2EE-B4A3-F00F3A9457B9}"/>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CCAFB6-F3D6-F9E8-18C0-9BB7095DB355}"/>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86C221-0A4B-5FD0-43AB-B5192764FE0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85D3E4-F830-8232-4B6C-735A0780F558}"/>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6" name="Footer Placeholder 5">
            <a:extLst>
              <a:ext uri="{FF2B5EF4-FFF2-40B4-BE49-F238E27FC236}">
                <a16:creationId xmlns:a16="http://schemas.microsoft.com/office/drawing/2014/main" id="{FDBD0BE5-066D-3A29-6C3B-65458426F2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040C95-7B52-2525-9A79-B940C0E60DC5}"/>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2274703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8FF8-9251-952B-A502-193A239BC2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B4F62F-F0FA-941A-103B-20DC758C62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4CDA0F-7DE5-46A0-0505-FE545802D5D6}"/>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E271E9D4-E474-1E9A-B683-5700B0B3C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97CBE5-588A-6E48-37DF-451E5D23A040}"/>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667390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114052-6A7A-02B2-55C6-67DD691E35DD}"/>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D88510-5C51-9EE6-E650-1C7A053DD4B8}"/>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E69633-B02E-395C-964D-0B2C2C5D2ECA}"/>
              </a:ext>
            </a:extLst>
          </p:cNvPr>
          <p:cNvSpPr>
            <a:spLocks noGrp="1"/>
          </p:cNvSpPr>
          <p:nvPr>
            <p:ph type="dt" sz="half" idx="10"/>
          </p:nvPr>
        </p:nvSpPr>
        <p:spPr/>
        <p:txBody>
          <a:body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29884FA0-99A3-8853-32E4-C1DCE3425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9173A-5E47-F1FC-F74E-B537EDE1B22B}"/>
              </a:ext>
            </a:extLst>
          </p:cNvPr>
          <p:cNvSpPr>
            <a:spLocks noGrp="1"/>
          </p:cNvSpPr>
          <p:nvPr>
            <p:ph type="sldNum" sz="quarter" idx="12"/>
          </p:nvPr>
        </p:nvSpPr>
        <p:spPr/>
        <p:txBody>
          <a:bodyPr/>
          <a:lstStyle/>
          <a:p>
            <a:fld id="{7304BF93-B492-4DE3-952E-3A4A82FA9E8D}" type="slidenum">
              <a:rPr lang="en-US" smtClean="0"/>
              <a:t>‹#›</a:t>
            </a:fld>
            <a:endParaRPr lang="en-US"/>
          </a:p>
        </p:txBody>
      </p:sp>
    </p:spTree>
    <p:extLst>
      <p:ext uri="{BB962C8B-B14F-4D97-AF65-F5344CB8AC3E}">
        <p14:creationId xmlns:p14="http://schemas.microsoft.com/office/powerpoint/2010/main" val="2184478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057EC-2097-09D5-8195-FCCD260201E3}"/>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1D7667-565A-BB5C-47D7-3199194AC9E2}"/>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34EA2-36F0-FAA5-2FDD-D6DA7BE73909}"/>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9774E30B-71E7-4F5F-9D6D-165641BA0993}" type="datetimeFigureOut">
              <a:rPr lang="en-US" smtClean="0"/>
              <a:t>10/28/2026</a:t>
            </a:fld>
            <a:endParaRPr lang="en-US"/>
          </a:p>
        </p:txBody>
      </p:sp>
      <p:sp>
        <p:nvSpPr>
          <p:cNvPr id="5" name="Footer Placeholder 4">
            <a:extLst>
              <a:ext uri="{FF2B5EF4-FFF2-40B4-BE49-F238E27FC236}">
                <a16:creationId xmlns:a16="http://schemas.microsoft.com/office/drawing/2014/main" id="{1D07B01B-A2D6-3ADF-5215-0B784DF5D888}"/>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180337-87E4-AAF7-07BF-A2091DD213B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7304BF93-B492-4DE3-952E-3A4A82FA9E8D}" type="slidenum">
              <a:rPr lang="en-US" smtClean="0"/>
              <a:t>‹#›</a:t>
            </a:fld>
            <a:endParaRPr lang="en-US"/>
          </a:p>
        </p:txBody>
      </p:sp>
    </p:spTree>
    <p:extLst>
      <p:ext uri="{BB962C8B-B14F-4D97-AF65-F5344CB8AC3E}">
        <p14:creationId xmlns:p14="http://schemas.microsoft.com/office/powerpoint/2010/main" val="3217277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9CC918-ADB6-7FB7-A4F7-F6C7F4D99D3B}"/>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23DEC1DE-9519-E187-00A0-FCAC428E704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Logistics Shipment Exception Coordinator</a:t>
            </a:r>
          </a:p>
        </p:txBody>
      </p:sp>
      <p:sp>
        <p:nvSpPr>
          <p:cNvPr id="4" name="TextBox 3">
            <a:extLst>
              <a:ext uri="{FF2B5EF4-FFF2-40B4-BE49-F238E27FC236}">
                <a16:creationId xmlns:a16="http://schemas.microsoft.com/office/drawing/2014/main" id="{A560FE5D-CEBB-90D5-0AB4-3074A6ED233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CBAC8D38-9207-02D8-1987-8BBAB5DF69D7}"/>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7503E1-D21E-D5EE-F843-E44506C302D3}"/>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48865A8F-F3A5-EFC2-FC94-68FFD611DE68}"/>
              </a:ext>
            </a:extLst>
          </p:cNvPr>
          <p:cNvSpPr txBox="1"/>
          <p:nvPr/>
        </p:nvSpPr>
        <p:spPr>
          <a:xfrm>
            <a:off x="762000" y="2565400"/>
            <a:ext cx="10287000" cy="1661993"/>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Delayed, damaged or incomplete shipments generate fragmented carrier events and customer emails. Teams need one consistent timeline and a defensible next update without inventing delivery promises.</a:t>
            </a:r>
          </a:p>
        </p:txBody>
      </p:sp>
      <p:sp>
        <p:nvSpPr>
          <p:cNvPr id="8" name="TextBox 7">
            <a:extLst>
              <a:ext uri="{FF2B5EF4-FFF2-40B4-BE49-F238E27FC236}">
                <a16:creationId xmlns:a16="http://schemas.microsoft.com/office/drawing/2014/main" id="{86871B8D-599A-C888-2E48-F474D4C614CB}"/>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3F142501-D498-4D00-1EA8-DE02793E3FE2}"/>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Create an exception timeline, next-action checklist and customer-update draft. Measure duplicate-event suppression, exception detection and time to prepare an update.</a:t>
            </a:r>
          </a:p>
        </p:txBody>
      </p:sp>
      <p:sp>
        <p:nvSpPr>
          <p:cNvPr id="10" name="TextBox 9">
            <a:extLst>
              <a:ext uri="{FF2B5EF4-FFF2-40B4-BE49-F238E27FC236}">
                <a16:creationId xmlns:a16="http://schemas.microsoft.com/office/drawing/2014/main" id="{628874B1-935C-0B02-B1D5-031BCB8C2961}"/>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AAC20A36-82A9-C08A-DFFC-283024A56D4E}"/>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A model cannot create carrier facts, promise an arrival date or accuse a carrier/customer of fraud. Event playback and any estimated timeline must be clearly labeled.</a:t>
            </a:r>
          </a:p>
        </p:txBody>
      </p:sp>
      <p:sp>
        <p:nvSpPr>
          <p:cNvPr id="12" name="TextBox 11">
            <a:extLst>
              <a:ext uri="{FF2B5EF4-FFF2-40B4-BE49-F238E27FC236}">
                <a16:creationId xmlns:a16="http://schemas.microsoft.com/office/drawing/2014/main" id="{A81D55A9-17DD-047B-758F-F7EC1669DB63}"/>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E0561B99-EB2C-41B4-0E3A-215CD77656A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CA3DC5AE-EF33-777C-9AAB-C0E6ED77F071}"/>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E0D035C9-4663-09E8-9B56-AABCE96EEBDE}"/>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447865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01AD41-F23D-5F9C-FF75-8A0666E4B6ED}"/>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462F37EE-750A-CA01-91DF-7509E687AF0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850E01C7-2143-A26B-C735-6F6AD53F76B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35FC5520-A55F-9E90-7887-55762E275A66}"/>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A6E3757-137E-A924-7E6F-0774449161C9}"/>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D074A698-1F36-936C-1E2F-EC2A281738EE}"/>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EB6FA149-0BC1-E68A-A003-802C6C22370B}"/>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0534CF40-D498-CF78-2DDB-C9873BED441D}"/>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DB3D619-4680-B80E-1119-9FAF7CE2EED5}"/>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A7E556F2-0174-3A8C-0307-9410A7490A8A}"/>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41279837-F7E6-24CF-18AA-8C8765F90BA6}"/>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BC5D35A9-DC5D-635C-7971-E94C5D352AFD}"/>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1DE3E8E-7DDA-5CC8-0C03-59C82BC33139}"/>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19396D1E-C429-C4BC-6973-BBF91A215036}"/>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EE282548-466D-A3B8-1F2A-C43DD976A168}"/>
              </a:ext>
            </a:extLst>
          </p:cNvPr>
          <p:cNvSpPr txBox="1"/>
          <p:nvPr/>
        </p:nvSpPr>
        <p:spPr>
          <a:xfrm>
            <a:off x="96012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a:t>
            </a:r>
          </a:p>
        </p:txBody>
      </p:sp>
      <p:sp>
        <p:nvSpPr>
          <p:cNvPr id="17" name="Rectangle: Rounded Corners 16">
            <a:extLst>
              <a:ext uri="{FF2B5EF4-FFF2-40B4-BE49-F238E27FC236}">
                <a16:creationId xmlns:a16="http://schemas.microsoft.com/office/drawing/2014/main" id="{4C413A27-A6A2-5F60-CA01-DC4DDAA40E71}"/>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E366183-F973-1BE2-CD69-1E1A1179C00D}"/>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B3C4CF66-BDDB-C265-F7D0-8635CFF0E2BA}"/>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C425CDA7-5718-F92F-2E77-5139FD493AC2}"/>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FC96E2EF-E942-D22B-CC65-6FCF123814A5}"/>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2026-10-28T15:22:08.9540248+00:00
Resource group: rg-demo-logistics
Model deployment: brief / gpt-4.1-mini | Tokens: 3987 in / 1176 out</a:t>
            </a:r>
          </a:p>
        </p:txBody>
      </p:sp>
      <p:sp>
        <p:nvSpPr>
          <p:cNvPr id="22" name="TextBox 21">
            <a:extLst>
              <a:ext uri="{FF2B5EF4-FFF2-40B4-BE49-F238E27FC236}">
                <a16:creationId xmlns:a16="http://schemas.microsoft.com/office/drawing/2014/main" id="{80F54D2A-6E4A-51D8-C84D-4D0C1B9BFF52}"/>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DFAEE1C5-5187-3929-C599-4649C1DFF99F}"/>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2C46CC38-AEFB-F3CF-6168-0FEC0B9E6C4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6ACD811B-F477-2054-E6BB-95FD271249B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08F9C651-04DA-CE5E-1D21-330EAF76B38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778498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DCBFF-0E77-D471-B921-32B76E696030}"/>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2C03495-8D32-A869-4902-1AF4FB4C110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Carrier playback</a:t>
            </a:r>
          </a:p>
        </p:txBody>
      </p:sp>
      <p:sp>
        <p:nvSpPr>
          <p:cNvPr id="4" name="TextBox 3">
            <a:extLst>
              <a:ext uri="{FF2B5EF4-FFF2-40B4-BE49-F238E27FC236}">
                <a16:creationId xmlns:a16="http://schemas.microsoft.com/office/drawing/2014/main" id="{7FF6382C-6EEA-3DE7-A9D0-856097ADD58B}"/>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09604FC1-D4D3-F8BD-AA87-60BD532E4F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18A148FF-5146-A5EB-D628-F7A8706D83C6}"/>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4935AF6-27A7-8571-5BD8-DBA154975A52}"/>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8B367B08-D0D0-E1B1-6618-9030DB839DB8}"/>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0A602B48-DD29-98B3-8734-05A688F728A5}"/>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FD9AFA6-C6B5-078B-76A3-C991A5CDAB97}"/>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49BA8153-2351-666B-9987-DB4A64E581EF}"/>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BCF67105-2839-7512-5775-46C1E0C2919C}"/>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66A8EF7D-4783-5B1C-6BB8-4F9F6204071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722E56A7-ED97-AA7C-1C59-2DDFB6C1C04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C7B2B9F1-CC22-B1CE-7DEA-92F66DDFF640}"/>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253095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3D73B1-A441-A289-1985-AEC3636142F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DA289762-BE36-8C42-933F-C2AA06CAE9C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Missed window</a:t>
            </a:r>
          </a:p>
        </p:txBody>
      </p:sp>
      <p:sp>
        <p:nvSpPr>
          <p:cNvPr id="4" name="TextBox 3">
            <a:extLst>
              <a:ext uri="{FF2B5EF4-FFF2-40B4-BE49-F238E27FC236}">
                <a16:creationId xmlns:a16="http://schemas.microsoft.com/office/drawing/2014/main" id="{08EEAF1C-C21F-9532-783B-A8A81606BF52}"/>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A1DCDCE5-5C26-2883-3A1E-0CF86045C8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F75AE45-408C-B7AC-7A6F-B4E0E89846DB}"/>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999D21-22A3-8270-7358-516D71D5FCBA}"/>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BEEC110-508B-077F-F345-A34CE0C82F12}"/>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4291DDA3-AC38-67AF-36A3-D8EC6B656245}"/>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1AF949A-0245-B9B5-3895-BDE257A00000}"/>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MISSED_WINDOW. The finding remains visible beside the evidence and approved sources.</a:t>
            </a:r>
          </a:p>
        </p:txBody>
      </p:sp>
      <p:sp>
        <p:nvSpPr>
          <p:cNvPr id="12" name="TextBox 11">
            <a:extLst>
              <a:ext uri="{FF2B5EF4-FFF2-40B4-BE49-F238E27FC236}">
                <a16:creationId xmlns:a16="http://schemas.microsoft.com/office/drawing/2014/main" id="{379AA246-9F8B-E4A3-5C2B-152A4D94FB7E}"/>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0339D2B1-F095-ED25-E3FC-91C022453A9F}"/>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0BC633CF-D57C-AAB7-285C-2923AD02A215}"/>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46EE9099-9627-6224-77EE-B9395C25D055}"/>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4F07954E-C886-887D-E310-12E62115D90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84850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836713-C18A-3B98-5B33-86B38BFDD34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D9CE300-BB55-6A6B-03CE-C77100C5243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Duplicate event</a:t>
            </a:r>
          </a:p>
        </p:txBody>
      </p:sp>
      <p:sp>
        <p:nvSpPr>
          <p:cNvPr id="4" name="TextBox 3">
            <a:extLst>
              <a:ext uri="{FF2B5EF4-FFF2-40B4-BE49-F238E27FC236}">
                <a16:creationId xmlns:a16="http://schemas.microsoft.com/office/drawing/2014/main" id="{9FDB3DBB-292F-7C69-8156-08FDCB139AB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93376D4-C5F3-8698-D361-CF60A7D0E7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BA191DB2-CDD6-6A30-2D79-B1313A894B19}"/>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3FD4CAA-1237-720E-AACD-703BF1BAE2A6}"/>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B593D94-4315-6507-A4C5-8C5350B7FD4C}"/>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BFF6BC23-6724-1AAF-03EE-355AFC6213EC}"/>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4E720D1B-C02C-B42C-1737-E08BDCF989CC}"/>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ReviewReady: DUPLICATE_SUPPRESSED. The finding remains visible beside the evidence and approved sources.</a:t>
            </a:r>
          </a:p>
        </p:txBody>
      </p:sp>
      <p:sp>
        <p:nvSpPr>
          <p:cNvPr id="12" name="TextBox 11">
            <a:extLst>
              <a:ext uri="{FF2B5EF4-FFF2-40B4-BE49-F238E27FC236}">
                <a16:creationId xmlns:a16="http://schemas.microsoft.com/office/drawing/2014/main" id="{5A165F06-C07C-1325-6DBD-BE9C0B11BB9E}"/>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7343A7C5-C00F-402A-BA36-837F97E6922F}"/>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637E2A8E-1E3A-1EA1-3C71-C56DF842F59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C63B1271-0A7E-6643-5DEC-6C77BC0E113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5BC2ACBD-3C2D-BD89-CCA8-6EDBDBFCAB6F}"/>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445970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BAAB97-BBF2-8998-8508-061148C7FB6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A03767D-1F4D-A45E-19E7-AD8E2A0B9B1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Out-of-order event</a:t>
            </a:r>
          </a:p>
        </p:txBody>
      </p:sp>
      <p:sp>
        <p:nvSpPr>
          <p:cNvPr id="4" name="TextBox 3">
            <a:extLst>
              <a:ext uri="{FF2B5EF4-FFF2-40B4-BE49-F238E27FC236}">
                <a16:creationId xmlns:a16="http://schemas.microsoft.com/office/drawing/2014/main" id="{6789C9B1-E975-85C0-A570-C0AB15B6529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8604E16-C56C-8F70-68C3-A1A34E2928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7F69F307-0999-6C42-E244-274B1DA267A6}"/>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B0AD097-1D07-DBC4-1701-BB02E3CCD0F2}"/>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C3211E34-34D6-B723-B101-88C348341FE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EA5AE687-FEAB-A33B-4C3B-B2EF7878DCD8}"/>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8F2D3251-420E-E88E-4023-3243005BF658}"/>
              </a:ext>
            </a:extLst>
          </p:cNvPr>
          <p:cNvSpPr txBox="1"/>
          <p:nvPr/>
        </p:nvSpPr>
        <p:spPr>
          <a:xfrm>
            <a:off x="13462000" y="4089400"/>
            <a:ext cx="4254500" cy="1015663"/>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ReviewReady: LATE_EVENT. The finding remains visible beside the evidence and approved sources.</a:t>
            </a:r>
          </a:p>
        </p:txBody>
      </p:sp>
      <p:sp>
        <p:nvSpPr>
          <p:cNvPr id="12" name="TextBox 11">
            <a:extLst>
              <a:ext uri="{FF2B5EF4-FFF2-40B4-BE49-F238E27FC236}">
                <a16:creationId xmlns:a16="http://schemas.microsoft.com/office/drawing/2014/main" id="{134A457A-4297-2E60-8215-34E50511F2B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C7D8F4F8-3B97-ED68-3501-5BFE6E1DBCE3}"/>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6A65AB78-E511-1422-1229-9D4AF3A074B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EACCE054-6F71-A359-680F-86167B63419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064269A0-BE88-83B8-7A11-352CEC6505B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359425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E6853-F655-B481-9748-AA6F099B5FE7}"/>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86C9475A-E855-713C-E7EE-FEED1A3C092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Unknown ETA</a:t>
            </a:r>
          </a:p>
        </p:txBody>
      </p:sp>
      <p:sp>
        <p:nvSpPr>
          <p:cNvPr id="4" name="TextBox 3">
            <a:extLst>
              <a:ext uri="{FF2B5EF4-FFF2-40B4-BE49-F238E27FC236}">
                <a16:creationId xmlns:a16="http://schemas.microsoft.com/office/drawing/2014/main" id="{A4F13136-B4FD-90DA-A53E-033C1F7FEA8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71BC4C6-67EE-F1AD-6D06-DDB10E360E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9685AD7F-11A7-FC13-173E-E889898B7F32}"/>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2C40CF8-2BFE-BE16-63B8-81219F05FAE4}"/>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419E4DDD-EDE5-6A31-4B61-CC215E3EFC4F}"/>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3DFB1490-6B25-2595-D527-C270CB89D294}"/>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0EB0B34B-63E5-7547-1E9F-C6FD6525606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ETA_UNKNOWN. The finding remains visible beside the evidence and approved sources.</a:t>
            </a:r>
          </a:p>
        </p:txBody>
      </p:sp>
      <p:sp>
        <p:nvSpPr>
          <p:cNvPr id="12" name="TextBox 11">
            <a:extLst>
              <a:ext uri="{FF2B5EF4-FFF2-40B4-BE49-F238E27FC236}">
                <a16:creationId xmlns:a16="http://schemas.microsoft.com/office/drawing/2014/main" id="{F97FE677-839F-0859-766F-8548D65C2C84}"/>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09C4517A-68B8-0B75-70CC-00909E07DE5E}"/>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024122BA-5E48-8166-D3DF-E6017889F879}"/>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7F615A22-DE77-CCB1-64C7-6FF0FF460BE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FC217E0F-B5CF-C0B7-925E-A538B3545F5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888751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A220CA-B426-C372-DC3A-1005D188707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B3ED9E3-5FC1-357A-F11C-35014131EF9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Update / audit</a:t>
            </a:r>
          </a:p>
        </p:txBody>
      </p:sp>
      <p:sp>
        <p:nvSpPr>
          <p:cNvPr id="4" name="TextBox 3">
            <a:extLst>
              <a:ext uri="{FF2B5EF4-FFF2-40B4-BE49-F238E27FC236}">
                <a16:creationId xmlns:a16="http://schemas.microsoft.com/office/drawing/2014/main" id="{DBF9288F-BCD4-9E25-9676-2D166DBF99A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8892802-FC65-A950-5704-C3CD7D884B3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78BC4F6-458E-1AC8-BD4E-D66F4C074F68}"/>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34A7BEE-7056-0424-78B8-BFBC4737FC8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B654550B-F418-E288-50E1-F22B77F84BE4}"/>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F2AB9EF9-ACEC-C051-99AC-BDD243714AF7}"/>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3F6F18AA-B257-E738-F67C-63843E73EFEE}"/>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C0CC19E2-1B43-3BA4-02A7-FDA9FCBF1618}"/>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FB48259E-9F6C-D800-86F4-FD67CBD5128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7C1A5695-0774-3356-3DBC-083FD4E3DF9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A136D1F-DC76-4ABE-C566-C2E6438584B1}"/>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E2559D81-E278-2162-EB62-297720625879}"/>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372150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299056-9880-DE6B-2AD6-6B9D60B186F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6B677ABD-19BE-6A85-2D85-85CAEC2A6BD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735C7C0B-A051-6EB7-E5BC-899A3D9D54A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E49B912D-7041-071B-4C3E-715041118FF5}"/>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12 recorded service requests
3987 input / 1176 output tokens
0 extracted document pages
SQL approval + duplicate, owner, stale-input and expiry guards</a:t>
            </a:r>
          </a:p>
        </p:txBody>
      </p:sp>
      <p:sp>
        <p:nvSpPr>
          <p:cNvPr id="6" name="TextBox 5">
            <a:extLst>
              <a:ext uri="{FF2B5EF4-FFF2-40B4-BE49-F238E27FC236}">
                <a16:creationId xmlns:a16="http://schemas.microsoft.com/office/drawing/2014/main" id="{19BF969D-1C31-7CA3-59DC-B3D129B1746A}"/>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E981DCB8-7104-5BE1-2C1A-2A09605027A1}"/>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49BF613A-16B2-6237-B41E-9B82FA2BF5B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EB1BD04C-1D19-4F9D-B7FA-EFCC4488568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601A5232-87B4-898E-FDF4-A662ADD538B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233791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2741</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2026-10-28T15:37:25Z</dcterms:created>
  <dcterms:modified xsi:type="dcterms:W3CDTF">2026-10-28T15:37:25Z</dcterms:modified>
</cp:coreProperties>
</file>