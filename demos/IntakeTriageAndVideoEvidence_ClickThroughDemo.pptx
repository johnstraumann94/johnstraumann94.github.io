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29" r:id="rId81"/>
    <p:sldId id="330" r:id="rId82"/>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is Agency. The output filename Generic solution demonstration follows the requested spelling. Four source presentations are consolidated, not four apps combined into one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cards and PREV / MENU / NEXT controls are active slide links. Advance through screenshots for a repeatable click-through. Live app buttons inside screenshots are not interactive.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grant roles, upload evidence or start billable processing merely to present this deck. Replays use existing captures. Live operation requires authorized resources, safe data, and app-specific setup.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synthesis: FINAL_Agency_DEMO slides 4 and 25; MAUI_Agency_Demo slide 3; Agency_Demo_Walkthrough slide 3 and notes. No fresh Azure deployment check was performed. Detector-based masking is not a guarantee of zero identity leakage.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Verify engine and policy</a:t>
            </a:r>
          </a:p>
          <a:p/>
          <a:p>
            <a:r>
              <a:t>Action: Inspect the engine badge and ANALYSIS PROFILE.</a:t>
            </a:r>
          </a:p>
          <a:p>
            <a:r>
              <a:t>Expected / captured result: Azure OpenAI is distinguished from local-rules-v1. Select Law Enforcement Intake Triage.</a:t>
            </a:r>
          </a:p>
          <a:p>
            <a:r>
              <a:t>Boundary / presenter cue: Offline rules are not a live model result.</a:t>
            </a:r>
          </a:p>
          <a:p/>
          <a:p>
            <a:r>
              <a:t>Advance the slide to replay the next captured state. This is not a live application. Red frames belong to the original capture.</a:t>
            </a:r>
          </a:p>
          <a:p/>
          <a:p>
            <a:r>
              <a:t>Source: Desktop workflow reference, slide 5.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Open Azure setup</a:t>
            </a:r>
          </a:p>
          <a:p/>
          <a:p>
            <a:r>
              <a:t>Action: Click Set up Azure.</a:t>
            </a:r>
          </a:p>
          <a:p>
            <a:r>
              <a:t>Expected / captured result: The connection wizard opens with sign-in, resource, access and test stages.</a:t>
            </a:r>
          </a:p>
          <a:p>
            <a:r>
              <a:t>Boundary / presenter cue: Use the next captures as replay; IT owns live setup.</a:t>
            </a:r>
          </a:p>
          <a:p/>
          <a:p>
            <a:r>
              <a:t>Advance the slide to replay the next captured state. This is not a live application. Red frames belong to the original capture.</a:t>
            </a:r>
          </a:p>
          <a:p/>
          <a:p>
            <a:r>
              <a:t>Source: Desktop workflow reference, slide 54.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Choose the authorized identity</a:t>
            </a:r>
          </a:p>
          <a:p/>
          <a:p>
            <a:r>
              <a:t>Action: Click Use this machine's sign-in, or use browser sign-in if needed.</a:t>
            </a:r>
          </a:p>
          <a:p>
            <a:r>
              <a:t>Expected / captured result: The wizard uses an authorized Entra identity; no API key is required.</a:t>
            </a:r>
          </a:p>
          <a:p>
            <a:r>
              <a:t>Boundary / presenter cue: Tenant, MFA and permissions depend on your environment.</a:t>
            </a:r>
          </a:p>
          <a:p/>
          <a:p>
            <a:r>
              <a:t>Advance the slide to replay the next captured state. This is not a live application. Red frames belong to the original capture.</a:t>
            </a:r>
          </a:p>
          <a:p/>
          <a:p>
            <a:r>
              <a:t>Source: Desktop workflow reference, slide 56.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A04 | Select resource and deployment</a:t>
            </a:r>
          </a:p>
          <a:p/>
          <a:p>
            <a:r>
              <a:t>Action: Choose Subscription, Resource and Deployment.</a:t>
            </a:r>
          </a:p>
          <a:p>
            <a:r>
              <a:t>Expected / captured result: The selected deployment is visible before a connection test.</a:t>
            </a:r>
          </a:p>
          <a:p>
            <a:r>
              <a:t>Boundary / presenter cue: Do not assume the historical deployment exists today.</a:t>
            </a:r>
          </a:p>
          <a:p/>
          <a:p>
            <a:r>
              <a:t>Advance the slide to replay the next captured state. This is not a live application. Red frames belong to the original capture.</a:t>
            </a:r>
          </a:p>
          <a:p/>
          <a:p>
            <a:r>
              <a:t>Source: Desktop workflow reference, slide 57.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A05 | Check model access</a:t>
            </a:r>
          </a:p>
          <a:p/>
          <a:p>
            <a:r>
              <a:t>Action: Review Entra authentication and Check and grant access.</a:t>
            </a:r>
          </a:p>
          <a:p>
            <a:r>
              <a:t>Expected / captured result: The wizard checks the data-plane role and reports access issues.</a:t>
            </a:r>
          </a:p>
          <a:p>
            <a:r>
              <a:t>Boundary / presenter cue: Live role creation needs explicit administrative authority.</a:t>
            </a:r>
          </a:p>
          <a:p/>
          <a:p>
            <a:r>
              <a:t>Advance the slide to replay the next captured state. This is not a live application. Red frames belong to the original capture.</a:t>
            </a:r>
          </a:p>
          <a:p/>
          <a:p>
            <a:r>
              <a:t>Source: Desktop workflow reference, slide 58.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A06 | Test and read the connection</a:t>
            </a:r>
          </a:p>
          <a:p/>
          <a:p>
            <a:r>
              <a:t>Action: Click Test connection; inspect the completed result.</a:t>
            </a:r>
          </a:p>
          <a:p>
            <a:r>
              <a:t>Expected / captured result: Capture reports msgiq-triage, gpt-4.1-2025-04-14 and Entra sign-in.</a:t>
            </a:r>
          </a:p>
          <a:p>
            <a:r>
              <a:t>Boundary / presenter cue: This is a historical successful round trip, not a new test.</a:t>
            </a:r>
          </a:p>
          <a:p/>
          <a:p>
            <a:r>
              <a:t>Advance the slide to replay the next captured state. This is not a live application. Red frames belong to the original capture.</a:t>
            </a:r>
          </a:p>
          <a:p/>
          <a:p>
            <a:r>
              <a:t>Source: Desktop workflow reference, slide 60.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A07 | Return to the workspace</a:t>
            </a:r>
          </a:p>
          <a:p/>
          <a:p>
            <a:r>
              <a:t>Action: Click Close to preserve the existing configuration.</a:t>
            </a:r>
          </a:p>
          <a:p>
            <a:r>
              <a:t>Expected / captured result: The main workspace returns. Save and use commits changes if intended.</a:t>
            </a:r>
          </a:p>
          <a:p>
            <a:r>
              <a:t>Boundary / presenter cue: Do not save a different deployment during a replay.</a:t>
            </a:r>
          </a:p>
          <a:p/>
          <a:p>
            <a:r>
              <a:t>Advance the slide to replay the next captured state. This is not a live application. Red frames belong to the original capture.</a:t>
            </a:r>
          </a:p>
          <a:p/>
          <a:p>
            <a:r>
              <a:t>Source: Desktop workflow reference, slide 61.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A08 | Choose local intake</a:t>
            </a:r>
          </a:p>
          <a:p/>
          <a:p>
            <a:r>
              <a:t>Action: Click Local Folder.</a:t>
            </a:r>
          </a:p>
          <a:p>
            <a:r>
              <a:t>Expected / captured result: The native Windows folder picker opens.</a:t>
            </a:r>
          </a:p>
          <a:p>
            <a:r>
              <a:t>Boundary / presenter cue: Loading files and triaging files are separate actions.</a:t>
            </a:r>
          </a:p>
          <a:p/>
          <a:p>
            <a:r>
              <a:t>Advance the slide to replay the next captured state. This is not a live application. Red frames belong to the original capture.</a:t>
            </a:r>
          </a:p>
          <a:p/>
          <a:p>
            <a:r>
              <a:t>Source: Desktop workflow reference, slide 16.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A09 | Load the sample folder</a:t>
            </a:r>
          </a:p>
          <a:p/>
          <a:p>
            <a:r>
              <a:t>Action: Choose the approved Agency_Samples folder; click Select Folder.</a:t>
            </a:r>
          </a:p>
          <a:p>
            <a:r>
              <a:t>Expected / captured result: The queue lists the supported files.</a:t>
            </a:r>
          </a:p>
          <a:p>
            <a:r>
              <a:t>Boundary / presenter cue: Use approved demo data, not an unattended production inbox.</a:t>
            </a:r>
          </a:p>
          <a:p/>
          <a:p>
            <a:r>
              <a:t>Advance the slide to replay the next captured state. This is not a live application. Red frames belong to the original capture.</a:t>
            </a:r>
          </a:p>
          <a:p/>
          <a:p>
            <a:r>
              <a:t>Source: Desktop workflow reference, slide 17.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A10 | Inspect the loaded queue</a:t>
            </a:r>
          </a:p>
          <a:p/>
          <a:p>
            <a:r>
              <a:t>Action: Review the seven New messages in the left pane.</a:t>
            </a:r>
          </a:p>
          <a:p>
            <a:r>
              <a:t>Expected / captured result: New means not yet triaged. A new selection starts analysis.</a:t>
            </a:r>
          </a:p>
          <a:p>
            <a:r>
              <a:t>Boundary / presenter cue: A previously Triaged selection can reuse a cached result.</a:t>
            </a:r>
          </a:p>
          <a:p/>
          <a:p>
            <a:r>
              <a:t>Advance the slide to replay the next captured state. This is not a live application. Red frames belong to the original capture.</a:t>
            </a:r>
          </a:p>
          <a:p/>
          <a:p>
            <a:r>
              <a:t>Source: Desktop workflow reference, slide 18.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A11 | Select the direct-threat example</a:t>
            </a:r>
          </a:p>
          <a:p/>
          <a:p>
            <a:r>
              <a:t>Action: Select EmailSample0.msg.</a:t>
            </a:r>
          </a:p>
          <a:p>
            <a:r>
              <a:t>Expected / captured result: The app prepares the message locally and requests a decision.</a:t>
            </a:r>
          </a:p>
          <a:p>
            <a:r>
              <a:t>Boundary / presenter cue: Use only the authorized sample shown in this capture.</a:t>
            </a:r>
          </a:p>
          <a:p/>
          <a:p>
            <a:r>
              <a:t>Advance the slide to replay the next captured state. This is not a live application. Red frames belong to the original capture.</a:t>
            </a:r>
          </a:p>
          <a:p/>
          <a:p>
            <a:r>
              <a:t>Source: Desktop workflow reference, slide 19.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A12 | Read the analyst decision</a:t>
            </a:r>
          </a:p>
          <a:p/>
          <a:p>
            <a:r>
              <a:t>Action: Inspect the AI TRIAGE pane.</a:t>
            </a:r>
          </a:p>
          <a:p>
            <a:r>
              <a:t>Expected / captured result: Captured P1 / Threat, Fusion Center guidance and HUMAN REVIEW REQUIRED.</a:t>
            </a:r>
          </a:p>
          <a:p>
            <a:r>
              <a:t>Boundary / presenter cue: Confidence is a model output, not measured accuracy.</a:t>
            </a:r>
          </a:p>
          <a:p/>
          <a:p>
            <a:r>
              <a:t>Advance the slide to replay the next captured state. This is not a live application. Red frames belong to the original capture.</a:t>
            </a:r>
          </a:p>
          <a:p/>
          <a:p>
            <a:r>
              <a:t>Source: Desktop workflow reference, slide 20.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A13 | Inspect masking detail</a:t>
            </a:r>
          </a:p>
          <a:p/>
          <a:p>
            <a:r>
              <a:t>Action: Click Show detail beneath the message body.</a:t>
            </a:r>
          </a:p>
          <a:p>
            <a:r>
              <a:t>Expected / captured result: The breakdown lists detector categories, counts and severity.</a:t>
            </a:r>
          </a:p>
          <a:p>
            <a:r>
              <a:t>Boundary / presenter cue: Local detectors can miss data or reduce useful evidence.</a:t>
            </a:r>
          </a:p>
          <a:p/>
          <a:p>
            <a:r>
              <a:t>Advance the slide to replay the next captured state. This is not a live application. Red frames belong to the original capture.</a:t>
            </a:r>
          </a:p>
          <a:p/>
          <a:p>
            <a:r>
              <a:t>Source: Desktop workflow reference, slide 23.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A14 | Open the long-chain example</a:t>
            </a:r>
          </a:p>
          <a:p/>
          <a:p>
            <a:r>
              <a:t>Action: Select EmailSample4.msg.</a:t>
            </a:r>
          </a:p>
          <a:p>
            <a:r>
              <a:t>Expected / captured result: A long forwarded chain receives a separate triage result.</a:t>
            </a:r>
          </a:p>
          <a:p>
            <a:r>
              <a:t>Boundary / presenter cue: Do not infer that every part of a long input reached the model.</a:t>
            </a:r>
          </a:p>
          <a:p/>
          <a:p>
            <a:r>
              <a:t>Advance the slide to replay the next captured state. This is not a live application. Red frames belong to the original capture.</a:t>
            </a:r>
          </a:p>
          <a:p/>
          <a:p>
            <a:r>
              <a:t>Source: Desktop workflow reference, slide 26.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A15 | Explain reduced evidence</a:t>
            </a:r>
          </a:p>
          <a:p/>
          <a:p>
            <a:r>
              <a:t>Action: Read the masking summary and rationale; expand detail if needed.</a:t>
            </a:r>
          </a:p>
          <a:p>
            <a:r>
              <a:t>Expected / captured result: Capture: 442 masked spans, including 399 PII and 43 risk matches.</a:t>
            </a:r>
          </a:p>
          <a:p>
            <a:r>
              <a:t>Boundary / presenter cue: Reduced evidence increases the importance of human review.</a:t>
            </a:r>
          </a:p>
          <a:p/>
          <a:p>
            <a:r>
              <a:t>Advance the slide to replay the next captured state. This is not a live application. Red frames belong to the original capture.</a:t>
            </a:r>
          </a:p>
          <a:p/>
          <a:p>
            <a:r>
              <a:t>Source: Desktop workflow reference, slide 28.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Executive workflow reference slide 12. This explanatory interlude is not a captured blocked MessageIQ result. Distinguish the desktop retry path from the separate web-app block shown in B09.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A16 | Create a Watch Card</a:t>
            </a:r>
          </a:p>
          <a:p/>
          <a:p>
            <a:r>
              <a:t>Action: Click Watch Cards, then New card.</a:t>
            </a:r>
          </a:p>
          <a:p>
            <a:r>
              <a:t>Expected / captured result: A blank card opens for an analyst-authored local rule.</a:t>
            </a:r>
          </a:p>
          <a:p>
            <a:r>
              <a:t>Boundary / presenter cue: Changes remain in the editor until saved.</a:t>
            </a:r>
          </a:p>
          <a:p/>
          <a:p>
            <a:r>
              <a:t>Advance the slide to replay the next captured state. This is not a live application. Red frames belong to the original capture.</a:t>
            </a:r>
          </a:p>
          <a:p/>
          <a:p>
            <a:r>
              <a:t>Source: Desktop workflow reference, slide 32.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A17 | Name the rule and terms</a:t>
            </a:r>
          </a:p>
          <a:p/>
          <a:p>
            <a:r>
              <a:t>Action: Enter a public-official concern and the approved match terms.</a:t>
            </a:r>
          </a:p>
          <a:p>
            <a:r>
              <a:t>Expected / captured result: Capture uses terms for the mayor and the pastor.</a:t>
            </a:r>
          </a:p>
          <a:p>
            <a:r>
              <a:t>Boundary / presenter cue: Use mission-approved rules; avoid unnecessary identity data.</a:t>
            </a:r>
          </a:p>
          <a:p/>
          <a:p>
            <a:r>
              <a:t>Advance the slide to replay the next captured state. This is not a live application. Red frames belong to the original capture.</a:t>
            </a:r>
          </a:p>
          <a:p/>
          <a:p>
            <a:r>
              <a:t>Source: Desktop workflow reference, slide 33.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A18 | Set escalation guidance</a:t>
            </a:r>
          </a:p>
          <a:p/>
          <a:p>
            <a:r>
              <a:t>Action: Set priority floor, a profile route and an action note.</a:t>
            </a:r>
          </a:p>
          <a:p>
            <a:r>
              <a:t>Expected / captured result: Capture uses a P1 floor plus explicit follow-up guidance.</a:t>
            </a:r>
          </a:p>
          <a:p>
            <a:r>
              <a:t>Boundary / presenter cue: The route is advice, not a sent case or assigned task.</a:t>
            </a:r>
          </a:p>
          <a:p/>
          <a:p>
            <a:r>
              <a:t>Advance the slide to replay the next captured state. This is not a live application. Red frames belong to the original capture.</a:t>
            </a:r>
          </a:p>
          <a:p/>
          <a:p>
            <a:r>
              <a:t>Source: Desktop workflow reference, slide 34.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A19 | Save and arm the card</a:t>
            </a:r>
          </a:p>
          <a:p/>
          <a:p>
            <a:r>
              <a:t>Action: Click Save and close; verify the active card in the workspace.</a:t>
            </a:r>
          </a:p>
          <a:p>
            <a:r>
              <a:t>Expected / captured result: The active count and term count confirm the rule is enabled.</a:t>
            </a:r>
          </a:p>
          <a:p>
            <a:r>
              <a:t>Boundary / presenter cue: Expired or unchecked cards are not active rules.</a:t>
            </a:r>
          </a:p>
          <a:p/>
          <a:p>
            <a:r>
              <a:t>Advance the slide to replay the next captured state. This is not a live application. Red frames belong to the original capture.</a:t>
            </a:r>
          </a:p>
          <a:p/>
          <a:p>
            <a:r>
              <a:t>Source: Desktop workflow reference, slide 35.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A20 | Force a fresh evaluation</a:t>
            </a:r>
          </a:p>
          <a:p/>
          <a:p>
            <a:r>
              <a:t>Action: Reload Local Folder; select EmailSample0.msg when it is New.</a:t>
            </a:r>
          </a:p>
          <a:p>
            <a:r>
              <a:t>Expected / captured result: Fresh triage evaluates the saved card.</a:t>
            </a:r>
          </a:p>
          <a:p>
            <a:r>
              <a:t>Boundary / presenter cue: Simply reselecting a cached Triaged row will not re-run it.</a:t>
            </a:r>
          </a:p>
          <a:p/>
          <a:p>
            <a:r>
              <a:t>Advance the slide to replay the next captured state. This is not a live application. Red frames belong to the original capture.</a:t>
            </a:r>
          </a:p>
          <a:p/>
          <a:p>
            <a:r>
              <a:t>Source: Desktop workflow reference, slide 37.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A21 | Confirm rule influence</a:t>
            </a:r>
          </a:p>
          <a:p/>
          <a:p>
            <a:r>
              <a:t>Action: Inspect WATCH CARD MATCHED, priority trigger and recommended actions.</a:t>
            </a:r>
          </a:p>
          <a:p>
            <a:r>
              <a:t>Expected / captured result: The local match and its action are visible in the decision record.</a:t>
            </a:r>
          </a:p>
          <a:p>
            <a:r>
              <a:t>Boundary / presenter cue: A local term match does not establish that an allegation is true.</a:t>
            </a:r>
          </a:p>
          <a:p/>
          <a:p>
            <a:r>
              <a:t>Advance the slide to replay the next captured state. This is not a live application. Red frames belong to the original capture.</a:t>
            </a:r>
          </a:p>
          <a:p/>
          <a:p>
            <a:r>
              <a:t>Source: Desktop workflow reference, slide 39.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A22 | Open the policy editor</a:t>
            </a:r>
          </a:p>
          <a:p/>
          <a:p>
            <a:r>
              <a:t>Action: Click Edit Profiles.</a:t>
            </a:r>
          </a:p>
          <a:p>
            <a:r>
              <a:t>Expected / captured result: Basics, Categories, Priority, Key fields, Routing, Outputs and preview are available.</a:t>
            </a:r>
          </a:p>
          <a:p>
            <a:r>
              <a:t>Boundary / presenter cue: Explore without committing changes to the demo profile.</a:t>
            </a:r>
          </a:p>
          <a:p/>
          <a:p>
            <a:r>
              <a:t>Advance the slide to replay the next captured state. This is not a live application. Red frames belong to the original capture.</a:t>
            </a:r>
          </a:p>
          <a:p/>
          <a:p>
            <a:r>
              <a:t>Source: Desktop workflow reference, slide 44.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A23 | Inspect priority policy</a:t>
            </a:r>
          </a:p>
          <a:p/>
          <a:p>
            <a:r>
              <a:t>Action: Click Priority.</a:t>
            </a:r>
          </a:p>
          <a:p>
            <a:r>
              <a:t>Expected / captured result: Review P1 criteria and mandatory-human-review settings.</a:t>
            </a:r>
          </a:p>
          <a:p>
            <a:r>
              <a:t>Boundary / presenter cue: Agency policy must be defined and validated by accountable staff.</a:t>
            </a:r>
          </a:p>
          <a:p/>
          <a:p>
            <a:r>
              <a:t>Advance the slide to replay the next captured state. This is not a live application. Red frames belong to the original capture.</a:t>
            </a:r>
          </a:p>
          <a:p/>
          <a:p>
            <a:r>
              <a:t>Source: Desktop workflow reference, slide 47.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A24 | Inspect routing policy</a:t>
            </a:r>
          </a:p>
          <a:p/>
          <a:p>
            <a:r>
              <a:t>Action: Click Routing.</a:t>
            </a:r>
          </a:p>
          <a:p>
            <a:r>
              <a:t>Expected / captured result: Review allowed queues and fallback review destination.</a:t>
            </a:r>
          </a:p>
          <a:p>
            <a:r>
              <a:t>Boundary / presenter cue: No mailbox-to-case delivery is proved by this configuration.</a:t>
            </a:r>
          </a:p>
          <a:p/>
          <a:p>
            <a:r>
              <a:t>Advance the slide to replay the next captured state. This is not a live application. Red frames belong to the original capture.</a:t>
            </a:r>
          </a:p>
          <a:p/>
          <a:p>
            <a:r>
              <a:t>Source: Desktop workflow reference, slide 49.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A25 | Review the compiled prompt</a:t>
            </a:r>
          </a:p>
          <a:p/>
          <a:p>
            <a:r>
              <a:t>Action: Open Outputs if needed; then click Prompt preview.</a:t>
            </a:r>
          </a:p>
          <a:p>
            <a:r>
              <a:t>Expected / captured result: Read the compiled profile instructions.</a:t>
            </a:r>
          </a:p>
          <a:p>
            <a:r>
              <a:t>Boundary / presenter cue: Prompt visibility is not proof of universal model adherence.</a:t>
            </a:r>
          </a:p>
          <a:p/>
          <a:p>
            <a:r>
              <a:t>Advance the slide to replay the next captured state. This is not a live application. Red frames belong to the original capture.</a:t>
            </a:r>
          </a:p>
          <a:p/>
          <a:p>
            <a:r>
              <a:t>Source: Desktop workflow reference, slide 51.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A26 | Leave policy unchanged</a:t>
            </a:r>
          </a:p>
          <a:p/>
          <a:p>
            <a:r>
              <a:t>Action: Click Cancel.</a:t>
            </a:r>
          </a:p>
          <a:p>
            <a:r>
              <a:t>Expected / captured result: Unsaved editor changes are discarded and the workspace returns.</a:t>
            </a:r>
          </a:p>
          <a:p>
            <a:r>
              <a:t>Boundary / presenter cue: Save and close would intentionally commit policy changes.</a:t>
            </a:r>
          </a:p>
          <a:p/>
          <a:p>
            <a:r>
              <a:t>Advance the slide to replay the next captured state. This is not a live application. Red frames belong to the original capture.</a:t>
            </a:r>
          </a:p>
          <a:p/>
          <a:p>
            <a:r>
              <a:t>Source: Desktop workflow reference, slide 53.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A27 | Zero the run counters</a:t>
            </a:r>
          </a:p>
          <a:p/>
          <a:p>
            <a:r>
              <a:t>Action: Click Reset Stats.</a:t>
            </a:r>
          </a:p>
          <a:p>
            <a:r>
              <a:t>Expected / captured result: Counters reset without unloading the queue or deleting prior results.</a:t>
            </a:r>
          </a:p>
          <a:p>
            <a:r>
              <a:t>Boundary / presenter cue: Reset Stats is not a data-deletion or evidence-disposal action.</a:t>
            </a:r>
          </a:p>
          <a:p/>
          <a:p>
            <a:r>
              <a:t>Advance the slide to replay the next captured state. This is not a live application. Red frames belong to the original capture.</a:t>
            </a:r>
          </a:p>
          <a:p/>
          <a:p>
            <a:r>
              <a:t>Source: Desktop workflow reference, slide 69.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A28 | Process the full queue</a:t>
            </a:r>
          </a:p>
          <a:p/>
          <a:p>
            <a:r>
              <a:t>Action: Click Batch Process All; watch progress.</a:t>
            </a:r>
          </a:p>
          <a:p>
            <a:r>
              <a:t>Expected / captured result: Every loaded message enters the configured pipeline. Stop can halt the run.</a:t>
            </a:r>
          </a:p>
          <a:p>
            <a:r>
              <a:t>Boundary / presenter cue: Do not start a live batch without approval for data and cost.</a:t>
            </a:r>
          </a:p>
          <a:p/>
          <a:p>
            <a:r>
              <a:t>Advance the slide to replay the next captured state. This is not a live application. Red frames belong to the original capture.</a:t>
            </a:r>
          </a:p>
          <a:p/>
          <a:p>
            <a:r>
              <a:t>Source: Desktop workflow reference, slide 71.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A29 | Wait for completion</a:t>
            </a:r>
          </a:p>
          <a:p/>
          <a:p>
            <a:r>
              <a:t>Action: Wait for Batch complete; inspect the queue and status.</a:t>
            </a:r>
          </a:p>
          <a:p>
            <a:r>
              <a:t>Expected / captured result: Captured run: 7 triaged, 0 failed/blocked and 4 Watch Card hits.</a:t>
            </a:r>
          </a:p>
          <a:p>
            <a:r>
              <a:t>Boundary / presenter cue: Wall-clock status (~65.5s) differs from summed item time (~65.2s).</a:t>
            </a:r>
          </a:p>
          <a:p/>
          <a:p>
            <a:r>
              <a:t>Advance the slide to replay the next captured state. This is not a live application. Red frames belong to the original capture.</a:t>
            </a:r>
          </a:p>
          <a:p/>
          <a:p>
            <a:r>
              <a:t>Source: Desktop workflow reference, slide 73.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A30 | Review decision transcripts</a:t>
            </a:r>
          </a:p>
          <a:p/>
          <a:p>
            <a:r>
              <a:t>Action: Open Batch Process and read the right-pane transcript.</a:t>
            </a:r>
          </a:p>
          <a:p>
            <a:r>
              <a:t>Expected / captured result: Priority, category, route, rationale and review flag appear per item.</a:t>
            </a:r>
          </a:p>
          <a:p>
            <a:r>
              <a:t>Boundary / presenter cue: Five review flags show that human work remains essential.</a:t>
            </a:r>
          </a:p>
          <a:p/>
          <a:p>
            <a:r>
              <a:t>Advance the slide to replay the next captured state. This is not a live application. Red frames belong to the original capture.</a:t>
            </a:r>
          </a:p>
          <a:p/>
          <a:p>
            <a:r>
              <a:t>Source: Desktop workflow reference, slide 75.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A31 | Read the measured run</a:t>
            </a:r>
          </a:p>
          <a:p/>
          <a:p>
            <a:r>
              <a:t>Action: Inspect the statistics footer.</a:t>
            </a:r>
          </a:p>
          <a:p>
            <a:r>
              <a:t>Expected / captured result: 7 processed; 5 human-review flags; estimated model cost $0.0923.</a:t>
            </a:r>
          </a:p>
          <a:p>
            <a:r>
              <a:t>Boundary / presenter cue: Historical sample run only; not a benchmark, SLA or full Azure bill.</a:t>
            </a:r>
          </a:p>
          <a:p/>
          <a:p>
            <a:r>
              <a:t>Advance the slide to replay the next captured state. This is not a live application. Red frames belong to the original capture.</a:t>
            </a:r>
          </a:p>
          <a:p/>
          <a:p>
            <a:r>
              <a:t>Source: Desktop workflow reference, slide 76.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A32 | Export the handoff</a:t>
            </a:r>
          </a:p>
          <a:p/>
          <a:p>
            <a:r>
              <a:t>Action: Click Export Report and inspect the status confirmation.</a:t>
            </a:r>
          </a:p>
          <a:p>
            <a:r>
              <a:t>Expected / captured result: A timestamped MessageIQ_TriageReport text file is written to Documents.</a:t>
            </a:r>
          </a:p>
          <a:p>
            <a:r>
              <a:t>Boundary / presenter cue: The screenshot confirms an export, not downstream case ingestion.</a:t>
            </a:r>
          </a:p>
          <a:p/>
          <a:p>
            <a:r>
              <a:t>Advance the slide to replay the next captured state. This is not a live application. Red frames belong to the original capture.</a:t>
            </a:r>
          </a:p>
          <a:p/>
          <a:p>
            <a:r>
              <a:t>Source: Desktop workflow reference, slide 79.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A33 | Copy a decision</a:t>
            </a:r>
          </a:p>
          <a:p/>
          <a:p>
            <a:r>
              <a:t>Action: Select the desired decision; click Copy Analysis.</a:t>
            </a:r>
          </a:p>
          <a:p>
            <a:r>
              <a:t>Expected / captured result: The decision can be handed to an existing authorized workflow.</a:t>
            </a:r>
          </a:p>
          <a:p>
            <a:r>
              <a:t>Boundary / presenter cue: Copying is not automatic routing; review destination and content.</a:t>
            </a:r>
          </a:p>
          <a:p/>
          <a:p>
            <a:r>
              <a:t>Advance the slide to replay the next captured state. This is not a live application. Red frames belong to the original capture.</a:t>
            </a:r>
          </a:p>
          <a:p/>
          <a:p>
            <a:r>
              <a:t>Source: Desktop workflow reference, slide 80.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A34 | Find help and close it</a:t>
            </a:r>
          </a:p>
          <a:p/>
          <a:p>
            <a:r>
              <a:t>Action: Click Help; choose a guide topic; then Close.</a:t>
            </a:r>
          </a:p>
          <a:p>
            <a:r>
              <a:t>Expected / captured result: The guide explains the workflow without discarding session state.</a:t>
            </a:r>
          </a:p>
          <a:p>
            <a:r>
              <a:t>Boundary / presenter cue: Next, switch apps. MessageIQ is not the browser email agent.</a:t>
            </a:r>
          </a:p>
          <a:p/>
          <a:p>
            <a:r>
              <a:t>Advance the slide to replay the next captured state. This is not a live application. Red frames belong to the original capture.</a:t>
            </a:r>
          </a:p>
          <a:p/>
          <a:p>
            <a:r>
              <a:t>Source: Desktop workflow reference, slide 65.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transition. Open a separate app: Synthetic capture: http://127.0.0.1:5183. Restricted-sample capture: port 5181. Different reasoning path: Persistent Foundry EmailTriageAgent with SOP grounding; not direct-model MessageIQ. Cloud PII detection: Azure AI Language performs PII detection. Raw text reaches that service before local risk handling.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B01 | Open the synthetic inbox</a:t>
            </a:r>
          </a:p>
          <a:p/>
          <a:p>
            <a:r>
              <a:t>Action: At port 5183, click 01_tip_drug_activity.msg.</a:t>
            </a:r>
          </a:p>
          <a:p>
            <a:r>
              <a:t>Expected / captured result: The selected tip appears beside its redacted body and AI analysis.</a:t>
            </a:r>
          </a:p>
          <a:p>
            <a:r>
              <a:t>Boundary / presenter cue: Synthetic examples do not establish production threat recall.</a:t>
            </a:r>
          </a:p>
          <a:p/>
          <a:p>
            <a:r>
              <a:t>Advance the slide to replay the next captured state. This is not a live application. Red frames belong to the original capture.</a:t>
            </a:r>
          </a:p>
          <a:p/>
          <a:p>
            <a:r>
              <a:t>Source: Web workflow reference, slide 4.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B02 | Inspect model-visible text</a:t>
            </a:r>
          </a:p>
          <a:p/>
          <a:p>
            <a:r>
              <a:t>Action: Click Text sent to the model beneath the redacted tip.</a:t>
            </a:r>
          </a:p>
          <a:p>
            <a:r>
              <a:t>Expected / captured result: The model-input view makes preprocessing inspectable.</a:t>
            </a:r>
          </a:p>
          <a:p>
            <a:r>
              <a:t>Boundary / presenter cue: This is not proof that raw input never left the workstation.</a:t>
            </a:r>
          </a:p>
          <a:p/>
          <a:p>
            <a:r>
              <a:t>Advance the slide to replay the next captured state. This is not a live application. Red frames belong to the original capture.</a:t>
            </a:r>
          </a:p>
          <a:p/>
          <a:p>
            <a:r>
              <a:t>Source: Web workflow reference, slide 5.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B03 | Inspect the decision schema</a:t>
            </a:r>
          </a:p>
          <a:p/>
          <a:p>
            <a:r>
              <a:t>Action: Click Raw JSON in the successful analysis card.</a:t>
            </a:r>
          </a:p>
          <a:p>
            <a:r>
              <a:t>Expected / captured result: Read category, priority, queue, confidence and review fields.</a:t>
            </a:r>
          </a:p>
          <a:p>
            <a:r>
              <a:t>Boundary / presenter cue: Structured output is a future integration contract, not integration.</a:t>
            </a:r>
          </a:p>
          <a:p/>
          <a:p>
            <a:r>
              <a:t>Advance the slide to replay the next captured state. This is not a live application. Red frames belong to the original capture.</a:t>
            </a:r>
          </a:p>
          <a:p/>
          <a:p>
            <a:r>
              <a:t>Source: Web workflow reference, slide 6.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B04 | Review a life-safety example</a:t>
            </a:r>
          </a:p>
          <a:p/>
          <a:p>
            <a:r>
              <a:t>Action: Click 08_threat_selfharm.msg.</a:t>
            </a:r>
          </a:p>
          <a:p>
            <a:r>
              <a:t>Expected / captured result: Inspect priority and review handling for the synthetic concern.</a:t>
            </a:r>
          </a:p>
          <a:p>
            <a:r>
              <a:t>Boundary / presenter cue: Analysts must follow approved escalation procedures.</a:t>
            </a:r>
          </a:p>
          <a:p/>
          <a:p>
            <a:r>
              <a:t>Advance the slide to replay the next captured state. This is not a live application. Red frames belong to the original capture.</a:t>
            </a:r>
          </a:p>
          <a:p/>
          <a:p>
            <a:r>
              <a:t>Source: Web workflow reference, slide 7.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B05 | Contrast routine noise</a:t>
            </a:r>
          </a:p>
          <a:p/>
          <a:p>
            <a:r>
              <a:t>Action: Click 16_spam_giftcard.msg.</a:t>
            </a:r>
          </a:p>
          <a:p>
            <a:r>
              <a:t>Expected / captured result: Compare routine-noise treatment with the preceding concern.</a:t>
            </a:r>
          </a:p>
          <a:p>
            <a:r>
              <a:t>Boundary / presenter cue: Do not infer accuracy from this small curated contrast.</a:t>
            </a:r>
          </a:p>
          <a:p/>
          <a:p>
            <a:r>
              <a:t>Advance the slide to replay the next captured state. This is not a live application. Red frames belong to the original capture.</a:t>
            </a:r>
          </a:p>
          <a:p/>
          <a:p>
            <a:r>
              <a:t>Source: Web workflow reference, slide 8.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B06 | Test an ambiguous submission</a:t>
            </a:r>
          </a:p>
          <a:p/>
          <a:p>
            <a:r>
              <a:t>Action: Click sample 19, Vague submission.</a:t>
            </a:r>
          </a:p>
          <a:p>
            <a:r>
              <a:t>Expected / captured result: Low confidence and human_review remain visible for review.</a:t>
            </a:r>
          </a:p>
          <a:p>
            <a:r>
              <a:t>Boundary / presenter cue: Uncertain intake should not be silently discarded.</a:t>
            </a:r>
          </a:p>
          <a:p/>
          <a:p>
            <a:r>
              <a:t>Advance the slide to replay the next captured state. This is not a live application. Red frames belong to the original capture.</a:t>
            </a:r>
          </a:p>
          <a:p/>
          <a:p>
            <a:r>
              <a:t>Source: Web workflow reference, slide 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B07 | Inspect the review handoff</a:t>
            </a:r>
          </a:p>
          <a:p/>
          <a:p>
            <a:r>
              <a:t>Action: Click Raw JSON for the vague message.</a:t>
            </a:r>
          </a:p>
          <a:p>
            <a:r>
              <a:t>Expected / captured result: Read recommended_queue and confidence alongside human_review.</a:t>
            </a:r>
          </a:p>
          <a:p>
            <a:r>
              <a:t>Boundary / presenter cue: No durable queue, owner acknowledgement or delivery is proved.</a:t>
            </a:r>
          </a:p>
          <a:p/>
          <a:p>
            <a:r>
              <a:t>Advance the slide to replay the next captured state. This is not a live application. Red frames belong to the original capture.</a:t>
            </a:r>
          </a:p>
          <a:p/>
          <a:p>
            <a:r>
              <a:t>Source: Web workflow reference, slide 10.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B08 | Switch to the restricted test</a:t>
            </a:r>
          </a:p>
          <a:p/>
          <a:p>
            <a:r>
              <a:t>Action: Use the separate capture at port 5181; select EmailSample0.msg.</a:t>
            </a:r>
          </a:p>
          <a:p>
            <a:r>
              <a:t>Expected / captured result: The restricted-content path is exercised rather than assumed.</a:t>
            </a:r>
          </a:p>
          <a:p>
            <a:r>
              <a:t>Boundary / presenter cue: Use approved data; do not bypass content-safety controls.</a:t>
            </a:r>
          </a:p>
          <a:p/>
          <a:p>
            <a:r>
              <a:t>Advance the slide to replay the next captured state. This is not a live application. Red frames belong to the original capture.</a:t>
            </a:r>
          </a:p>
          <a:p/>
          <a:p>
            <a:r>
              <a:t>Source: Web workflow reference, slide 11.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B09 | Explain the blocked outcome</a:t>
            </a:r>
          </a:p>
          <a:p/>
          <a:p>
            <a:r>
              <a:t>Action: Inspect Blocked by content safety; no further click is required.</a:t>
            </a:r>
          </a:p>
          <a:p>
            <a:r>
              <a:t>Expected / captured result: The app exposes rejection rather than fabricating a decision.</a:t>
            </a:r>
          </a:p>
          <a:p>
            <a:r>
              <a:t>Boundary / presenter cue: Durable hold and reviewer notification still need production wiring.</a:t>
            </a:r>
          </a:p>
          <a:p/>
          <a:p>
            <a:r>
              <a:t>Advance the slide to replay the next captured state. This is not a live application. Red frames belong to the original capture.</a:t>
            </a:r>
          </a:p>
          <a:p/>
          <a:p>
            <a:r>
              <a:t>Source: Web workflow reference, slide 12.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transition. Open the video app: Historical capture: http://127.0.0.1:5182. Choose a safe, approved short clip. One evidence pipeline: Case ID -&gt; upload -&gt; hash and Blob -&gt; Video Indexer -&gt; model summary -&gt; Search. Review the source: Machine observations and summaries aid review. They do not replace viewing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C01 | Enter a unique demo case</a:t>
            </a:r>
          </a:p>
          <a:p/>
          <a:p>
            <a:r>
              <a:t>Action: At port 5182, click Case ID and enter a new demo case ID.</a:t>
            </a:r>
          </a:p>
          <a:p>
            <a:r>
              <a:t>Expected / captured result: The upload is scoped to the intended case.</a:t>
            </a:r>
          </a:p>
          <a:p>
            <a:r>
              <a:t>Boundary / presenter cue: A case label alone is not an authorization boundary.</a:t>
            </a:r>
          </a:p>
          <a:p/>
          <a:p>
            <a:r>
              <a:t>Advance the slide to replay the next captured state. This is not a live application. Red frames belong to the original capture.</a:t>
            </a:r>
          </a:p>
          <a:p/>
          <a:p>
            <a:r>
              <a:t>Source: Web workflow reference, slide 13.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C02 | Choose approved evidence</a:t>
            </a:r>
          </a:p>
          <a:p/>
          <a:p>
            <a:r>
              <a:t>Action: Click Video file; choose the approved IMG_0577.mp4 sample.</a:t>
            </a:r>
          </a:p>
          <a:p>
            <a:r>
              <a:t>Expected / captured result: The selected filename appears in the form.</a:t>
            </a:r>
          </a:p>
          <a:p>
            <a:r>
              <a:t>Boundary / presenter cue: The recorded clip is silent and has no OCR text.</a:t>
            </a:r>
          </a:p>
          <a:p/>
          <a:p>
            <a:r>
              <a:t>Advance the slide to replay the next captured state. This is not a live application. Red frames belong to the original capture.</a:t>
            </a:r>
          </a:p>
          <a:p/>
          <a:p>
            <a:r>
              <a:t>Source: Web workflow reference, slide 14.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C03 | Start the pipeline</a:t>
            </a:r>
          </a:p>
          <a:p/>
          <a:p>
            <a:r>
              <a:t>Action: Click Process.</a:t>
            </a:r>
          </a:p>
          <a:p>
            <a:r>
              <a:t>Expected / captured result: Upload and analysis begin for the selected case and clip.</a:t>
            </a:r>
          </a:p>
          <a:p>
            <a:r>
              <a:t>Boundary / presenter cue: A live run writes data and can incur Azure charges.</a:t>
            </a:r>
          </a:p>
          <a:p/>
          <a:p>
            <a:r>
              <a:t>Advance the slide to replay the next captured state. This is not a live application. Red frames belong to the original capture.</a:t>
            </a:r>
          </a:p>
          <a:p/>
          <a:p>
            <a:r>
              <a:t>Source: Web workflow reference, slide 15.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C04 | Watch the progress panel</a:t>
            </a:r>
          </a:p>
          <a:p/>
          <a:p>
            <a:r>
              <a:t>Action: Wait while processing stages update.</a:t>
            </a:r>
          </a:p>
          <a:p>
            <a:r>
              <a:t>Expected / captured result: The UI exposes work in progress instead of an unexplained pause.</a:t>
            </a:r>
          </a:p>
          <a:p>
            <a:r>
              <a:t>Boundary / presenter cue: Do not present the waiting capture as a completed result.</a:t>
            </a:r>
          </a:p>
          <a:p/>
          <a:p>
            <a:r>
              <a:t>Advance the slide to replay the next captured state. This is not a live application. Red frames belong to the original capture.</a:t>
            </a:r>
          </a:p>
          <a:p/>
          <a:p>
            <a:r>
              <a:t>Source: Web workflow reference, slide 16.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C05 | Inspect source provenance</a:t>
            </a:r>
          </a:p>
          <a:p/>
          <a:p>
            <a:r>
              <a:t>Action: Review the results header; optionally use open in portal when authorized.</a:t>
            </a:r>
          </a:p>
          <a:p>
            <a:r>
              <a:t>Expected / captured result: Inspect the source identifiers and SHA-256 evidence reference.</a:t>
            </a:r>
          </a:p>
          <a:p>
            <a:r>
              <a:t>Boundary / presenter cue: A hash aids integrity checks; it is not a complete chain of custody.</a:t>
            </a:r>
          </a:p>
          <a:p/>
          <a:p>
            <a:r>
              <a:t>Advance the slide to replay the next captured state. This is not a live application. Red frames belong to the original capture.</a:t>
            </a:r>
          </a:p>
          <a:p/>
          <a:p>
            <a:r>
              <a:t>Source: Web workflow reference, slide 17.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C06 | Review extracted observations</a:t>
            </a:r>
          </a:p>
          <a:p/>
          <a:p>
            <a:r>
              <a:t>Action: Scroll to What the video shows, Dialog / transcript and On-screen text.</a:t>
            </a:r>
          </a:p>
          <a:p>
            <a:r>
              <a:t>Expected / captured result: Inspect observed tags and the absence of speech/OCR for this clip.</a:t>
            </a:r>
          </a:p>
          <a:p>
            <a:r>
              <a:t>Boundary / presenter cue: This sample does not demonstrate speech or OCR extraction.</a:t>
            </a:r>
          </a:p>
          <a:p/>
          <a:p>
            <a:r>
              <a:t>Advance the slide to replay the next captured state. This is not a live application. Red frames belong to the original capture.</a:t>
            </a:r>
          </a:p>
          <a:p/>
          <a:p>
            <a:r>
              <a:t>Source: Web workflow reference, slide 18.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C07 | Review summary and timeline</a:t>
            </a:r>
          </a:p>
          <a:p/>
          <a:p>
            <a:r>
              <a:t>Action: Scroll to Analyst summary and Scene timeline.</a:t>
            </a:r>
          </a:p>
          <a:p>
            <a:r>
              <a:t>Expected / captured result: Read uncertainty and source timestamps alongside the narrative.</a:t>
            </a:r>
          </a:p>
          <a:p>
            <a:r>
              <a:t>Boundary / presenter cue: Summary text is machine-generated interpretation, not evidence fact.</a:t>
            </a:r>
          </a:p>
          <a:p/>
          <a:p>
            <a:r>
              <a:t>Advance the slide to replay the next captured state. This is not a live application. Red frames belong to the original capture.</a:t>
            </a:r>
          </a:p>
          <a:p/>
          <a:p>
            <a:r>
              <a:t>Source: Web workflow reference, slide 19.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C08 | Verify indexed retrieval</a:t>
            </a:r>
          </a:p>
          <a:p/>
          <a:p>
            <a:r>
              <a:t>Action: Scroll to Azure AI Search at the bottom of the results.</a:t>
            </a:r>
          </a:p>
          <a:p>
            <a:r>
              <a:t>Expected / captured result: Inspect the nonzero indexed/retrieved evidence and source links.</a:t>
            </a:r>
          </a:p>
          <a:p>
            <a:r>
              <a:t>Boundary / presenter cue: This is a fixed case/evidence-filtered hybrid query, not arbitrary Q&amp;A.</a:t>
            </a:r>
          </a:p>
          <a:p/>
          <a:p>
            <a:r>
              <a:t>Advance the slide to replay the next captured state. This is not a live application. Red frames belong to the original capture.</a:t>
            </a:r>
          </a:p>
          <a:p/>
          <a:p>
            <a:r>
              <a:t>Source: Web workflow reference, slide 20.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C09 | Reset the analyst view</a:t>
            </a:r>
          </a:p>
          <a:p/>
          <a:p>
            <a:r>
              <a:t>Action: Click Clear; confirm the page returns to Idle.</a:t>
            </a:r>
          </a:p>
          <a:p>
            <a:r>
              <a:t>Expected / captured result: The upload form and review panel reset.</a:t>
            </a:r>
          </a:p>
          <a:p>
            <a:r>
              <a:t>Boundary / presenter cue: Clear does not prove deletion of retained Blob or index data.</a:t>
            </a:r>
          </a:p>
          <a:p/>
          <a:p>
            <a:r>
              <a:t>Advance the slide to replay the next captured state. This is not a live application. Red frames belong to the original capture.</a:t>
            </a:r>
          </a:p>
          <a:p/>
          <a:p>
            <a:r>
              <a:t>Source: Web workflow reference, slide 21.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Consolidates FINAL_Agency_DEMO slides 12, 25-27 and Agency_Demo_Walkthrough slides 23-24. Existing Azure resources are not evidence that these production handoffs are wired. Main demo complete; use the menu or optional appendix next.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Workflow transition. Operator options: Alternative intake routes, original-text view, supervisor controls and profile management. Recorded evidence: A separate buried-tip report has an unresolved page citation; do not present it as a live UI feature. Proposed extensions: Three architecture references describe future options, not verified deployed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D01 | Single-file intake</a:t>
            </a:r>
          </a:p>
          <a:p/>
          <a:p>
            <a:r>
              <a:t>Action: Click Select Message; choose an approved supported file.</a:t>
            </a:r>
          </a:p>
          <a:p>
            <a:r>
              <a:t>Expected / captured result: One file can enter the same MessageIQ triage path.</a:t>
            </a:r>
          </a:p>
          <a:p>
            <a:r>
              <a:t>Boundary / presenter cue: Alternative to A08-A10, not an additional required load step.</a:t>
            </a:r>
          </a:p>
          <a:p/>
          <a:p>
            <a:r>
              <a:t>Advance the slide to replay the next captured state. This is not a live application. Red frames belong to the original capture.</a:t>
            </a:r>
          </a:p>
          <a:p/>
          <a:p>
            <a:r>
              <a:t>Source: Desktop workflow reference, slide 9.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D02 | Upload intake</a:t>
            </a:r>
          </a:p>
          <a:p/>
          <a:p>
            <a:r>
              <a:t>Action: Click Upload; choose an approved file.</a:t>
            </a:r>
          </a:p>
          <a:p>
            <a:r>
              <a:t>Expected / captured result: The file joins the working set for processing.</a:t>
            </a:r>
          </a:p>
          <a:p>
            <a:r>
              <a:t>Boundary / presenter cue: Alternative route; do not assume production mailbox ingestion.</a:t>
            </a:r>
          </a:p>
          <a:p/>
          <a:p>
            <a:r>
              <a:t>Advance the slide to replay the next captured state. This is not a live application. Red frames belong to the original capture.</a:t>
            </a:r>
          </a:p>
          <a:p/>
          <a:p>
            <a:r>
              <a:t>Source: Desktop workflow reference, slide 10.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D03 | Inspect Blob connection</a:t>
            </a:r>
          </a:p>
          <a:p/>
          <a:p>
            <a:r>
              <a:t>Action: Click Azure Blob; inspect account, container and Azure sign-in.</a:t>
            </a:r>
          </a:p>
          <a:p>
            <a:r>
              <a:t>Expected / captured result: Inspect the connection parameters.</a:t>
            </a:r>
          </a:p>
          <a:p>
            <a:r>
              <a:t>Boundary / presenter cue: The deck does not show a completed Blob listing or intake.</a:t>
            </a:r>
          </a:p>
          <a:p/>
          <a:p>
            <a:r>
              <a:t>Advance the slide to replay the next captured state. This is not a live application. Red frames belong to the original capture.</a:t>
            </a:r>
          </a:p>
          <a:p/>
          <a:p>
            <a:r>
              <a:t>Source: Desktop workflow reference, slide 63.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D04 | Inspect original-text reveal</a:t>
            </a:r>
          </a:p>
          <a:p/>
          <a:p>
            <a:r>
              <a:t>Action: Only if authorized, click Showing REDACTED; toggle back afterwards.</a:t>
            </a:r>
          </a:p>
          <a:p>
            <a:r>
              <a:t>Expected / captured result: The analyst's local view changes between redacted and original.</a:t>
            </a:r>
          </a:p>
          <a:p>
            <a:r>
              <a:t>Boundary / presenter cue: Keep redacted during normal demos. Reveal is not proof of changed model input.</a:t>
            </a:r>
          </a:p>
          <a:p/>
          <a:p>
            <a:r>
              <a:t>Advance the slide to replay the next captured state. This is not a live application. Red frames belong to the original capture.</a:t>
            </a:r>
          </a:p>
          <a:p/>
          <a:p>
            <a:r>
              <a:t>Source: Desktop workflow reference, slide 24.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D05 | Supervisor Watch Card preview</a:t>
            </a:r>
          </a:p>
          <a:p/>
          <a:p>
            <a:r>
              <a:t>Action: Open Watch Cards &gt; Advanced (supervisor); inspect preview and test controls.</a:t>
            </a:r>
          </a:p>
          <a:p>
            <a:r>
              <a:t>Expected / captured result: The generated Watch Card instructions are inspectable.</a:t>
            </a:r>
          </a:p>
          <a:p>
            <a:r>
              <a:t>Boundary / presenter cue: Any live Test on selected message may invoke the model.</a:t>
            </a:r>
          </a:p>
          <a:p/>
          <a:p>
            <a:r>
              <a:t>Advance the slide to replay the next captured state. This is not a live application. Red frames belong to the original capture.</a:t>
            </a:r>
          </a:p>
          <a:p/>
          <a:p>
            <a:r>
              <a:t>Source: Desktop workflow reference, slide 41.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D06 | Profile library and portability</a:t>
            </a:r>
          </a:p>
          <a:p/>
          <a:p>
            <a:r>
              <a:t>Action: Open Edit Profiles; inspect Import, Export and Restore built-in.</a:t>
            </a:r>
          </a:p>
          <a:p>
            <a:r>
              <a:t>Expected / captured result: Profiles can be managed as explicit policy artifacts.</a:t>
            </a:r>
          </a:p>
          <a:p>
            <a:r>
              <a:t>Boundary / presenter cue: Do not restore, delete or import profiles during a read-only tour.</a:t>
            </a:r>
          </a:p>
          <a:p/>
          <a:p>
            <a:r>
              <a:t>Advance the slide to replay the next captured state. This is not a live application. Red frames belong to the original capture.</a:t>
            </a:r>
          </a:p>
          <a:p/>
          <a:p>
            <a:r>
              <a:t>Source: Desktop workflow reference, slide 52.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D07 | Inspect structured fields</a:t>
            </a:r>
          </a:p>
          <a:p/>
          <a:p>
            <a:r>
              <a:t>Action: Open Key fields; also review Categories and Outputs as needed.</a:t>
            </a:r>
          </a:p>
          <a:p>
            <a:r>
              <a:t>Expected / captured result: The configured extraction fields and allowed output vocabulary are visible.</a:t>
            </a:r>
          </a:p>
          <a:p>
            <a:r>
              <a:t>Boundary / presenter cue: Schema configuration does not establish extraction correctness.</a:t>
            </a:r>
          </a:p>
          <a:p/>
          <a:p>
            <a:r>
              <a:t>Advance the slide to replay the next captured state. This is not a live application. Red frames belong to the original capture.</a:t>
            </a:r>
          </a:p>
          <a:p/>
          <a:p>
            <a:r>
              <a:t>Source: Desktop workflow reference, slide 48. Customer labels and branding in this capture have been generalized.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Web workflow reference, slide 22. Kept separate from numbered click flows because it is recorded evidence with a known unresolved citation discrepancy.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Architecture reference slide 87. Redrawn as an editable planning flow. All expanded elements are proposed, even where individual services exist in another prototype.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Architecture reference slide 86. Generic architecture reference retained as a rendered image with an explicit proposed-status label. Service capability catalog only; not a deployed bill of materials or compliance approval.</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Architecture reference slide 88. Generic architecture reference retained as a rendered image with an explicit proposed-status label. Future scenarios only; no cross-case search, suspect matching or general evidence Q&amp;A is proved.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sources were analyzed and opened read-only in native PowerPoint. MAUI and ClickThru slides 2-85 have identical text and screenshots; slide 1 differs only in presenter contact text. Repeated orientation, result states and summaries were condensed into one numbered flow. Unique operator functions and all three architecture references are retained. The final Generic solution demonstration is self-contained and does not link to deleted source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Noisy tips and unstructured video can delay analyst attention unless urgency, evidence and exceptions are made visible.</a:t>
            </a:r>
          </a:p>
          <a:p>
            <a:r>
              <a:t>Solution: Replay three separate workflows: desktop intake policy controls, agent-based email review and case-scoped video analysis.</a:t>
            </a:r>
          </a:p>
          <a:p>
            <a:r>
              <a:t>Products: Azure OpenAI | Foundry Agent Service | AI Language | Video Indexer | AI Search | Blob | Entra ID | .NET UI</a:t>
            </a:r>
          </a:p>
          <a:p>
            <a:r>
              <a:t>Evidence status: Captured prototype results, not production approval. Routing is a recommendation; durable queues, case-system delivery and full compliance controls remain future work.</a:t>
            </a:r>
          </a:p>
          <a:p>
            <a:r>
              <a:t>Customer branding, organization labels and resource identifiers have been generalized. Screenshots are edited historical captures; no service results were rerun.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[['Desktop intake', 'Local masks -&gt; OpenAI'], ['Email web app', 'Language PII -&gt; agent'], ['Video web app', 'Blob -&gt; Video Indexer'], ['Analyst review', 'Decisions / Search / export']]</a:t>
            </a:r>
          </a:p>
          <a:p>
            <a:r>
              <a:t>Boundary: The first three cards are parallel app paths, not one processing chain. Raw email reaches AI Language; only the desktop path applies local preparation before its model call.</a:t>
            </a:r>
          </a:p>
          <a:p>
            <a:r>
              <a:t>This is a logical diagram, not a verified deployment inventory. Cards represent separate workflows or branches; do not read them as one serial pipeline.</a:t>
            </a:r>
          </a:p>
          <a:p>
            <a:r>
              <a:t>Customer names, logos and resource identifiers in subsequent captured screens have been generalized. Service brands and the solution's core workflow remain.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5.xml"/><Relationship Id="rId4" Type="http://schemas.openxmlformats.org/officeDocument/2006/relationships/slide" Target="slide40.xml"/><Relationship Id="rId5" Type="http://schemas.openxmlformats.org/officeDocument/2006/relationships/slide" Target="slide50.xml"/><Relationship Id="rId6" Type="http://schemas.openxmlformats.org/officeDocument/2006/relationships/slide" Target="slide61.xml"/><Relationship Id="rId7" Type="http://schemas.openxmlformats.org/officeDocument/2006/relationships/slide" Target="slide1.xml"/><Relationship Id="rId8" Type="http://schemas.openxmlformats.org/officeDocument/2006/relationships/slide" Target="slide2.xml"/><Relationship Id="rId9"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2.xml"/><Relationship Id="rId5"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slide" Target="slide4.xml"/><Relationship Id="rId5" Type="http://schemas.openxmlformats.org/officeDocument/2006/relationships/slide" Target="slide2.xml"/><Relationship Id="rId6"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slide" Target="slide5.xml"/><Relationship Id="rId5" Type="http://schemas.openxmlformats.org/officeDocument/2006/relationships/slide" Target="slide2.xml"/><Relationship Id="rId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 Id="rId4" Type="http://schemas.openxmlformats.org/officeDocument/2006/relationships/slide" Target="slide6.xml"/><Relationship Id="rId5" Type="http://schemas.openxmlformats.org/officeDocument/2006/relationships/slide" Target="slide2.xml"/><Relationship Id="rId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 Id="rId4" Type="http://schemas.openxmlformats.org/officeDocument/2006/relationships/slide" Target="slide7.xml"/><Relationship Id="rId5" Type="http://schemas.openxmlformats.org/officeDocument/2006/relationships/slide" Target="slide2.xml"/><Relationship Id="rId6"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 Id="rId4" Type="http://schemas.openxmlformats.org/officeDocument/2006/relationships/slide" Target="slide8.xml"/><Relationship Id="rId5" Type="http://schemas.openxmlformats.org/officeDocument/2006/relationships/slide" Target="slide2.xml"/><Relationship Id="rId6"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 Id="rId4" Type="http://schemas.openxmlformats.org/officeDocument/2006/relationships/slide" Target="slide9.xml"/><Relationship Id="rId5" Type="http://schemas.openxmlformats.org/officeDocument/2006/relationships/slide" Target="slide2.xml"/><Relationship Id="rId6"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 Id="rId4" Type="http://schemas.openxmlformats.org/officeDocument/2006/relationships/slide" Target="slide10.xml"/><Relationship Id="rId5" Type="http://schemas.openxmlformats.org/officeDocument/2006/relationships/slide" Target="slide2.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 Id="rId4" Type="http://schemas.openxmlformats.org/officeDocument/2006/relationships/slide" Target="slide11.xml"/><Relationship Id="rId5" Type="http://schemas.openxmlformats.org/officeDocument/2006/relationships/slide" Target="slide2.xml"/><Relationship Id="rId6" Type="http://schemas.openxmlformats.org/officeDocument/2006/relationships/slide" Target="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 Id="rId4" Type="http://schemas.openxmlformats.org/officeDocument/2006/relationships/slide" Target="slide12.xml"/><Relationship Id="rId5" Type="http://schemas.openxmlformats.org/officeDocument/2006/relationships/slide" Target="slide2.xml"/><Relationship Id="rId6" Type="http://schemas.openxmlformats.org/officeDocument/2006/relationships/slide" Target="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 Id="rId4" Type="http://schemas.openxmlformats.org/officeDocument/2006/relationships/slide" Target="slide13.xml"/><Relationship Id="rId5" Type="http://schemas.openxmlformats.org/officeDocument/2006/relationships/slide" Target="slide2.xml"/><Relationship Id="rId6"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 Id="rId4" Type="http://schemas.openxmlformats.org/officeDocument/2006/relationships/slide" Target="slide14.xml"/><Relationship Id="rId5" Type="http://schemas.openxmlformats.org/officeDocument/2006/relationships/slide" Target="slide2.xml"/><Relationship Id="rId6"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 Id="rId4" Type="http://schemas.openxmlformats.org/officeDocument/2006/relationships/slide" Target="slide15.xml"/><Relationship Id="rId5" Type="http://schemas.openxmlformats.org/officeDocument/2006/relationships/slide" Target="slide2.xml"/><Relationship Id="rId6" Type="http://schemas.openxmlformats.org/officeDocument/2006/relationships/slide" Target="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 Id="rId4" Type="http://schemas.openxmlformats.org/officeDocument/2006/relationships/slide" Target="slide16.xml"/><Relationship Id="rId5" Type="http://schemas.openxmlformats.org/officeDocument/2006/relationships/slide" Target="slide2.xml"/><Relationship Id="rId6" Type="http://schemas.openxmlformats.org/officeDocument/2006/relationships/slide" Target="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 Id="rId4" Type="http://schemas.openxmlformats.org/officeDocument/2006/relationships/slide" Target="slide17.xml"/><Relationship Id="rId5" Type="http://schemas.openxmlformats.org/officeDocument/2006/relationships/slide" Target="slide2.xml"/><Relationship Id="rId6"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 Id="rId4" Type="http://schemas.openxmlformats.org/officeDocument/2006/relationships/slide" Target="slide18.xml"/><Relationship Id="rId5" Type="http://schemas.openxmlformats.org/officeDocument/2006/relationships/slide" Target="slide2.xml"/><Relationship Id="rId6"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19.xml"/><Relationship Id="rId4" Type="http://schemas.openxmlformats.org/officeDocument/2006/relationships/slide" Target="slide2.xml"/><Relationship Id="rId5" Type="http://schemas.openxmlformats.org/officeDocument/2006/relationships/slide" Target="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 Id="rId4" Type="http://schemas.openxmlformats.org/officeDocument/2006/relationships/slide" Target="slide20.xml"/><Relationship Id="rId5" Type="http://schemas.openxmlformats.org/officeDocument/2006/relationships/slide" Target="slide2.xml"/><Relationship Id="rId6" Type="http://schemas.openxmlformats.org/officeDocument/2006/relationships/slide" Target="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 Id="rId4" Type="http://schemas.openxmlformats.org/officeDocument/2006/relationships/slide" Target="slide21.xml"/><Relationship Id="rId5" Type="http://schemas.openxmlformats.org/officeDocument/2006/relationships/slide" Target="slide2.xml"/><Relationship Id="rId6" Type="http://schemas.openxmlformats.org/officeDocument/2006/relationships/slide" Target="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 Id="rId4" Type="http://schemas.openxmlformats.org/officeDocument/2006/relationships/slide" Target="slide22.xml"/><Relationship Id="rId5" Type="http://schemas.openxmlformats.org/officeDocument/2006/relationships/slide" Target="slide2.xml"/><Relationship Id="rId6" Type="http://schemas.openxmlformats.org/officeDocument/2006/relationships/slide" Target="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4.xml"/><Relationship Id="rId4" Type="http://schemas.openxmlformats.org/officeDocument/2006/relationships/slide" Target="slide23.xml"/><Relationship Id="rId5" Type="http://schemas.openxmlformats.org/officeDocument/2006/relationships/slide" Target="slide2.xml"/><Relationship Id="rId6"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5.xml"/><Relationship Id="rId4" Type="http://schemas.openxmlformats.org/officeDocument/2006/relationships/slide" Target="slide24.xml"/><Relationship Id="rId5" Type="http://schemas.openxmlformats.org/officeDocument/2006/relationships/slide" Target="slide2.xml"/><Relationship Id="rId6" Type="http://schemas.openxmlformats.org/officeDocument/2006/relationships/slide" Target="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6.xml"/><Relationship Id="rId4" Type="http://schemas.openxmlformats.org/officeDocument/2006/relationships/slide" Target="slide25.xml"/><Relationship Id="rId5" Type="http://schemas.openxmlformats.org/officeDocument/2006/relationships/slide" Target="slide2.xml"/><Relationship Id="rId6"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7.xml"/><Relationship Id="rId4" Type="http://schemas.openxmlformats.org/officeDocument/2006/relationships/slide" Target="slide26.xml"/><Relationship Id="rId5" Type="http://schemas.openxmlformats.org/officeDocument/2006/relationships/slide" Target="slide2.xml"/><Relationship Id="rId6" Type="http://schemas.openxmlformats.org/officeDocument/2006/relationships/slide" Target="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8.xml"/><Relationship Id="rId4" Type="http://schemas.openxmlformats.org/officeDocument/2006/relationships/slide" Target="slide27.xml"/><Relationship Id="rId5" Type="http://schemas.openxmlformats.org/officeDocument/2006/relationships/slide" Target="slide2.xml"/><Relationship Id="rId6" Type="http://schemas.openxmlformats.org/officeDocument/2006/relationships/slide" Target="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 Id="rId4" Type="http://schemas.openxmlformats.org/officeDocument/2006/relationships/slide" Target="slide28.xml"/><Relationship Id="rId5" Type="http://schemas.openxmlformats.org/officeDocument/2006/relationships/slide" Target="slide2.xml"/><Relationship Id="rId6" Type="http://schemas.openxmlformats.org/officeDocument/2006/relationships/slide" Target="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 Id="rId4" Type="http://schemas.openxmlformats.org/officeDocument/2006/relationships/slide" Target="slide29.xml"/><Relationship Id="rId5" Type="http://schemas.openxmlformats.org/officeDocument/2006/relationships/slide" Target="slide2.xml"/><Relationship Id="rId6" Type="http://schemas.openxmlformats.org/officeDocument/2006/relationships/slide" Target="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 Id="rId4" Type="http://schemas.openxmlformats.org/officeDocument/2006/relationships/slide" Target="slide30.xml"/><Relationship Id="rId5" Type="http://schemas.openxmlformats.org/officeDocument/2006/relationships/slide" Target="slide2.xml"/><Relationship Id="rId6" Type="http://schemas.openxmlformats.org/officeDocument/2006/relationships/slide" Target="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 Id="rId4" Type="http://schemas.openxmlformats.org/officeDocument/2006/relationships/slide" Target="slide31.xml"/><Relationship Id="rId5" Type="http://schemas.openxmlformats.org/officeDocument/2006/relationships/slide" Target="slide2.xml"/><Relationship Id="rId6" Type="http://schemas.openxmlformats.org/officeDocument/2006/relationships/slide" Target="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 Id="rId4" Type="http://schemas.openxmlformats.org/officeDocument/2006/relationships/slide" Target="slide32.xml"/><Relationship Id="rId5" Type="http://schemas.openxmlformats.org/officeDocument/2006/relationships/slide" Target="slide2.xml"/><Relationship Id="rId6" Type="http://schemas.openxmlformats.org/officeDocument/2006/relationships/slide" Target="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 Id="rId4" Type="http://schemas.openxmlformats.org/officeDocument/2006/relationships/slide" Target="slide33.xml"/><Relationship Id="rId5" Type="http://schemas.openxmlformats.org/officeDocument/2006/relationships/slide" Target="slide2.xml"/><Relationship Id="rId6"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5.xml"/><Relationship Id="rId4" Type="http://schemas.openxmlformats.org/officeDocument/2006/relationships/slide" Target="slide34.xml"/><Relationship Id="rId5" Type="http://schemas.openxmlformats.org/officeDocument/2006/relationships/slide" Target="slide2.xml"/><Relationship Id="rId6" Type="http://schemas.openxmlformats.org/officeDocument/2006/relationships/slide" Target="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6.xml"/><Relationship Id="rId4" Type="http://schemas.openxmlformats.org/officeDocument/2006/relationships/slide" Target="slide35.xml"/><Relationship Id="rId5" Type="http://schemas.openxmlformats.org/officeDocument/2006/relationships/slide" Target="slide2.xml"/><Relationship Id="rId6" Type="http://schemas.openxmlformats.org/officeDocument/2006/relationships/slide" Target="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7.xml"/><Relationship Id="rId4" Type="http://schemas.openxmlformats.org/officeDocument/2006/relationships/slide" Target="slide36.xml"/><Relationship Id="rId5" Type="http://schemas.openxmlformats.org/officeDocument/2006/relationships/slide" Target="slide2.xml"/><Relationship Id="rId6" Type="http://schemas.openxmlformats.org/officeDocument/2006/relationships/slide" Target="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8.xml"/><Relationship Id="rId4" Type="http://schemas.openxmlformats.org/officeDocument/2006/relationships/slide" Target="slide37.xml"/><Relationship Id="rId5" Type="http://schemas.openxmlformats.org/officeDocument/2006/relationships/slide" Target="slide2.xml"/><Relationship Id="rId6" Type="http://schemas.openxmlformats.org/officeDocument/2006/relationships/slide" Target="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9.xml"/><Relationship Id="rId4" Type="http://schemas.openxmlformats.org/officeDocument/2006/relationships/slide" Target="slide38.xml"/><Relationship Id="rId5" Type="http://schemas.openxmlformats.org/officeDocument/2006/relationships/slide" Target="slide2.xml"/><Relationship Id="rId6" Type="http://schemas.openxmlformats.org/officeDocument/2006/relationships/slide" Target="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39.xml"/><Relationship Id="rId4" Type="http://schemas.openxmlformats.org/officeDocument/2006/relationships/slide" Target="slide2.xml"/><Relationship Id="rId5" Type="http://schemas.openxmlformats.org/officeDocument/2006/relationships/slide" Target="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41.xml"/><Relationship Id="rId4" Type="http://schemas.openxmlformats.org/officeDocument/2006/relationships/slide" Target="slide40.xml"/><Relationship Id="rId5" Type="http://schemas.openxmlformats.org/officeDocument/2006/relationships/slide" Target="slide2.xml"/><Relationship Id="rId6" Type="http://schemas.openxmlformats.org/officeDocument/2006/relationships/slide" Target="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42.xml"/><Relationship Id="rId4" Type="http://schemas.openxmlformats.org/officeDocument/2006/relationships/slide" Target="slide41.xml"/><Relationship Id="rId5" Type="http://schemas.openxmlformats.org/officeDocument/2006/relationships/slide" Target="slide2.xml"/><Relationship Id="rId6" Type="http://schemas.openxmlformats.org/officeDocument/2006/relationships/slide" Target="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3.xml"/><Relationship Id="rId4" Type="http://schemas.openxmlformats.org/officeDocument/2006/relationships/slide" Target="slide42.xml"/><Relationship Id="rId5" Type="http://schemas.openxmlformats.org/officeDocument/2006/relationships/slide" Target="slide2.xml"/><Relationship Id="rId6" Type="http://schemas.openxmlformats.org/officeDocument/2006/relationships/slide" Target="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4.xml"/><Relationship Id="rId4" Type="http://schemas.openxmlformats.org/officeDocument/2006/relationships/slide" Target="slide43.xml"/><Relationship Id="rId5" Type="http://schemas.openxmlformats.org/officeDocument/2006/relationships/slide" Target="slide2.xml"/><Relationship Id="rId6" Type="http://schemas.openxmlformats.org/officeDocument/2006/relationships/slide" Target="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5.xml"/><Relationship Id="rId4" Type="http://schemas.openxmlformats.org/officeDocument/2006/relationships/slide" Target="slide44.xml"/><Relationship Id="rId5" Type="http://schemas.openxmlformats.org/officeDocument/2006/relationships/slide" Target="slide2.xml"/><Relationship Id="rId6" Type="http://schemas.openxmlformats.org/officeDocument/2006/relationships/slide" Target="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6.xml"/><Relationship Id="rId4" Type="http://schemas.openxmlformats.org/officeDocument/2006/relationships/slide" Target="slide45.xml"/><Relationship Id="rId5" Type="http://schemas.openxmlformats.org/officeDocument/2006/relationships/slide" Target="slide2.xml"/><Relationship Id="rId6" Type="http://schemas.openxmlformats.org/officeDocument/2006/relationships/slide" Target="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7.xml"/><Relationship Id="rId4" Type="http://schemas.openxmlformats.org/officeDocument/2006/relationships/slide" Target="slide46.xml"/><Relationship Id="rId5" Type="http://schemas.openxmlformats.org/officeDocument/2006/relationships/slide" Target="slide2.xml"/><Relationship Id="rId6" Type="http://schemas.openxmlformats.org/officeDocument/2006/relationships/slide" Target="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8.xml"/><Relationship Id="rId4" Type="http://schemas.openxmlformats.org/officeDocument/2006/relationships/slide" Target="slide47.xml"/><Relationship Id="rId5" Type="http://schemas.openxmlformats.org/officeDocument/2006/relationships/slide" Target="slide2.xml"/><Relationship Id="rId6" Type="http://schemas.openxmlformats.org/officeDocument/2006/relationships/slide" Target="slide4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9.xml"/><Relationship Id="rId4" Type="http://schemas.openxmlformats.org/officeDocument/2006/relationships/slide" Target="slide48.xml"/><Relationship Id="rId5" Type="http://schemas.openxmlformats.org/officeDocument/2006/relationships/slide" Target="slide2.xml"/><Relationship Id="rId6" Type="http://schemas.openxmlformats.org/officeDocument/2006/relationships/slide" Target="slide5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slide" Target="slide49.xml"/><Relationship Id="rId4" Type="http://schemas.openxmlformats.org/officeDocument/2006/relationships/slide" Target="slide2.xml"/><Relationship Id="rId5" Type="http://schemas.openxmlformats.org/officeDocument/2006/relationships/slide" Target="slide5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51.xml"/><Relationship Id="rId4" Type="http://schemas.openxmlformats.org/officeDocument/2006/relationships/slide" Target="slide50.xml"/><Relationship Id="rId5" Type="http://schemas.openxmlformats.org/officeDocument/2006/relationships/slide" Target="slide2.xml"/><Relationship Id="rId6" Type="http://schemas.openxmlformats.org/officeDocument/2006/relationships/slide" Target="slide5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52.xml"/><Relationship Id="rId4" Type="http://schemas.openxmlformats.org/officeDocument/2006/relationships/slide" Target="slide51.xml"/><Relationship Id="rId5" Type="http://schemas.openxmlformats.org/officeDocument/2006/relationships/slide" Target="slide2.xml"/><Relationship Id="rId6" Type="http://schemas.openxmlformats.org/officeDocument/2006/relationships/slide" Target="slide5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53.xml"/><Relationship Id="rId4" Type="http://schemas.openxmlformats.org/officeDocument/2006/relationships/slide" Target="slide52.xml"/><Relationship Id="rId5" Type="http://schemas.openxmlformats.org/officeDocument/2006/relationships/slide" Target="slide2.xml"/><Relationship Id="rId6" Type="http://schemas.openxmlformats.org/officeDocument/2006/relationships/slide" Target="slide5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54.xml"/><Relationship Id="rId4" Type="http://schemas.openxmlformats.org/officeDocument/2006/relationships/slide" Target="slide53.xml"/><Relationship Id="rId5" Type="http://schemas.openxmlformats.org/officeDocument/2006/relationships/slide" Target="slide2.xml"/><Relationship Id="rId6" Type="http://schemas.openxmlformats.org/officeDocument/2006/relationships/slide" Target="slide5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55.xml"/><Relationship Id="rId4" Type="http://schemas.openxmlformats.org/officeDocument/2006/relationships/slide" Target="slide54.xml"/><Relationship Id="rId5" Type="http://schemas.openxmlformats.org/officeDocument/2006/relationships/slide" Target="slide2.xml"/><Relationship Id="rId6" Type="http://schemas.openxmlformats.org/officeDocument/2006/relationships/slide" Target="slide5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56.xml"/><Relationship Id="rId4" Type="http://schemas.openxmlformats.org/officeDocument/2006/relationships/slide" Target="slide55.xml"/><Relationship Id="rId5" Type="http://schemas.openxmlformats.org/officeDocument/2006/relationships/slide" Target="slide2.xml"/><Relationship Id="rId6" Type="http://schemas.openxmlformats.org/officeDocument/2006/relationships/slide" Target="slide5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7.xml"/><Relationship Id="rId4" Type="http://schemas.openxmlformats.org/officeDocument/2006/relationships/slide" Target="slide56.xml"/><Relationship Id="rId5" Type="http://schemas.openxmlformats.org/officeDocument/2006/relationships/slide" Target="slide2.xml"/><Relationship Id="rId6" Type="http://schemas.openxmlformats.org/officeDocument/2006/relationships/slide" Target="slide5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8.xml"/><Relationship Id="rId4" Type="http://schemas.openxmlformats.org/officeDocument/2006/relationships/slide" Target="slide57.xml"/><Relationship Id="rId5" Type="http://schemas.openxmlformats.org/officeDocument/2006/relationships/slide" Target="slide2.xml"/><Relationship Id="rId6" Type="http://schemas.openxmlformats.org/officeDocument/2006/relationships/slide" Target="slide5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9.xml"/><Relationship Id="rId4" Type="http://schemas.openxmlformats.org/officeDocument/2006/relationships/slide" Target="slide58.xml"/><Relationship Id="rId5" Type="http://schemas.openxmlformats.org/officeDocument/2006/relationships/slide" Target="slide2.xml"/><Relationship Id="rId6" Type="http://schemas.openxmlformats.org/officeDocument/2006/relationships/slide" Target="slide6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slide" Target="slide59.xml"/><Relationship Id="rId4" Type="http://schemas.openxmlformats.org/officeDocument/2006/relationships/slide" Target="slide2.xml"/><Relationship Id="rId5" Type="http://schemas.openxmlformats.org/officeDocument/2006/relationships/slide" Target="slide6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slide" Target="slide60.xml"/><Relationship Id="rId4" Type="http://schemas.openxmlformats.org/officeDocument/2006/relationships/slide" Target="slide2.xml"/><Relationship Id="rId5" Type="http://schemas.openxmlformats.org/officeDocument/2006/relationships/slide" Target="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62.xml"/><Relationship Id="rId4" Type="http://schemas.openxmlformats.org/officeDocument/2006/relationships/slide" Target="slide61.xml"/><Relationship Id="rId5" Type="http://schemas.openxmlformats.org/officeDocument/2006/relationships/slide" Target="slide2.xml"/><Relationship Id="rId6" Type="http://schemas.openxmlformats.org/officeDocument/2006/relationships/slide" Target="slide6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63.xml"/><Relationship Id="rId4" Type="http://schemas.openxmlformats.org/officeDocument/2006/relationships/slide" Target="slide62.xml"/><Relationship Id="rId5" Type="http://schemas.openxmlformats.org/officeDocument/2006/relationships/slide" Target="slide2.xml"/><Relationship Id="rId6" Type="http://schemas.openxmlformats.org/officeDocument/2006/relationships/slide" Target="slide6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64.xml"/><Relationship Id="rId4" Type="http://schemas.openxmlformats.org/officeDocument/2006/relationships/slide" Target="slide63.xml"/><Relationship Id="rId5" Type="http://schemas.openxmlformats.org/officeDocument/2006/relationships/slide" Target="slide2.xml"/><Relationship Id="rId6" Type="http://schemas.openxmlformats.org/officeDocument/2006/relationships/slide" Target="slide6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65.xml"/><Relationship Id="rId4" Type="http://schemas.openxmlformats.org/officeDocument/2006/relationships/slide" Target="slide64.xml"/><Relationship Id="rId5" Type="http://schemas.openxmlformats.org/officeDocument/2006/relationships/slide" Target="slide2.xml"/><Relationship Id="rId6" Type="http://schemas.openxmlformats.org/officeDocument/2006/relationships/slide" Target="slide6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66.xml"/><Relationship Id="rId4" Type="http://schemas.openxmlformats.org/officeDocument/2006/relationships/slide" Target="slide65.xml"/><Relationship Id="rId5" Type="http://schemas.openxmlformats.org/officeDocument/2006/relationships/slide" Target="slide2.xml"/><Relationship Id="rId6" Type="http://schemas.openxmlformats.org/officeDocument/2006/relationships/slide" Target="slide6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67.xml"/><Relationship Id="rId4" Type="http://schemas.openxmlformats.org/officeDocument/2006/relationships/slide" Target="slide66.xml"/><Relationship Id="rId5" Type="http://schemas.openxmlformats.org/officeDocument/2006/relationships/slide" Target="slide2.xml"/><Relationship Id="rId6" Type="http://schemas.openxmlformats.org/officeDocument/2006/relationships/slide" Target="slide6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68.xml"/><Relationship Id="rId4" Type="http://schemas.openxmlformats.org/officeDocument/2006/relationships/slide" Target="slide67.xml"/><Relationship Id="rId5" Type="http://schemas.openxmlformats.org/officeDocument/2006/relationships/slide" Target="slide2.xml"/><Relationship Id="rId6" Type="http://schemas.openxmlformats.org/officeDocument/2006/relationships/slide" Target="slide6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slide" Target="slide68.xml"/><Relationship Id="rId4" Type="http://schemas.openxmlformats.org/officeDocument/2006/relationships/slide" Target="slide2.xml"/><Relationship Id="rId5" Type="http://schemas.openxmlformats.org/officeDocument/2006/relationships/slide" Target="slide7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slide" Target="slide69.xml"/><Relationship Id="rId4" Type="http://schemas.openxmlformats.org/officeDocument/2006/relationships/slide" Target="slide2.xml"/><Relationship Id="rId5" Type="http://schemas.openxmlformats.org/officeDocument/2006/relationships/slide" Target="slide7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71.xml"/><Relationship Id="rId4" Type="http://schemas.openxmlformats.org/officeDocument/2006/relationships/slide" Target="slide70.xml"/><Relationship Id="rId5" Type="http://schemas.openxmlformats.org/officeDocument/2006/relationships/slide" Target="slide2.xml"/><Relationship Id="rId6" Type="http://schemas.openxmlformats.org/officeDocument/2006/relationships/slide" Target="slide7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72.xml"/><Relationship Id="rId4" Type="http://schemas.openxmlformats.org/officeDocument/2006/relationships/slide" Target="slide71.xml"/><Relationship Id="rId5" Type="http://schemas.openxmlformats.org/officeDocument/2006/relationships/slide" Target="slide2.xml"/><Relationship Id="rId6" Type="http://schemas.openxmlformats.org/officeDocument/2006/relationships/slide" Target="slide7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slide" Target="slide72.xml"/><Relationship Id="rId4" Type="http://schemas.openxmlformats.org/officeDocument/2006/relationships/slide" Target="slide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xml"/><Relationship Id="rId3"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2A56"/>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D99A22"/>
                </a:solidFill>
                <a:latin typeface="Calibri"/>
              </a:defRPr>
            </a:pPr>
            <a:r>
              <a:t>Public Safety Agency</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FFFFFF"/>
                </a:solidFill>
                <a:latin typeface="Calibri Light"/>
              </a:defRPr>
            </a:pPr>
            <a:r>
              <a:t>Find the signal. Keep analysts in control.</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D4DAE8"/>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FFFFFF"/>
                </a:solidFill>
                <a:latin typeface="Calibri"/>
              </a:defRPr>
            </a:pPr>
            <a:r>
              <a:t>01</a:t>
            </a:r>
          </a:p>
        </p:txBody>
      </p:sp>
      <p:sp>
        <p:nvSpPr>
          <p:cNvPr id="6" name="TextBox 5"/>
          <p:cNvSpPr txBox="1"/>
          <p:nvPr/>
        </p:nvSpPr>
        <p:spPr>
          <a:xfrm>
            <a:off x="457200" y="1600200"/>
            <a:ext cx="10789920" cy="411480"/>
          </a:xfrm>
          <a:prstGeom prst="rect">
            <a:avLst/>
          </a:prstGeom>
          <a:noFill/>
        </p:spPr>
        <p:txBody>
          <a:bodyPr wrap="square" lIns="0" rIns="0" tIns="0" bIns="0">
            <a:spAutoFit/>
          </a:bodyPr>
          <a:lstStyle/>
          <a:p>
            <a:pPr>
              <a:spcAft>
                <a:spcPts val="700"/>
              </a:spcAft>
              <a:defRPr sz="2200" b="1">
                <a:solidFill>
                  <a:srgbClr val="D99A22"/>
                </a:solidFill>
                <a:latin typeface="Calibri"/>
              </a:defRPr>
            </a:pPr>
            <a:r>
              <a:t>ONE CONSOLIDATED CLICK-THROUGH</a:t>
            </a:r>
          </a:p>
        </p:txBody>
      </p:sp>
      <p:sp>
        <p:nvSpPr>
          <p:cNvPr id="7" name="TextBox 6"/>
          <p:cNvSpPr txBox="1"/>
          <p:nvPr/>
        </p:nvSpPr>
        <p:spPr>
          <a:xfrm>
            <a:off x="457200" y="2286000"/>
            <a:ext cx="7863840" cy="2103120"/>
          </a:xfrm>
          <a:prstGeom prst="rect">
            <a:avLst/>
          </a:prstGeom>
          <a:noFill/>
        </p:spPr>
        <p:txBody>
          <a:bodyPr wrap="square" lIns="0" rIns="0" tIns="0" bIns="0">
            <a:spAutoFit/>
          </a:bodyPr>
          <a:lstStyle/>
          <a:p>
            <a:pPr>
              <a:spcAft>
                <a:spcPts val="700"/>
              </a:spcAft>
              <a:defRPr sz="3400" b="0">
                <a:solidFill>
                  <a:srgbClr val="FFFFFF"/>
                </a:solidFill>
                <a:latin typeface="Calibri Light"/>
              </a:defRPr>
            </a:pPr>
            <a:r>
              <a:t>MessageIQ desktop</a:t>
            </a:r>
          </a:p>
          <a:p>
            <a:pPr>
              <a:spcAft>
                <a:spcPts val="700"/>
              </a:spcAft>
              <a:defRPr sz="3400" b="0">
                <a:solidFill>
                  <a:srgbClr val="FFFFFF"/>
                </a:solidFill>
                <a:latin typeface="Calibri Light"/>
              </a:defRPr>
            </a:pPr>
            <a:r>
              <a:t>Email analyst web app</a:t>
            </a:r>
          </a:p>
          <a:p>
            <a:pPr>
              <a:spcAft>
                <a:spcPts val="700"/>
              </a:spcAft>
              <a:defRPr sz="3400" b="0">
                <a:solidFill>
                  <a:srgbClr val="FFFFFF"/>
                </a:solidFill>
                <a:latin typeface="Calibri Light"/>
              </a:defRPr>
            </a:pPr>
            <a:r>
              <a:t>Video evidence web app</a:t>
            </a:r>
          </a:p>
        </p:txBody>
      </p:sp>
      <p:sp>
        <p:nvSpPr>
          <p:cNvPr id="8" name="Rounded Rectangle 7"/>
          <p:cNvSpPr/>
          <p:nvPr/>
        </p:nvSpPr>
        <p:spPr>
          <a:xfrm>
            <a:off x="8686800" y="1828800"/>
            <a:ext cx="2926080" cy="338328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06840" y="2103120"/>
            <a:ext cx="2286000" cy="1097280"/>
          </a:xfrm>
          <a:prstGeom prst="rect">
            <a:avLst/>
          </a:prstGeom>
          <a:noFill/>
        </p:spPr>
        <p:txBody>
          <a:bodyPr wrap="square" lIns="0" rIns="0" tIns="0" bIns="0">
            <a:spAutoFit/>
          </a:bodyPr>
          <a:lstStyle/>
          <a:p>
            <a:pPr>
              <a:spcAft>
                <a:spcPts val="700"/>
              </a:spcAft>
              <a:defRPr sz="6400" b="1">
                <a:solidFill>
                  <a:srgbClr val="D99A22"/>
                </a:solidFill>
                <a:latin typeface="Calibri Light"/>
              </a:defRPr>
            </a:pPr>
            <a:r>
              <a:t>3</a:t>
            </a:r>
          </a:p>
        </p:txBody>
      </p:sp>
      <p:sp>
        <p:nvSpPr>
          <p:cNvPr id="10" name="TextBox 9"/>
          <p:cNvSpPr txBox="1"/>
          <p:nvPr/>
        </p:nvSpPr>
        <p:spPr>
          <a:xfrm>
            <a:off x="9006840" y="3291840"/>
            <a:ext cx="2286000" cy="1554480"/>
          </a:xfrm>
          <a:prstGeom prst="rect">
            <a:avLst/>
          </a:prstGeom>
          <a:noFill/>
        </p:spPr>
        <p:txBody>
          <a:bodyPr wrap="square" lIns="0" rIns="0" tIns="0" bIns="0">
            <a:spAutoFit/>
          </a:bodyPr>
          <a:lstStyle/>
          <a:p>
            <a:pPr>
              <a:spcAft>
                <a:spcPts val="700"/>
              </a:spcAft>
              <a:defRPr sz="2300" b="0">
                <a:solidFill>
                  <a:srgbClr val="FFFFFF"/>
                </a:solidFill>
                <a:latin typeface="Calibri"/>
              </a:defRPr>
            </a:pPr>
            <a:r>
              <a:t>distinct app flows</a:t>
            </a:r>
          </a:p>
          <a:p>
            <a:pPr>
              <a:spcAft>
                <a:spcPts val="700"/>
              </a:spcAft>
              <a:defRPr sz="2300" b="0">
                <a:solidFill>
                  <a:srgbClr val="FFFFFF"/>
                </a:solidFill>
                <a:latin typeface="Calibri"/>
              </a:defRPr>
            </a:pPr>
            <a:r>
              <a:t>one guided deck</a:t>
            </a:r>
          </a:p>
          <a:p>
            <a:pPr>
              <a:spcAft>
                <a:spcPts val="700"/>
              </a:spcAft>
              <a:defRPr sz="2300" b="0">
                <a:solidFill>
                  <a:srgbClr val="FFFFFF"/>
                </a:solidFill>
                <a:latin typeface="Calibri"/>
              </a:defRPr>
            </a:pPr>
            <a:r>
              <a:t>captured results</a:t>
            </a:r>
          </a:p>
        </p:txBody>
      </p:sp>
      <p:sp>
        <p:nvSpPr>
          <p:cNvPr id="11" name="TextBox 10"/>
          <p:cNvSpPr txBox="1"/>
          <p:nvPr/>
        </p:nvSpPr>
        <p:spPr>
          <a:xfrm>
            <a:off x="457200" y="5349240"/>
            <a:ext cx="10515600" cy="594360"/>
          </a:xfrm>
          <a:prstGeom prst="rect">
            <a:avLst/>
          </a:prstGeom>
          <a:noFill/>
        </p:spPr>
        <p:txBody>
          <a:bodyPr wrap="square" lIns="0" rIns="0" tIns="0" bIns="0">
            <a:spAutoFit/>
          </a:bodyPr>
          <a:lstStyle/>
          <a:p>
            <a:pPr>
              <a:spcAft>
                <a:spcPts val="700"/>
              </a:spcAft>
              <a:defRPr sz="1500" b="0">
                <a:solidFill>
                  <a:srgbClr val="FFFFFF"/>
                </a:solidFill>
                <a:latin typeface="Calibri"/>
              </a:defRPr>
            </a:pPr>
            <a:r>
              <a:t>John Straumann | Field CAIO Officer, Microsoft South</a:t>
            </a:r>
          </a:p>
          <a:p>
            <a:pPr>
              <a:spcAft>
                <a:spcPts val="700"/>
              </a:spcAft>
              <a:defRPr sz="1500" b="0">
                <a:solidFill>
                  <a:srgbClr val="FFFFFF"/>
                </a:solidFill>
                <a:latin typeface="Calibri"/>
              </a:defRPr>
            </a:pPr>
            <a:r>
              <a:t>Consolidated October 28, 2026 | Filename retained as requested: Generic solution demonstration</a:t>
            </a:r>
          </a:p>
        </p:txBody>
      </p:sp>
      <p:sp>
        <p:nvSpPr>
          <p:cNvPr id="12" name="TextBox 11">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PREV</a:t>
            </a:r>
          </a:p>
        </p:txBody>
      </p:sp>
      <p:sp>
        <p:nvSpPr>
          <p:cNvPr id="13" name="TextBox 12">
            <a:hlinkClick action="ppaction://hlinksldjump" r:id="rId3"/>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MENU</a:t>
            </a:r>
          </a:p>
        </p:txBody>
      </p:sp>
      <p:sp>
        <p:nvSpPr>
          <p:cNvPr id="14" name="TextBox 13">
            <a:hlinkClick action="ppaction://hlinksldjump" r:id="rId3"/>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NEXT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CLICKABLE CHAPTER MAP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Choose a chapter or follow NEXT</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02</a:t>
            </a:r>
          </a:p>
        </p:txBody>
      </p:sp>
      <p:sp>
        <p:nvSpPr>
          <p:cNvPr id="6" name="TextBox 5"/>
          <p:cNvSpPr txBox="1"/>
          <p:nvPr/>
        </p:nvSpPr>
        <p:spPr>
          <a:xfrm>
            <a:off x="457200" y="1389888"/>
            <a:ext cx="10972800" cy="457200"/>
          </a:xfrm>
          <a:prstGeom prst="rect">
            <a:avLst/>
          </a:prstGeom>
          <a:noFill/>
        </p:spPr>
        <p:txBody>
          <a:bodyPr wrap="square" lIns="0" rIns="0" tIns="0" bIns="0">
            <a:spAutoFit/>
          </a:bodyPr>
          <a:lstStyle/>
          <a:p>
            <a:pPr>
              <a:spcAft>
                <a:spcPts val="700"/>
              </a:spcAft>
              <a:defRPr sz="2000" b="0">
                <a:solidFill>
                  <a:srgbClr val="526176"/>
                </a:solidFill>
                <a:latin typeface="Calibri"/>
              </a:defRPr>
            </a:pPr>
            <a:r>
              <a:t>Normal flow: A -&gt; B -&gt; C -&gt; pilot close. Appendix is optional.</a:t>
            </a:r>
          </a:p>
        </p:txBody>
      </p:sp>
      <p:sp>
        <p:nvSpPr>
          <p:cNvPr id="7" name="Rounded Rectangle 6">
            <a:hlinkClick action="ppaction://hlinksldjump" r:id="rId3"/>
          </p:cNvPr>
          <p:cNvSpPr/>
          <p:nvPr/>
        </p:nvSpPr>
        <p:spPr>
          <a:xfrm>
            <a:off x="457200" y="1965960"/>
            <a:ext cx="5468112" cy="16459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12264"/>
            <a:ext cx="548640"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A</a:t>
            </a:r>
          </a:p>
        </p:txBody>
      </p:sp>
      <p:sp>
        <p:nvSpPr>
          <p:cNvPr id="9" name="TextBox 8">
            <a:hlinkClick action="ppaction://hlinksldjump" r:id="rId3"/>
          </p:cNvPr>
          <p:cNvSpPr txBox="1"/>
          <p:nvPr/>
        </p:nvSpPr>
        <p:spPr>
          <a:xfrm>
            <a:off x="1325880" y="2130552"/>
            <a:ext cx="4343400" cy="457200"/>
          </a:xfrm>
          <a:prstGeom prst="rect">
            <a:avLst/>
          </a:prstGeom>
          <a:noFill/>
        </p:spPr>
        <p:txBody>
          <a:bodyPr wrap="square" lIns="0" rIns="0" tIns="0" bIns="0">
            <a:spAutoFit/>
          </a:bodyPr>
          <a:lstStyle/>
          <a:p>
            <a:pPr>
              <a:spcAft>
                <a:spcPts val="700"/>
              </a:spcAft>
              <a:defRPr sz="2300" b="1">
                <a:solidFill>
                  <a:srgbClr val="182337"/>
                </a:solidFill>
                <a:latin typeface="Calibri"/>
              </a:defRPr>
            </a:pPr>
            <a:r>
              <a:t>Desktop MessageIQ</a:t>
            </a:r>
          </a:p>
        </p:txBody>
      </p:sp>
      <p:sp>
        <p:nvSpPr>
          <p:cNvPr id="10" name="TextBox 9"/>
          <p:cNvSpPr txBox="1"/>
          <p:nvPr/>
        </p:nvSpPr>
        <p:spPr>
          <a:xfrm>
            <a:off x="1325880" y="2724912"/>
            <a:ext cx="4297680" cy="685800"/>
          </a:xfrm>
          <a:prstGeom prst="rect">
            <a:avLst/>
          </a:prstGeom>
          <a:noFill/>
        </p:spPr>
        <p:txBody>
          <a:bodyPr wrap="square" lIns="0" rIns="0" tIns="0" bIns="0">
            <a:spAutoFit/>
          </a:bodyPr>
          <a:lstStyle/>
          <a:p>
            <a:pPr>
              <a:spcAft>
                <a:spcPts val="700"/>
              </a:spcAft>
              <a:defRPr sz="1700" b="0">
                <a:solidFill>
                  <a:srgbClr val="526176"/>
                </a:solidFill>
                <a:latin typeface="Calibri"/>
              </a:defRPr>
            </a:pPr>
            <a:r>
              <a:t>Connect -&gt; load -&gt; review -&gt; policy -&gt; batch -&gt; handoff</a:t>
            </a:r>
          </a:p>
        </p:txBody>
      </p:sp>
      <p:sp>
        <p:nvSpPr>
          <p:cNvPr id="11" name="Rounded Rectangle 10">
            <a:hlinkClick action="ppaction://hlinksldjump" r:id="rId4"/>
          </p:cNvPr>
          <p:cNvSpPr/>
          <p:nvPr/>
        </p:nvSpPr>
        <p:spPr>
          <a:xfrm>
            <a:off x="6153912" y="1965960"/>
            <a:ext cx="5468112" cy="16459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2112264"/>
            <a:ext cx="548640"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B</a:t>
            </a:r>
          </a:p>
        </p:txBody>
      </p:sp>
      <p:sp>
        <p:nvSpPr>
          <p:cNvPr id="13" name="TextBox 12">
            <a:hlinkClick action="ppaction://hlinksldjump" r:id="rId4"/>
          </p:cNvPr>
          <p:cNvSpPr txBox="1"/>
          <p:nvPr/>
        </p:nvSpPr>
        <p:spPr>
          <a:xfrm>
            <a:off x="7022592" y="2130552"/>
            <a:ext cx="4343400" cy="457200"/>
          </a:xfrm>
          <a:prstGeom prst="rect">
            <a:avLst/>
          </a:prstGeom>
          <a:noFill/>
        </p:spPr>
        <p:txBody>
          <a:bodyPr wrap="square" lIns="0" rIns="0" tIns="0" bIns="0">
            <a:spAutoFit/>
          </a:bodyPr>
          <a:lstStyle/>
          <a:p>
            <a:pPr>
              <a:spcAft>
                <a:spcPts val="700"/>
              </a:spcAft>
              <a:defRPr sz="2300" b="1">
                <a:solidFill>
                  <a:srgbClr val="182337"/>
                </a:solidFill>
                <a:latin typeface="Calibri"/>
              </a:defRPr>
            </a:pPr>
            <a:r>
              <a:t>Email analyst web app</a:t>
            </a:r>
          </a:p>
        </p:txBody>
      </p:sp>
      <p:sp>
        <p:nvSpPr>
          <p:cNvPr id="14" name="TextBox 13"/>
          <p:cNvSpPr txBox="1"/>
          <p:nvPr/>
        </p:nvSpPr>
        <p:spPr>
          <a:xfrm>
            <a:off x="7022592" y="2724912"/>
            <a:ext cx="4297680" cy="685800"/>
          </a:xfrm>
          <a:prstGeom prst="rect">
            <a:avLst/>
          </a:prstGeom>
          <a:noFill/>
        </p:spPr>
        <p:txBody>
          <a:bodyPr wrap="square" lIns="0" rIns="0" tIns="0" bIns="0">
            <a:spAutoFit/>
          </a:bodyPr>
          <a:lstStyle/>
          <a:p>
            <a:pPr>
              <a:spcAft>
                <a:spcPts val="700"/>
              </a:spcAft>
              <a:defRPr sz="1700" b="0">
                <a:solidFill>
                  <a:srgbClr val="526176"/>
                </a:solidFill>
                <a:latin typeface="Calibri"/>
              </a:defRPr>
            </a:pPr>
            <a:r>
              <a:t>Synthetic inbox -&gt; structured decision -&gt; exceptions</a:t>
            </a:r>
          </a:p>
        </p:txBody>
      </p:sp>
      <p:sp>
        <p:nvSpPr>
          <p:cNvPr id="15" name="Rounded Rectangle 14">
            <a:hlinkClick action="ppaction://hlinksldjump" r:id="rId5"/>
          </p:cNvPr>
          <p:cNvSpPr/>
          <p:nvPr/>
        </p:nvSpPr>
        <p:spPr>
          <a:xfrm>
            <a:off x="457200" y="3867912"/>
            <a:ext cx="5468112" cy="16459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14216"/>
            <a:ext cx="548640"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C</a:t>
            </a:r>
          </a:p>
        </p:txBody>
      </p:sp>
      <p:sp>
        <p:nvSpPr>
          <p:cNvPr id="17" name="TextBox 16">
            <a:hlinkClick action="ppaction://hlinksldjump" r:id="rId5"/>
          </p:cNvPr>
          <p:cNvSpPr txBox="1"/>
          <p:nvPr/>
        </p:nvSpPr>
        <p:spPr>
          <a:xfrm>
            <a:off x="1325880" y="4032504"/>
            <a:ext cx="4343400" cy="457200"/>
          </a:xfrm>
          <a:prstGeom prst="rect">
            <a:avLst/>
          </a:prstGeom>
          <a:noFill/>
        </p:spPr>
        <p:txBody>
          <a:bodyPr wrap="square" lIns="0" rIns="0" tIns="0" bIns="0">
            <a:spAutoFit/>
          </a:bodyPr>
          <a:lstStyle/>
          <a:p>
            <a:pPr>
              <a:spcAft>
                <a:spcPts val="700"/>
              </a:spcAft>
              <a:defRPr sz="2300" b="1">
                <a:solidFill>
                  <a:srgbClr val="182337"/>
                </a:solidFill>
                <a:latin typeface="Calibri"/>
              </a:defRPr>
            </a:pPr>
            <a:r>
              <a:t>Video evidence web app</a:t>
            </a:r>
          </a:p>
        </p:txBody>
      </p:sp>
      <p:sp>
        <p:nvSpPr>
          <p:cNvPr id="18" name="TextBox 17"/>
          <p:cNvSpPr txBox="1"/>
          <p:nvPr/>
        </p:nvSpPr>
        <p:spPr>
          <a:xfrm>
            <a:off x="1325880" y="4626864"/>
            <a:ext cx="4297680" cy="685800"/>
          </a:xfrm>
          <a:prstGeom prst="rect">
            <a:avLst/>
          </a:prstGeom>
          <a:noFill/>
        </p:spPr>
        <p:txBody>
          <a:bodyPr wrap="square" lIns="0" rIns="0" tIns="0" bIns="0">
            <a:spAutoFit/>
          </a:bodyPr>
          <a:lstStyle/>
          <a:p>
            <a:pPr>
              <a:spcAft>
                <a:spcPts val="700"/>
              </a:spcAft>
              <a:defRPr sz="1700" b="0">
                <a:solidFill>
                  <a:srgbClr val="526176"/>
                </a:solidFill>
                <a:latin typeface="Calibri"/>
              </a:defRPr>
            </a:pPr>
            <a:r>
              <a:t>Upload -&gt; processing -&gt; provenance -&gt; Search</a:t>
            </a:r>
          </a:p>
        </p:txBody>
      </p:sp>
      <p:sp>
        <p:nvSpPr>
          <p:cNvPr id="19" name="Rounded Rectangle 18">
            <a:hlinkClick action="ppaction://hlinksldjump" r:id="rId6"/>
          </p:cNvPr>
          <p:cNvSpPr/>
          <p:nvPr/>
        </p:nvSpPr>
        <p:spPr>
          <a:xfrm>
            <a:off x="6153912" y="3867912"/>
            <a:ext cx="5468112" cy="16459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4014216"/>
            <a:ext cx="548640"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D</a:t>
            </a:r>
          </a:p>
        </p:txBody>
      </p:sp>
      <p:sp>
        <p:nvSpPr>
          <p:cNvPr id="21" name="TextBox 20">
            <a:hlinkClick action="ppaction://hlinksldjump" r:id="rId6"/>
          </p:cNvPr>
          <p:cNvSpPr txBox="1"/>
          <p:nvPr/>
        </p:nvSpPr>
        <p:spPr>
          <a:xfrm>
            <a:off x="7022592" y="4032504"/>
            <a:ext cx="4343400" cy="457200"/>
          </a:xfrm>
          <a:prstGeom prst="rect">
            <a:avLst/>
          </a:prstGeom>
          <a:noFill/>
        </p:spPr>
        <p:txBody>
          <a:bodyPr wrap="square" lIns="0" rIns="0" tIns="0" bIns="0">
            <a:spAutoFit/>
          </a:bodyPr>
          <a:lstStyle/>
          <a:p>
            <a:pPr>
              <a:spcAft>
                <a:spcPts val="700"/>
              </a:spcAft>
              <a:defRPr sz="2300" b="1">
                <a:solidFill>
                  <a:srgbClr val="182337"/>
                </a:solidFill>
                <a:latin typeface="Calibri"/>
              </a:defRPr>
            </a:pPr>
            <a:r>
              <a:t>Optional deep dives</a:t>
            </a:r>
          </a:p>
        </p:txBody>
      </p:sp>
      <p:sp>
        <p:nvSpPr>
          <p:cNvPr id="22" name="TextBox 21"/>
          <p:cNvSpPr txBox="1"/>
          <p:nvPr/>
        </p:nvSpPr>
        <p:spPr>
          <a:xfrm>
            <a:off x="7022592" y="4626864"/>
            <a:ext cx="4297680" cy="685800"/>
          </a:xfrm>
          <a:prstGeom prst="rect">
            <a:avLst/>
          </a:prstGeom>
          <a:noFill/>
        </p:spPr>
        <p:txBody>
          <a:bodyPr wrap="square" lIns="0" rIns="0" tIns="0" bIns="0">
            <a:spAutoFit/>
          </a:bodyPr>
          <a:lstStyle/>
          <a:p>
            <a:pPr>
              <a:spcAft>
                <a:spcPts val="700"/>
              </a:spcAft>
              <a:defRPr sz="1700" b="0">
                <a:solidFill>
                  <a:srgbClr val="526176"/>
                </a:solidFill>
                <a:latin typeface="Calibri"/>
              </a:defRPr>
            </a:pPr>
            <a:r>
              <a:t>Alternate intake, controls, recorded evidence and proposals</a:t>
            </a:r>
          </a:p>
        </p:txBody>
      </p:sp>
      <p:sp>
        <p:nvSpPr>
          <p:cNvPr id="23" name="TextBox 22">
            <a:hlinkClick action="ppaction://hlinksldjump" r:id="rId7"/>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24" name="TextBox 23">
            <a:hlinkClick action="ppaction://hlinksldjump" r:id="rId8"/>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5" name="TextBox 24">
            <a:hlinkClick action="ppaction://hlinksldjump" r:id="rId9"/>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PRESENTER PREFLIGHT</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Before the first click</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03</a:t>
            </a:r>
          </a:p>
        </p:txBody>
      </p:sp>
      <p:sp>
        <p:nvSpPr>
          <p:cNvPr id="6" name="Rounded Rectangle 5"/>
          <p:cNvSpPr/>
          <p:nvPr/>
        </p:nvSpPr>
        <p:spPr>
          <a:xfrm>
            <a:off x="457200"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01</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Use the captured path</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Replay the screenshots with NEXT. Read the action, result and boundary beside each capture.</a:t>
            </a:r>
          </a:p>
        </p:txBody>
      </p:sp>
      <p:sp>
        <p:nvSpPr>
          <p:cNvPr id="10" name="Rounded Rectangle 9"/>
          <p:cNvSpPr/>
          <p:nvPr/>
        </p:nvSpPr>
        <p:spPr>
          <a:xfrm>
            <a:off x="4233672"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02</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If presenting live</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Start each app separately. Verify local ports, sign-in, model access and approved demo data first.</a:t>
            </a:r>
          </a:p>
        </p:txBody>
      </p:sp>
      <p:sp>
        <p:nvSpPr>
          <p:cNvPr id="14" name="Rounded Rectangle 13"/>
          <p:cNvSpPr/>
          <p:nvPr/>
        </p:nvSpPr>
        <p:spPr>
          <a:xfrm>
            <a:off x="8010144"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03</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Keep boundaries visible</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Routing is a recommendation. Review flags, masks and hashes are not compliance approval.</a:t>
            </a:r>
          </a:p>
        </p:txBody>
      </p:sp>
      <p:sp>
        <p:nvSpPr>
          <p:cNvPr id="18" name="TextBox 17"/>
          <p:cNvSpPr txBox="1"/>
          <p:nvPr/>
        </p:nvSpPr>
        <p:spPr>
          <a:xfrm>
            <a:off x="457200" y="5349240"/>
            <a:ext cx="11155680" cy="594360"/>
          </a:xfrm>
          <a:prstGeom prst="rect">
            <a:avLst/>
          </a:prstGeom>
          <a:noFill/>
        </p:spPr>
        <p:txBody>
          <a:bodyPr wrap="square" lIns="0" rIns="0" tIns="0" bIns="0">
            <a:spAutoFit/>
          </a:bodyPr>
          <a:lstStyle/>
          <a:p>
            <a:pPr>
              <a:spcAft>
                <a:spcPts val="700"/>
              </a:spcAft>
              <a:defRPr sz="1700" b="0">
                <a:solidFill>
                  <a:srgbClr val="526176"/>
                </a:solidFill>
                <a:latin typeface="Calibri"/>
              </a:defRPr>
            </a:pPr>
            <a:r>
              <a:t>Live prerequisites: Windows MessageIQ; web samples at ports 5183 / 5181; video at 5182.</a:t>
            </a:r>
          </a:p>
          <a:p>
            <a:pPr>
              <a:spcAft>
                <a:spcPts val="700"/>
              </a:spcAft>
              <a:defRPr sz="1700" b="0">
                <a:solidFill>
                  <a:srgbClr val="526176"/>
                </a:solidFill>
                <a:latin typeface="Calibri"/>
              </a:defRPr>
            </a:pPr>
            <a:r>
              <a:t>These are historical launch addresses, not services started or tested by this merge.</a:t>
            </a:r>
          </a:p>
        </p:txBody>
      </p:sp>
      <p:sp>
        <p:nvSpPr>
          <p:cNvPr id="19" name="TextBox 18">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20" name="TextBox 19">
            <a:hlinkClick action="ppaction://hlinksldjump" r:id="rId3"/>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1" name="TextBox 20">
            <a:hlinkClick action="ppaction://hlinksldjump" r:id="rId4"/>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ARCHITECTURE AND TRUST BOUNDARIES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Same customer. Different execution paths.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04</a:t>
            </a:r>
          </a:p>
        </p:txBody>
      </p:sp>
      <p:sp>
        <p:nvSpPr>
          <p:cNvPr id="6" name="Rounded Rectangle 5"/>
          <p:cNvSpPr/>
          <p:nvPr/>
        </p:nvSpPr>
        <p:spPr>
          <a:xfrm>
            <a:off x="457200"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A</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MessageIQ desktop</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Local masking + Watch Cards + profiles -&gt; direct Azure OpenAI -&gt; analyst recommendation.</a:t>
            </a:r>
          </a:p>
        </p:txBody>
      </p:sp>
      <p:sp>
        <p:nvSpPr>
          <p:cNvPr id="10" name="Rounded Rectangle 9"/>
          <p:cNvSpPr/>
          <p:nvPr/>
        </p:nvSpPr>
        <p:spPr>
          <a:xfrm>
            <a:off x="4233672"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B</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Email web app</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Blob .msg -&gt; Azure AI Language PII + local risk handling -&gt; persistent Foundry agent + SOP grounding.</a:t>
            </a:r>
          </a:p>
        </p:txBody>
      </p:sp>
      <p:sp>
        <p:nvSpPr>
          <p:cNvPr id="14" name="Rounded Rectangle 13"/>
          <p:cNvSpPr/>
          <p:nvPr/>
        </p:nvSpPr>
        <p:spPr>
          <a:xfrm>
            <a:off x="8010144"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C</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Video web app</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Upload -&gt; SHA-256 + Blob -&gt; Video Indexer -&gt; model summary -&gt; embeddings + Azure AI Search.</a:t>
            </a:r>
          </a:p>
        </p:txBody>
      </p:sp>
      <p:sp>
        <p:nvSpPr>
          <p:cNvPr id="18" name="TextBox 17"/>
          <p:cNvSpPr txBox="1"/>
          <p:nvPr/>
        </p:nvSpPr>
        <p:spPr>
          <a:xfrm>
            <a:off x="457200" y="5349240"/>
            <a:ext cx="11155680" cy="594360"/>
          </a:xfrm>
          <a:prstGeom prst="rect">
            <a:avLst/>
          </a:prstGeom>
          <a:noFill/>
        </p:spPr>
        <p:txBody>
          <a:bodyPr wrap="square" lIns="0" rIns="0" tIns="0" bIns="0">
            <a:spAutoFit/>
          </a:bodyPr>
          <a:lstStyle/>
          <a:p>
            <a:pPr>
              <a:spcAft>
                <a:spcPts val="700"/>
              </a:spcAft>
              <a:defRPr sz="1700" b="0">
                <a:solidFill>
                  <a:srgbClr val="AB352A"/>
                </a:solidFill>
                <a:latin typeface="Calibri"/>
              </a:defRPr>
            </a:pPr>
            <a:r>
              <a:t>Important: email-web PII detection receives raw text in Azure AI Language.</a:t>
            </a:r>
          </a:p>
          <a:p>
            <a:pPr>
              <a:spcAft>
                <a:spcPts val="700"/>
              </a:spcAft>
              <a:defRPr sz="1700" b="0">
                <a:solidFill>
                  <a:srgbClr val="AB352A"/>
                </a:solidFill>
                <a:latin typeface="Calibri"/>
              </a:defRPr>
            </a:pPr>
            <a:r>
              <a:t>Do not apply MessageIQ's pre-network local-masking boundary to every workflow.</a:t>
            </a:r>
          </a:p>
        </p:txBody>
      </p:sp>
      <p:sp>
        <p:nvSpPr>
          <p:cNvPr id="19" name="TextBox 18">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20" name="TextBox 19">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1" name="TextBox 20">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A01  Verify engine and policy</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05</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1  Verify engine and policy. Red frames identify the source click or review target."/>
          <p:cNvPicPr>
            <a:picLocks noChangeAspect="1"/>
          </p:cNvPicPr>
          <p:nvPr/>
        </p:nvPicPr>
        <p:blipFill>
          <a:blip r:embed="rId2"/>
          <a:stretch>
            <a:fillRect/>
          </a:stretch>
        </p:blipFill>
        <p:spPr>
          <a:xfrm>
            <a:off x="1223542" y="1463040"/>
            <a:ext cx="5892243"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the engine badge and ANALYSIS PROFILE.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Azure OpenAI is distinguished from local-rules-v1. Select Law Enforcement Intake Triage.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Offline rules are not a live model result.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A02  Open Azure setup</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06</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54</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2  Open Azure setup.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Set up Azure.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connection wizard opens with sign-in, resource, access and test stages.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Use the next captures as replay; IT owns live setup.</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A03  Choose the authorized identity</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07</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56</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3  Choose the authorized identity.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Use this machine's sign-in, or use browser sign-in if needed.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wizard uses an authorized Entra identity; no API key is required.</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Tenant, MFA and permissions depend on your environment.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A04  Select resource and deployment</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08</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57</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4  Select resource and deployment.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Choose Subscription, Resource and Deployment.</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selected deployment is visible before a connection test.</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Do not assume the historical deployment exists today.</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A05  Check model access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09</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58</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5  Check model access.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Review Entra authentication and Check and grant access.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wizard checks the data-plane role and reports access issues.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Live role creation needs explicit administrative authority.</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A06  Test and read the connection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10</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60</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6  Test and read the connection.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Test connection; inspect the completed result.</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Capture reports msgiq-triage, gpt-4.1-2025-04-14 and Entra sign-in.</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This is a historical successful round trip, not a new test.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A07  Return to the workspace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11</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61</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7  Return to the workspac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Close to preserve the existing configuration.</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main workspace returns. Save and use commits changes if intended.</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Do not save a different deployment during a replay.</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A08  Choose local intake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12</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16</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8  Choose local intak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Local Folder.</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native Windows folder picker opens.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Loading files and triaging files are separate actions.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A09  Load the sample folder</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13</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17</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09  Load the sample folder. Red frames identify the source click or review target."/>
          <p:cNvPicPr>
            <a:picLocks noChangeAspect="1"/>
          </p:cNvPicPr>
          <p:nvPr/>
        </p:nvPicPr>
        <p:blipFill>
          <a:blip r:embed="rId2"/>
          <a:stretch>
            <a:fillRect/>
          </a:stretch>
        </p:blipFill>
        <p:spPr>
          <a:xfrm>
            <a:off x="457200" y="1475841"/>
            <a:ext cx="7424927" cy="4454956"/>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Choose the approved Agency_Samples folder; click Select Folder.</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queue lists the supported files.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Use approved demo data, not an unattended production inbox.</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A10  Inspect the loaded queue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14</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18</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0  Inspect the loaded queu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Review the seven New messages in the left pane.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New means not yet triaged. A new selection starts analysis.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 previously Triaged selection can reuse a cached result.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A11  Select the direct-threat example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15</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19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1  Select the direct-threat exampl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Select EmailSample0.msg.</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app prepares the message locally and requests a decision.</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Use only the authorized sample shown in this capture.</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A12  Read the analyst decision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16</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20</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2  Read the analyst decision.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the AI TRIAGE pane.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Captured P1 / Threat, Fusion Center guidance and HUMAN REVIEW REQUIRED.</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Confidence is a model output, not measured accuracy.</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A13  Inspect masking detail</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17</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23</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3  Inspect masking detail.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Show detail beneath the message body.</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breakdown lists detector categories, counts and severity.</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Local detectors can miss data or reduce useful evidence.</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A14  Open the long-chain example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18</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26</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4  Open the long-chain exampl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Select EmailSample4.msg.</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A long forwarded chain receives a separate triage result.</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Do not infer that every part of a long input reached the model.</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A15  Explain reduced evidence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19</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28</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5  Explain reduced evidenc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Read the masking summary and rationale; expand detail if needed.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Capture: 442 masked spans, including 399 PII and 43 risk matches.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Reduced evidence increases the importance of human review.</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EXCEPTION HANDLING</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Exceptions must remain visible for review</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20</a:t>
            </a:r>
          </a:p>
        </p:txBody>
      </p:sp>
      <p:sp>
        <p:nvSpPr>
          <p:cNvPr id="6" name="Rounded Rectangle 5"/>
          <p:cNvSpPr/>
          <p:nvPr/>
        </p:nvSpPr>
        <p:spPr>
          <a:xfrm>
            <a:off x="457200"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01</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Content filtering</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Configured retries use stricter masking and an inventory. Reduced evidence must be disclosed.</a:t>
            </a:r>
          </a:p>
        </p:txBody>
      </p:sp>
      <p:sp>
        <p:nvSpPr>
          <p:cNvPr id="10" name="Rounded Rectangle 9"/>
          <p:cNvSpPr/>
          <p:nvPr/>
        </p:nvSpPr>
        <p:spPr>
          <a:xfrm>
            <a:off x="4233672"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02</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Still blocked / failed</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The app labels and counts the failure. Do not treat it as cleared or silently discard it.</a:t>
            </a:r>
          </a:p>
        </p:txBody>
      </p:sp>
      <p:sp>
        <p:nvSpPr>
          <p:cNvPr id="14" name="Rounded Rectangle 13"/>
          <p:cNvSpPr/>
          <p:nvPr/>
        </p:nvSpPr>
        <p:spPr>
          <a:xfrm>
            <a:off x="8010144"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03</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Offline fallback</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If enabled, local-rules-v1 is a labeled offline result. Do not present it as Azure model reasoning.</a:t>
            </a:r>
          </a:p>
        </p:txBody>
      </p:sp>
      <p:sp>
        <p:nvSpPr>
          <p:cNvPr id="18" name="TextBox 17"/>
          <p:cNvSpPr txBox="1"/>
          <p:nvPr/>
        </p:nvSpPr>
        <p:spPr>
          <a:xfrm>
            <a:off x="457200" y="5349240"/>
            <a:ext cx="11155680" cy="594360"/>
          </a:xfrm>
          <a:prstGeom prst="rect">
            <a:avLst/>
          </a:prstGeom>
          <a:noFill/>
        </p:spPr>
        <p:txBody>
          <a:bodyPr wrap="square" lIns="0" rIns="0" tIns="0" bIns="0">
            <a:spAutoFit/>
          </a:bodyPr>
          <a:lstStyle/>
          <a:p>
            <a:pPr>
              <a:spcAft>
                <a:spcPts val="700"/>
              </a:spcAft>
              <a:defRPr sz="1800" b="0">
                <a:solidFill>
                  <a:srgbClr val="AB352A"/>
                </a:solidFill>
                <a:latin typeface="Calibri"/>
              </a:defRPr>
            </a:pPr>
            <a:r>
              <a:t>A durable hold, accountable reviewer and escalation notification still require production design.</a:t>
            </a:r>
          </a:p>
        </p:txBody>
      </p:sp>
      <p:sp>
        <p:nvSpPr>
          <p:cNvPr id="19" name="TextBox 18">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20" name="TextBox 19">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1" name="TextBox 20">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A16  Create a Watch Card</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21</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32</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6  Create a Watch Card.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Watch Cards, then New card.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A blank card opens for an analyst-authored local rule.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Changes remain in the editor until saved.</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A17  Name the rule and terms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22</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33</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7  Name the rule and terms.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Enter a public-official concern and the approved match terms.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Capture uses terms for the mayor and the pastor.</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Use mission-approved rules; avoid unnecessary identity data.</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A18  Set escalation guidance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23</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34</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8  Set escalation guidanc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Set priority floor, a profile route and an action note.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Capture uses a P1 floor plus explicit follow-up guidance.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The route is advice, not a sent case or assigned task.</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A19  Save and arm the card</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24</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35</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19  Save and arm the card.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Save and close; verify the active card in the workspace.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active count and term count confirm the rule is enabled.</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Expired or unchecked cards are not active rules.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A20  Force a fresh evaluation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25</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37</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0  Force a fresh evaluation.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Reload Local Folder; select EmailSample0.msg when it is New.</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Fresh triage evaluates the saved card.</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Simply reselecting a cached Triaged row will not re-run it.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A21  Confirm rule influence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26</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39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1  Confirm rule influenc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WATCH CARD MATCHED, priority trigger and recommended actions.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local match and its action are visible in the decision record.</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 local term match does not establish that an allegation is true.</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A22  Open the policy editor</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27</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44</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2  Open the policy editor.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Edit Profiles.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Basics, Categories, Priority, Key fields, Routing, Outputs and preview are available.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Explore without committing changes to the demo profile.</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A23  Inspect priority policy</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28</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47</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3  Inspect priority policy.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Priority.</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Review P1 criteria and mandatory-human-review settings.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Agency policy must be defined and validated by accountable staff.</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A24  Inspect routing policy</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29</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49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4  Inspect routing policy.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Routing.</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Review allowed queues and fallback review destination.</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No mailbox-to-case delivery is proved by this configuration.</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A25  Review the compiled prompt</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30</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51</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5  Review the compiled prompt.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Open Outputs if needed; then click Prompt preview.</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Read the compiled profile instructions.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Prompt visibility is not proof of universal model adherence.</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A26  Leave policy unchanged</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31</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53</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6  Leave policy unchanged.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Cancel.</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Unsaved editor changes are discarded and the workspace returns.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Save and close would intentionally commit policy changes.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A27  Zero the run counters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32</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69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7  Zero the run counters.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Reset Stats.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Counters reset without unloading the queue or deleting prior results.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Reset Stats is not a data-deletion or evidence-disposal action.</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A28  Process the full queue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33</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71</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8  Process the full queu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Batch Process All; watch progress.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Every loaded message enters the configured pipeline. Stop can halt the run.</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Do not start a live batch without approval for data and cost.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A29  Wait for completion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34</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73</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29  Wait for completion.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Wait for Batch complete; inspect the queue and status.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Captured run: 7 triaged, 0 failed/blocked and 4 Watch Card hits.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Wall-clock status (~65.5s) differs from summed item time (~65.2s).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A30  Review decision transcripts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35</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75</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30  Review decision transcripts.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Open Batch Process and read the right-pane transcript.</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Priority, category, route, rationale and review flag appear per item.</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Five review flags show that human work remains essential.</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A31  Read the measured run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36</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76</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31  Read the measured run.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the statistics footer.</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7 processed; 5 human-review flags; estimated model cost $0.0923.</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Historical sample run only; not a benchmark, SLA or full Azure bill.</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A32  Export the handoff</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37</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79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32  Export the handoff.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Export Report and inspect the status confirmation.</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A timestamped MessageIQ_TriageReport text file is written to Documents.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The screenshot confirms an export, not downstream case ingestion.</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A33  Copy a decision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38</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80</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33  Copy a decision.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Select the desired decision; click Copy Analysis.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decision can be handed to an existing authorized workflow.</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Copying is not automatic routing; review destination and content.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A | DESKTOP MESSAGEIQ</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A34  Find help and close it</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39</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65</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A34  Find help and close it.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Help; choose a guide topic; then Close.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guide explains the workflow without discarding session state.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Next, switch apps. MessageIQ is not the browser email agent.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02A56"/>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D99A22"/>
                </a:solidFill>
                <a:latin typeface="Calibri"/>
              </a:defRPr>
            </a:pPr>
            <a:r>
              <a:t>B</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FFFFFF"/>
                </a:solidFill>
                <a:latin typeface="Calibri Light"/>
              </a:defRPr>
            </a:pPr>
            <a:r>
              <a:t>Switch to the email analyst web app</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D4DAE8"/>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FFFFFF"/>
                </a:solidFill>
                <a:latin typeface="Calibri"/>
              </a:defRPr>
            </a:pPr>
            <a:r>
              <a:t>40</a:t>
            </a:r>
          </a:p>
        </p:txBody>
      </p:sp>
      <p:sp>
        <p:nvSpPr>
          <p:cNvPr id="6" name="Rounded Rectangle 5"/>
          <p:cNvSpPr/>
          <p:nvPr/>
        </p:nvSpPr>
        <p:spPr>
          <a:xfrm>
            <a:off x="457200"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01</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Open a separate app</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Synthetic capture: http://127.0.0.1:5183. Restricted-sample capture: port 5181.</a:t>
            </a:r>
          </a:p>
        </p:txBody>
      </p:sp>
      <p:sp>
        <p:nvSpPr>
          <p:cNvPr id="10" name="Rounded Rectangle 9"/>
          <p:cNvSpPr/>
          <p:nvPr/>
        </p:nvSpPr>
        <p:spPr>
          <a:xfrm>
            <a:off x="4233672"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02</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Different reasoning path</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Persistent Foundry EmailTriageAgent with SOP grounding; not direct-model MessageIQ.</a:t>
            </a:r>
          </a:p>
        </p:txBody>
      </p:sp>
      <p:sp>
        <p:nvSpPr>
          <p:cNvPr id="14" name="Rounded Rectangle 13"/>
          <p:cNvSpPr/>
          <p:nvPr/>
        </p:nvSpPr>
        <p:spPr>
          <a:xfrm>
            <a:off x="8010144"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03</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Cloud PII detection</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Azure AI Language performs PII detection. Raw text reaches that service before local risk handling.</a:t>
            </a:r>
          </a:p>
        </p:txBody>
      </p:sp>
      <p:sp>
        <p:nvSpPr>
          <p:cNvPr id="18" name="TextBox 17">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PREV</a:t>
            </a:r>
          </a:p>
        </p:txBody>
      </p:sp>
      <p:sp>
        <p:nvSpPr>
          <p:cNvPr id="19" name="TextBox 18">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MENU</a:t>
            </a:r>
          </a:p>
        </p:txBody>
      </p:sp>
      <p:sp>
        <p:nvSpPr>
          <p:cNvPr id="20" name="TextBox 19">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NEXT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B01  Open the synthetic inbox</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41</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4</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1  Open the synthetic inbox.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At port 5183, click 01_tip_drug_activity.msg.</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selected tip appears beside its redacted body and AI analysis.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Synthetic examples do not establish production threat recall.</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B02  Inspect model-visible text</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42</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5</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2  Inspect model-visible text.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Text sent to the model beneath the redacted tip.</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model-input view makes preprocessing inspectable.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This is not proof that raw input never left the workstation.</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B03  Inspect the decision schema</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43</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6</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3  Inspect the decision schema.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Raw JSON in the successful analysis card.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Read category, priority, queue, confidence and review fields.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Structured output is a future integration contract, not integration.</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B04  Review a life-safety example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44</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7</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4  Review a life-safety exampl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08_threat_selfharm.msg.</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priority and review handling for the synthetic concern.</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Analysts must follow approved escalation procedures.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B05  Contrast routine noise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45</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8</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5  Contrast routine nois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16_spam_giftcard.msg.</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Compare routine-noise treatment with the preceding concern.</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Do not infer accuracy from this small curated contrast.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B06  Test an ambiguous submission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46</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6  Test an ambiguous submission.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sample 19, Vague submission.</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Low confidence and human_review remain visible for review.</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Uncertain intake should not be silently discarded.</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B07  Inspect the review handoff</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47</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10</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7  Inspect the review handoff.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Raw JSON for the vague message.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Read recommended_queue and confidence alongside human_review.</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No durable queue, owner acknowledgement or delivery is proved.</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B08  Switch to the restricted test</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48</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11</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8  Switch to the restricted test.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Use the separate capture at port 5181; select EmailSample0.msg.</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restricted-content path is exercised rather than assumed.</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Use approved data; do not bypass content-safety controls.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B | EMAIL ANALYST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B09  Explain the blocked outcome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49</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12</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B09  Explain the blocked outcom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Blocked by content safety; no further click is required.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app exposes rejection rather than fabricating a decision.</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Durable hold and reviewer notification still need production wiring.</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02A56"/>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D99A22"/>
                </a:solidFill>
                <a:latin typeface="Calibri"/>
              </a:defRPr>
            </a:pPr>
            <a:r>
              <a:t>C</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FFFFFF"/>
                </a:solidFill>
                <a:latin typeface="Calibri Light"/>
              </a:defRPr>
            </a:pPr>
            <a:r>
              <a:t>Switch to the video evidence web app</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D4DAE8"/>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FFFFFF"/>
                </a:solidFill>
                <a:latin typeface="Calibri"/>
              </a:defRPr>
            </a:pPr>
            <a:r>
              <a:t>50</a:t>
            </a:r>
          </a:p>
        </p:txBody>
      </p:sp>
      <p:sp>
        <p:nvSpPr>
          <p:cNvPr id="6" name="Rounded Rectangle 5"/>
          <p:cNvSpPr/>
          <p:nvPr/>
        </p:nvSpPr>
        <p:spPr>
          <a:xfrm>
            <a:off x="457200"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01</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Open the video app</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Historical capture: http://127.0.0.1:5182. Choose a safe, approved short clip.</a:t>
            </a:r>
          </a:p>
        </p:txBody>
      </p:sp>
      <p:sp>
        <p:nvSpPr>
          <p:cNvPr id="10" name="Rounded Rectangle 9"/>
          <p:cNvSpPr/>
          <p:nvPr/>
        </p:nvSpPr>
        <p:spPr>
          <a:xfrm>
            <a:off x="4233672"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02</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One evidence pipeline</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Case ID -&gt; upload -&gt; hash and Blob -&gt; Video Indexer -&gt; model summary -&gt; Search.</a:t>
            </a:r>
          </a:p>
        </p:txBody>
      </p:sp>
      <p:sp>
        <p:nvSpPr>
          <p:cNvPr id="14" name="Rounded Rectangle 13"/>
          <p:cNvSpPr/>
          <p:nvPr/>
        </p:nvSpPr>
        <p:spPr>
          <a:xfrm>
            <a:off x="8010144"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03</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Review the source</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Machine observations and summaries aid review. They do not replace viewing the evidence.</a:t>
            </a:r>
          </a:p>
        </p:txBody>
      </p:sp>
      <p:sp>
        <p:nvSpPr>
          <p:cNvPr id="18" name="TextBox 17">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PREV</a:t>
            </a:r>
          </a:p>
        </p:txBody>
      </p:sp>
      <p:sp>
        <p:nvSpPr>
          <p:cNvPr id="19" name="TextBox 18">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MENU</a:t>
            </a:r>
          </a:p>
        </p:txBody>
      </p:sp>
      <p:sp>
        <p:nvSpPr>
          <p:cNvPr id="20" name="TextBox 19">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NEXT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C01  Enter a unique demo case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51</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13</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1  Enter a unique demo cas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At port 5182, click Case ID and enter a new demo case ID.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upload is scoped to the intended case.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 case label alone is not an authorization boundary.</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C02  Choose approved evidence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52</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14</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2  Choose approved evidenc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Video file; choose the approved IMG_0577.mp4 sample.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selected filename appears in the form.</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The recorded clip is silent and has no OCR text.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C03  Start the pipeline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53</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15</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3  Start the pipelin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Process.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Upload and analysis begin for the selected case and clip.</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 live run writes data and can incur Azure charges.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C04  Watch the progress panel</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54</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16</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4  Watch the progress panel.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Wait while processing stages update.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UI exposes work in progress instead of an unexplained pause.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Do not present the waiting capture as a completed result.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C05  Inspect source provenance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55</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17</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5  Inspect source provenanc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Review the results header; optionally use open in portal when authorized.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the source identifiers and SHA-256 evidence reference.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 hash aids integrity checks; it is not a complete chain of custody.</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C06  Review extracted observations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56</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18</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6  Review extracted observations.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Scroll to What the video shows, Dialog / transcript and On-screen text.</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observed tags and the absence of speech/OCR for this clip.</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This sample does not demonstrate speech or OCR extraction.</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C07  Review summary and timeline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57</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19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7  Review summary and timeline.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Scroll to Analyst summary and Scene timeline.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Read uncertainty and source timestamps alongside the narrative.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Summary text is machine-generated interpretation, not evidence fact.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C08  Verify indexed retrieval</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58</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20</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8  Verify indexed retrieval.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Scroll to Azure AI Search at the bottom of the results.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the nonzero indexed/retrieved evidence and source links.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This is a fixed case/evidence-filtered hybrid query, not arbitrary Q&amp;A.</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 | VIDEO EVIDENCE WEB APP</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C09  Reset the analyst view</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59</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Web workflow reference / slide 21</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C09  Reset the analyst view. Red frames identify the source click or review target."/>
          <p:cNvPicPr>
            <a:picLocks noChangeAspect="1"/>
          </p:cNvPicPr>
          <p:nvPr/>
        </p:nvPicPr>
        <p:blipFill>
          <a:blip r:embed="rId2"/>
          <a:stretch>
            <a:fillRect/>
          </a:stretch>
        </p:blipFill>
        <p:spPr>
          <a:xfrm>
            <a:off x="585215" y="1463040"/>
            <a:ext cx="7168896"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Clear; confirm the page returns to Idle.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upload form and review panel reset.</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Clear does not prove deletion of retained Blob or index data.</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MAIN-FLOW CLOSE</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The next handoff is production work</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60</a:t>
            </a:r>
          </a:p>
        </p:txBody>
      </p:sp>
      <p:sp>
        <p:nvSpPr>
          <p:cNvPr id="6" name="Rounded Rectangle 5"/>
          <p:cNvSpPr/>
          <p:nvPr/>
        </p:nvSpPr>
        <p:spPr>
          <a:xfrm>
            <a:off x="457200"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01</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Demonstrated</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Captured intake review, model decisions, local policy controls, exports and a video-to-Search run.</a:t>
            </a:r>
          </a:p>
        </p:txBody>
      </p:sp>
      <p:sp>
        <p:nvSpPr>
          <p:cNvPr id="10" name="Rounded Rectangle 9"/>
          <p:cNvSpPr/>
          <p:nvPr/>
        </p:nvSpPr>
        <p:spPr>
          <a:xfrm>
            <a:off x="4233672"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02</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Not demonstrated</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Mailbox ingestion into owned queues, case-system delivery, durable blocked-item handling or production hosting.</a:t>
            </a:r>
          </a:p>
        </p:txBody>
      </p:sp>
      <p:sp>
        <p:nvSpPr>
          <p:cNvPr id="14" name="Rounded Rectangle 13"/>
          <p:cNvSpPr/>
          <p:nvPr/>
        </p:nvSpPr>
        <p:spPr>
          <a:xfrm>
            <a:off x="8010144"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03</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Pilot gates</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Measure recall, route agreement, review workload, latency and cost. Approve access, retention, audit and CJIS scope.</a:t>
            </a:r>
          </a:p>
        </p:txBody>
      </p:sp>
      <p:sp>
        <p:nvSpPr>
          <p:cNvPr id="18" name="TextBox 17">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9" name="TextBox 18">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0" name="TextBox 19">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02A56"/>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D99A22"/>
                </a:solidFill>
                <a:latin typeface="Calibri"/>
              </a:defRPr>
            </a:pPr>
            <a:r>
              <a:t>D</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FFFFFF"/>
                </a:solidFill>
                <a:latin typeface="Calibri Light"/>
              </a:defRPr>
            </a:pPr>
            <a:r>
              <a:t>Optional deep dives and future architecture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D4DAE8"/>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FFFFFF"/>
                </a:solidFill>
                <a:latin typeface="Calibri"/>
              </a:defRPr>
            </a:pPr>
            <a:r>
              <a:t>61</a:t>
            </a:r>
          </a:p>
        </p:txBody>
      </p:sp>
      <p:sp>
        <p:nvSpPr>
          <p:cNvPr id="6" name="Rounded Rectangle 5"/>
          <p:cNvSpPr/>
          <p:nvPr/>
        </p:nvSpPr>
        <p:spPr>
          <a:xfrm>
            <a:off x="457200"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01</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Operator options</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Alternative intake routes, original-text view, supervisor controls and profile management.</a:t>
            </a:r>
          </a:p>
        </p:txBody>
      </p:sp>
      <p:sp>
        <p:nvSpPr>
          <p:cNvPr id="10" name="Rounded Rectangle 9"/>
          <p:cNvSpPr/>
          <p:nvPr/>
        </p:nvSpPr>
        <p:spPr>
          <a:xfrm>
            <a:off x="4233672"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02</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Recorded evidence</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A separate buried-tip report has an unresolved page citation; do not present it as a live UI feature.</a:t>
            </a:r>
          </a:p>
        </p:txBody>
      </p:sp>
      <p:sp>
        <p:nvSpPr>
          <p:cNvPr id="14" name="Rounded Rectangle 13"/>
          <p:cNvSpPr/>
          <p:nvPr/>
        </p:nvSpPr>
        <p:spPr>
          <a:xfrm>
            <a:off x="8010144" y="1828800"/>
            <a:ext cx="3520440" cy="3246120"/>
          </a:xfrm>
          <a:prstGeom prst="roundRect">
            <a:avLst>
              <a:gd name="adj" fmla="val 6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03</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FFFFFF"/>
                </a:solidFill>
                <a:latin typeface="Calibri"/>
              </a:defRPr>
            </a:pPr>
            <a:r>
              <a:t>Proposed extensions</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FFFFFF"/>
                </a:solidFill>
                <a:latin typeface="Calibri"/>
              </a:defRPr>
            </a:pPr>
            <a:r>
              <a:t>Three architecture references describe future options, not verified deployed capabilities.</a:t>
            </a:r>
          </a:p>
        </p:txBody>
      </p:sp>
      <p:sp>
        <p:nvSpPr>
          <p:cNvPr id="18" name="TextBox 17">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PREV</a:t>
            </a:r>
          </a:p>
        </p:txBody>
      </p:sp>
      <p:sp>
        <p:nvSpPr>
          <p:cNvPr id="19" name="TextBox 18">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MENU</a:t>
            </a:r>
          </a:p>
        </p:txBody>
      </p:sp>
      <p:sp>
        <p:nvSpPr>
          <p:cNvPr id="20" name="TextBox 19">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D4DAE8"/>
                </a:solidFill>
                <a:latin typeface="Calibri"/>
              </a:defRPr>
            </a:pPr>
            <a:r>
              <a:t>NEXT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OPTIONAL OPERATOR CONTROLS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D01  Single-file intake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62</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9</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D01  Single-file intak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Select Message; choose an approved supported file.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One file can enter the same MessageIQ triage path.</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Alternative to A08-A10, not an additional required load step.</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OPTIONAL OPERATOR CONTROLS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D02  Upload intake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63</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10</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D02  Upload intake.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Upload; choose an approved file.</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file joins the working set for processing.</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Alternative route; do not assume production mailbox ingestion.</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OPTIONAL OPERATOR CONTROLS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D03  Inspect Blob connection</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64</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63</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D03  Inspect Blob connection.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Click Azure Blob; inspect account, container and Azure sign-in.</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Inspect the connection parameters.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The deck does not show a completed Blob listing or intake.</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OPTIONAL OPERATOR CONTROLS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D04  Inspect original-text reveal</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65</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24</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D04  Inspect original-text reveal.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Only if authorized, click Showing REDACTED; toggle back afterwards.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analyst's local view changes between redacted and original.</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Keep redacted during normal demos. Reveal is not proof of changed model input.</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OPTIONAL OPERATOR CONTROLS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D05  Supervisor Watch Card preview</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66</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41</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D05  Supervisor Watch Card preview.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Open Watch Cards &gt; Advanced (supervisor); inspect preview and test controls.</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generated Watch Card instructions are inspectable.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Any live Test on selected message may invoke the model.</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OPTIONAL OPERATOR CONTROLS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D06  Profile library and portability</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67</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52</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D06  Profile library and portability.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Open Edit Profiles; inspect Import, Export and Restore built-in.</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Profiles can be managed as explicit policy artifacts.</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Do not restore, delete or import profiles during a read-only tour.</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OPTIONAL OPERATOR CONTROLS</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D07  Inspect structured fields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68</a:t>
            </a:r>
          </a:p>
        </p:txBody>
      </p:sp>
      <p:sp>
        <p:nvSpPr>
          <p:cNvPr id="6" name="TextBox 5"/>
          <p:cNvSpPr txBox="1"/>
          <p:nvPr/>
        </p:nvSpPr>
        <p:spPr>
          <a:xfrm>
            <a:off x="457200" y="6071616"/>
            <a:ext cx="9326880" cy="210312"/>
          </a:xfrm>
          <a:prstGeom prst="rect">
            <a:avLst/>
          </a:prstGeom>
          <a:noFill/>
        </p:spPr>
        <p:txBody>
          <a:bodyPr wrap="square" lIns="0" rIns="0" tIns="0" bIns="0">
            <a:spAutoFit/>
          </a:bodyPr>
          <a:lstStyle/>
          <a:p>
            <a:pPr>
              <a:spcAft>
                <a:spcPts val="700"/>
              </a:spcAft>
              <a:defRPr sz="900" b="0">
                <a:solidFill>
                  <a:srgbClr val="526176"/>
                </a:solidFill>
                <a:latin typeface="Calibri"/>
              </a:defRPr>
            </a:pPr>
            <a:r>
              <a:t>Capture: Desktop workflow reference / slide 48</a:t>
            </a:r>
          </a:p>
        </p:txBody>
      </p:sp>
      <p:sp>
        <p:nvSpPr>
          <p:cNvPr id="7" name="Rounded Rectangle 6"/>
          <p:cNvSpPr/>
          <p:nvPr/>
        </p:nvSpPr>
        <p:spPr>
          <a:xfrm>
            <a:off x="457200" y="1463040"/>
            <a:ext cx="7424927" cy="44805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cation screenshot for D07  Inspect structured fields. Red frames identify the source click or review target."/>
          <p:cNvPicPr>
            <a:picLocks noChangeAspect="1"/>
          </p:cNvPicPr>
          <p:nvPr/>
        </p:nvPicPr>
        <p:blipFill>
          <a:blip r:embed="rId2"/>
          <a:stretch>
            <a:fillRect/>
          </a:stretch>
        </p:blipFill>
        <p:spPr>
          <a:xfrm>
            <a:off x="1219164" y="1463040"/>
            <a:ext cx="5900999" cy="4480560"/>
          </a:xfrm>
          <a:prstGeom prst="rect">
            <a:avLst/>
          </a:prstGeom>
        </p:spPr>
      </p:pic>
      <p:sp>
        <p:nvSpPr>
          <p:cNvPr id="9" name="TextBox 8"/>
          <p:cNvSpPr txBox="1"/>
          <p:nvPr/>
        </p:nvSpPr>
        <p:spPr>
          <a:xfrm>
            <a:off x="8156448" y="1463040"/>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DO</a:t>
            </a:r>
          </a:p>
        </p:txBody>
      </p:sp>
      <p:sp>
        <p:nvSpPr>
          <p:cNvPr id="10" name="TextBox 9"/>
          <p:cNvSpPr txBox="1"/>
          <p:nvPr/>
        </p:nvSpPr>
        <p:spPr>
          <a:xfrm>
            <a:off x="8156448" y="1773936"/>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Open Key fields; also review Categories and Outputs as needed.</a:t>
            </a:r>
          </a:p>
        </p:txBody>
      </p:sp>
      <p:sp>
        <p:nvSpPr>
          <p:cNvPr id="11" name="TextBox 10"/>
          <p:cNvSpPr txBox="1"/>
          <p:nvPr/>
        </p:nvSpPr>
        <p:spPr>
          <a:xfrm>
            <a:off x="8156448" y="2953512"/>
            <a:ext cx="3529584" cy="228600"/>
          </a:xfrm>
          <a:prstGeom prst="rect">
            <a:avLst/>
          </a:prstGeom>
          <a:noFill/>
        </p:spPr>
        <p:txBody>
          <a:bodyPr wrap="square" lIns="0" rIns="0" tIns="0" bIns="0">
            <a:spAutoFit/>
          </a:bodyPr>
          <a:lstStyle/>
          <a:p>
            <a:pPr>
              <a:spcAft>
                <a:spcPts val="700"/>
              </a:spcAft>
              <a:defRPr sz="1200" b="1">
                <a:solidFill>
                  <a:srgbClr val="006B65"/>
                </a:solidFill>
                <a:latin typeface="Calibri"/>
              </a:defRPr>
            </a:pPr>
            <a:r>
              <a:t>CHECK</a:t>
            </a:r>
          </a:p>
        </p:txBody>
      </p:sp>
      <p:sp>
        <p:nvSpPr>
          <p:cNvPr id="12" name="TextBox 11"/>
          <p:cNvSpPr txBox="1"/>
          <p:nvPr/>
        </p:nvSpPr>
        <p:spPr>
          <a:xfrm>
            <a:off x="8156448" y="3264408"/>
            <a:ext cx="3529584" cy="1024128"/>
          </a:xfrm>
          <a:prstGeom prst="rect">
            <a:avLst/>
          </a:prstGeom>
          <a:noFill/>
        </p:spPr>
        <p:txBody>
          <a:bodyPr wrap="square" lIns="0" rIns="0" tIns="0" bIns="0">
            <a:spAutoFit/>
          </a:bodyPr>
          <a:lstStyle/>
          <a:p>
            <a:pPr>
              <a:spcAft>
                <a:spcPts val="700"/>
              </a:spcAft>
              <a:defRPr sz="1700" b="0">
                <a:solidFill>
                  <a:srgbClr val="182337"/>
                </a:solidFill>
                <a:latin typeface="Calibri"/>
              </a:defRPr>
            </a:pPr>
            <a:r>
              <a:t>The configured extraction fields and allowed output vocabulary are visible.</a:t>
            </a:r>
          </a:p>
        </p:txBody>
      </p:sp>
      <p:sp>
        <p:nvSpPr>
          <p:cNvPr id="13" name="TextBox 12"/>
          <p:cNvSpPr txBox="1"/>
          <p:nvPr/>
        </p:nvSpPr>
        <p:spPr>
          <a:xfrm>
            <a:off x="8156448" y="4480560"/>
            <a:ext cx="3529584" cy="228600"/>
          </a:xfrm>
          <a:prstGeom prst="rect">
            <a:avLst/>
          </a:prstGeom>
          <a:noFill/>
        </p:spPr>
        <p:txBody>
          <a:bodyPr wrap="square" lIns="0" rIns="0" tIns="0" bIns="0">
            <a:spAutoFit/>
          </a:bodyPr>
          <a:lstStyle/>
          <a:p>
            <a:pPr>
              <a:spcAft>
                <a:spcPts val="700"/>
              </a:spcAft>
              <a:defRPr sz="1200" b="1">
                <a:solidFill>
                  <a:srgbClr val="AB352A"/>
                </a:solidFill>
                <a:latin typeface="Calibri"/>
              </a:defRPr>
            </a:pPr>
            <a:r>
              <a:t>KEEP IN MIND</a:t>
            </a:r>
          </a:p>
        </p:txBody>
      </p:sp>
      <p:sp>
        <p:nvSpPr>
          <p:cNvPr id="14" name="TextBox 13"/>
          <p:cNvSpPr txBox="1"/>
          <p:nvPr/>
        </p:nvSpPr>
        <p:spPr>
          <a:xfrm>
            <a:off x="8156448" y="4791456"/>
            <a:ext cx="3529584" cy="1024128"/>
          </a:xfrm>
          <a:prstGeom prst="rect">
            <a:avLst/>
          </a:prstGeom>
          <a:noFill/>
        </p:spPr>
        <p:txBody>
          <a:bodyPr wrap="square" lIns="0" rIns="0" tIns="0" bIns="0">
            <a:spAutoFit/>
          </a:bodyPr>
          <a:lstStyle/>
          <a:p>
            <a:pPr>
              <a:spcAft>
                <a:spcPts val="700"/>
              </a:spcAft>
              <a:defRPr sz="1500" b="0">
                <a:solidFill>
                  <a:srgbClr val="182337"/>
                </a:solidFill>
                <a:latin typeface="Calibri"/>
              </a:defRPr>
            </a:pPr>
            <a:r>
              <a:t>Schema configuration does not establish extraction correctness.</a:t>
            </a:r>
          </a:p>
        </p:txBody>
      </p:sp>
      <p:sp>
        <p:nvSpPr>
          <p:cNvPr id="15" name="TextBox 14">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16" name="TextBox 15">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7" name="TextBox 16">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SUPPLEMENTAL EVIDENCE</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Buried tip: recorded evidence, not a live feature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69</a:t>
            </a:r>
          </a:p>
        </p:txBody>
      </p:sp>
      <p:sp>
        <p:nvSpPr>
          <p:cNvPr id="6" name="Rounded Rectangle 5"/>
          <p:cNvSpPr/>
          <p:nvPr/>
        </p:nvSpPr>
        <p:spPr>
          <a:xfrm>
            <a:off x="457200"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30</a:t>
            </a:r>
          </a:p>
        </p:txBody>
      </p:sp>
      <p:sp>
        <p:nvSpPr>
          <p:cNvPr id="8" name="TextBox 7"/>
          <p:cNvSpPr txBox="1"/>
          <p:nvPr/>
        </p:nvSpPr>
        <p:spPr>
          <a:xfrm>
            <a:off x="658368"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Fictitious pages</a:t>
            </a:r>
          </a:p>
        </p:txBody>
      </p:sp>
      <p:sp>
        <p:nvSpPr>
          <p:cNvPr id="9" name="TextBox 8"/>
          <p:cNvSpPr txBox="1"/>
          <p:nvPr/>
        </p:nvSpPr>
        <p:spPr>
          <a:xfrm>
            <a:off x="658368"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A separate recorded analysis reports one actionable tip in noisy intake.</a:t>
            </a:r>
          </a:p>
        </p:txBody>
      </p:sp>
      <p:sp>
        <p:nvSpPr>
          <p:cNvPr id="10" name="Rounded Rectangle 9"/>
          <p:cNvSpPr/>
          <p:nvPr/>
        </p:nvSpPr>
        <p:spPr>
          <a:xfrm>
            <a:off x="4233672"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P2</a:t>
            </a:r>
          </a:p>
        </p:txBody>
      </p:sp>
      <p:sp>
        <p:nvSpPr>
          <p:cNvPr id="12" name="TextBox 11"/>
          <p:cNvSpPr txBox="1"/>
          <p:nvPr/>
        </p:nvSpPr>
        <p:spPr>
          <a:xfrm>
            <a:off x="4434840"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Recorded result</a:t>
            </a:r>
          </a:p>
        </p:txBody>
      </p:sp>
      <p:sp>
        <p:nvSpPr>
          <p:cNvPr id="13" name="TextBox 12"/>
          <p:cNvSpPr txBox="1"/>
          <p:nvPr/>
        </p:nvSpPr>
        <p:spPr>
          <a:xfrm>
            <a:off x="4434840"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Result.txt records tip / P2 / confidence 0.92. This is not a calibrated quality score.</a:t>
            </a:r>
          </a:p>
        </p:txBody>
      </p:sp>
      <p:sp>
        <p:nvSpPr>
          <p:cNvPr id="14" name="Rounded Rectangle 13"/>
          <p:cNvSpPr/>
          <p:nvPr/>
        </p:nvSpPr>
        <p:spPr>
          <a:xfrm>
            <a:off x="8010144" y="1828800"/>
            <a:ext cx="3520440" cy="324612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2011680"/>
            <a:ext cx="3118104" cy="548640"/>
          </a:xfrm>
          <a:prstGeom prst="rect">
            <a:avLst/>
          </a:prstGeom>
          <a:noFill/>
        </p:spPr>
        <p:txBody>
          <a:bodyPr wrap="square" lIns="0" rIns="0" tIns="0" bIns="0">
            <a:spAutoFit/>
          </a:bodyPr>
          <a:lstStyle/>
          <a:p>
            <a:pPr>
              <a:spcAft>
                <a:spcPts val="700"/>
              </a:spcAft>
              <a:defRPr sz="3200" b="1">
                <a:solidFill>
                  <a:srgbClr val="D99A22"/>
                </a:solidFill>
                <a:latin typeface="Calibri Light"/>
              </a:defRPr>
            </a:pPr>
            <a:r>
              <a:t>10 / 11</a:t>
            </a:r>
          </a:p>
        </p:txBody>
      </p:sp>
      <p:sp>
        <p:nvSpPr>
          <p:cNvPr id="16" name="TextBox 15"/>
          <p:cNvSpPr txBox="1"/>
          <p:nvPr/>
        </p:nvSpPr>
        <p:spPr>
          <a:xfrm>
            <a:off x="8211312" y="2743200"/>
            <a:ext cx="3118104" cy="594360"/>
          </a:xfrm>
          <a:prstGeom prst="rect">
            <a:avLst/>
          </a:prstGeom>
          <a:noFill/>
        </p:spPr>
        <p:txBody>
          <a:bodyPr wrap="square" lIns="0" rIns="0" tIns="0" bIns="0">
            <a:spAutoFit/>
          </a:bodyPr>
          <a:lstStyle/>
          <a:p>
            <a:pPr>
              <a:spcAft>
                <a:spcPts val="700"/>
              </a:spcAft>
              <a:defRPr sz="2300" b="1">
                <a:solidFill>
                  <a:srgbClr val="182337"/>
                </a:solidFill>
                <a:latin typeface="Calibri"/>
              </a:defRPr>
            </a:pPr>
            <a:r>
              <a:t>Unresolved citation</a:t>
            </a:r>
          </a:p>
        </p:txBody>
      </p:sp>
      <p:sp>
        <p:nvSpPr>
          <p:cNvPr id="17" name="TextBox 16"/>
          <p:cNvSpPr txBox="1"/>
          <p:nvPr/>
        </p:nvSpPr>
        <p:spPr>
          <a:xfrm>
            <a:off x="8211312" y="3474720"/>
            <a:ext cx="3118104" cy="1508760"/>
          </a:xfrm>
          <a:prstGeom prst="rect">
            <a:avLst/>
          </a:prstGeom>
          <a:noFill/>
        </p:spPr>
        <p:txBody>
          <a:bodyPr wrap="square" lIns="0" rIns="0" tIns="0" bIns="0">
            <a:spAutoFit/>
          </a:bodyPr>
          <a:lstStyle/>
          <a:p>
            <a:pPr>
              <a:spcAft>
                <a:spcPts val="700"/>
              </a:spcAft>
              <a:defRPr sz="1700" b="0">
                <a:solidFill>
                  <a:srgbClr val="526176"/>
                </a:solidFill>
                <a:latin typeface="Calibri"/>
              </a:defRPr>
            </a:pPr>
            <a:r>
              <a:t>The answer key says page 10; the result cites page 11. Resolve before claiming citation accuracy.</a:t>
            </a:r>
          </a:p>
        </p:txBody>
      </p:sp>
      <p:sp>
        <p:nvSpPr>
          <p:cNvPr id="18" name="TextBox 17"/>
          <p:cNvSpPr txBox="1"/>
          <p:nvPr/>
        </p:nvSpPr>
        <p:spPr>
          <a:xfrm>
            <a:off x="457200" y="5349240"/>
            <a:ext cx="10972800" cy="548640"/>
          </a:xfrm>
          <a:prstGeom prst="rect">
            <a:avLst/>
          </a:prstGeom>
          <a:noFill/>
        </p:spPr>
        <p:txBody>
          <a:bodyPr wrap="square" lIns="0" rIns="0" tIns="0" bIns="0">
            <a:spAutoFit/>
          </a:bodyPr>
          <a:lstStyle/>
          <a:p>
            <a:pPr>
              <a:spcAft>
                <a:spcPts val="700"/>
              </a:spcAft>
              <a:defRPr sz="2000" b="0">
                <a:solidFill>
                  <a:srgbClr val="AB352A"/>
                </a:solidFill>
                <a:latin typeface="Calibri"/>
              </a:defRPr>
            </a:pPr>
            <a:r>
              <a:t>Neither web app has an attachment/page-scoring upload surface in this walkthrough.</a:t>
            </a:r>
          </a:p>
        </p:txBody>
      </p:sp>
      <p:sp>
        <p:nvSpPr>
          <p:cNvPr id="19" name="TextBox 18">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20" name="TextBox 19">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1" name="TextBox 20">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PROPOSED EXTENSION - NOT DEMONSTRATED</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Proposed investigative-evidence architecture</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70</a:t>
            </a:r>
          </a:p>
        </p:txBody>
      </p:sp>
      <p:sp>
        <p:nvSpPr>
          <p:cNvPr id="6" name="Rounded Rectangle 5"/>
          <p:cNvSpPr/>
          <p:nvPr/>
        </p:nvSpPr>
        <p:spPr>
          <a:xfrm>
            <a:off x="457200" y="2057400"/>
            <a:ext cx="2075688" cy="24231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240280"/>
            <a:ext cx="1801368"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1  INGEST</a:t>
            </a:r>
          </a:p>
        </p:txBody>
      </p:sp>
      <p:sp>
        <p:nvSpPr>
          <p:cNvPr id="8" name="TextBox 7"/>
          <p:cNvSpPr txBox="1"/>
          <p:nvPr/>
        </p:nvSpPr>
        <p:spPr>
          <a:xfrm>
            <a:off x="594360" y="2953512"/>
            <a:ext cx="1801368" cy="1280160"/>
          </a:xfrm>
          <a:prstGeom prst="rect">
            <a:avLst/>
          </a:prstGeom>
          <a:noFill/>
        </p:spPr>
        <p:txBody>
          <a:bodyPr wrap="square" lIns="0" rIns="0" tIns="0" bIns="0">
            <a:spAutoFit/>
          </a:bodyPr>
          <a:lstStyle/>
          <a:p>
            <a:pPr>
              <a:spcAft>
                <a:spcPts val="700"/>
              </a:spcAft>
              <a:defRPr sz="1700" b="0">
                <a:solidFill>
                  <a:srgbClr val="182337"/>
                </a:solidFill>
                <a:latin typeface="Calibri"/>
              </a:defRPr>
            </a:pPr>
            <a:r>
              <a:t>Videos + investigative files</a:t>
            </a:r>
          </a:p>
          <a:p>
            <a:pPr>
              <a:spcAft>
                <a:spcPts val="700"/>
              </a:spcAft>
              <a:defRPr sz="1700" b="0">
                <a:solidFill>
                  <a:srgbClr val="182337"/>
                </a:solidFill>
                <a:latin typeface="Calibri"/>
              </a:defRPr>
            </a:pPr>
            <a:r>
              <a:t>Blob / Data Lake</a:t>
            </a:r>
          </a:p>
        </p:txBody>
      </p:sp>
      <p:sp>
        <p:nvSpPr>
          <p:cNvPr id="9" name="Rounded Rectangle 8"/>
          <p:cNvSpPr/>
          <p:nvPr/>
        </p:nvSpPr>
        <p:spPr>
          <a:xfrm>
            <a:off x="2734056" y="2057400"/>
            <a:ext cx="2075688" cy="24231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71216" y="2240280"/>
            <a:ext cx="1801368"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2  EXTRACT</a:t>
            </a:r>
          </a:p>
        </p:txBody>
      </p:sp>
      <p:sp>
        <p:nvSpPr>
          <p:cNvPr id="11" name="TextBox 10"/>
          <p:cNvSpPr txBox="1"/>
          <p:nvPr/>
        </p:nvSpPr>
        <p:spPr>
          <a:xfrm>
            <a:off x="2871216" y="2953512"/>
            <a:ext cx="1801368" cy="1280160"/>
          </a:xfrm>
          <a:prstGeom prst="rect">
            <a:avLst/>
          </a:prstGeom>
          <a:noFill/>
        </p:spPr>
        <p:txBody>
          <a:bodyPr wrap="square" lIns="0" rIns="0" tIns="0" bIns="0">
            <a:spAutoFit/>
          </a:bodyPr>
          <a:lstStyle/>
          <a:p>
            <a:pPr>
              <a:spcAft>
                <a:spcPts val="700"/>
              </a:spcAft>
              <a:defRPr sz="1700" b="0">
                <a:solidFill>
                  <a:srgbClr val="182337"/>
                </a:solidFill>
                <a:latin typeface="Calibri"/>
              </a:defRPr>
            </a:pPr>
            <a:r>
              <a:t>Video Indexer + Vision</a:t>
            </a:r>
          </a:p>
          <a:p>
            <a:pPr>
              <a:spcAft>
                <a:spcPts val="700"/>
              </a:spcAft>
              <a:defRPr sz="1700" b="0">
                <a:solidFill>
                  <a:srgbClr val="182337"/>
                </a:solidFill>
                <a:latin typeface="Calibri"/>
              </a:defRPr>
            </a:pPr>
            <a:r>
              <a:t>Speech + Document Intelligence</a:t>
            </a:r>
          </a:p>
        </p:txBody>
      </p:sp>
      <p:sp>
        <p:nvSpPr>
          <p:cNvPr id="12" name="Rounded Rectangle 11"/>
          <p:cNvSpPr/>
          <p:nvPr/>
        </p:nvSpPr>
        <p:spPr>
          <a:xfrm>
            <a:off x="5010912" y="2057400"/>
            <a:ext cx="2075688" cy="24231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8072" y="2240280"/>
            <a:ext cx="1801368"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3  RETRIEVE</a:t>
            </a:r>
          </a:p>
        </p:txBody>
      </p:sp>
      <p:sp>
        <p:nvSpPr>
          <p:cNvPr id="14" name="TextBox 13"/>
          <p:cNvSpPr txBox="1"/>
          <p:nvPr/>
        </p:nvSpPr>
        <p:spPr>
          <a:xfrm>
            <a:off x="5148072" y="2953512"/>
            <a:ext cx="1801368" cy="1280160"/>
          </a:xfrm>
          <a:prstGeom prst="rect">
            <a:avLst/>
          </a:prstGeom>
          <a:noFill/>
        </p:spPr>
        <p:txBody>
          <a:bodyPr wrap="square" lIns="0" rIns="0" tIns="0" bIns="0">
            <a:spAutoFit/>
          </a:bodyPr>
          <a:lstStyle/>
          <a:p>
            <a:pPr>
              <a:spcAft>
                <a:spcPts val="700"/>
              </a:spcAft>
              <a:defRPr sz="1700" b="0">
                <a:solidFill>
                  <a:srgbClr val="182337"/>
                </a:solidFill>
                <a:latin typeface="Calibri"/>
              </a:defRPr>
            </a:pPr>
            <a:r>
              <a:t>Metadata + embeddings</a:t>
            </a:r>
          </a:p>
          <a:p>
            <a:pPr>
              <a:spcAft>
                <a:spcPts val="700"/>
              </a:spcAft>
              <a:defRPr sz="1700" b="0">
                <a:solidFill>
                  <a:srgbClr val="182337"/>
                </a:solidFill>
                <a:latin typeface="Calibri"/>
              </a:defRPr>
            </a:pPr>
            <a:r>
              <a:t>Azure AI Search</a:t>
            </a:r>
          </a:p>
        </p:txBody>
      </p:sp>
      <p:sp>
        <p:nvSpPr>
          <p:cNvPr id="15" name="Rounded Rectangle 14"/>
          <p:cNvSpPr/>
          <p:nvPr/>
        </p:nvSpPr>
        <p:spPr>
          <a:xfrm>
            <a:off x="7287768" y="2057400"/>
            <a:ext cx="2075688" cy="24231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24928" y="2240280"/>
            <a:ext cx="1801368"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4  REASON</a:t>
            </a:r>
          </a:p>
        </p:txBody>
      </p:sp>
      <p:sp>
        <p:nvSpPr>
          <p:cNvPr id="17" name="TextBox 16"/>
          <p:cNvSpPr txBox="1"/>
          <p:nvPr/>
        </p:nvSpPr>
        <p:spPr>
          <a:xfrm>
            <a:off x="7424928" y="2953512"/>
            <a:ext cx="1801368" cy="1280160"/>
          </a:xfrm>
          <a:prstGeom prst="rect">
            <a:avLst/>
          </a:prstGeom>
          <a:noFill/>
        </p:spPr>
        <p:txBody>
          <a:bodyPr wrap="square" lIns="0" rIns="0" tIns="0" bIns="0">
            <a:spAutoFit/>
          </a:bodyPr>
          <a:lstStyle/>
          <a:p>
            <a:pPr>
              <a:spcAft>
                <a:spcPts val="700"/>
              </a:spcAft>
              <a:defRPr sz="1700" b="0">
                <a:solidFill>
                  <a:srgbClr val="182337"/>
                </a:solidFill>
                <a:latin typeface="Calibri"/>
              </a:defRPr>
            </a:pPr>
            <a:r>
              <a:t>Foundry agent + citations</a:t>
            </a:r>
          </a:p>
          <a:p>
            <a:pPr>
              <a:spcAft>
                <a:spcPts val="700"/>
              </a:spcAft>
              <a:defRPr sz="1700" b="0">
                <a:solidFill>
                  <a:srgbClr val="182337"/>
                </a:solidFill>
                <a:latin typeface="Calibri"/>
              </a:defRPr>
            </a:pPr>
            <a:r>
              <a:t>Timeline / evidence matching</a:t>
            </a:r>
          </a:p>
        </p:txBody>
      </p:sp>
      <p:sp>
        <p:nvSpPr>
          <p:cNvPr id="18" name="Rounded Rectangle 17"/>
          <p:cNvSpPr/>
          <p:nvPr/>
        </p:nvSpPr>
        <p:spPr>
          <a:xfrm>
            <a:off x="9564624" y="2057400"/>
            <a:ext cx="2075688" cy="2423160"/>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01784" y="2240280"/>
            <a:ext cx="1801368"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5  REVIEW</a:t>
            </a:r>
          </a:p>
        </p:txBody>
      </p:sp>
      <p:sp>
        <p:nvSpPr>
          <p:cNvPr id="20" name="TextBox 19"/>
          <p:cNvSpPr txBox="1"/>
          <p:nvPr/>
        </p:nvSpPr>
        <p:spPr>
          <a:xfrm>
            <a:off x="9701784" y="2953512"/>
            <a:ext cx="1801368" cy="1280160"/>
          </a:xfrm>
          <a:prstGeom prst="rect">
            <a:avLst/>
          </a:prstGeom>
          <a:noFill/>
        </p:spPr>
        <p:txBody>
          <a:bodyPr wrap="square" lIns="0" rIns="0" tIns="0" bIns="0">
            <a:spAutoFit/>
          </a:bodyPr>
          <a:lstStyle/>
          <a:p>
            <a:pPr>
              <a:spcAft>
                <a:spcPts val="700"/>
              </a:spcAft>
              <a:defRPr sz="1700" b="0">
                <a:solidFill>
                  <a:srgbClr val="182337"/>
                </a:solidFill>
                <a:latin typeface="Calibri"/>
              </a:defRPr>
            </a:pPr>
            <a:r>
              <a:t>Analyst UI / case integration</a:t>
            </a:r>
          </a:p>
          <a:p>
            <a:pPr>
              <a:spcAft>
                <a:spcPts val="700"/>
              </a:spcAft>
              <a:defRPr sz="1700" b="0">
                <a:solidFill>
                  <a:srgbClr val="182337"/>
                </a:solidFill>
                <a:latin typeface="Calibri"/>
              </a:defRPr>
            </a:pPr>
            <a:r>
              <a:t>Human approval</a:t>
            </a:r>
          </a:p>
        </p:txBody>
      </p:sp>
      <p:sp>
        <p:nvSpPr>
          <p:cNvPr id="21" name="TextBox 20"/>
          <p:cNvSpPr txBox="1"/>
          <p:nvPr/>
        </p:nvSpPr>
        <p:spPr>
          <a:xfrm>
            <a:off x="457200" y="5029200"/>
            <a:ext cx="11155680" cy="731520"/>
          </a:xfrm>
          <a:prstGeom prst="rect">
            <a:avLst/>
          </a:prstGeom>
          <a:noFill/>
        </p:spPr>
        <p:txBody>
          <a:bodyPr wrap="square" lIns="0" rIns="0" tIns="0" bIns="0">
            <a:spAutoFit/>
          </a:bodyPr>
          <a:lstStyle/>
          <a:p>
            <a:pPr>
              <a:spcAft>
                <a:spcPts val="700"/>
              </a:spcAft>
              <a:defRPr sz="2000" b="0">
                <a:solidFill>
                  <a:srgbClr val="AB352A"/>
                </a:solidFill>
                <a:latin typeface="Calibri"/>
              </a:defRPr>
            </a:pPr>
            <a:r>
              <a:t>Planning pattern only. The video demo proves a narrower upload-to-Search path.</a:t>
            </a:r>
          </a:p>
          <a:p>
            <a:pPr>
              <a:spcAft>
                <a:spcPts val="700"/>
              </a:spcAft>
              <a:defRPr sz="2000" b="0">
                <a:solidFill>
                  <a:srgbClr val="AB352A"/>
                </a:solidFill>
                <a:latin typeface="Calibri"/>
              </a:defRPr>
            </a:pPr>
            <a:r>
              <a:t>Cross-case matching, arbitrary evidence Q&amp;A and production delivery are not established.</a:t>
            </a:r>
          </a:p>
        </p:txBody>
      </p:sp>
      <p:sp>
        <p:nvSpPr>
          <p:cNvPr id="22" name="TextBox 21">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23" name="TextBox 22">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4" name="TextBox 23">
            <a:hlinkClick action="ppaction://hlinksldjump" r:id="rId5"/>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ORIGINAL PLANNING REFERENCE - NOT DEMONSTRATED</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Proposed Azure capability map</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71</a:t>
            </a:r>
          </a:p>
        </p:txBody>
      </p:sp>
      <p:pic>
        <p:nvPicPr>
          <p:cNvPr id="6" name="Picture 5" descr="image.png"/>
          <p:cNvPicPr>
            <a:picLocks noChangeAspect="1"/>
          </p:cNvPicPr>
          <p:nvPr/>
        </p:nvPicPr>
        <p:blipFill>
          <a:blip r:embed="rId2"/>
          <a:stretch>
            <a:fillRect/>
          </a:stretch>
        </p:blipFill>
        <p:spPr>
          <a:xfrm>
            <a:off x="457200" y="1554480"/>
            <a:ext cx="11274552" cy="4251960"/>
          </a:xfrm>
          <a:prstGeom prst="rect">
            <a:avLst/>
          </a:prstGeom>
        </p:spPr>
      </p:pic>
      <p:sp>
        <p:nvSpPr>
          <p:cNvPr id="7" name="TextBox 6"/>
          <p:cNvSpPr txBox="1"/>
          <p:nvPr/>
        </p:nvSpPr>
        <p:spPr>
          <a:xfrm>
            <a:off x="457200" y="5879592"/>
            <a:ext cx="11064240" cy="365760"/>
          </a:xfrm>
          <a:prstGeom prst="rect">
            <a:avLst/>
          </a:prstGeom>
          <a:noFill/>
        </p:spPr>
        <p:txBody>
          <a:bodyPr wrap="square" lIns="0" rIns="0" tIns="0" bIns="0">
            <a:spAutoFit/>
          </a:bodyPr>
          <a:lstStyle/>
          <a:p>
            <a:pPr>
              <a:spcAft>
                <a:spcPts val="700"/>
              </a:spcAft>
              <a:defRPr sz="1400" b="1">
                <a:solidFill>
                  <a:srgbClr val="AB352A"/>
                </a:solidFill>
                <a:latin typeface="Calibri"/>
              </a:defRPr>
            </a:pPr>
            <a:r>
              <a:t>Service capability catalog only; not a deployed bill of materials or compliance approval.</a:t>
            </a:r>
          </a:p>
        </p:txBody>
      </p:sp>
      <p:sp>
        <p:nvSpPr>
          <p:cNvPr id="8" name="TextBox 7">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9" name="TextBox 8">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0" name="TextBox 9">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D | ORIGINAL PLANNING REFERENCE - NOT DEMONSTRATED</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Proposed investigative use cases</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72</a:t>
            </a:r>
          </a:p>
        </p:txBody>
      </p:sp>
      <p:pic>
        <p:nvPicPr>
          <p:cNvPr id="6" name="Picture 5" descr="image.png"/>
          <p:cNvPicPr>
            <a:picLocks noChangeAspect="1"/>
          </p:cNvPicPr>
          <p:nvPr/>
        </p:nvPicPr>
        <p:blipFill>
          <a:blip r:embed="rId2"/>
          <a:stretch>
            <a:fillRect/>
          </a:stretch>
        </p:blipFill>
        <p:spPr>
          <a:xfrm>
            <a:off x="457200" y="1554480"/>
            <a:ext cx="11274552" cy="4251960"/>
          </a:xfrm>
          <a:prstGeom prst="rect">
            <a:avLst/>
          </a:prstGeom>
        </p:spPr>
      </p:pic>
      <p:sp>
        <p:nvSpPr>
          <p:cNvPr id="7" name="TextBox 6"/>
          <p:cNvSpPr txBox="1"/>
          <p:nvPr/>
        </p:nvSpPr>
        <p:spPr>
          <a:xfrm>
            <a:off x="457200" y="5879592"/>
            <a:ext cx="11064240" cy="365760"/>
          </a:xfrm>
          <a:prstGeom prst="rect">
            <a:avLst/>
          </a:prstGeom>
          <a:noFill/>
        </p:spPr>
        <p:txBody>
          <a:bodyPr wrap="square" lIns="0" rIns="0" tIns="0" bIns="0">
            <a:spAutoFit/>
          </a:bodyPr>
          <a:lstStyle/>
          <a:p>
            <a:pPr>
              <a:spcAft>
                <a:spcPts val="700"/>
              </a:spcAft>
              <a:defRPr sz="1400" b="1">
                <a:solidFill>
                  <a:srgbClr val="AB352A"/>
                </a:solidFill>
                <a:latin typeface="Calibri"/>
              </a:defRPr>
            </a:pPr>
            <a:r>
              <a:t>Future scenarios only; no cross-case search, suspect matching or general evidence Q&amp;A is proved.</a:t>
            </a:r>
          </a:p>
        </p:txBody>
      </p:sp>
      <p:sp>
        <p:nvSpPr>
          <p:cNvPr id="8" name="TextBox 7">
            <a:hlinkClick action="ppaction://hlinksldjump" r:id="rId4"/>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9" name="TextBox 8">
            <a:hlinkClick action="ppaction://hlinksldjump" r:id="rId5"/>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10" name="TextBox 9">
            <a:hlinkClick action="ppaction://hlinksldjump" r:id="rId6"/>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74320"/>
            <a:ext cx="10698480" cy="274320"/>
          </a:xfrm>
          <a:prstGeom prst="rect">
            <a:avLst/>
          </a:prstGeom>
          <a:noFill/>
        </p:spPr>
        <p:txBody>
          <a:bodyPr wrap="square" lIns="0" rIns="0" tIns="0" bIns="0">
            <a:spAutoFit/>
          </a:bodyPr>
          <a:lstStyle/>
          <a:p>
            <a:pPr>
              <a:spcAft>
                <a:spcPts val="700"/>
              </a:spcAft>
              <a:defRPr sz="1200" b="1">
                <a:solidFill>
                  <a:srgbClr val="006B65"/>
                </a:solidFill>
                <a:latin typeface="Calibri"/>
              </a:defRPr>
            </a:pPr>
            <a:r>
              <a:t>CONSOLIDATION AND SOURCE TRACEABILITY</a:t>
            </a:r>
          </a:p>
        </p:txBody>
      </p:sp>
      <p:sp>
        <p:nvSpPr>
          <p:cNvPr id="3" name="TextBox 2"/>
          <p:cNvSpPr txBox="1"/>
          <p:nvPr/>
        </p:nvSpPr>
        <p:spPr>
          <a:xfrm>
            <a:off x="457200" y="731520"/>
            <a:ext cx="11155680" cy="594360"/>
          </a:xfrm>
          <a:prstGeom prst="rect">
            <a:avLst/>
          </a:prstGeom>
          <a:noFill/>
        </p:spPr>
        <p:txBody>
          <a:bodyPr wrap="square" lIns="0" rIns="0" tIns="0" bIns="0">
            <a:spAutoFit/>
          </a:bodyPr>
          <a:lstStyle/>
          <a:p>
            <a:pPr>
              <a:spcAft>
                <a:spcPts val="700"/>
              </a:spcAft>
              <a:defRPr sz="3200" b="1">
                <a:solidFill>
                  <a:srgbClr val="182337"/>
                </a:solidFill>
                <a:latin typeface="Calibri Light"/>
              </a:defRPr>
            </a:pPr>
            <a:r>
              <a:t>One deck. No duplicated desktop tour.</a:t>
            </a:r>
          </a:p>
        </p:txBody>
      </p:sp>
      <p:sp>
        <p:nvSpPr>
          <p:cNvPr id="4" name="TextBox 3"/>
          <p:cNvSpPr txBox="1"/>
          <p:nvPr/>
        </p:nvSpPr>
        <p:spPr>
          <a:xfrm>
            <a:off x="457200" y="6391656"/>
            <a:ext cx="694944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Agency  |  Demonstration captures  |  Not production authorization</a:t>
            </a:r>
          </a:p>
        </p:txBody>
      </p:sp>
      <p:sp>
        <p:nvSpPr>
          <p:cNvPr id="5" name="TextBox 4"/>
          <p:cNvSpPr txBox="1"/>
          <p:nvPr/>
        </p:nvSpPr>
        <p:spPr>
          <a:xfrm>
            <a:off x="11365992" y="6391656"/>
            <a:ext cx="365760" cy="228600"/>
          </a:xfrm>
          <a:prstGeom prst="rect">
            <a:avLst/>
          </a:prstGeom>
          <a:noFill/>
        </p:spPr>
        <p:txBody>
          <a:bodyPr wrap="square" lIns="0" rIns="0" tIns="0" bIns="0">
            <a:spAutoFit/>
          </a:bodyPr>
          <a:lstStyle/>
          <a:p>
            <a:pPr>
              <a:spcAft>
                <a:spcPts val="700"/>
              </a:spcAft>
              <a:defRPr sz="1000" b="0">
                <a:solidFill>
                  <a:srgbClr val="526176"/>
                </a:solidFill>
                <a:latin typeface="Calibri"/>
              </a:defRPr>
            </a:pPr>
            <a:r>
              <a:t>73</a:t>
            </a:r>
          </a:p>
        </p:txBody>
      </p:sp>
      <p:sp>
        <p:nvSpPr>
          <p:cNvPr id="6" name="Rounded Rectangle 5"/>
          <p:cNvSpPr/>
          <p:nvPr/>
        </p:nvSpPr>
        <p:spPr>
          <a:xfrm>
            <a:off x="457200" y="1572768"/>
            <a:ext cx="11247120" cy="841248"/>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00784"/>
            <a:ext cx="3794760"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Executive workflow reference</a:t>
            </a:r>
          </a:p>
        </p:txBody>
      </p:sp>
      <p:sp>
        <p:nvSpPr>
          <p:cNvPr id="8" name="TextBox 7"/>
          <p:cNvSpPr txBox="1"/>
          <p:nvPr/>
        </p:nvSpPr>
        <p:spPr>
          <a:xfrm>
            <a:off x="4590288" y="1682495"/>
            <a:ext cx="6858000" cy="594360"/>
          </a:xfrm>
          <a:prstGeom prst="rect">
            <a:avLst/>
          </a:prstGeom>
          <a:noFill/>
        </p:spPr>
        <p:txBody>
          <a:bodyPr wrap="square" lIns="0" rIns="0" tIns="0" bIns="0">
            <a:spAutoFit/>
          </a:bodyPr>
          <a:lstStyle/>
          <a:p>
            <a:pPr>
              <a:spcAft>
                <a:spcPts val="700"/>
              </a:spcAft>
              <a:defRPr sz="1700" b="0">
                <a:solidFill>
                  <a:srgbClr val="182337"/>
                </a:solidFill>
                <a:latin typeface="Calibri"/>
              </a:defRPr>
            </a:pPr>
            <a:r>
              <a:t>Executive story, exception boundaries, measured-run qualifications and pilot close.</a:t>
            </a:r>
          </a:p>
        </p:txBody>
      </p:sp>
      <p:sp>
        <p:nvSpPr>
          <p:cNvPr id="9" name="Rounded Rectangle 8"/>
          <p:cNvSpPr/>
          <p:nvPr/>
        </p:nvSpPr>
        <p:spPr>
          <a:xfrm>
            <a:off x="457200" y="2578608"/>
            <a:ext cx="11247120" cy="841248"/>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06624"/>
            <a:ext cx="3794760"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Desktop workflow reference</a:t>
            </a:r>
          </a:p>
        </p:txBody>
      </p:sp>
      <p:sp>
        <p:nvSpPr>
          <p:cNvPr id="11" name="TextBox 10"/>
          <p:cNvSpPr txBox="1"/>
          <p:nvPr/>
        </p:nvSpPr>
        <p:spPr>
          <a:xfrm>
            <a:off x="4590288" y="2688336"/>
            <a:ext cx="6858000" cy="594360"/>
          </a:xfrm>
          <a:prstGeom prst="rect">
            <a:avLst/>
          </a:prstGeom>
          <a:noFill/>
        </p:spPr>
        <p:txBody>
          <a:bodyPr wrap="square" lIns="0" rIns="0" tIns="0" bIns="0">
            <a:spAutoFit/>
          </a:bodyPr>
          <a:lstStyle/>
          <a:p>
            <a:pPr>
              <a:spcAft>
                <a:spcPts val="700"/>
              </a:spcAft>
              <a:defRPr sz="1700" b="0">
                <a:solidFill>
                  <a:srgbClr val="182337"/>
                </a:solidFill>
                <a:latin typeface="Calibri"/>
              </a:defRPr>
            </a:pPr>
            <a:r>
              <a:t>Desktop screenshots and detailed operator flow; duplicate tour appears only once.</a:t>
            </a:r>
          </a:p>
        </p:txBody>
      </p:sp>
      <p:sp>
        <p:nvSpPr>
          <p:cNvPr id="12" name="Rounded Rectangle 11"/>
          <p:cNvSpPr/>
          <p:nvPr/>
        </p:nvSpPr>
        <p:spPr>
          <a:xfrm>
            <a:off x="457200" y="3584448"/>
            <a:ext cx="11247120" cy="841248"/>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12463"/>
            <a:ext cx="3794760"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Architecture reference</a:t>
            </a:r>
          </a:p>
        </p:txBody>
      </p:sp>
      <p:sp>
        <p:nvSpPr>
          <p:cNvPr id="14" name="TextBox 13"/>
          <p:cNvSpPr txBox="1"/>
          <p:nvPr/>
        </p:nvSpPr>
        <p:spPr>
          <a:xfrm>
            <a:off x="4590288" y="3694176"/>
            <a:ext cx="6858000" cy="594360"/>
          </a:xfrm>
          <a:prstGeom prst="rect">
            <a:avLst/>
          </a:prstGeom>
          <a:noFill/>
        </p:spPr>
        <p:txBody>
          <a:bodyPr wrap="square" lIns="0" rIns="0" tIns="0" bIns="0">
            <a:spAutoFit/>
          </a:bodyPr>
          <a:lstStyle/>
          <a:p>
            <a:pPr>
              <a:spcAft>
                <a:spcPts val="700"/>
              </a:spcAft>
              <a:defRPr sz="1700" b="0">
                <a:solidFill>
                  <a:srgbClr val="182337"/>
                </a:solidFill>
                <a:latin typeface="Calibri"/>
              </a:defRPr>
            </a:pPr>
            <a:r>
              <a:t>Same first 85 slides except presenter contact text; 3 added architecture references retained.</a:t>
            </a:r>
          </a:p>
        </p:txBody>
      </p:sp>
      <p:sp>
        <p:nvSpPr>
          <p:cNvPr id="15" name="Rounded Rectangle 14"/>
          <p:cNvSpPr/>
          <p:nvPr/>
        </p:nvSpPr>
        <p:spPr>
          <a:xfrm>
            <a:off x="457200" y="4590288"/>
            <a:ext cx="11247120" cy="841248"/>
          </a:xfrm>
          <a:prstGeom prst="roundRect">
            <a:avLst>
              <a:gd name="adj" fmla="val 6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718304"/>
            <a:ext cx="3794760" cy="502920"/>
          </a:xfrm>
          <a:prstGeom prst="rect">
            <a:avLst/>
          </a:prstGeom>
          <a:noFill/>
        </p:spPr>
        <p:txBody>
          <a:bodyPr wrap="square" lIns="0" rIns="0" tIns="0" bIns="0">
            <a:spAutoFit/>
          </a:bodyPr>
          <a:lstStyle/>
          <a:p>
            <a:pPr>
              <a:spcAft>
                <a:spcPts val="700"/>
              </a:spcAft>
              <a:defRPr sz="1700" b="1">
                <a:solidFill>
                  <a:srgbClr val="006B65"/>
                </a:solidFill>
                <a:latin typeface="Calibri"/>
              </a:defRPr>
            </a:pPr>
            <a:r>
              <a:t>Web workflow reference</a:t>
            </a:r>
          </a:p>
        </p:txBody>
      </p:sp>
      <p:sp>
        <p:nvSpPr>
          <p:cNvPr id="17" name="TextBox 16"/>
          <p:cNvSpPr txBox="1"/>
          <p:nvPr/>
        </p:nvSpPr>
        <p:spPr>
          <a:xfrm>
            <a:off x="4590288" y="4700016"/>
            <a:ext cx="6858000" cy="594360"/>
          </a:xfrm>
          <a:prstGeom prst="rect">
            <a:avLst/>
          </a:prstGeom>
          <a:noFill/>
        </p:spPr>
        <p:txBody>
          <a:bodyPr wrap="square" lIns="0" rIns="0" tIns="0" bIns="0">
            <a:spAutoFit/>
          </a:bodyPr>
          <a:lstStyle/>
          <a:p>
            <a:pPr>
              <a:spcAft>
                <a:spcPts val="700"/>
              </a:spcAft>
              <a:defRPr sz="1700" b="0">
                <a:solidFill>
                  <a:srgbClr val="182337"/>
                </a:solidFill>
                <a:latin typeface="Calibri"/>
              </a:defRPr>
            </a:pPr>
            <a:r>
              <a:t>Distinct Foundry-email and video click flows; supplemental evidence and production boundaries.</a:t>
            </a:r>
          </a:p>
        </p:txBody>
      </p:sp>
      <p:sp>
        <p:nvSpPr>
          <p:cNvPr id="18" name="TextBox 17"/>
          <p:cNvSpPr txBox="1"/>
          <p:nvPr/>
        </p:nvSpPr>
        <p:spPr>
          <a:xfrm>
            <a:off x="457200" y="5650992"/>
            <a:ext cx="11155680" cy="621792"/>
          </a:xfrm>
          <a:prstGeom prst="rect">
            <a:avLst/>
          </a:prstGeom>
          <a:noFill/>
        </p:spPr>
        <p:txBody>
          <a:bodyPr wrap="square" lIns="0" rIns="0" tIns="0" bIns="0">
            <a:spAutoFit/>
          </a:bodyPr>
          <a:lstStyle/>
          <a:p>
            <a:pPr>
              <a:spcAft>
                <a:spcPts val="700"/>
              </a:spcAft>
              <a:defRPr sz="1600" b="0">
                <a:solidFill>
                  <a:srgbClr val="526176"/>
                </a:solidFill>
                <a:latin typeface="Calibri"/>
              </a:defRPr>
            </a:pPr>
            <a:r>
              <a:t>Source capture references are retained on slides and in presenter notes.</a:t>
            </a:r>
          </a:p>
          <a:p>
            <a:pPr>
              <a:spcAft>
                <a:spcPts val="700"/>
              </a:spcAft>
              <a:defRPr sz="1600" b="0">
                <a:solidFill>
                  <a:srgbClr val="526176"/>
                </a:solidFill>
                <a:latin typeface="Calibri"/>
              </a:defRPr>
            </a:pPr>
            <a:r>
              <a:t>App data and Azure resources were not modified or freshly revalidated by this merge.</a:t>
            </a:r>
          </a:p>
        </p:txBody>
      </p:sp>
      <p:sp>
        <p:nvSpPr>
          <p:cNvPr id="19" name="TextBox 18">
            <a:hlinkClick action="ppaction://hlinksldjump" r:id="rId3"/>
          </p:cNvPr>
          <p:cNvSpPr txBox="1"/>
          <p:nvPr/>
        </p:nvSpPr>
        <p:spPr>
          <a:xfrm>
            <a:off x="8613648"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PREV</a:t>
            </a:r>
          </a:p>
        </p:txBody>
      </p:sp>
      <p:sp>
        <p:nvSpPr>
          <p:cNvPr id="20" name="TextBox 19">
            <a:hlinkClick action="ppaction://hlinksldjump" r:id="rId4"/>
          </p:cNvPr>
          <p:cNvSpPr txBox="1"/>
          <p:nvPr/>
        </p:nvSpPr>
        <p:spPr>
          <a:xfrm>
            <a:off x="9509760"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MENU</a:t>
            </a:r>
          </a:p>
        </p:txBody>
      </p:sp>
      <p:sp>
        <p:nvSpPr>
          <p:cNvPr id="21" name="TextBox 20">
            <a:hlinkClick action="ppaction://hlinksldjump" r:id="rId4"/>
          </p:cNvPr>
          <p:cNvSpPr txBox="1"/>
          <p:nvPr/>
        </p:nvSpPr>
        <p:spPr>
          <a:xfrm>
            <a:off x="10405872" y="6391656"/>
            <a:ext cx="777240" cy="228600"/>
          </a:xfrm>
          <a:prstGeom prst="rect">
            <a:avLst/>
          </a:prstGeom>
          <a:noFill/>
        </p:spPr>
        <p:txBody>
          <a:bodyPr wrap="square" lIns="0" rIns="0" tIns="0" bIns="0">
            <a:spAutoFit/>
          </a:bodyPr>
          <a:lstStyle/>
          <a:p>
            <a:pPr>
              <a:spcAft>
                <a:spcPts val="700"/>
              </a:spcAft>
              <a:defRPr sz="1100" b="1">
                <a:solidFill>
                  <a:srgbClr val="006B65"/>
                </a:solidFill>
                <a:latin typeface="Calibri"/>
              </a:defRPr>
            </a:pPr>
            <a:r>
              <a:t>NEXT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02A56"/>
        </a:solidFill>
        <a:effectLst/>
      </p:bgPr>
    </p:bg>
    <p:spTree>
      <p:nvGrpSpPr>
        <p:cNvPr id="1" name=""/>
        <p:cNvGrpSpPr/>
        <p:nvPr/>
      </p:nvGrpSpPr>
      <p:grpSpPr/>
      <p:sp>
        <p:nvSpPr>
          <p:cNvPr id="2" name="TextBox 1"/>
          <p:cNvSpPr txBox="1"/>
          <p:nvPr/>
        </p:nvSpPr>
        <p:spPr>
          <a:xfrm>
            <a:off x="457199" y="320039"/>
            <a:ext cx="11247119" cy="274319"/>
          </a:xfrm>
          <a:prstGeom prst="rect">
            <a:avLst/>
          </a:prstGeom>
          <a:noFill/>
        </p:spPr>
        <p:txBody>
          <a:bodyPr wrap="square" lIns="0" rIns="0" tIns="0" bIns="0">
            <a:spAutoFit/>
          </a:bodyPr>
          <a:lstStyle/>
          <a:p>
            <a:pPr>
              <a:spcAft>
                <a:spcPts val="600"/>
              </a:spcAft>
              <a:defRPr sz="1199" b="1">
                <a:solidFill>
                  <a:srgbClr val="D99A22"/>
                </a:solidFill>
                <a:latin typeface="Calibri"/>
              </a:defRPr>
            </a:pPr>
            <a:r>
              <a:t>GENERIC SOLUTION DEMONSTRATION</a:t>
            </a:r>
          </a:p>
        </p:txBody>
      </p:sp>
      <p:sp>
        <p:nvSpPr>
          <p:cNvPr id="3" name="TextBox 2"/>
          <p:cNvSpPr txBox="1"/>
          <p:nvPr/>
        </p:nvSpPr>
        <p:spPr>
          <a:xfrm>
            <a:off x="457199" y="868679"/>
            <a:ext cx="11247119" cy="731519"/>
          </a:xfrm>
          <a:prstGeom prst="rect">
            <a:avLst/>
          </a:prstGeom>
          <a:noFill/>
        </p:spPr>
        <p:txBody>
          <a:bodyPr wrap="square" lIns="0" rIns="0" tIns="0" bIns="0">
            <a:spAutoFit/>
          </a:bodyPr>
          <a:lstStyle/>
          <a:p>
            <a:pPr>
              <a:spcAft>
                <a:spcPts val="600"/>
              </a:spcAft>
              <a:defRPr sz="3399" b="1">
                <a:solidFill>
                  <a:srgbClr val="FFFFFF"/>
                </a:solidFill>
                <a:latin typeface="Calibri"/>
              </a:defRPr>
            </a:pPr>
            <a:r>
              <a:t>Intake triage and video evidence</a:t>
            </a:r>
          </a:p>
        </p:txBody>
      </p:sp>
      <p:sp>
        <p:nvSpPr>
          <p:cNvPr id="4" name="Rounded Rectangle 3"/>
          <p:cNvSpPr/>
          <p:nvPr/>
        </p:nvSpPr>
        <p:spPr>
          <a:xfrm>
            <a:off x="457199" y="1828799"/>
            <a:ext cx="5486399" cy="1828799"/>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79" y="2011679"/>
            <a:ext cx="5120639" cy="274319"/>
          </a:xfrm>
          <a:prstGeom prst="rect">
            <a:avLst/>
          </a:prstGeom>
          <a:noFill/>
        </p:spPr>
        <p:txBody>
          <a:bodyPr wrap="square" lIns="0" rIns="0" tIns="0" bIns="0">
            <a:spAutoFit/>
          </a:bodyPr>
          <a:lstStyle/>
          <a:p>
            <a:pPr>
              <a:spcAft>
                <a:spcPts val="600"/>
              </a:spcAft>
              <a:defRPr sz="1299" b="1">
                <a:solidFill>
                  <a:srgbClr val="D99A22"/>
                </a:solidFill>
                <a:latin typeface="Calibri"/>
              </a:defRPr>
            </a:pPr>
            <a:r>
              <a:t>THE PROBLEM</a:t>
            </a:r>
          </a:p>
        </p:txBody>
      </p:sp>
      <p:sp>
        <p:nvSpPr>
          <p:cNvPr id="6" name="TextBox 5"/>
          <p:cNvSpPr txBox="1"/>
          <p:nvPr/>
        </p:nvSpPr>
        <p:spPr>
          <a:xfrm>
            <a:off x="640079" y="2514599"/>
            <a:ext cx="5074919" cy="960119"/>
          </a:xfrm>
          <a:prstGeom prst="rect">
            <a:avLst/>
          </a:prstGeom>
          <a:noFill/>
        </p:spPr>
        <p:txBody>
          <a:bodyPr wrap="square" lIns="0" rIns="0" tIns="0" bIns="0">
            <a:spAutoFit/>
          </a:bodyPr>
          <a:lstStyle/>
          <a:p>
            <a:pPr>
              <a:spcAft>
                <a:spcPts val="600"/>
              </a:spcAft>
              <a:defRPr sz="1999" b="0">
                <a:solidFill>
                  <a:srgbClr val="FFFFFF"/>
                </a:solidFill>
                <a:latin typeface="Calibri"/>
              </a:defRPr>
            </a:pPr>
            <a:r>
              <a:t>Noisy tips and unstructured video can delay analyst attention unless urgency, evidence and exceptions are made visible.</a:t>
            </a:r>
          </a:p>
        </p:txBody>
      </p:sp>
      <p:sp>
        <p:nvSpPr>
          <p:cNvPr id="7" name="Rounded Rectangle 6"/>
          <p:cNvSpPr/>
          <p:nvPr/>
        </p:nvSpPr>
        <p:spPr>
          <a:xfrm>
            <a:off x="6245351" y="1828799"/>
            <a:ext cx="5486399" cy="1828799"/>
          </a:xfrm>
          <a:prstGeom prst="roundRect">
            <a:avLst>
              <a:gd name="adj" fmla="val 5000"/>
            </a:avLst>
          </a:prstGeom>
          <a:solidFill>
            <a:srgbClr val="2D39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28231" y="2011679"/>
            <a:ext cx="5120639" cy="274319"/>
          </a:xfrm>
          <a:prstGeom prst="rect">
            <a:avLst/>
          </a:prstGeom>
          <a:noFill/>
        </p:spPr>
        <p:txBody>
          <a:bodyPr wrap="square" lIns="0" rIns="0" tIns="0" bIns="0">
            <a:spAutoFit/>
          </a:bodyPr>
          <a:lstStyle/>
          <a:p>
            <a:pPr>
              <a:spcAft>
                <a:spcPts val="600"/>
              </a:spcAft>
              <a:defRPr sz="1299" b="1">
                <a:solidFill>
                  <a:srgbClr val="D99A22"/>
                </a:solidFill>
                <a:latin typeface="Calibri"/>
              </a:defRPr>
            </a:pPr>
            <a:r>
              <a:t>THE SOLUTION</a:t>
            </a:r>
          </a:p>
        </p:txBody>
      </p:sp>
      <p:sp>
        <p:nvSpPr>
          <p:cNvPr id="9" name="TextBox 8"/>
          <p:cNvSpPr txBox="1"/>
          <p:nvPr/>
        </p:nvSpPr>
        <p:spPr>
          <a:xfrm>
            <a:off x="6428231" y="2514599"/>
            <a:ext cx="5074919" cy="960119"/>
          </a:xfrm>
          <a:prstGeom prst="rect">
            <a:avLst/>
          </a:prstGeom>
          <a:noFill/>
        </p:spPr>
        <p:txBody>
          <a:bodyPr wrap="square" lIns="0" rIns="0" tIns="0" bIns="0">
            <a:spAutoFit/>
          </a:bodyPr>
          <a:lstStyle/>
          <a:p>
            <a:pPr>
              <a:spcAft>
                <a:spcPts val="600"/>
              </a:spcAft>
              <a:defRPr sz="1999" b="0">
                <a:solidFill>
                  <a:srgbClr val="FFFFFF"/>
                </a:solidFill>
                <a:latin typeface="Calibri"/>
              </a:defRPr>
            </a:pPr>
            <a:r>
              <a:t>Replay three separate workflows: desktop intake policy controls, agent-based email review and case-scoped video analysis.</a:t>
            </a:r>
          </a:p>
        </p:txBody>
      </p:sp>
      <p:sp>
        <p:nvSpPr>
          <p:cNvPr id="10" name="TextBox 9"/>
          <p:cNvSpPr txBox="1"/>
          <p:nvPr/>
        </p:nvSpPr>
        <p:spPr>
          <a:xfrm>
            <a:off x="457199" y="3977639"/>
            <a:ext cx="10972799" cy="274319"/>
          </a:xfrm>
          <a:prstGeom prst="rect">
            <a:avLst/>
          </a:prstGeom>
          <a:noFill/>
        </p:spPr>
        <p:txBody>
          <a:bodyPr wrap="square" lIns="0" rIns="0" tIns="0" bIns="0">
            <a:spAutoFit/>
          </a:bodyPr>
          <a:lstStyle/>
          <a:p>
            <a:pPr>
              <a:spcAft>
                <a:spcPts val="600"/>
              </a:spcAft>
              <a:defRPr sz="1299" b="1">
                <a:solidFill>
                  <a:srgbClr val="D99A22"/>
                </a:solidFill>
                <a:latin typeface="Calibri"/>
              </a:defRPr>
            </a:pPr>
            <a:r>
              <a:t>PRODUCTS AND PLATFORM</a:t>
            </a:r>
          </a:p>
        </p:txBody>
      </p:sp>
      <p:sp>
        <p:nvSpPr>
          <p:cNvPr id="11" name="TextBox 10"/>
          <p:cNvSpPr txBox="1"/>
          <p:nvPr/>
        </p:nvSpPr>
        <p:spPr>
          <a:xfrm>
            <a:off x="457199" y="4462271"/>
            <a:ext cx="11155679" cy="822959"/>
          </a:xfrm>
          <a:prstGeom prst="rect">
            <a:avLst/>
          </a:prstGeom>
          <a:noFill/>
        </p:spPr>
        <p:txBody>
          <a:bodyPr wrap="square" lIns="0" rIns="0" tIns="0" bIns="0">
            <a:spAutoFit/>
          </a:bodyPr>
          <a:lstStyle/>
          <a:p>
            <a:pPr>
              <a:spcAft>
                <a:spcPts val="600"/>
              </a:spcAft>
              <a:defRPr sz="2099" b="0">
                <a:solidFill>
                  <a:srgbClr val="FFFFFF"/>
                </a:solidFill>
                <a:latin typeface="Calibri"/>
              </a:defRPr>
            </a:pPr>
            <a:r>
              <a:t>Azure OpenAI | Foundry Agent Service | AI Language | Video Indexer | AI Search | Blob | Entra ID | .NET UI</a:t>
            </a:r>
          </a:p>
        </p:txBody>
      </p:sp>
      <p:sp>
        <p:nvSpPr>
          <p:cNvPr id="12" name="TextBox 11"/>
          <p:cNvSpPr txBox="1"/>
          <p:nvPr/>
        </p:nvSpPr>
        <p:spPr>
          <a:xfrm>
            <a:off x="457199" y="5596127"/>
            <a:ext cx="11155679" cy="640079"/>
          </a:xfrm>
          <a:prstGeom prst="rect">
            <a:avLst/>
          </a:prstGeom>
          <a:noFill/>
        </p:spPr>
        <p:txBody>
          <a:bodyPr wrap="square" lIns="0" rIns="0" tIns="0" bIns="0">
            <a:spAutoFit/>
          </a:bodyPr>
          <a:lstStyle/>
          <a:p>
            <a:pPr>
              <a:spcAft>
                <a:spcPts val="600"/>
              </a:spcAft>
              <a:defRPr sz="1599" b="0">
                <a:solidFill>
                  <a:srgbClr val="D4DAE8"/>
                </a:solidFill>
                <a:latin typeface="Calibri"/>
              </a:defRPr>
            </a:pPr>
            <a:r>
              <a:t>Captured prototype results, not production approval. Routing is a recommendation; durable queues, case-system delivery and full compliance controls remain future work.</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199" y="320039"/>
            <a:ext cx="11247119" cy="274319"/>
          </a:xfrm>
          <a:prstGeom prst="rect">
            <a:avLst/>
          </a:prstGeom>
          <a:noFill/>
        </p:spPr>
        <p:txBody>
          <a:bodyPr wrap="square" lIns="0" rIns="0" tIns="0" bIns="0">
            <a:spAutoFit/>
          </a:bodyPr>
          <a:lstStyle/>
          <a:p>
            <a:pPr>
              <a:spcAft>
                <a:spcPts val="600"/>
              </a:spcAft>
              <a:defRPr sz="1199" b="1">
                <a:solidFill>
                  <a:srgbClr val="006B65"/>
                </a:solidFill>
                <a:latin typeface="Calibri"/>
              </a:defRPr>
            </a:pPr>
            <a:r>
              <a:t>SOLUTION ARCHITECTURE</a:t>
            </a:r>
          </a:p>
        </p:txBody>
      </p:sp>
      <p:sp>
        <p:nvSpPr>
          <p:cNvPr id="3" name="TextBox 2"/>
          <p:cNvSpPr txBox="1"/>
          <p:nvPr/>
        </p:nvSpPr>
        <p:spPr>
          <a:xfrm>
            <a:off x="457199" y="868679"/>
            <a:ext cx="11247119" cy="640079"/>
          </a:xfrm>
          <a:prstGeom prst="rect">
            <a:avLst/>
          </a:prstGeom>
          <a:noFill/>
        </p:spPr>
        <p:txBody>
          <a:bodyPr wrap="square" lIns="0" rIns="0" tIns="0" bIns="0">
            <a:spAutoFit/>
          </a:bodyPr>
          <a:lstStyle/>
          <a:p>
            <a:pPr>
              <a:spcAft>
                <a:spcPts val="600"/>
              </a:spcAft>
              <a:defRPr sz="3399" b="1">
                <a:solidFill>
                  <a:srgbClr val="182337"/>
                </a:solidFill>
                <a:latin typeface="Calibri"/>
              </a:defRPr>
            </a:pPr>
            <a:r>
              <a:t>How the solution fits together</a:t>
            </a:r>
          </a:p>
        </p:txBody>
      </p:sp>
      <p:sp>
        <p:nvSpPr>
          <p:cNvPr id="4" name="TextBox 3"/>
          <p:cNvSpPr txBox="1"/>
          <p:nvPr/>
        </p:nvSpPr>
        <p:spPr>
          <a:xfrm>
            <a:off x="457199" y="1709927"/>
            <a:ext cx="11247119" cy="274319"/>
          </a:xfrm>
          <a:prstGeom prst="rect">
            <a:avLst/>
          </a:prstGeom>
          <a:noFill/>
        </p:spPr>
        <p:txBody>
          <a:bodyPr wrap="square" lIns="0" rIns="0" tIns="0" bIns="0">
            <a:spAutoFit/>
          </a:bodyPr>
          <a:lstStyle/>
          <a:p>
            <a:pPr>
              <a:spcAft>
                <a:spcPts val="600"/>
              </a:spcAft>
              <a:defRPr sz="1299" b="1">
                <a:solidFill>
                  <a:srgbClr val="006B65"/>
                </a:solidFill>
                <a:latin typeface="Calibri"/>
              </a:defRPr>
            </a:pPr>
            <a:r>
              <a:t>RELATED WORKFLOWS / BRANCHES</a:t>
            </a:r>
          </a:p>
        </p:txBody>
      </p:sp>
      <p:sp>
        <p:nvSpPr>
          <p:cNvPr id="5" name="Rounded Rectangle 4"/>
          <p:cNvSpPr/>
          <p:nvPr/>
        </p:nvSpPr>
        <p:spPr>
          <a:xfrm>
            <a:off x="457199" y="2285999"/>
            <a:ext cx="2688335" cy="2377439"/>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79" y="2468879"/>
            <a:ext cx="2285999" cy="502919"/>
          </a:xfrm>
          <a:prstGeom prst="rect">
            <a:avLst/>
          </a:prstGeom>
          <a:noFill/>
        </p:spPr>
        <p:txBody>
          <a:bodyPr wrap="square" lIns="0" rIns="0" tIns="0" bIns="0">
            <a:spAutoFit/>
          </a:bodyPr>
          <a:lstStyle/>
          <a:p>
            <a:pPr>
              <a:spcAft>
                <a:spcPts val="600"/>
              </a:spcAft>
              <a:defRPr sz="2999" b="1">
                <a:solidFill>
                  <a:srgbClr val="D99A22"/>
                </a:solidFill>
                <a:latin typeface="Calibri"/>
              </a:defRPr>
            </a:pPr>
            <a:r>
              <a:t>01</a:t>
            </a:r>
          </a:p>
        </p:txBody>
      </p:sp>
      <p:sp>
        <p:nvSpPr>
          <p:cNvPr id="7" name="TextBox 6"/>
          <p:cNvSpPr txBox="1"/>
          <p:nvPr/>
        </p:nvSpPr>
        <p:spPr>
          <a:xfrm>
            <a:off x="640079" y="3136391"/>
            <a:ext cx="2285999" cy="502919"/>
          </a:xfrm>
          <a:prstGeom prst="rect">
            <a:avLst/>
          </a:prstGeom>
          <a:noFill/>
        </p:spPr>
        <p:txBody>
          <a:bodyPr wrap="square" lIns="0" rIns="0" tIns="0" bIns="0">
            <a:spAutoFit/>
          </a:bodyPr>
          <a:lstStyle/>
          <a:p>
            <a:pPr>
              <a:spcAft>
                <a:spcPts val="600"/>
              </a:spcAft>
              <a:defRPr sz="2099" b="1">
                <a:solidFill>
                  <a:srgbClr val="182337"/>
                </a:solidFill>
                <a:latin typeface="Calibri"/>
              </a:defRPr>
            </a:pPr>
            <a:r>
              <a:t>Desktop intake</a:t>
            </a:r>
          </a:p>
        </p:txBody>
      </p:sp>
      <p:sp>
        <p:nvSpPr>
          <p:cNvPr id="8" name="TextBox 7"/>
          <p:cNvSpPr txBox="1"/>
          <p:nvPr/>
        </p:nvSpPr>
        <p:spPr>
          <a:xfrm>
            <a:off x="640079" y="3840479"/>
            <a:ext cx="2285999" cy="640079"/>
          </a:xfrm>
          <a:prstGeom prst="rect">
            <a:avLst/>
          </a:prstGeom>
          <a:noFill/>
        </p:spPr>
        <p:txBody>
          <a:bodyPr wrap="square" lIns="0" rIns="0" tIns="0" bIns="0">
            <a:spAutoFit/>
          </a:bodyPr>
          <a:lstStyle/>
          <a:p>
            <a:pPr>
              <a:spcAft>
                <a:spcPts val="600"/>
              </a:spcAft>
              <a:defRPr sz="1699" b="0">
                <a:solidFill>
                  <a:srgbClr val="182337"/>
                </a:solidFill>
                <a:latin typeface="Calibri"/>
              </a:defRPr>
            </a:pPr>
            <a:r>
              <a:t>Local masks -&gt; OpenAI</a:t>
            </a:r>
          </a:p>
        </p:txBody>
      </p:sp>
      <p:sp>
        <p:nvSpPr>
          <p:cNvPr id="9" name="Rounded Rectangle 8"/>
          <p:cNvSpPr/>
          <p:nvPr/>
        </p:nvSpPr>
        <p:spPr>
          <a:xfrm>
            <a:off x="3319271" y="2285999"/>
            <a:ext cx="2688335" cy="2377439"/>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2151" y="2468879"/>
            <a:ext cx="2285999" cy="502919"/>
          </a:xfrm>
          <a:prstGeom prst="rect">
            <a:avLst/>
          </a:prstGeom>
          <a:noFill/>
        </p:spPr>
        <p:txBody>
          <a:bodyPr wrap="square" lIns="0" rIns="0" tIns="0" bIns="0">
            <a:spAutoFit/>
          </a:bodyPr>
          <a:lstStyle/>
          <a:p>
            <a:pPr>
              <a:spcAft>
                <a:spcPts val="600"/>
              </a:spcAft>
              <a:defRPr sz="2999" b="1">
                <a:solidFill>
                  <a:srgbClr val="D99A22"/>
                </a:solidFill>
                <a:latin typeface="Calibri"/>
              </a:defRPr>
            </a:pPr>
            <a:r>
              <a:t>02</a:t>
            </a:r>
          </a:p>
        </p:txBody>
      </p:sp>
      <p:sp>
        <p:nvSpPr>
          <p:cNvPr id="11" name="TextBox 10"/>
          <p:cNvSpPr txBox="1"/>
          <p:nvPr/>
        </p:nvSpPr>
        <p:spPr>
          <a:xfrm>
            <a:off x="3502151" y="3136391"/>
            <a:ext cx="2285999" cy="502919"/>
          </a:xfrm>
          <a:prstGeom prst="rect">
            <a:avLst/>
          </a:prstGeom>
          <a:noFill/>
        </p:spPr>
        <p:txBody>
          <a:bodyPr wrap="square" lIns="0" rIns="0" tIns="0" bIns="0">
            <a:spAutoFit/>
          </a:bodyPr>
          <a:lstStyle/>
          <a:p>
            <a:pPr>
              <a:spcAft>
                <a:spcPts val="600"/>
              </a:spcAft>
              <a:defRPr sz="2099" b="1">
                <a:solidFill>
                  <a:srgbClr val="182337"/>
                </a:solidFill>
                <a:latin typeface="Calibri"/>
              </a:defRPr>
            </a:pPr>
            <a:r>
              <a:t>Email web app</a:t>
            </a:r>
          </a:p>
        </p:txBody>
      </p:sp>
      <p:sp>
        <p:nvSpPr>
          <p:cNvPr id="12" name="TextBox 11"/>
          <p:cNvSpPr txBox="1"/>
          <p:nvPr/>
        </p:nvSpPr>
        <p:spPr>
          <a:xfrm>
            <a:off x="3502151" y="3840479"/>
            <a:ext cx="2285999" cy="640079"/>
          </a:xfrm>
          <a:prstGeom prst="rect">
            <a:avLst/>
          </a:prstGeom>
          <a:noFill/>
        </p:spPr>
        <p:txBody>
          <a:bodyPr wrap="square" lIns="0" rIns="0" tIns="0" bIns="0">
            <a:spAutoFit/>
          </a:bodyPr>
          <a:lstStyle/>
          <a:p>
            <a:pPr>
              <a:spcAft>
                <a:spcPts val="600"/>
              </a:spcAft>
              <a:defRPr sz="1699" b="0">
                <a:solidFill>
                  <a:srgbClr val="182337"/>
                </a:solidFill>
                <a:latin typeface="Calibri"/>
              </a:defRPr>
            </a:pPr>
            <a:r>
              <a:t>Language PII -&gt; agent</a:t>
            </a:r>
          </a:p>
        </p:txBody>
      </p:sp>
      <p:sp>
        <p:nvSpPr>
          <p:cNvPr id="13" name="Rounded Rectangle 12"/>
          <p:cNvSpPr/>
          <p:nvPr/>
        </p:nvSpPr>
        <p:spPr>
          <a:xfrm>
            <a:off x="6181343" y="2285999"/>
            <a:ext cx="2688335" cy="2377439"/>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3" y="2468879"/>
            <a:ext cx="2285999" cy="502919"/>
          </a:xfrm>
          <a:prstGeom prst="rect">
            <a:avLst/>
          </a:prstGeom>
          <a:noFill/>
        </p:spPr>
        <p:txBody>
          <a:bodyPr wrap="square" lIns="0" rIns="0" tIns="0" bIns="0">
            <a:spAutoFit/>
          </a:bodyPr>
          <a:lstStyle/>
          <a:p>
            <a:pPr>
              <a:spcAft>
                <a:spcPts val="600"/>
              </a:spcAft>
              <a:defRPr sz="2999" b="1">
                <a:solidFill>
                  <a:srgbClr val="D99A22"/>
                </a:solidFill>
                <a:latin typeface="Calibri"/>
              </a:defRPr>
            </a:pPr>
            <a:r>
              <a:t>03</a:t>
            </a:r>
          </a:p>
        </p:txBody>
      </p:sp>
      <p:sp>
        <p:nvSpPr>
          <p:cNvPr id="15" name="TextBox 14"/>
          <p:cNvSpPr txBox="1"/>
          <p:nvPr/>
        </p:nvSpPr>
        <p:spPr>
          <a:xfrm>
            <a:off x="6364223" y="3136391"/>
            <a:ext cx="2285999" cy="502919"/>
          </a:xfrm>
          <a:prstGeom prst="rect">
            <a:avLst/>
          </a:prstGeom>
          <a:noFill/>
        </p:spPr>
        <p:txBody>
          <a:bodyPr wrap="square" lIns="0" rIns="0" tIns="0" bIns="0">
            <a:spAutoFit/>
          </a:bodyPr>
          <a:lstStyle/>
          <a:p>
            <a:pPr>
              <a:spcAft>
                <a:spcPts val="600"/>
              </a:spcAft>
              <a:defRPr sz="2099" b="1">
                <a:solidFill>
                  <a:srgbClr val="182337"/>
                </a:solidFill>
                <a:latin typeface="Calibri"/>
              </a:defRPr>
            </a:pPr>
            <a:r>
              <a:t>Video web app</a:t>
            </a:r>
          </a:p>
        </p:txBody>
      </p:sp>
      <p:sp>
        <p:nvSpPr>
          <p:cNvPr id="16" name="TextBox 15"/>
          <p:cNvSpPr txBox="1"/>
          <p:nvPr/>
        </p:nvSpPr>
        <p:spPr>
          <a:xfrm>
            <a:off x="6364223" y="3840479"/>
            <a:ext cx="2285999" cy="640079"/>
          </a:xfrm>
          <a:prstGeom prst="rect">
            <a:avLst/>
          </a:prstGeom>
          <a:noFill/>
        </p:spPr>
        <p:txBody>
          <a:bodyPr wrap="square" lIns="0" rIns="0" tIns="0" bIns="0">
            <a:spAutoFit/>
          </a:bodyPr>
          <a:lstStyle/>
          <a:p>
            <a:pPr>
              <a:spcAft>
                <a:spcPts val="600"/>
              </a:spcAft>
              <a:defRPr sz="1699" b="0">
                <a:solidFill>
                  <a:srgbClr val="182337"/>
                </a:solidFill>
                <a:latin typeface="Calibri"/>
              </a:defRPr>
            </a:pPr>
            <a:r>
              <a:t>Blob -&gt; Video Indexer</a:t>
            </a:r>
          </a:p>
        </p:txBody>
      </p:sp>
      <p:sp>
        <p:nvSpPr>
          <p:cNvPr id="17" name="Rounded Rectangle 16"/>
          <p:cNvSpPr/>
          <p:nvPr/>
        </p:nvSpPr>
        <p:spPr>
          <a:xfrm>
            <a:off x="9043415" y="2285999"/>
            <a:ext cx="2688335" cy="2377439"/>
          </a:xfrm>
          <a:prstGeom prst="roundRect">
            <a:avLst>
              <a:gd name="adj" fmla="val 5000"/>
            </a:avLst>
          </a:prstGeom>
          <a:solidFill>
            <a:srgbClr val="F2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26295" y="2468879"/>
            <a:ext cx="2285999" cy="502919"/>
          </a:xfrm>
          <a:prstGeom prst="rect">
            <a:avLst/>
          </a:prstGeom>
          <a:noFill/>
        </p:spPr>
        <p:txBody>
          <a:bodyPr wrap="square" lIns="0" rIns="0" tIns="0" bIns="0">
            <a:spAutoFit/>
          </a:bodyPr>
          <a:lstStyle/>
          <a:p>
            <a:pPr>
              <a:spcAft>
                <a:spcPts val="600"/>
              </a:spcAft>
              <a:defRPr sz="2999" b="1">
                <a:solidFill>
                  <a:srgbClr val="D99A22"/>
                </a:solidFill>
                <a:latin typeface="Calibri"/>
              </a:defRPr>
            </a:pPr>
            <a:r>
              <a:t>04</a:t>
            </a:r>
          </a:p>
        </p:txBody>
      </p:sp>
      <p:sp>
        <p:nvSpPr>
          <p:cNvPr id="19" name="TextBox 18"/>
          <p:cNvSpPr txBox="1"/>
          <p:nvPr/>
        </p:nvSpPr>
        <p:spPr>
          <a:xfrm>
            <a:off x="9226295" y="3136391"/>
            <a:ext cx="2285999" cy="502919"/>
          </a:xfrm>
          <a:prstGeom prst="rect">
            <a:avLst/>
          </a:prstGeom>
          <a:noFill/>
        </p:spPr>
        <p:txBody>
          <a:bodyPr wrap="square" lIns="0" rIns="0" tIns="0" bIns="0">
            <a:spAutoFit/>
          </a:bodyPr>
          <a:lstStyle/>
          <a:p>
            <a:pPr>
              <a:spcAft>
                <a:spcPts val="600"/>
              </a:spcAft>
              <a:defRPr sz="2099" b="1">
                <a:solidFill>
                  <a:srgbClr val="182337"/>
                </a:solidFill>
                <a:latin typeface="Calibri"/>
              </a:defRPr>
            </a:pPr>
            <a:r>
              <a:t>Analyst review</a:t>
            </a:r>
          </a:p>
        </p:txBody>
      </p:sp>
      <p:sp>
        <p:nvSpPr>
          <p:cNvPr id="20" name="TextBox 19"/>
          <p:cNvSpPr txBox="1"/>
          <p:nvPr/>
        </p:nvSpPr>
        <p:spPr>
          <a:xfrm>
            <a:off x="9226295" y="3840479"/>
            <a:ext cx="2285999" cy="640079"/>
          </a:xfrm>
          <a:prstGeom prst="rect">
            <a:avLst/>
          </a:prstGeom>
          <a:noFill/>
        </p:spPr>
        <p:txBody>
          <a:bodyPr wrap="square" lIns="0" rIns="0" tIns="0" bIns="0">
            <a:spAutoFit/>
          </a:bodyPr>
          <a:lstStyle/>
          <a:p>
            <a:pPr>
              <a:spcAft>
                <a:spcPts val="600"/>
              </a:spcAft>
              <a:defRPr sz="1699" b="0">
                <a:solidFill>
                  <a:srgbClr val="182337"/>
                </a:solidFill>
                <a:latin typeface="Calibri"/>
              </a:defRPr>
            </a:pPr>
            <a:r>
              <a:t>Decisions / Search / export</a:t>
            </a:r>
          </a:p>
        </p:txBody>
      </p:sp>
      <p:sp>
        <p:nvSpPr>
          <p:cNvPr id="21" name="TextBox 20"/>
          <p:cNvSpPr txBox="1"/>
          <p:nvPr/>
        </p:nvSpPr>
        <p:spPr>
          <a:xfrm>
            <a:off x="457199" y="5074919"/>
            <a:ext cx="11155679" cy="731519"/>
          </a:xfrm>
          <a:prstGeom prst="rect">
            <a:avLst/>
          </a:prstGeom>
          <a:noFill/>
        </p:spPr>
        <p:txBody>
          <a:bodyPr wrap="square" lIns="0" rIns="0" tIns="0" bIns="0">
            <a:spAutoFit/>
          </a:bodyPr>
          <a:lstStyle/>
          <a:p>
            <a:pPr>
              <a:spcAft>
                <a:spcPts val="600"/>
              </a:spcAft>
              <a:defRPr sz="1799" b="0">
                <a:solidFill>
                  <a:srgbClr val="182337"/>
                </a:solidFill>
                <a:latin typeface="Calibri"/>
              </a:defRPr>
            </a:pPr>
            <a:r>
              <a:t>The first three cards are parallel app paths, not one processing chain. Raw email reaches AI Language; only the desktop path applies local preparation before its model call.</a:t>
            </a:r>
          </a:p>
        </p:txBody>
      </p:sp>
      <p:sp>
        <p:nvSpPr>
          <p:cNvPr id="22" name="TextBox 21"/>
          <p:cNvSpPr txBox="1"/>
          <p:nvPr/>
        </p:nvSpPr>
        <p:spPr>
          <a:xfrm>
            <a:off x="457199" y="6272783"/>
            <a:ext cx="9692639" cy="274319"/>
          </a:xfrm>
          <a:prstGeom prst="rect">
            <a:avLst/>
          </a:prstGeom>
          <a:noFill/>
        </p:spPr>
        <p:txBody>
          <a:bodyPr wrap="square" lIns="0" rIns="0" tIns="0" bIns="0">
            <a:spAutoFit/>
          </a:bodyPr>
          <a:lstStyle/>
          <a:p>
            <a:pPr>
              <a:spcAft>
                <a:spcPts val="600"/>
              </a:spcAft>
              <a:defRPr sz="1099" b="0">
                <a:solidFill>
                  <a:srgbClr val="526176"/>
                </a:solidFill>
                <a:latin typeface="Calibri"/>
              </a:defRPr>
            </a:pPr>
            <a:r>
              <a:t>Generic labels and edited screenshots | Historical results are illustrative, not rerun</a:t>
            </a:r>
          </a:p>
        </p:txBody>
      </p:sp>
      <p:sp>
        <p:nvSpPr>
          <p:cNvPr id="23" name="TextBox 22">
            <a:hlinkClick action="ppaction://hlinksldjump" r:id="rId2"/>
          </p:cNvPr>
          <p:cNvSpPr txBox="1"/>
          <p:nvPr/>
        </p:nvSpPr>
        <p:spPr>
          <a:xfrm>
            <a:off x="10378439" y="6236207"/>
            <a:ext cx="1371599" cy="320039"/>
          </a:xfrm>
          <a:prstGeom prst="rect">
            <a:avLst/>
          </a:prstGeom>
          <a:noFill/>
        </p:spPr>
        <p:txBody>
          <a:bodyPr wrap="square" lIns="0" rIns="0" tIns="0" bIns="0">
            <a:spAutoFit/>
          </a:bodyPr>
          <a:lstStyle/>
          <a:p>
            <a:pPr>
              <a:spcAft>
                <a:spcPts val="600"/>
              </a:spcAft>
              <a:defRPr sz="1299" b="1">
                <a:solidFill>
                  <a:srgbClr val="006B65"/>
                </a:solidFill>
                <a:latin typeface="Calibri"/>
              </a:defRPr>
            </a:pPr>
            <a:r>
              <a:t>START TOUR &gt;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Intake triage and video evidence</dc:title>
  <dc:subject>Generic solution click-through demonstration</dc:subject>
  <dc:creator>John Straumann</dc:creator>
  <cp:keywords>IntakeTriageAndVideoEvidence</cp:keywords>
  <dc:description>Customer branding generalized. Edited historical captures; results not rerun.</dc:description>
  <cp:lastModifiedBy>Steve Canny</cp:lastModifiedBy>
  <cp:revision>1</cp:revision>
  <dcterms:created xsi:type="dcterms:W3CDTF">2013-01-27T09:14:16Z</dcterms:created>
  <dcterms:modified xsi:type="dcterms:W3CDTF">2013-01-27T09:15:58Z</dcterms:modified>
  <cp:category/>
  <dc:identifier/>
</cp:coreProperties>
</file>