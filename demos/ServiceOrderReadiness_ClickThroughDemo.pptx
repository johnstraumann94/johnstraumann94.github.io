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32479-2A5A-4704-92C1-ECAAC1FF2000}"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365B75-5C77-4371-ACB2-6810D5C5351A}" type="slidenum">
              <a:rPr lang="en-US" smtClean="0"/>
              <a:t>‹#›</a:t>
            </a:fld>
            <a:endParaRPr lang="en-US"/>
          </a:p>
        </p:txBody>
      </p:sp>
    </p:spTree>
    <p:extLst>
      <p:ext uri="{BB962C8B-B14F-4D97-AF65-F5344CB8AC3E}">
        <p14:creationId xmlns:p14="http://schemas.microsoft.com/office/powerpoint/2010/main" val="1264667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challenge: Installation appointments fail because site access, contact confirmation, required equipment or prerequisite work is missing. Staff repeatedly interpret unstructured customer notes and readiness checklists.</a:t>
            </a:r>
          </a:p>
          <a:p>
            <a:r>
              <a:rPr lang="en-US"/>
              <a:t>Business value: Prepare an evidence-backed installation-readiness packet and missing-prerequisite request. Measure prerequisite detection and coordinator preparation time, not promised installation completion.</a:t>
            </a:r>
          </a:p>
          <a:p>
            <a:r>
              <a:rPr lang="en-US"/>
              <a:t>Measurement targets are hypotheses: no analyst-time baseline or monetary savings was measured. MVP: MVP boundary: One fictional provider and two service packages. Use synthetic service addresses and stock snapshots. Produce a scheduling recommendation only; no live appointment, network configuration or feasibility guarantee.</a:t>
            </a:r>
          </a:p>
          <a:p>
            <a:r>
              <a:rPr lang="en-US"/>
              <a:t>Boundary: Human boundary: Do not infer connectivity, site safety or customer authority from free text. Stock and appointment capacity require fresh authoritative checks before any real scheduling action.</a:t>
            </a:r>
          </a:p>
        </p:txBody>
      </p:sp>
      <p:sp>
        <p:nvSpPr>
          <p:cNvPr id="4" name="Slide Number Placeholder 3"/>
          <p:cNvSpPr>
            <a:spLocks noGrp="1"/>
          </p:cNvSpPr>
          <p:nvPr>
            <p:ph type="sldNum" sz="quarter" idx="5"/>
          </p:nvPr>
        </p:nvSpPr>
        <p:spPr/>
        <p:txBody>
          <a:bodyPr/>
          <a:lstStyle/>
          <a:p>
            <a:fld id="{A7365B75-5C77-4371-ACB2-6810D5C5351A}" type="slidenum">
              <a:rPr lang="en-US" smtClean="0"/>
              <a:t>1</a:t>
            </a:fld>
            <a:endParaRPr lang="en-US"/>
          </a:p>
        </p:txBody>
      </p:sp>
    </p:spTree>
    <p:extLst>
      <p:ext uri="{BB962C8B-B14F-4D97-AF65-F5344CB8AC3E}">
        <p14:creationId xmlns:p14="http://schemas.microsoft.com/office/powerpoint/2010/main" val="240678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deployed Azure inventory is in Infrastructure\deployed-resources.json. Each use case has a separate resource group in subscription dfc418e8-191e-453b-ad84-a10e863314ca. A shared private execution network lives in the invoice resource group; SQL private endpoints live with each demo. The temporary container is deleted after execution. Azure CLI operator tokens are supplied as secure container environment values, not embedded credentials. This desktop demo does not claim hosted managed-identity APIs or production app roles. Business benefit: a repeatable, evidence-visible workflow with exact rules outside the model. Screenshots are replay of saved live service output, not fresh calls from PowerPoint. Existing Key Vault is unnecessary because the app has no stored secrets.</a:t>
            </a:r>
          </a:p>
        </p:txBody>
      </p:sp>
      <p:sp>
        <p:nvSpPr>
          <p:cNvPr id="4" name="Slide Number Placeholder 3"/>
          <p:cNvSpPr>
            <a:spLocks noGrp="1"/>
          </p:cNvSpPr>
          <p:nvPr>
            <p:ph type="sldNum" sz="quarter" idx="5"/>
          </p:nvPr>
        </p:nvSpPr>
        <p:spPr/>
        <p:txBody>
          <a:bodyPr/>
          <a:lstStyle/>
          <a:p>
            <a:fld id="{A7365B75-5C77-4371-ACB2-6810D5C5351A}" type="slidenum">
              <a:rPr lang="en-US" smtClean="0"/>
              <a:t>2</a:t>
            </a:fld>
            <a:endParaRPr lang="en-US"/>
          </a:p>
        </p:txBody>
      </p:sp>
    </p:spTree>
    <p:extLst>
      <p:ext uri="{BB962C8B-B14F-4D97-AF65-F5344CB8AC3E}">
        <p14:creationId xmlns:p14="http://schemas.microsoft.com/office/powerpoint/2010/main" val="2173587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Select a synthetic service order and display its required prerequisites.</a:t>
            </a:r>
          </a:p>
          <a:p>
            <a:r>
              <a:rPr lang="en-US"/>
              <a:t>Fixture: normal-01. Capture timestamp: 2026-10-28T15:36:22.8090757Z. State: ReviewReady. Rule findings: .</a:t>
            </a:r>
          </a:p>
          <a:p>
            <a:r>
              <a:rPr lang="en-US"/>
              <a:t>Business value and benefits: Prepare an evidence-backed installation-readiness packet and missing-prerequisite request. Measure prerequisite detection and coordinator preparation time, not promised installation completion. This step makes the evidence, uncertainty or human boundary visible. Human boundary: Do not infer connectivity, site safety or customer authority from free text. Stock and appointment capacity require fresh authoritative checks before any real scheduling action.</a:t>
            </a:r>
          </a:p>
          <a:p>
            <a:r>
              <a:rPr lang="en-US"/>
              <a:t>What the user sees: Exact fixture facts and deterministic checks, a source-linked internal AI draft, and explicit human-review limits.</a:t>
            </a:r>
          </a:p>
          <a:p>
            <a:r>
              <a:rPr lang="en-US"/>
              <a:t>Evidence: saved live run 2026-10-28T15:28:18.4821106+00:00,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connectivity, site safety or customer authority from free text. Stock and appointment capacity require fresh authoritative checks before any real scheduling action.</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A7365B75-5C77-4371-ACB2-6810D5C5351A}" type="slidenum">
              <a:rPr lang="en-US" smtClean="0"/>
              <a:t>3</a:t>
            </a:fld>
            <a:endParaRPr lang="en-US"/>
          </a:p>
        </p:txBody>
      </p:sp>
    </p:spTree>
    <p:extLst>
      <p:ext uri="{BB962C8B-B14F-4D97-AF65-F5344CB8AC3E}">
        <p14:creationId xmlns:p14="http://schemas.microsoft.com/office/powerpoint/2010/main" val="2855349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Load a site missing access authorization and inspect the blocked scheduling draft.</a:t>
            </a:r>
          </a:p>
          <a:p>
            <a:r>
              <a:rPr lang="en-US"/>
              <a:t>Fixture: incomplete-01. Capture timestamp: 2026-10-28T15:36:23.8209758Z. State: NeedsInformation. Rule findings: ACCESS_REQUIRED.</a:t>
            </a:r>
          </a:p>
          <a:p>
            <a:r>
              <a:rPr lang="en-US"/>
              <a:t>Business value and benefits: Prepare an evidence-backed installation-readiness packet and missing-prerequisite request. Measure prerequisite detection and coordinator preparation time, not promised installation completion. This step makes the evidence, uncertainty or human boundary visible. Human boundary: Do not infer connectivity, site safety or customer authority from free text. Stock and appointment capacity require fresh authoritative checks before any real scheduling action.</a:t>
            </a:r>
          </a:p>
          <a:p>
            <a:r>
              <a:rPr lang="en-US"/>
              <a:t>What the user sees: NeedsInformation: ACCESS_REQUIRED. The finding remains visible beside the evidence and approved sources.</a:t>
            </a:r>
          </a:p>
          <a:p>
            <a:r>
              <a:rPr lang="en-US"/>
              <a:t>Evidence: saved live run 2026-10-28T15:28:20.8788258+00:00,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connectivity, site safety or customer authority from free text. Stock and appointment capacity require fresh authoritative checks before any real scheduling action.</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A7365B75-5C77-4371-ACB2-6810D5C5351A}" type="slidenum">
              <a:rPr lang="en-US" smtClean="0"/>
              <a:t>4</a:t>
            </a:fld>
            <a:endParaRPr lang="en-US"/>
          </a:p>
        </p:txBody>
      </p:sp>
    </p:spTree>
    <p:extLst>
      <p:ext uri="{BB962C8B-B14F-4D97-AF65-F5344CB8AC3E}">
        <p14:creationId xmlns:p14="http://schemas.microsoft.com/office/powerpoint/2010/main" val="3291780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Open the package-specific source explaining the requirement.</a:t>
            </a:r>
          </a:p>
          <a:p>
            <a:r>
              <a:rPr lang="en-US"/>
              <a:t>Fixture: normal-01. Capture timestamp: 2026-10-28T15:36:24.8269618Z. State: ReviewReady. Rule findings: .</a:t>
            </a:r>
          </a:p>
          <a:p>
            <a:r>
              <a:rPr lang="en-US"/>
              <a:t>Business value and benefits: Prepare an evidence-backed installation-readiness packet and missing-prerequisite request. Measure prerequisite detection and coordinator preparation time, not promised installation completion. This step makes the evidence, uncertainty or human boundary visible. Human boundary: Do not infer connectivity, site safety or customer authority from free text. Stock and appointment capacity require fresh authoritative checks before any real scheduling action.</a:t>
            </a:r>
          </a:p>
          <a:p>
            <a:r>
              <a:rPr lang="en-US"/>
              <a:t>What the user sees: Exact fixture facts and deterministic checks, a source-linked internal AI draft, and explicit human-review limits.</a:t>
            </a:r>
          </a:p>
          <a:p>
            <a:r>
              <a:rPr lang="en-US"/>
              <a:t>Evidence: saved live run 2026-10-28T15:28:18.4821106+00:00,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connectivity, site safety or customer authority from free text. Stock and appointment capacity require fresh authoritative checks before any real scheduling action.</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A7365B75-5C77-4371-ACB2-6810D5C5351A}" type="slidenum">
              <a:rPr lang="en-US" smtClean="0"/>
              <a:t>5</a:t>
            </a:fld>
            <a:endParaRPr lang="en-US"/>
          </a:p>
        </p:txBody>
      </p:sp>
    </p:spTree>
    <p:extLst>
      <p:ext uri="{BB962C8B-B14F-4D97-AF65-F5344CB8AC3E}">
        <p14:creationId xmlns:p14="http://schemas.microsoft.com/office/powerpoint/2010/main" val="2911312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Load stale stock and demonstrate a refresh-required status.</a:t>
            </a:r>
          </a:p>
          <a:p>
            <a:r>
              <a:rPr lang="en-US"/>
              <a:t>Fixture: incomplete-02. Capture timestamp: 2026-10-28T15:36:25.8252376Z. State: NeedsInformation. Rule findings: REFRESH_STOCK.</a:t>
            </a:r>
          </a:p>
          <a:p>
            <a:r>
              <a:rPr lang="en-US"/>
              <a:t>Business value and benefits: Prepare an evidence-backed installation-readiness packet and missing-prerequisite request. Measure prerequisite detection and coordinator preparation time, not promised installation completion. This step makes the evidence, uncertainty or human boundary visible. Human boundary: Do not infer connectivity, site safety or customer authority from free text. Stock and appointment capacity require fresh authoritative checks before any real scheduling action.</a:t>
            </a:r>
          </a:p>
          <a:p>
            <a:r>
              <a:rPr lang="en-US"/>
              <a:t>What the user sees: NeedsInformation: REFRESH_STOCK. The finding remains visible beside the evidence and approved sources.</a:t>
            </a:r>
          </a:p>
          <a:p>
            <a:r>
              <a:rPr lang="en-US"/>
              <a:t>Evidence: saved live run 2026-10-28T15:28:23.5274978+00:00,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connectivity, site safety or customer authority from free text. Stock and appointment capacity require fresh authoritative checks before any real scheduling action.</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A7365B75-5C77-4371-ACB2-6810D5C5351A}" type="slidenum">
              <a:rPr lang="en-US" smtClean="0"/>
              <a:t>6</a:t>
            </a:fld>
            <a:endParaRPr lang="en-US"/>
          </a:p>
        </p:txBody>
      </p:sp>
    </p:spTree>
    <p:extLst>
      <p:ext uri="{BB962C8B-B14F-4D97-AF65-F5344CB8AC3E}">
        <p14:creationId xmlns:p14="http://schemas.microsoft.com/office/powerpoint/2010/main" val="880717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Add the missing attestation and regenerate the readiness brief.</a:t>
            </a:r>
          </a:p>
          <a:p>
            <a:r>
              <a:rPr lang="en-US"/>
              <a:t>Fixture: normal-02. Capture timestamp: 2026-10-28T15:36:26.8645204Z. State: ReviewReady. Rule findings: .</a:t>
            </a:r>
          </a:p>
          <a:p>
            <a:r>
              <a:rPr lang="en-US"/>
              <a:t>Business value and benefits: Prepare an evidence-backed installation-readiness packet and missing-prerequisite request. Measure prerequisite detection and coordinator preparation time, not promised installation completion. This step makes the evidence, uncertainty or human boundary visible. Human boundary: Do not infer connectivity, site safety or customer authority from free text. Stock and appointment capacity require fresh authoritative checks before any real scheduling action.</a:t>
            </a:r>
          </a:p>
          <a:p>
            <a:r>
              <a:rPr lang="en-US"/>
              <a:t>What the user sees: Exact fixture facts and deterministic checks, a source-linked internal AI draft, and explicit human-review limits.</a:t>
            </a:r>
          </a:p>
          <a:p>
            <a:r>
              <a:rPr lang="en-US"/>
              <a:t>Evidence: saved live run 2026-10-28T15:28:25.758247+00:00,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connectivity, site safety or customer authority from free text. Stock and appointment capacity require fresh authoritative checks before any real scheduling action.</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A7365B75-5C77-4371-ACB2-6810D5C5351A}" type="slidenum">
              <a:rPr lang="en-US" smtClean="0"/>
              <a:t>7</a:t>
            </a:fld>
            <a:endParaRPr lang="en-US"/>
          </a:p>
        </p:txBody>
      </p:sp>
    </p:spTree>
    <p:extLst>
      <p:ext uri="{BB962C8B-B14F-4D97-AF65-F5344CB8AC3E}">
        <p14:creationId xmlns:p14="http://schemas.microsoft.com/office/powerpoint/2010/main" val="156790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Approve a proposed scheduling payload; show no appointment was booked.</a:t>
            </a:r>
          </a:p>
          <a:p>
            <a:r>
              <a:rPr lang="en-US"/>
              <a:t>Fixture: normal-02. Capture timestamp: 2026-10-28T15:36:27.9330693Z. State: ReviewReady. Rule findings: .</a:t>
            </a:r>
          </a:p>
          <a:p>
            <a:r>
              <a:rPr lang="en-US"/>
              <a:t>Business value and benefits: Prepare an evidence-backed installation-readiness packet and missing-prerequisite request. Measure prerequisite detection and coordinator preparation time, not promised installation completion. This step makes the evidence, uncertainty or human boundary visible. Human boundary: Do not infer connectivity, site safety or customer authority from free text. Stock and appointment capacity require fresh authoritative checks before any real scheduling action.</a:t>
            </a:r>
          </a:p>
          <a:p>
            <a:r>
              <a:rPr lang="en-US"/>
              <a:t>What the user sees: A persisted internal approval, duplicate-safe operation key, audit timeline and explicitly Simulated handoff.</a:t>
            </a:r>
          </a:p>
          <a:p>
            <a:r>
              <a:rPr lang="en-US"/>
              <a:t>Evidence: saved live run 2026-10-28T15:28:25.758247+00:00,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Do not infer connectivity, site safety or customer authority from free text. Stock and appointment capacity require fresh authoritative checks before any real scheduling action.</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A7365B75-5C77-4371-ACB2-6810D5C5351A}" type="slidenum">
              <a:rPr lang="en-US" smtClean="0"/>
              <a:t>8</a:t>
            </a:fld>
            <a:endParaRPr lang="en-US"/>
          </a:p>
        </p:txBody>
      </p:sp>
    </p:spTree>
    <p:extLst>
      <p:ext uri="{BB962C8B-B14F-4D97-AF65-F5344CB8AC3E}">
        <p14:creationId xmlns:p14="http://schemas.microsoft.com/office/powerpoint/2010/main" val="275722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value: staff receive a reproducible internal review packet with source provenance, exact calculations where relevant, visible uncertainty and a traceable human decision. Benefits are demonstrated workflow properties, not measured economic gains. Setup, source, fixtures, raw Azure evidence, screenshots and IaC are retained in the demo folder. The source blueprint contains a larger production backlog; these deliverables intentionally do not claim a public intake service, malware-scanned upload path, durable background worker or operational integration. Azure SQL, Search and shared NAT/private networking have recurring costs until deliberately decommissioned.</a:t>
            </a:r>
          </a:p>
        </p:txBody>
      </p:sp>
      <p:sp>
        <p:nvSpPr>
          <p:cNvPr id="4" name="Slide Number Placeholder 3"/>
          <p:cNvSpPr>
            <a:spLocks noGrp="1"/>
          </p:cNvSpPr>
          <p:nvPr>
            <p:ph type="sldNum" sz="quarter" idx="5"/>
          </p:nvPr>
        </p:nvSpPr>
        <p:spPr/>
        <p:txBody>
          <a:bodyPr/>
          <a:lstStyle/>
          <a:p>
            <a:fld id="{A7365B75-5C77-4371-ACB2-6810D5C5351A}" type="slidenum">
              <a:rPr lang="en-US" smtClean="0"/>
              <a:t>9</a:t>
            </a:fld>
            <a:endParaRPr lang="en-US"/>
          </a:p>
        </p:txBody>
      </p:sp>
    </p:spTree>
    <p:extLst>
      <p:ext uri="{BB962C8B-B14F-4D97-AF65-F5344CB8AC3E}">
        <p14:creationId xmlns:p14="http://schemas.microsoft.com/office/powerpoint/2010/main" val="3227996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A49A6-6D07-7923-6E78-2B1741242465}"/>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EC1761-4D7A-7D73-C9AA-898A48CF9317}"/>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36F410-3B4B-B0B0-9CDD-5C934A3706C1}"/>
              </a:ext>
            </a:extLst>
          </p:cNvPr>
          <p:cNvSpPr>
            <a:spLocks noGrp="1"/>
          </p:cNvSpPr>
          <p:nvPr>
            <p:ph type="dt" sz="half" idx="10"/>
          </p:nvPr>
        </p:nvSpPr>
        <p:spPr/>
        <p:txBody>
          <a:bodyPr/>
          <a:lstStyle/>
          <a:p>
            <a:fld id="{F3165A1F-8CDE-49E4-BDFF-8C3D1D5E76F3}" type="datetimeFigureOut">
              <a:rPr lang="en-US" smtClean="0"/>
              <a:t>10/28/2026</a:t>
            </a:fld>
            <a:endParaRPr lang="en-US"/>
          </a:p>
        </p:txBody>
      </p:sp>
      <p:sp>
        <p:nvSpPr>
          <p:cNvPr id="5" name="Footer Placeholder 4">
            <a:extLst>
              <a:ext uri="{FF2B5EF4-FFF2-40B4-BE49-F238E27FC236}">
                <a16:creationId xmlns:a16="http://schemas.microsoft.com/office/drawing/2014/main" id="{CE6FB2CA-6058-023C-2CC5-4EC86472E8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CA2672-98B7-A53C-8B9C-8D12492B3B06}"/>
              </a:ext>
            </a:extLst>
          </p:cNvPr>
          <p:cNvSpPr>
            <a:spLocks noGrp="1"/>
          </p:cNvSpPr>
          <p:nvPr>
            <p:ph type="sldNum" sz="quarter" idx="12"/>
          </p:nvPr>
        </p:nvSpPr>
        <p:spPr/>
        <p:txBody>
          <a:bodyPr/>
          <a:lstStyle/>
          <a:p>
            <a:fld id="{0D33B523-F7DB-4719-AC5D-B6DFE4D945D7}" type="slidenum">
              <a:rPr lang="en-US" smtClean="0"/>
              <a:t>‹#›</a:t>
            </a:fld>
            <a:endParaRPr lang="en-US"/>
          </a:p>
        </p:txBody>
      </p:sp>
    </p:spTree>
    <p:extLst>
      <p:ext uri="{BB962C8B-B14F-4D97-AF65-F5344CB8AC3E}">
        <p14:creationId xmlns:p14="http://schemas.microsoft.com/office/powerpoint/2010/main" val="2349881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C96C8-E983-C61D-C9BD-02408D8EAB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13E0EA-0AFF-DEAF-BE52-EE66644A7A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330A7A-2F77-22A8-C8C7-5412517D1F96}"/>
              </a:ext>
            </a:extLst>
          </p:cNvPr>
          <p:cNvSpPr>
            <a:spLocks noGrp="1"/>
          </p:cNvSpPr>
          <p:nvPr>
            <p:ph type="dt" sz="half" idx="10"/>
          </p:nvPr>
        </p:nvSpPr>
        <p:spPr/>
        <p:txBody>
          <a:bodyPr/>
          <a:lstStyle/>
          <a:p>
            <a:fld id="{F3165A1F-8CDE-49E4-BDFF-8C3D1D5E76F3}" type="datetimeFigureOut">
              <a:rPr lang="en-US" smtClean="0"/>
              <a:t>10/28/2026</a:t>
            </a:fld>
            <a:endParaRPr lang="en-US"/>
          </a:p>
        </p:txBody>
      </p:sp>
      <p:sp>
        <p:nvSpPr>
          <p:cNvPr id="5" name="Footer Placeholder 4">
            <a:extLst>
              <a:ext uri="{FF2B5EF4-FFF2-40B4-BE49-F238E27FC236}">
                <a16:creationId xmlns:a16="http://schemas.microsoft.com/office/drawing/2014/main" id="{7FB7E0D8-A2F4-C196-FEC6-F3746C2289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C4C59E-9AAD-8023-5640-0476EE20425D}"/>
              </a:ext>
            </a:extLst>
          </p:cNvPr>
          <p:cNvSpPr>
            <a:spLocks noGrp="1"/>
          </p:cNvSpPr>
          <p:nvPr>
            <p:ph type="sldNum" sz="quarter" idx="12"/>
          </p:nvPr>
        </p:nvSpPr>
        <p:spPr/>
        <p:txBody>
          <a:bodyPr/>
          <a:lstStyle/>
          <a:p>
            <a:fld id="{0D33B523-F7DB-4719-AC5D-B6DFE4D945D7}" type="slidenum">
              <a:rPr lang="en-US" smtClean="0"/>
              <a:t>‹#›</a:t>
            </a:fld>
            <a:endParaRPr lang="en-US"/>
          </a:p>
        </p:txBody>
      </p:sp>
    </p:spTree>
    <p:extLst>
      <p:ext uri="{BB962C8B-B14F-4D97-AF65-F5344CB8AC3E}">
        <p14:creationId xmlns:p14="http://schemas.microsoft.com/office/powerpoint/2010/main" val="1435665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024C9-F51F-2A2A-97AA-31F4735FF41C}"/>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DB0336-E246-F2AE-0AC9-1985A56C3964}"/>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35BDCC-3884-7CC6-C811-79CAC1321B21}"/>
              </a:ext>
            </a:extLst>
          </p:cNvPr>
          <p:cNvSpPr>
            <a:spLocks noGrp="1"/>
          </p:cNvSpPr>
          <p:nvPr>
            <p:ph type="dt" sz="half" idx="10"/>
          </p:nvPr>
        </p:nvSpPr>
        <p:spPr/>
        <p:txBody>
          <a:bodyPr/>
          <a:lstStyle/>
          <a:p>
            <a:fld id="{F3165A1F-8CDE-49E4-BDFF-8C3D1D5E76F3}" type="datetimeFigureOut">
              <a:rPr lang="en-US" smtClean="0"/>
              <a:t>10/28/2026</a:t>
            </a:fld>
            <a:endParaRPr lang="en-US"/>
          </a:p>
        </p:txBody>
      </p:sp>
      <p:sp>
        <p:nvSpPr>
          <p:cNvPr id="5" name="Footer Placeholder 4">
            <a:extLst>
              <a:ext uri="{FF2B5EF4-FFF2-40B4-BE49-F238E27FC236}">
                <a16:creationId xmlns:a16="http://schemas.microsoft.com/office/drawing/2014/main" id="{92159C2C-5C68-401A-814C-A1D297CB35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0305A9-1E65-C5F4-A2C3-921EC138921A}"/>
              </a:ext>
            </a:extLst>
          </p:cNvPr>
          <p:cNvSpPr>
            <a:spLocks noGrp="1"/>
          </p:cNvSpPr>
          <p:nvPr>
            <p:ph type="sldNum" sz="quarter" idx="12"/>
          </p:nvPr>
        </p:nvSpPr>
        <p:spPr/>
        <p:txBody>
          <a:bodyPr/>
          <a:lstStyle/>
          <a:p>
            <a:fld id="{0D33B523-F7DB-4719-AC5D-B6DFE4D945D7}" type="slidenum">
              <a:rPr lang="en-US" smtClean="0"/>
              <a:t>‹#›</a:t>
            </a:fld>
            <a:endParaRPr lang="en-US"/>
          </a:p>
        </p:txBody>
      </p:sp>
    </p:spTree>
    <p:extLst>
      <p:ext uri="{BB962C8B-B14F-4D97-AF65-F5344CB8AC3E}">
        <p14:creationId xmlns:p14="http://schemas.microsoft.com/office/powerpoint/2010/main" val="1572342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76EA2-2EDB-6EB8-A9E4-F605ACBD3B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386480-99AD-C9E1-829E-D4063DE1A8EB}"/>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04B501-8DFC-2E4A-337F-906B6B9F47D4}"/>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73C6CA-C703-E3B1-0AA6-E9F6CBB24013}"/>
              </a:ext>
            </a:extLst>
          </p:cNvPr>
          <p:cNvSpPr>
            <a:spLocks noGrp="1"/>
          </p:cNvSpPr>
          <p:nvPr>
            <p:ph type="dt" sz="half" idx="10"/>
          </p:nvPr>
        </p:nvSpPr>
        <p:spPr/>
        <p:txBody>
          <a:bodyPr/>
          <a:lstStyle/>
          <a:p>
            <a:fld id="{F3165A1F-8CDE-49E4-BDFF-8C3D1D5E76F3}" type="datetimeFigureOut">
              <a:rPr lang="en-US" smtClean="0"/>
              <a:t>10/28/2026</a:t>
            </a:fld>
            <a:endParaRPr lang="en-US"/>
          </a:p>
        </p:txBody>
      </p:sp>
      <p:sp>
        <p:nvSpPr>
          <p:cNvPr id="6" name="Footer Placeholder 5">
            <a:extLst>
              <a:ext uri="{FF2B5EF4-FFF2-40B4-BE49-F238E27FC236}">
                <a16:creationId xmlns:a16="http://schemas.microsoft.com/office/drawing/2014/main" id="{E63B8C2C-2001-08D3-9AF8-D35B3B8CC7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1C4E89-6360-4E0A-B9AA-B76C4D9127EA}"/>
              </a:ext>
            </a:extLst>
          </p:cNvPr>
          <p:cNvSpPr>
            <a:spLocks noGrp="1"/>
          </p:cNvSpPr>
          <p:nvPr>
            <p:ph type="sldNum" sz="quarter" idx="12"/>
          </p:nvPr>
        </p:nvSpPr>
        <p:spPr/>
        <p:txBody>
          <a:bodyPr/>
          <a:lstStyle/>
          <a:p>
            <a:fld id="{0D33B523-F7DB-4719-AC5D-B6DFE4D945D7}" type="slidenum">
              <a:rPr lang="en-US" smtClean="0"/>
              <a:t>‹#›</a:t>
            </a:fld>
            <a:endParaRPr lang="en-US"/>
          </a:p>
        </p:txBody>
      </p:sp>
    </p:spTree>
    <p:extLst>
      <p:ext uri="{BB962C8B-B14F-4D97-AF65-F5344CB8AC3E}">
        <p14:creationId xmlns:p14="http://schemas.microsoft.com/office/powerpoint/2010/main" val="4110221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BB15D-EB53-599D-BEB0-C38B3342AD14}"/>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287F41-7324-9FEF-AD48-D61DFE7FBC5F}"/>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5AEBCB-E29B-40B2-2303-C626C14129E1}"/>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B1A681-F6DF-D038-EDC7-DF8DA88BF0F1}"/>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CCA778-69A7-3BBB-5C67-FC755A9A96B9}"/>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4335C6-359E-D708-EE8B-6996CBF6B92A}"/>
              </a:ext>
            </a:extLst>
          </p:cNvPr>
          <p:cNvSpPr>
            <a:spLocks noGrp="1"/>
          </p:cNvSpPr>
          <p:nvPr>
            <p:ph type="dt" sz="half" idx="10"/>
          </p:nvPr>
        </p:nvSpPr>
        <p:spPr/>
        <p:txBody>
          <a:bodyPr/>
          <a:lstStyle/>
          <a:p>
            <a:fld id="{F3165A1F-8CDE-49E4-BDFF-8C3D1D5E76F3}" type="datetimeFigureOut">
              <a:rPr lang="en-US" smtClean="0"/>
              <a:t>10/28/2026</a:t>
            </a:fld>
            <a:endParaRPr lang="en-US"/>
          </a:p>
        </p:txBody>
      </p:sp>
      <p:sp>
        <p:nvSpPr>
          <p:cNvPr id="8" name="Footer Placeholder 7">
            <a:extLst>
              <a:ext uri="{FF2B5EF4-FFF2-40B4-BE49-F238E27FC236}">
                <a16:creationId xmlns:a16="http://schemas.microsoft.com/office/drawing/2014/main" id="{A74B31F6-567F-A35D-5580-DBA0247C14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1EB9CE-697A-4507-2721-AD77E23B1B57}"/>
              </a:ext>
            </a:extLst>
          </p:cNvPr>
          <p:cNvSpPr>
            <a:spLocks noGrp="1"/>
          </p:cNvSpPr>
          <p:nvPr>
            <p:ph type="sldNum" sz="quarter" idx="12"/>
          </p:nvPr>
        </p:nvSpPr>
        <p:spPr/>
        <p:txBody>
          <a:bodyPr/>
          <a:lstStyle/>
          <a:p>
            <a:fld id="{0D33B523-F7DB-4719-AC5D-B6DFE4D945D7}" type="slidenum">
              <a:rPr lang="en-US" smtClean="0"/>
              <a:t>‹#›</a:t>
            </a:fld>
            <a:endParaRPr lang="en-US"/>
          </a:p>
        </p:txBody>
      </p:sp>
    </p:spTree>
    <p:extLst>
      <p:ext uri="{BB962C8B-B14F-4D97-AF65-F5344CB8AC3E}">
        <p14:creationId xmlns:p14="http://schemas.microsoft.com/office/powerpoint/2010/main" val="1947585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B1E2-7FAA-E4A9-2999-00DBBAD80D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94588A-2527-2B49-9E7E-4E7B58D9FA1A}"/>
              </a:ext>
            </a:extLst>
          </p:cNvPr>
          <p:cNvSpPr>
            <a:spLocks noGrp="1"/>
          </p:cNvSpPr>
          <p:nvPr>
            <p:ph type="dt" sz="half" idx="10"/>
          </p:nvPr>
        </p:nvSpPr>
        <p:spPr/>
        <p:txBody>
          <a:bodyPr/>
          <a:lstStyle/>
          <a:p>
            <a:fld id="{F3165A1F-8CDE-49E4-BDFF-8C3D1D5E76F3}" type="datetimeFigureOut">
              <a:rPr lang="en-US" smtClean="0"/>
              <a:t>10/28/2026</a:t>
            </a:fld>
            <a:endParaRPr lang="en-US"/>
          </a:p>
        </p:txBody>
      </p:sp>
      <p:sp>
        <p:nvSpPr>
          <p:cNvPr id="4" name="Footer Placeholder 3">
            <a:extLst>
              <a:ext uri="{FF2B5EF4-FFF2-40B4-BE49-F238E27FC236}">
                <a16:creationId xmlns:a16="http://schemas.microsoft.com/office/drawing/2014/main" id="{890514D5-D0EA-85CF-BDAA-87FD2DCF88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12327F-B5AA-EA2E-3D77-28153258885F}"/>
              </a:ext>
            </a:extLst>
          </p:cNvPr>
          <p:cNvSpPr>
            <a:spLocks noGrp="1"/>
          </p:cNvSpPr>
          <p:nvPr>
            <p:ph type="sldNum" sz="quarter" idx="12"/>
          </p:nvPr>
        </p:nvSpPr>
        <p:spPr/>
        <p:txBody>
          <a:bodyPr/>
          <a:lstStyle/>
          <a:p>
            <a:fld id="{0D33B523-F7DB-4719-AC5D-B6DFE4D945D7}" type="slidenum">
              <a:rPr lang="en-US" smtClean="0"/>
              <a:t>‹#›</a:t>
            </a:fld>
            <a:endParaRPr lang="en-US"/>
          </a:p>
        </p:txBody>
      </p:sp>
    </p:spTree>
    <p:extLst>
      <p:ext uri="{BB962C8B-B14F-4D97-AF65-F5344CB8AC3E}">
        <p14:creationId xmlns:p14="http://schemas.microsoft.com/office/powerpoint/2010/main" val="2365271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14024-B075-7F09-89E7-49DFEA53F59D}"/>
              </a:ext>
            </a:extLst>
          </p:cNvPr>
          <p:cNvSpPr>
            <a:spLocks noGrp="1"/>
          </p:cNvSpPr>
          <p:nvPr>
            <p:ph type="dt" sz="half" idx="10"/>
          </p:nvPr>
        </p:nvSpPr>
        <p:spPr/>
        <p:txBody>
          <a:bodyPr/>
          <a:lstStyle/>
          <a:p>
            <a:fld id="{F3165A1F-8CDE-49E4-BDFF-8C3D1D5E76F3}" type="datetimeFigureOut">
              <a:rPr lang="en-US" smtClean="0"/>
              <a:t>10/28/2026</a:t>
            </a:fld>
            <a:endParaRPr lang="en-US"/>
          </a:p>
        </p:txBody>
      </p:sp>
      <p:sp>
        <p:nvSpPr>
          <p:cNvPr id="3" name="Footer Placeholder 2">
            <a:extLst>
              <a:ext uri="{FF2B5EF4-FFF2-40B4-BE49-F238E27FC236}">
                <a16:creationId xmlns:a16="http://schemas.microsoft.com/office/drawing/2014/main" id="{9075A1FB-F4C5-04D8-1D4B-20C2437709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BBE6E7-9AD0-7131-9D6B-99C16778318A}"/>
              </a:ext>
            </a:extLst>
          </p:cNvPr>
          <p:cNvSpPr>
            <a:spLocks noGrp="1"/>
          </p:cNvSpPr>
          <p:nvPr>
            <p:ph type="sldNum" sz="quarter" idx="12"/>
          </p:nvPr>
        </p:nvSpPr>
        <p:spPr/>
        <p:txBody>
          <a:bodyPr/>
          <a:lstStyle/>
          <a:p>
            <a:fld id="{0D33B523-F7DB-4719-AC5D-B6DFE4D945D7}" type="slidenum">
              <a:rPr lang="en-US" smtClean="0"/>
              <a:t>‹#›</a:t>
            </a:fld>
            <a:endParaRPr lang="en-US"/>
          </a:p>
        </p:txBody>
      </p:sp>
    </p:spTree>
    <p:extLst>
      <p:ext uri="{BB962C8B-B14F-4D97-AF65-F5344CB8AC3E}">
        <p14:creationId xmlns:p14="http://schemas.microsoft.com/office/powerpoint/2010/main" val="120814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ABF14-DA2A-F213-E131-2ACEBB2A59DE}"/>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4E5153-13B6-2293-BC70-5F51F2B45EC4}"/>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C4EEBC-E745-D846-C67D-A38CB64D27F8}"/>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482334-76A8-F519-8136-D6D43845B0C4}"/>
              </a:ext>
            </a:extLst>
          </p:cNvPr>
          <p:cNvSpPr>
            <a:spLocks noGrp="1"/>
          </p:cNvSpPr>
          <p:nvPr>
            <p:ph type="dt" sz="half" idx="10"/>
          </p:nvPr>
        </p:nvSpPr>
        <p:spPr/>
        <p:txBody>
          <a:bodyPr/>
          <a:lstStyle/>
          <a:p>
            <a:fld id="{F3165A1F-8CDE-49E4-BDFF-8C3D1D5E76F3}" type="datetimeFigureOut">
              <a:rPr lang="en-US" smtClean="0"/>
              <a:t>10/28/2026</a:t>
            </a:fld>
            <a:endParaRPr lang="en-US"/>
          </a:p>
        </p:txBody>
      </p:sp>
      <p:sp>
        <p:nvSpPr>
          <p:cNvPr id="6" name="Footer Placeholder 5">
            <a:extLst>
              <a:ext uri="{FF2B5EF4-FFF2-40B4-BE49-F238E27FC236}">
                <a16:creationId xmlns:a16="http://schemas.microsoft.com/office/drawing/2014/main" id="{8878CC46-6865-FE3C-6339-4B1401CB0D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B6DF0-DC99-BF9B-7D27-F323B1E69BE9}"/>
              </a:ext>
            </a:extLst>
          </p:cNvPr>
          <p:cNvSpPr>
            <a:spLocks noGrp="1"/>
          </p:cNvSpPr>
          <p:nvPr>
            <p:ph type="sldNum" sz="quarter" idx="12"/>
          </p:nvPr>
        </p:nvSpPr>
        <p:spPr/>
        <p:txBody>
          <a:bodyPr/>
          <a:lstStyle/>
          <a:p>
            <a:fld id="{0D33B523-F7DB-4719-AC5D-B6DFE4D945D7}" type="slidenum">
              <a:rPr lang="en-US" smtClean="0"/>
              <a:t>‹#›</a:t>
            </a:fld>
            <a:endParaRPr lang="en-US"/>
          </a:p>
        </p:txBody>
      </p:sp>
    </p:spTree>
    <p:extLst>
      <p:ext uri="{BB962C8B-B14F-4D97-AF65-F5344CB8AC3E}">
        <p14:creationId xmlns:p14="http://schemas.microsoft.com/office/powerpoint/2010/main" val="1353242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12423-6C30-0517-2473-56F4C1FC0C05}"/>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AA7EA2A-7931-D714-50C8-F12B824F63FD}"/>
              </a:ext>
            </a:extLst>
          </p:cNvPr>
          <p:cNvSpPr>
            <a:spLocks noGrp="1" noChangeAspect="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B8F1B6-2A73-C860-96F7-FE2EA371305D}"/>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D40E2-18D7-7D26-EF46-14A8805C6978}"/>
              </a:ext>
            </a:extLst>
          </p:cNvPr>
          <p:cNvSpPr>
            <a:spLocks noGrp="1"/>
          </p:cNvSpPr>
          <p:nvPr>
            <p:ph type="dt" sz="half" idx="10"/>
          </p:nvPr>
        </p:nvSpPr>
        <p:spPr/>
        <p:txBody>
          <a:bodyPr/>
          <a:lstStyle/>
          <a:p>
            <a:fld id="{F3165A1F-8CDE-49E4-BDFF-8C3D1D5E76F3}" type="datetimeFigureOut">
              <a:rPr lang="en-US" smtClean="0"/>
              <a:t>10/28/2026</a:t>
            </a:fld>
            <a:endParaRPr lang="en-US"/>
          </a:p>
        </p:txBody>
      </p:sp>
      <p:sp>
        <p:nvSpPr>
          <p:cNvPr id="6" name="Footer Placeholder 5">
            <a:extLst>
              <a:ext uri="{FF2B5EF4-FFF2-40B4-BE49-F238E27FC236}">
                <a16:creationId xmlns:a16="http://schemas.microsoft.com/office/drawing/2014/main" id="{13053378-C89C-68D2-F3A9-0B63D9224A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39A1F7-E258-1996-E55E-8552C2F4D33B}"/>
              </a:ext>
            </a:extLst>
          </p:cNvPr>
          <p:cNvSpPr>
            <a:spLocks noGrp="1"/>
          </p:cNvSpPr>
          <p:nvPr>
            <p:ph type="sldNum" sz="quarter" idx="12"/>
          </p:nvPr>
        </p:nvSpPr>
        <p:spPr/>
        <p:txBody>
          <a:bodyPr/>
          <a:lstStyle/>
          <a:p>
            <a:fld id="{0D33B523-F7DB-4719-AC5D-B6DFE4D945D7}" type="slidenum">
              <a:rPr lang="en-US" smtClean="0"/>
              <a:t>‹#›</a:t>
            </a:fld>
            <a:endParaRPr lang="en-US"/>
          </a:p>
        </p:txBody>
      </p:sp>
    </p:spTree>
    <p:extLst>
      <p:ext uri="{BB962C8B-B14F-4D97-AF65-F5344CB8AC3E}">
        <p14:creationId xmlns:p14="http://schemas.microsoft.com/office/powerpoint/2010/main" val="4041739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F6364-CD2D-3913-5C3C-6276EB33CF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C6FE61-48AF-27F2-D06B-0D7A6292AE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FB67D1-9428-7402-537D-D730CA7F6CB9}"/>
              </a:ext>
            </a:extLst>
          </p:cNvPr>
          <p:cNvSpPr>
            <a:spLocks noGrp="1"/>
          </p:cNvSpPr>
          <p:nvPr>
            <p:ph type="dt" sz="half" idx="10"/>
          </p:nvPr>
        </p:nvSpPr>
        <p:spPr/>
        <p:txBody>
          <a:bodyPr/>
          <a:lstStyle/>
          <a:p>
            <a:fld id="{F3165A1F-8CDE-49E4-BDFF-8C3D1D5E76F3}" type="datetimeFigureOut">
              <a:rPr lang="en-US" smtClean="0"/>
              <a:t>10/28/2026</a:t>
            </a:fld>
            <a:endParaRPr lang="en-US"/>
          </a:p>
        </p:txBody>
      </p:sp>
      <p:sp>
        <p:nvSpPr>
          <p:cNvPr id="5" name="Footer Placeholder 4">
            <a:extLst>
              <a:ext uri="{FF2B5EF4-FFF2-40B4-BE49-F238E27FC236}">
                <a16:creationId xmlns:a16="http://schemas.microsoft.com/office/drawing/2014/main" id="{4634E68F-0B6C-53C9-9955-F770F08DB2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5623B-E9E2-31BC-7A0B-D2E4059F1A34}"/>
              </a:ext>
            </a:extLst>
          </p:cNvPr>
          <p:cNvSpPr>
            <a:spLocks noGrp="1"/>
          </p:cNvSpPr>
          <p:nvPr>
            <p:ph type="sldNum" sz="quarter" idx="12"/>
          </p:nvPr>
        </p:nvSpPr>
        <p:spPr/>
        <p:txBody>
          <a:bodyPr/>
          <a:lstStyle/>
          <a:p>
            <a:fld id="{0D33B523-F7DB-4719-AC5D-B6DFE4D945D7}" type="slidenum">
              <a:rPr lang="en-US" smtClean="0"/>
              <a:t>‹#›</a:t>
            </a:fld>
            <a:endParaRPr lang="en-US"/>
          </a:p>
        </p:txBody>
      </p:sp>
    </p:spTree>
    <p:extLst>
      <p:ext uri="{BB962C8B-B14F-4D97-AF65-F5344CB8AC3E}">
        <p14:creationId xmlns:p14="http://schemas.microsoft.com/office/powerpoint/2010/main" val="3751420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BF7ACB-1F94-FD77-4EF5-C743E27642E5}"/>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DF3092-0B96-6DA6-29AB-A0475D3413A7}"/>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A842DB-450D-5DD8-8186-72DE63F30C58}"/>
              </a:ext>
            </a:extLst>
          </p:cNvPr>
          <p:cNvSpPr>
            <a:spLocks noGrp="1"/>
          </p:cNvSpPr>
          <p:nvPr>
            <p:ph type="dt" sz="half" idx="10"/>
          </p:nvPr>
        </p:nvSpPr>
        <p:spPr/>
        <p:txBody>
          <a:bodyPr/>
          <a:lstStyle/>
          <a:p>
            <a:fld id="{F3165A1F-8CDE-49E4-BDFF-8C3D1D5E76F3}" type="datetimeFigureOut">
              <a:rPr lang="en-US" smtClean="0"/>
              <a:t>10/28/2026</a:t>
            </a:fld>
            <a:endParaRPr lang="en-US"/>
          </a:p>
        </p:txBody>
      </p:sp>
      <p:sp>
        <p:nvSpPr>
          <p:cNvPr id="5" name="Footer Placeholder 4">
            <a:extLst>
              <a:ext uri="{FF2B5EF4-FFF2-40B4-BE49-F238E27FC236}">
                <a16:creationId xmlns:a16="http://schemas.microsoft.com/office/drawing/2014/main" id="{AE84E27F-33A1-CC04-A8F8-72494B7499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719BB0-BBB5-3193-5184-F347C7956FFE}"/>
              </a:ext>
            </a:extLst>
          </p:cNvPr>
          <p:cNvSpPr>
            <a:spLocks noGrp="1"/>
          </p:cNvSpPr>
          <p:nvPr>
            <p:ph type="sldNum" sz="quarter" idx="12"/>
          </p:nvPr>
        </p:nvSpPr>
        <p:spPr/>
        <p:txBody>
          <a:bodyPr/>
          <a:lstStyle/>
          <a:p>
            <a:fld id="{0D33B523-F7DB-4719-AC5D-B6DFE4D945D7}" type="slidenum">
              <a:rPr lang="en-US" smtClean="0"/>
              <a:t>‹#›</a:t>
            </a:fld>
            <a:endParaRPr lang="en-US"/>
          </a:p>
        </p:txBody>
      </p:sp>
    </p:spTree>
    <p:extLst>
      <p:ext uri="{BB962C8B-B14F-4D97-AF65-F5344CB8AC3E}">
        <p14:creationId xmlns:p14="http://schemas.microsoft.com/office/powerpoint/2010/main" val="1362275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6B49BB-8560-F0F0-D371-E4EF2EC68E63}"/>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D743D7-5EDE-29A3-8DFF-BFA6AFA666E9}"/>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DBDBA8-2B5C-F934-F489-E75A203980C2}"/>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F3165A1F-8CDE-49E4-BDFF-8C3D1D5E76F3}" type="datetimeFigureOut">
              <a:rPr lang="en-US" smtClean="0"/>
              <a:t>10/28/2026</a:t>
            </a:fld>
            <a:endParaRPr lang="en-US"/>
          </a:p>
        </p:txBody>
      </p:sp>
      <p:sp>
        <p:nvSpPr>
          <p:cNvPr id="5" name="Footer Placeholder 4">
            <a:extLst>
              <a:ext uri="{FF2B5EF4-FFF2-40B4-BE49-F238E27FC236}">
                <a16:creationId xmlns:a16="http://schemas.microsoft.com/office/drawing/2014/main" id="{DF0738CA-FAE3-5FB8-711E-01A120B5C8A5}"/>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0E91B2-836D-7ECB-4226-7487E006AD06}"/>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0D33B523-F7DB-4719-AC5D-B6DFE4D945D7}" type="slidenum">
              <a:rPr lang="en-US" smtClean="0"/>
              <a:t>‹#›</a:t>
            </a:fld>
            <a:endParaRPr lang="en-US"/>
          </a:p>
        </p:txBody>
      </p:sp>
    </p:spTree>
    <p:extLst>
      <p:ext uri="{BB962C8B-B14F-4D97-AF65-F5344CB8AC3E}">
        <p14:creationId xmlns:p14="http://schemas.microsoft.com/office/powerpoint/2010/main" val="3736124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slide" Target="slide4.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2.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DEA06F-907D-6CF5-7686-ABC2E8AACF89}"/>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01 / BUSINESS CONTEXT</a:t>
            </a:r>
          </a:p>
        </p:txBody>
      </p:sp>
      <p:sp>
        <p:nvSpPr>
          <p:cNvPr id="3" name="TextBox 2">
            <a:extLst>
              <a:ext uri="{FF2B5EF4-FFF2-40B4-BE49-F238E27FC236}">
                <a16:creationId xmlns:a16="http://schemas.microsoft.com/office/drawing/2014/main" id="{D833893C-049A-CB50-E5BA-CF7677792F6F}"/>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Telecom Installation Order Readiness</a:t>
            </a:r>
          </a:p>
        </p:txBody>
      </p:sp>
      <p:sp>
        <p:nvSpPr>
          <p:cNvPr id="4" name="TextBox 3">
            <a:extLst>
              <a:ext uri="{FF2B5EF4-FFF2-40B4-BE49-F238E27FC236}">
                <a16:creationId xmlns:a16="http://schemas.microsoft.com/office/drawing/2014/main" id="{B858C79D-587C-19E5-F533-5C907EE393BC}"/>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EB6383B2-7B3C-7F95-C817-25567CC6382E}"/>
              </a:ext>
            </a:extLst>
          </p:cNvPr>
          <p:cNvSpPr/>
          <p:nvPr/>
        </p:nvSpPr>
        <p:spPr>
          <a:xfrm>
            <a:off x="406400" y="1651000"/>
            <a:ext cx="11049000" cy="7175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CEC002D-7FC8-DCCF-F246-D81ECD4DE1DF}"/>
              </a:ext>
            </a:extLst>
          </p:cNvPr>
          <p:cNvSpPr txBox="1"/>
          <p:nvPr/>
        </p:nvSpPr>
        <p:spPr>
          <a:xfrm>
            <a:off x="762000" y="2006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CHALLENGE</a:t>
            </a:r>
          </a:p>
        </p:txBody>
      </p:sp>
      <p:sp>
        <p:nvSpPr>
          <p:cNvPr id="7" name="TextBox 6">
            <a:extLst>
              <a:ext uri="{FF2B5EF4-FFF2-40B4-BE49-F238E27FC236}">
                <a16:creationId xmlns:a16="http://schemas.microsoft.com/office/drawing/2014/main" id="{F667B3E3-1E53-C8F9-E653-FB936A5F46FC}"/>
              </a:ext>
            </a:extLst>
          </p:cNvPr>
          <p:cNvSpPr txBox="1"/>
          <p:nvPr/>
        </p:nvSpPr>
        <p:spPr>
          <a:xfrm>
            <a:off x="762000" y="2565400"/>
            <a:ext cx="10287000" cy="1661993"/>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Installation appointments fail because site access, contact confirmation, required equipment or prerequisite work is missing. Staff repeatedly interpret unstructured customer notes and readiness checklists.</a:t>
            </a:r>
          </a:p>
        </p:txBody>
      </p:sp>
      <p:sp>
        <p:nvSpPr>
          <p:cNvPr id="8" name="TextBox 7">
            <a:extLst>
              <a:ext uri="{FF2B5EF4-FFF2-40B4-BE49-F238E27FC236}">
                <a16:creationId xmlns:a16="http://schemas.microsoft.com/office/drawing/2014/main" id="{2B301A4E-1EEA-13F3-3380-E218ED59A7D0}"/>
              </a:ext>
            </a:extLst>
          </p:cNvPr>
          <p:cNvSpPr txBox="1"/>
          <p:nvPr/>
        </p:nvSpPr>
        <p:spPr>
          <a:xfrm>
            <a:off x="762000" y="4800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REVIEWABLE OUTCOME</a:t>
            </a:r>
          </a:p>
        </p:txBody>
      </p:sp>
      <p:sp>
        <p:nvSpPr>
          <p:cNvPr id="9" name="TextBox 8">
            <a:extLst>
              <a:ext uri="{FF2B5EF4-FFF2-40B4-BE49-F238E27FC236}">
                <a16:creationId xmlns:a16="http://schemas.microsoft.com/office/drawing/2014/main" id="{21AE424C-CF08-A0A3-2552-D55AAF51EB39}"/>
              </a:ext>
            </a:extLst>
          </p:cNvPr>
          <p:cNvSpPr txBox="1"/>
          <p:nvPr/>
        </p:nvSpPr>
        <p:spPr>
          <a:xfrm>
            <a:off x="762000" y="5397500"/>
            <a:ext cx="10287000" cy="1154162"/>
          </a:xfrm>
          <a:prstGeom prst="rect">
            <a:avLst/>
          </a:prstGeom>
          <a:noFill/>
        </p:spPr>
        <p:txBody>
          <a:bodyPr vert="horz" wrap="square" lIns="0" tIns="0" rIns="0" bIns="0" rtlCol="0">
            <a:spAutoFit/>
          </a:bodyPr>
          <a:lstStyle/>
          <a:p>
            <a:r>
              <a:rPr lang="en-US" sz="2500">
                <a:solidFill>
                  <a:srgbClr val="122D46"/>
                </a:solidFill>
                <a:latin typeface="Aptos" panose="020B0004020202020204" pitchFamily="34" charset="0"/>
              </a:rPr>
              <a:t>Prepare an evidence-backed installation-readiness packet and missing-prerequisite request. Measure prerequisite detection and coordinator preparation time, not promised installation completion.</a:t>
            </a:r>
          </a:p>
        </p:txBody>
      </p:sp>
      <p:sp>
        <p:nvSpPr>
          <p:cNvPr id="10" name="TextBox 9">
            <a:extLst>
              <a:ext uri="{FF2B5EF4-FFF2-40B4-BE49-F238E27FC236}">
                <a16:creationId xmlns:a16="http://schemas.microsoft.com/office/drawing/2014/main" id="{42C142D8-0FDE-6361-D9AB-6189E1C88FB4}"/>
              </a:ext>
            </a:extLst>
          </p:cNvPr>
          <p:cNvSpPr txBox="1"/>
          <p:nvPr/>
        </p:nvSpPr>
        <p:spPr>
          <a:xfrm>
            <a:off x="12065000" y="2006600"/>
            <a:ext cx="546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TRUST BOUNDARY</a:t>
            </a:r>
          </a:p>
        </p:txBody>
      </p:sp>
      <p:sp>
        <p:nvSpPr>
          <p:cNvPr id="11" name="TextBox 10">
            <a:extLst>
              <a:ext uri="{FF2B5EF4-FFF2-40B4-BE49-F238E27FC236}">
                <a16:creationId xmlns:a16="http://schemas.microsoft.com/office/drawing/2014/main" id="{8446CF70-C6BF-29DF-BE0E-900F298AA5AF}"/>
              </a:ext>
            </a:extLst>
          </p:cNvPr>
          <p:cNvSpPr txBox="1"/>
          <p:nvPr/>
        </p:nvSpPr>
        <p:spPr>
          <a:xfrm>
            <a:off x="12065000" y="2628900"/>
            <a:ext cx="5461000" cy="1769715"/>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Human boundary: Do not infer connectivity, site safety or customer authority from free text. Stock and appointment capacity require fresh authoritative checks before any real scheduling action.</a:t>
            </a:r>
          </a:p>
        </p:txBody>
      </p:sp>
      <p:sp>
        <p:nvSpPr>
          <p:cNvPr id="12" name="TextBox 11">
            <a:extLst>
              <a:ext uri="{FF2B5EF4-FFF2-40B4-BE49-F238E27FC236}">
                <a16:creationId xmlns:a16="http://schemas.microsoft.com/office/drawing/2014/main" id="{C9A28AF4-553E-7FA2-FB05-49ADE363AAB5}"/>
              </a:ext>
            </a:extLst>
          </p:cNvPr>
          <p:cNvSpPr txBox="1"/>
          <p:nvPr/>
        </p:nvSpPr>
        <p:spPr>
          <a:xfrm>
            <a:off x="12065000" y="6731000"/>
            <a:ext cx="5461000" cy="1015663"/>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Six-step native .NET MAUI walkthrough. All people, records, policies and evidence are fictional.</a:t>
            </a:r>
          </a:p>
        </p:txBody>
      </p:sp>
      <p:sp>
        <p:nvSpPr>
          <p:cNvPr id="13" name="TextBox 12">
            <a:hlinkClick r:id="rId3" action="ppaction://hlinksldjump"/>
            <a:extLst>
              <a:ext uri="{FF2B5EF4-FFF2-40B4-BE49-F238E27FC236}">
                <a16:creationId xmlns:a16="http://schemas.microsoft.com/office/drawing/2014/main" id="{AF106369-FA24-AECF-EE5F-5B50D608BC82}"/>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4" name="TextBox 13">
            <a:hlinkClick r:id="rId4" action="ppaction://hlinksldjump"/>
            <a:extLst>
              <a:ext uri="{FF2B5EF4-FFF2-40B4-BE49-F238E27FC236}">
                <a16:creationId xmlns:a16="http://schemas.microsoft.com/office/drawing/2014/main" id="{B2FDFF54-2A1D-B080-E5FD-EC2760554FE9}"/>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5" name="TextBox 14">
            <a:hlinkClick r:id="rId4" action="ppaction://hlinksldjump"/>
            <a:extLst>
              <a:ext uri="{FF2B5EF4-FFF2-40B4-BE49-F238E27FC236}">
                <a16:creationId xmlns:a16="http://schemas.microsoft.com/office/drawing/2014/main" id="{501762C9-D28C-7377-5A87-67E4483A49DA}"/>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945242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95A5A1-CF18-C96E-8B35-B120560D9F37}"/>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02 / PRODUCTS, FLOW AND EVIDENCE</a:t>
            </a:r>
          </a:p>
        </p:txBody>
      </p:sp>
      <p:sp>
        <p:nvSpPr>
          <p:cNvPr id="3" name="TextBox 2">
            <a:extLst>
              <a:ext uri="{FF2B5EF4-FFF2-40B4-BE49-F238E27FC236}">
                <a16:creationId xmlns:a16="http://schemas.microsoft.com/office/drawing/2014/main" id="{BD59317C-FC73-57B2-2971-3A63408ABCA9}"/>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How this demo is implemented</a:t>
            </a:r>
          </a:p>
        </p:txBody>
      </p:sp>
      <p:sp>
        <p:nvSpPr>
          <p:cNvPr id="4" name="TextBox 3">
            <a:extLst>
              <a:ext uri="{FF2B5EF4-FFF2-40B4-BE49-F238E27FC236}">
                <a16:creationId xmlns:a16="http://schemas.microsoft.com/office/drawing/2014/main" id="{CB6999D9-986D-9B00-B264-BC7866C2486C}"/>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FAEC2AC7-5AC5-6E95-3A56-96BF54AD4DE8}"/>
              </a:ext>
            </a:extLst>
          </p:cNvPr>
          <p:cNvSpPr/>
          <p:nvPr/>
        </p:nvSpPr>
        <p:spPr>
          <a:xfrm>
            <a:off x="4064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C90D264-6700-0D15-9272-B72491DD7BD6}"/>
              </a:ext>
            </a:extLst>
          </p:cNvPr>
          <p:cNvSpPr txBox="1"/>
          <p:nvPr/>
        </p:nvSpPr>
        <p:spPr>
          <a:xfrm>
            <a:off x="6604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01</a:t>
            </a:r>
          </a:p>
        </p:txBody>
      </p:sp>
      <p:sp>
        <p:nvSpPr>
          <p:cNvPr id="7" name="TextBox 6">
            <a:extLst>
              <a:ext uri="{FF2B5EF4-FFF2-40B4-BE49-F238E27FC236}">
                <a16:creationId xmlns:a16="http://schemas.microsoft.com/office/drawing/2014/main" id="{A4C294CF-B223-977F-BBB5-EC2F10222CEE}"/>
              </a:ext>
            </a:extLst>
          </p:cNvPr>
          <p:cNvSpPr txBox="1"/>
          <p:nvPr/>
        </p:nvSpPr>
        <p:spPr>
          <a:xfrm>
            <a:off x="6604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Windows .NET MAUI</a:t>
            </a:r>
          </a:p>
        </p:txBody>
      </p:sp>
      <p:sp>
        <p:nvSpPr>
          <p:cNvPr id="8" name="TextBox 7">
            <a:extLst>
              <a:ext uri="{FF2B5EF4-FFF2-40B4-BE49-F238E27FC236}">
                <a16:creationId xmlns:a16="http://schemas.microsoft.com/office/drawing/2014/main" id="{F1765D94-0376-3361-AE13-B71F46E3ECEE}"/>
              </a:ext>
            </a:extLst>
          </p:cNvPr>
          <p:cNvSpPr txBox="1"/>
          <p:nvPr/>
        </p:nvSpPr>
        <p:spPr>
          <a:xfrm>
            <a:off x="6604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Synthetic staff workbench; exact C# rules; reviewer control.</a:t>
            </a:r>
          </a:p>
        </p:txBody>
      </p:sp>
      <p:sp>
        <p:nvSpPr>
          <p:cNvPr id="9" name="Rectangle: Rounded Corners 8">
            <a:extLst>
              <a:ext uri="{FF2B5EF4-FFF2-40B4-BE49-F238E27FC236}">
                <a16:creationId xmlns:a16="http://schemas.microsoft.com/office/drawing/2014/main" id="{4EF33D80-FB07-011A-53C7-4F5E0234F440}"/>
              </a:ext>
            </a:extLst>
          </p:cNvPr>
          <p:cNvSpPr/>
          <p:nvPr/>
        </p:nvSpPr>
        <p:spPr>
          <a:xfrm>
            <a:off x="48768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DE634DC-AB1E-82F0-D56F-9AB339F1E4B1}"/>
              </a:ext>
            </a:extLst>
          </p:cNvPr>
          <p:cNvSpPr txBox="1"/>
          <p:nvPr/>
        </p:nvSpPr>
        <p:spPr>
          <a:xfrm>
            <a:off x="51308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02</a:t>
            </a:r>
          </a:p>
        </p:txBody>
      </p:sp>
      <p:sp>
        <p:nvSpPr>
          <p:cNvPr id="11" name="TextBox 10">
            <a:extLst>
              <a:ext uri="{FF2B5EF4-FFF2-40B4-BE49-F238E27FC236}">
                <a16:creationId xmlns:a16="http://schemas.microsoft.com/office/drawing/2014/main" id="{F749E563-CDFA-7946-2846-03ACFCD136E6}"/>
              </a:ext>
            </a:extLst>
          </p:cNvPr>
          <p:cNvSpPr txBox="1"/>
          <p:nvPr/>
        </p:nvSpPr>
        <p:spPr>
          <a:xfrm>
            <a:off x="51308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SQL - private</a:t>
            </a:r>
          </a:p>
        </p:txBody>
      </p:sp>
      <p:sp>
        <p:nvSpPr>
          <p:cNvPr id="12" name="TextBox 11">
            <a:extLst>
              <a:ext uri="{FF2B5EF4-FFF2-40B4-BE49-F238E27FC236}">
                <a16:creationId xmlns:a16="http://schemas.microsoft.com/office/drawing/2014/main" id="{497B0E14-33A3-84C7-1294-2BFB7E622C37}"/>
              </a:ext>
            </a:extLst>
          </p:cNvPr>
          <p:cNvSpPr txBox="1"/>
          <p:nvPr/>
        </p:nvSpPr>
        <p:spPr>
          <a:xfrm>
            <a:off x="51308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Fixture snapshots, review versions, audit events and idempotent internal outbox.</a:t>
            </a:r>
          </a:p>
        </p:txBody>
      </p:sp>
      <p:sp>
        <p:nvSpPr>
          <p:cNvPr id="13" name="Rectangle: Rounded Corners 12">
            <a:extLst>
              <a:ext uri="{FF2B5EF4-FFF2-40B4-BE49-F238E27FC236}">
                <a16:creationId xmlns:a16="http://schemas.microsoft.com/office/drawing/2014/main" id="{ECC932CF-D8A3-7A07-69A2-563BA8ACB025}"/>
              </a:ext>
            </a:extLst>
          </p:cNvPr>
          <p:cNvSpPr/>
          <p:nvPr/>
        </p:nvSpPr>
        <p:spPr>
          <a:xfrm>
            <a:off x="93472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1EA8804-B4E9-657F-D041-C9B02943C22C}"/>
              </a:ext>
            </a:extLst>
          </p:cNvPr>
          <p:cNvSpPr txBox="1"/>
          <p:nvPr/>
        </p:nvSpPr>
        <p:spPr>
          <a:xfrm>
            <a:off x="96012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03</a:t>
            </a:r>
          </a:p>
        </p:txBody>
      </p:sp>
      <p:sp>
        <p:nvSpPr>
          <p:cNvPr id="15" name="TextBox 14">
            <a:extLst>
              <a:ext uri="{FF2B5EF4-FFF2-40B4-BE49-F238E27FC236}">
                <a16:creationId xmlns:a16="http://schemas.microsoft.com/office/drawing/2014/main" id="{FEAFA677-03C0-EB45-57D8-058FA2683060}"/>
              </a:ext>
            </a:extLst>
          </p:cNvPr>
          <p:cNvSpPr txBox="1"/>
          <p:nvPr/>
        </p:nvSpPr>
        <p:spPr>
          <a:xfrm>
            <a:off x="96012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AI services</a:t>
            </a:r>
          </a:p>
        </p:txBody>
      </p:sp>
      <p:sp>
        <p:nvSpPr>
          <p:cNvPr id="16" name="TextBox 15">
            <a:extLst>
              <a:ext uri="{FF2B5EF4-FFF2-40B4-BE49-F238E27FC236}">
                <a16:creationId xmlns:a16="http://schemas.microsoft.com/office/drawing/2014/main" id="{AA42B51A-BDD1-661B-E15D-79D444662046}"/>
              </a:ext>
            </a:extLst>
          </p:cNvPr>
          <p:cNvSpPr txBox="1"/>
          <p:nvPr/>
        </p:nvSpPr>
        <p:spPr>
          <a:xfrm>
            <a:off x="96012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OpenAI structured draft + Content Safety + filtered AI Search</a:t>
            </a:r>
          </a:p>
        </p:txBody>
      </p:sp>
      <p:sp>
        <p:nvSpPr>
          <p:cNvPr id="17" name="Rectangle: Rounded Corners 16">
            <a:extLst>
              <a:ext uri="{FF2B5EF4-FFF2-40B4-BE49-F238E27FC236}">
                <a16:creationId xmlns:a16="http://schemas.microsoft.com/office/drawing/2014/main" id="{4FD5B5D3-2446-68DB-0DF8-2EE5E1F75B5C}"/>
              </a:ext>
            </a:extLst>
          </p:cNvPr>
          <p:cNvSpPr/>
          <p:nvPr/>
        </p:nvSpPr>
        <p:spPr>
          <a:xfrm>
            <a:off x="138176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BBFE285-3B15-EE04-3E03-1571C7723703}"/>
              </a:ext>
            </a:extLst>
          </p:cNvPr>
          <p:cNvSpPr txBox="1"/>
          <p:nvPr/>
        </p:nvSpPr>
        <p:spPr>
          <a:xfrm>
            <a:off x="140716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04</a:t>
            </a:r>
          </a:p>
        </p:txBody>
      </p:sp>
      <p:sp>
        <p:nvSpPr>
          <p:cNvPr id="19" name="TextBox 18">
            <a:extLst>
              <a:ext uri="{FF2B5EF4-FFF2-40B4-BE49-F238E27FC236}">
                <a16:creationId xmlns:a16="http://schemas.microsoft.com/office/drawing/2014/main" id="{C4C7E766-1E2F-9A41-82B6-2E7A3D607CFC}"/>
              </a:ext>
            </a:extLst>
          </p:cNvPr>
          <p:cNvSpPr txBox="1"/>
          <p:nvPr/>
        </p:nvSpPr>
        <p:spPr>
          <a:xfrm>
            <a:off x="140716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Internal review / demo sink</a:t>
            </a:r>
          </a:p>
        </p:txBody>
      </p:sp>
      <p:sp>
        <p:nvSpPr>
          <p:cNvPr id="20" name="TextBox 19">
            <a:extLst>
              <a:ext uri="{FF2B5EF4-FFF2-40B4-BE49-F238E27FC236}">
                <a16:creationId xmlns:a16="http://schemas.microsoft.com/office/drawing/2014/main" id="{E630C111-8006-84A9-E430-59F670B866E8}"/>
              </a:ext>
            </a:extLst>
          </p:cNvPr>
          <p:cNvSpPr txBox="1"/>
          <p:nvPr/>
        </p:nvSpPr>
        <p:spPr>
          <a:xfrm>
            <a:off x="140716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Recorded approval; Simulated notification. External connectors disabled.</a:t>
            </a:r>
          </a:p>
        </p:txBody>
      </p:sp>
      <p:sp>
        <p:nvSpPr>
          <p:cNvPr id="21" name="TextBox 20">
            <a:extLst>
              <a:ext uri="{FF2B5EF4-FFF2-40B4-BE49-F238E27FC236}">
                <a16:creationId xmlns:a16="http://schemas.microsoft.com/office/drawing/2014/main" id="{9077ECAB-3D32-E06D-0583-5D060E59266D}"/>
              </a:ext>
            </a:extLst>
          </p:cNvPr>
          <p:cNvSpPr txBox="1"/>
          <p:nvPr/>
        </p:nvSpPr>
        <p:spPr>
          <a:xfrm>
            <a:off x="508000" y="6032500"/>
            <a:ext cx="16764000" cy="1061829"/>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Live validation: 2026-10-28T15:28:28.23936+00:00
Resource group: rg-demo-telecom
Model deployment: brief / gpt-4.1-mini | Tokens: 7071 in / 1059 out</a:t>
            </a:r>
          </a:p>
        </p:txBody>
      </p:sp>
      <p:sp>
        <p:nvSpPr>
          <p:cNvPr id="22" name="TextBox 21">
            <a:extLst>
              <a:ext uri="{FF2B5EF4-FFF2-40B4-BE49-F238E27FC236}">
                <a16:creationId xmlns:a16="http://schemas.microsoft.com/office/drawing/2014/main" id="{3F5DC78E-C54B-9546-502C-548D84152E86}"/>
              </a:ext>
            </a:extLst>
          </p:cNvPr>
          <p:cNvSpPr txBox="1"/>
          <p:nvPr/>
        </p:nvSpPr>
        <p:spPr>
          <a:xfrm>
            <a:off x="508000" y="7493000"/>
            <a:ext cx="16764000" cy="707886"/>
          </a:xfrm>
          <a:prstGeom prst="rect">
            <a:avLst/>
          </a:prstGeom>
          <a:noFill/>
        </p:spPr>
        <p:txBody>
          <a:bodyPr vert="horz" wrap="square" lIns="0" tIns="0" rIns="0" bIns="0" rtlCol="0">
            <a:spAutoFit/>
          </a:bodyPr>
          <a:lstStyle/>
          <a:p>
            <a:r>
              <a:rPr lang="en-US" sz="2300">
                <a:solidFill>
                  <a:srgbClr val="007F85"/>
                </a:solidFill>
                <a:latin typeface="Aptos" panose="020B0004020202020204" pitchFamily="34" charset="0"/>
              </a:rPr>
              <a:t>SQL public access stays disabled. An ephemeral Azure container executes inside the private VNet; desktop screens replay its recorded outputs.</a:t>
            </a:r>
          </a:p>
        </p:txBody>
      </p:sp>
      <p:sp>
        <p:nvSpPr>
          <p:cNvPr id="23" name="TextBox 22">
            <a:extLst>
              <a:ext uri="{FF2B5EF4-FFF2-40B4-BE49-F238E27FC236}">
                <a16:creationId xmlns:a16="http://schemas.microsoft.com/office/drawing/2014/main" id="{6BB88601-0BAE-60A2-D426-5753ECEEBD7D}"/>
              </a:ext>
            </a:extLst>
          </p:cNvPr>
          <p:cNvSpPr txBox="1"/>
          <p:nvPr/>
        </p:nvSpPr>
        <p:spPr>
          <a:xfrm>
            <a:off x="508000" y="8572500"/>
            <a:ext cx="16764000" cy="307777"/>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Limits: curated documents only; no arbitrary upload/scanning claim; no public production API; Search is filtered keyword retrieval.</a:t>
            </a:r>
          </a:p>
        </p:txBody>
      </p:sp>
      <p:sp>
        <p:nvSpPr>
          <p:cNvPr id="24" name="TextBox 23">
            <a:hlinkClick r:id="rId3" action="ppaction://hlinksldjump"/>
            <a:extLst>
              <a:ext uri="{FF2B5EF4-FFF2-40B4-BE49-F238E27FC236}">
                <a16:creationId xmlns:a16="http://schemas.microsoft.com/office/drawing/2014/main" id="{5D95FA45-8BB6-78A3-5537-95F96E77F11E}"/>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25" name="TextBox 24">
            <a:hlinkClick r:id="rId4" action="ppaction://hlinksldjump"/>
            <a:extLst>
              <a:ext uri="{FF2B5EF4-FFF2-40B4-BE49-F238E27FC236}">
                <a16:creationId xmlns:a16="http://schemas.microsoft.com/office/drawing/2014/main" id="{DD3F8AC9-25B2-38F4-24BA-0E2C64227F81}"/>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26" name="TextBox 25">
            <a:hlinkClick r:id="rId5" action="ppaction://hlinksldjump"/>
            <a:extLst>
              <a:ext uri="{FF2B5EF4-FFF2-40B4-BE49-F238E27FC236}">
                <a16:creationId xmlns:a16="http://schemas.microsoft.com/office/drawing/2014/main" id="{16EFBE10-7D6E-F519-A88D-9009FFF8EBA0}"/>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8153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8C4462-30E6-866B-7F78-BB75A076AD92}"/>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611E9A9B-87B8-98FD-58AB-63404656FCFD}"/>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01: Order prerequisites</a:t>
            </a:r>
          </a:p>
        </p:txBody>
      </p:sp>
      <p:sp>
        <p:nvSpPr>
          <p:cNvPr id="4" name="TextBox 3">
            <a:extLst>
              <a:ext uri="{FF2B5EF4-FFF2-40B4-BE49-F238E27FC236}">
                <a16:creationId xmlns:a16="http://schemas.microsoft.com/office/drawing/2014/main" id="{9B5B8376-AA72-1275-925C-4DB39E02C2B6}"/>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851D50E5-D500-2A61-6AC9-B6FBAE42E41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A80355ED-26E8-793B-E95A-E0FD9AB7D206}"/>
              </a:ext>
            </a:extLst>
          </p:cNvPr>
          <p:cNvSpPr/>
          <p:nvPr/>
        </p:nvSpPr>
        <p:spPr>
          <a:xfrm>
            <a:off x="611815" y="355135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6627AAA-9EBA-1863-469A-F1368245030B}"/>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BF700B62-EB8F-D712-BE9E-5B62C7373B43}"/>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01 in the left-hand flow.</a:t>
            </a:r>
          </a:p>
        </p:txBody>
      </p:sp>
      <p:sp>
        <p:nvSpPr>
          <p:cNvPr id="10" name="TextBox 9">
            <a:extLst>
              <a:ext uri="{FF2B5EF4-FFF2-40B4-BE49-F238E27FC236}">
                <a16:creationId xmlns:a16="http://schemas.microsoft.com/office/drawing/2014/main" id="{27F30AB0-68C5-B361-D7A1-A1209B798421}"/>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7BFFD29F-CEF7-027C-055B-F6E142C516A0}"/>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CF531965-C3AF-044A-C907-008A836149D9}"/>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66851DD5-78F6-5D6F-4C33-BBD07CE09A92}"/>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F667FDBF-55BF-E725-09C6-32A593901A53}"/>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4" action="ppaction://hlinksldjump"/>
            <a:extLst>
              <a:ext uri="{FF2B5EF4-FFF2-40B4-BE49-F238E27FC236}">
                <a16:creationId xmlns:a16="http://schemas.microsoft.com/office/drawing/2014/main" id="{78C36137-E844-1456-C055-7D1C3A391707}"/>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5" action="ppaction://hlinksldjump"/>
            <a:extLst>
              <a:ext uri="{FF2B5EF4-FFF2-40B4-BE49-F238E27FC236}">
                <a16:creationId xmlns:a16="http://schemas.microsoft.com/office/drawing/2014/main" id="{C93E597F-C9B7-24D5-3FC3-142508D307DD}"/>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91843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9BE72E-6904-5969-8432-8AC0B50DBF9A}"/>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240ED1E8-32E8-060B-6465-85C0B8A2893B}"/>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02: Access missing</a:t>
            </a:r>
          </a:p>
        </p:txBody>
      </p:sp>
      <p:sp>
        <p:nvSpPr>
          <p:cNvPr id="4" name="TextBox 3">
            <a:extLst>
              <a:ext uri="{FF2B5EF4-FFF2-40B4-BE49-F238E27FC236}">
                <a16:creationId xmlns:a16="http://schemas.microsoft.com/office/drawing/2014/main" id="{E6B670D3-422C-3DCA-9F13-6705CE6E40D3}"/>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8D2E4CAC-F7EA-8605-B89E-EA15E2F266F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ED6D7027-F0F5-265A-8AE3-91E67E2C73A4}"/>
              </a:ext>
            </a:extLst>
          </p:cNvPr>
          <p:cNvSpPr/>
          <p:nvPr/>
        </p:nvSpPr>
        <p:spPr>
          <a:xfrm>
            <a:off x="611815" y="429263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BDCFD2D-6AA4-3EC0-3638-980681562A28}"/>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369741DC-D168-E34E-53DB-5AF7CC15713A}"/>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02 in the left-hand flow.</a:t>
            </a:r>
          </a:p>
        </p:txBody>
      </p:sp>
      <p:sp>
        <p:nvSpPr>
          <p:cNvPr id="10" name="TextBox 9">
            <a:extLst>
              <a:ext uri="{FF2B5EF4-FFF2-40B4-BE49-F238E27FC236}">
                <a16:creationId xmlns:a16="http://schemas.microsoft.com/office/drawing/2014/main" id="{A0BA533A-CA23-7A52-89D4-C83A91237534}"/>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58D95051-0E75-9454-C429-DE20685A97AB}"/>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ACCESS_REQUIRED. The finding remains visible beside the evidence and approved sources.</a:t>
            </a:r>
          </a:p>
        </p:txBody>
      </p:sp>
      <p:sp>
        <p:nvSpPr>
          <p:cNvPr id="12" name="TextBox 11">
            <a:extLst>
              <a:ext uri="{FF2B5EF4-FFF2-40B4-BE49-F238E27FC236}">
                <a16:creationId xmlns:a16="http://schemas.microsoft.com/office/drawing/2014/main" id="{14DFA823-8F2A-556D-712F-18DED5CCB0C1}"/>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401E7D39-65A3-CD31-1FC4-D0AC6D7A5810}"/>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E286D376-1322-2298-850D-43DD03CC3E7B}"/>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5DDFF777-97D9-9D39-D450-1A77FDE2ECF3}"/>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708CF224-5A26-4982-85F2-F4027B4911DA}"/>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920714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EB64F6-D5DE-E40C-43A8-B539C0286D16}"/>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65FBB712-30B6-6C48-5329-448EBD620AA7}"/>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03: Package guidance</a:t>
            </a:r>
          </a:p>
        </p:txBody>
      </p:sp>
      <p:sp>
        <p:nvSpPr>
          <p:cNvPr id="4" name="TextBox 3">
            <a:extLst>
              <a:ext uri="{FF2B5EF4-FFF2-40B4-BE49-F238E27FC236}">
                <a16:creationId xmlns:a16="http://schemas.microsoft.com/office/drawing/2014/main" id="{065DC8A5-A587-F206-0EC3-8C91BA9440FA}"/>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C13B3D04-EF4E-D3E8-8D94-44872C1BC33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9BBCF450-9F84-4D8F-55DE-74249B44CD30}"/>
              </a:ext>
            </a:extLst>
          </p:cNvPr>
          <p:cNvSpPr/>
          <p:nvPr/>
        </p:nvSpPr>
        <p:spPr>
          <a:xfrm>
            <a:off x="611815" y="503391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7A912F8-C687-9096-12E4-355D5571320B}"/>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52BD2D5A-7596-33C2-73E1-E2779A10C97E}"/>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03 in the left-hand flow.</a:t>
            </a:r>
          </a:p>
        </p:txBody>
      </p:sp>
      <p:sp>
        <p:nvSpPr>
          <p:cNvPr id="10" name="TextBox 9">
            <a:extLst>
              <a:ext uri="{FF2B5EF4-FFF2-40B4-BE49-F238E27FC236}">
                <a16:creationId xmlns:a16="http://schemas.microsoft.com/office/drawing/2014/main" id="{34508B9D-D94C-C85C-D85B-540B8E061296}"/>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F8A42E0D-C52C-1CFA-0462-86A0143F433A}"/>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329BC209-8414-ADC5-2E49-1FA0F11B3E28}"/>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F848041E-4752-C1DA-D56D-7D3159BA6D6B}"/>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92EC2772-0270-0D72-093D-DB105283397A}"/>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3323BAB6-CBBF-B518-FB46-A452405823A9}"/>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87113BAC-F0F8-C292-926F-BF698FB6E836}"/>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086383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ABE3A7-AB1E-8C62-30D2-109A7DDF821C}"/>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393998B5-9F36-4E40-4AD2-0241C394EAD9}"/>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04: Stale inventory</a:t>
            </a:r>
          </a:p>
        </p:txBody>
      </p:sp>
      <p:sp>
        <p:nvSpPr>
          <p:cNvPr id="4" name="TextBox 3">
            <a:extLst>
              <a:ext uri="{FF2B5EF4-FFF2-40B4-BE49-F238E27FC236}">
                <a16:creationId xmlns:a16="http://schemas.microsoft.com/office/drawing/2014/main" id="{7A58CEA6-ACEB-9C50-1B58-CAB5BDA96973}"/>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1CF2D056-7EFE-9D65-4DE9-AD46184264E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E0CEB462-0C5D-EEF1-CDD0-49593D3B8693}"/>
              </a:ext>
            </a:extLst>
          </p:cNvPr>
          <p:cNvSpPr/>
          <p:nvPr/>
        </p:nvSpPr>
        <p:spPr>
          <a:xfrm>
            <a:off x="611815" y="577519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FF47A20-D3F2-44C5-8D68-0E32A475799C}"/>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C3CA503F-0D5D-BB5D-5A86-5AF1ED8F49F0}"/>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04 in the left-hand flow.</a:t>
            </a:r>
          </a:p>
        </p:txBody>
      </p:sp>
      <p:sp>
        <p:nvSpPr>
          <p:cNvPr id="10" name="TextBox 9">
            <a:extLst>
              <a:ext uri="{FF2B5EF4-FFF2-40B4-BE49-F238E27FC236}">
                <a16:creationId xmlns:a16="http://schemas.microsoft.com/office/drawing/2014/main" id="{0F800738-BEBC-EEE5-9C2E-20C2C10B3E94}"/>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F4A1955D-4A9D-4BB1-F274-1D112D957E54}"/>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REFRESH_STOCK. The finding remains visible beside the evidence and approved sources.</a:t>
            </a:r>
          </a:p>
        </p:txBody>
      </p:sp>
      <p:sp>
        <p:nvSpPr>
          <p:cNvPr id="12" name="TextBox 11">
            <a:extLst>
              <a:ext uri="{FF2B5EF4-FFF2-40B4-BE49-F238E27FC236}">
                <a16:creationId xmlns:a16="http://schemas.microsoft.com/office/drawing/2014/main" id="{71D8F2F3-0BCA-E223-0772-89630777B5AE}"/>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18EC0397-18B6-1FEA-430A-0516D8A6AE12}"/>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D8F7D716-D257-84AD-F35C-B9A103011A8A}"/>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490295BE-C684-764B-9178-FBCE9B570A72}"/>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58F705B1-5C65-B9A8-9724-4401E545E802}"/>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419625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709ED2-6EA0-A652-8E32-4BEC03B6D728}"/>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1A4BBD8F-143F-2DBA-0EDD-A9E16FF2A15C}"/>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05: New attestation</a:t>
            </a:r>
          </a:p>
        </p:txBody>
      </p:sp>
      <p:sp>
        <p:nvSpPr>
          <p:cNvPr id="4" name="TextBox 3">
            <a:extLst>
              <a:ext uri="{FF2B5EF4-FFF2-40B4-BE49-F238E27FC236}">
                <a16:creationId xmlns:a16="http://schemas.microsoft.com/office/drawing/2014/main" id="{71BDA769-2A9E-8F45-0CE1-33A8CF57CBEE}"/>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889E42EE-5022-861A-5070-A9DD7540499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1849079B-64B1-D807-0A77-0A6575793804}"/>
              </a:ext>
            </a:extLst>
          </p:cNvPr>
          <p:cNvSpPr/>
          <p:nvPr/>
        </p:nvSpPr>
        <p:spPr>
          <a:xfrm>
            <a:off x="611815" y="651647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FED1053-177F-F8C0-FF0E-F074D588EB90}"/>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3F85AEE1-1E80-2FBC-C720-91E8486D24FF}"/>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05 in the left-hand flow.</a:t>
            </a:r>
          </a:p>
        </p:txBody>
      </p:sp>
      <p:sp>
        <p:nvSpPr>
          <p:cNvPr id="10" name="TextBox 9">
            <a:extLst>
              <a:ext uri="{FF2B5EF4-FFF2-40B4-BE49-F238E27FC236}">
                <a16:creationId xmlns:a16="http://schemas.microsoft.com/office/drawing/2014/main" id="{241611EB-F2A3-57AA-6970-342EAFCC9895}"/>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BF2832CA-4B97-573E-9BBB-04A0DFFEDAAD}"/>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55E35BDC-C589-F6AD-21C8-49E0E7474569}"/>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F52B80A7-1639-02F0-2FEC-573BDC1E6DFA}"/>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17C7D9EA-0BFA-06A7-28CC-796210C2937E}"/>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CFBE4A78-26DC-C115-2923-2F633AF09F4A}"/>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8A92A673-17CE-2815-B124-3587F8A56543}"/>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023884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3B6B4-7BDC-5F89-DAD7-93384422E3A9}"/>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FF581B99-A528-9164-38AA-8C0DF25A6FB8}"/>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06: Proposed, not booked</a:t>
            </a:r>
          </a:p>
        </p:txBody>
      </p:sp>
      <p:sp>
        <p:nvSpPr>
          <p:cNvPr id="4" name="TextBox 3">
            <a:extLst>
              <a:ext uri="{FF2B5EF4-FFF2-40B4-BE49-F238E27FC236}">
                <a16:creationId xmlns:a16="http://schemas.microsoft.com/office/drawing/2014/main" id="{87F90EA3-3229-901D-14CB-5F42ADED2B1E}"/>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688E9872-ED21-B39A-D5A1-DBD85ACB5F3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9CBAC0EC-1A4F-0C3B-E658-6856E6B01B42}"/>
              </a:ext>
            </a:extLst>
          </p:cNvPr>
          <p:cNvSpPr/>
          <p:nvPr/>
        </p:nvSpPr>
        <p:spPr>
          <a:xfrm>
            <a:off x="611815" y="725775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AA77E99-13CA-8131-31ED-7D20F6D9C4BB}"/>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D9DA30E5-E918-4C24-35BC-03FFCCCA1B7A}"/>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06 in the left-hand flow.</a:t>
            </a:r>
          </a:p>
        </p:txBody>
      </p:sp>
      <p:sp>
        <p:nvSpPr>
          <p:cNvPr id="10" name="TextBox 9">
            <a:extLst>
              <a:ext uri="{FF2B5EF4-FFF2-40B4-BE49-F238E27FC236}">
                <a16:creationId xmlns:a16="http://schemas.microsoft.com/office/drawing/2014/main" id="{E292E66B-0952-6370-5012-1A02652317C9}"/>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71407FD0-A0B9-24F7-4D33-0BF9C79A379F}"/>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A persisted internal approval, duplicate-safe operation key, audit timeline and explicitly Simulated handoff.</a:t>
            </a:r>
          </a:p>
        </p:txBody>
      </p:sp>
      <p:sp>
        <p:nvSpPr>
          <p:cNvPr id="12" name="TextBox 11">
            <a:extLst>
              <a:ext uri="{FF2B5EF4-FFF2-40B4-BE49-F238E27FC236}">
                <a16:creationId xmlns:a16="http://schemas.microsoft.com/office/drawing/2014/main" id="{F2A2B700-99A9-596D-C6A2-FF70505722AB}"/>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7702D657-9374-D95F-C902-DBD4F17D0650}"/>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Traceable handoff without silently executing a consequential business action.</a:t>
            </a:r>
          </a:p>
        </p:txBody>
      </p:sp>
      <p:sp>
        <p:nvSpPr>
          <p:cNvPr id="14" name="TextBox 13">
            <a:hlinkClick r:id="rId4" action="ppaction://hlinksldjump"/>
            <a:extLst>
              <a:ext uri="{FF2B5EF4-FFF2-40B4-BE49-F238E27FC236}">
                <a16:creationId xmlns:a16="http://schemas.microsoft.com/office/drawing/2014/main" id="{6A78BF0F-E989-7304-97FD-F8803E430230}"/>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74AAEC8A-232C-FBCF-1C02-5EE83867BF86}"/>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969997F9-C274-487B-CDA2-DC2A29B48A22}"/>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32024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B273D6-BA9D-476E-0183-36D36B1F6A68}"/>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09 / DEMO HANDOFF</a:t>
            </a:r>
          </a:p>
        </p:txBody>
      </p:sp>
      <p:sp>
        <p:nvSpPr>
          <p:cNvPr id="3" name="TextBox 2">
            <a:extLst>
              <a:ext uri="{FF2B5EF4-FFF2-40B4-BE49-F238E27FC236}">
                <a16:creationId xmlns:a16="http://schemas.microsoft.com/office/drawing/2014/main" id="{EC9A8B42-625F-A000-69BC-9DFDD33DDCA7}"/>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Verified outcome and honest operating limits</a:t>
            </a:r>
          </a:p>
        </p:txBody>
      </p:sp>
      <p:sp>
        <p:nvSpPr>
          <p:cNvPr id="4" name="TextBox 3">
            <a:extLst>
              <a:ext uri="{FF2B5EF4-FFF2-40B4-BE49-F238E27FC236}">
                <a16:creationId xmlns:a16="http://schemas.microsoft.com/office/drawing/2014/main" id="{52FD6A53-3DB3-96A9-197B-8BC9BB76FF52}"/>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TextBox 4">
            <a:extLst>
              <a:ext uri="{FF2B5EF4-FFF2-40B4-BE49-F238E27FC236}">
                <a16:creationId xmlns:a16="http://schemas.microsoft.com/office/drawing/2014/main" id="{163C28B3-4C36-5399-3735-765D7C4C3E3E}"/>
              </a:ext>
            </a:extLst>
          </p:cNvPr>
          <p:cNvSpPr txBox="1"/>
          <p:nvPr/>
        </p:nvSpPr>
        <p:spPr>
          <a:xfrm>
            <a:off x="635000" y="1968500"/>
            <a:ext cx="10287000" cy="2077492"/>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LIVE EVIDENCE
17 recorded service requests
7071 input / 1059 output tokens
0 extracted document pages
SQL approval + duplicate, owner, stale-input and expiry guards</a:t>
            </a:r>
          </a:p>
        </p:txBody>
      </p:sp>
      <p:sp>
        <p:nvSpPr>
          <p:cNvPr id="6" name="TextBox 5">
            <a:extLst>
              <a:ext uri="{FF2B5EF4-FFF2-40B4-BE49-F238E27FC236}">
                <a16:creationId xmlns:a16="http://schemas.microsoft.com/office/drawing/2014/main" id="{FD76F664-DFDB-E0F6-D99C-2147C02F4081}"/>
              </a:ext>
            </a:extLst>
          </p:cNvPr>
          <p:cNvSpPr txBox="1"/>
          <p:nvPr/>
        </p:nvSpPr>
        <p:spPr>
          <a:xfrm>
            <a:off x="12065000" y="1968500"/>
            <a:ext cx="5397500" cy="1600438"/>
          </a:xfrm>
          <a:prstGeom prst="rect">
            <a:avLst/>
          </a:prstGeom>
          <a:noFill/>
        </p:spPr>
        <p:txBody>
          <a:bodyPr vert="horz" wrap="square" lIns="0" tIns="0" rIns="0" bIns="0" rtlCol="0">
            <a:spAutoFit/>
          </a:bodyPr>
          <a:lstStyle/>
          <a:p>
            <a:r>
              <a:rPr lang="en-US" sz="2600" b="1">
                <a:solidFill>
                  <a:srgbClr val="007F85"/>
                </a:solidFill>
                <a:latin typeface="Aptos" panose="020B0004020202020204" pitchFamily="34" charset="0"/>
              </a:rPr>
              <a:t>VISIBLE DEMO OUTCOME
InternalBriefOnly
Notification sink: Simulated
External notifications: 0</a:t>
            </a:r>
          </a:p>
        </p:txBody>
      </p:sp>
      <p:sp>
        <p:nvSpPr>
          <p:cNvPr id="7" name="TextBox 6">
            <a:extLst>
              <a:ext uri="{FF2B5EF4-FFF2-40B4-BE49-F238E27FC236}">
                <a16:creationId xmlns:a16="http://schemas.microsoft.com/office/drawing/2014/main" id="{3BBC8204-976F-C7F5-FFFE-9A88EBDBCEF7}"/>
              </a:ext>
            </a:extLst>
          </p:cNvPr>
          <p:cNvSpPr txBox="1"/>
          <p:nvPr/>
        </p:nvSpPr>
        <p:spPr>
          <a:xfrm>
            <a:off x="635000" y="5905500"/>
            <a:ext cx="16764000" cy="2031325"/>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Synthetic single-operator desktop demonstration, not production public intake.
No malware-scanned arbitrary upload pipeline; only curated local fixtures.
No hosted API, unattended durable worker or external operational connector.
No measured business-time baseline or current-price cost estimate.
Search is filtered keyword retrieval, not hybrid/vector retrieval.
Screenshots are replay of these saved live results; slide advance never calls Azure.</a:t>
            </a:r>
          </a:p>
        </p:txBody>
      </p:sp>
      <p:sp>
        <p:nvSpPr>
          <p:cNvPr id="8" name="TextBox 7">
            <a:hlinkClick r:id="rId3" action="ppaction://hlinksldjump"/>
            <a:extLst>
              <a:ext uri="{FF2B5EF4-FFF2-40B4-BE49-F238E27FC236}">
                <a16:creationId xmlns:a16="http://schemas.microsoft.com/office/drawing/2014/main" id="{9E9B4C0E-0BF6-83DA-EAE0-8434B936BF99}"/>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9" name="TextBox 8">
            <a:hlinkClick r:id="rId4" action="ppaction://hlinksldjump"/>
            <a:extLst>
              <a:ext uri="{FF2B5EF4-FFF2-40B4-BE49-F238E27FC236}">
                <a16:creationId xmlns:a16="http://schemas.microsoft.com/office/drawing/2014/main" id="{E438F815-CF1A-5B20-016F-91FFFFA11662}"/>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0" name="TextBox 9">
            <a:hlinkClick r:id="rId5" action="ppaction://hlinksldjump"/>
            <a:extLst>
              <a:ext uri="{FF2B5EF4-FFF2-40B4-BE49-F238E27FC236}">
                <a16:creationId xmlns:a16="http://schemas.microsoft.com/office/drawing/2014/main" id="{307F2C01-5341-52C9-B046-A89B9FB5F956}"/>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345214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2676</Words>
  <Application>Microsoft Office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 Administrator</dc:creator>
  <cp:lastModifiedBy>MOD Administrator</cp:lastModifiedBy>
  <cp:revision>1</cp:revision>
  <dcterms:created xsi:type="dcterms:W3CDTF">2026-10-28T15:37:31Z</dcterms:created>
  <dcterms:modified xsi:type="dcterms:W3CDTF">2026-10-28T15:37:31Z</dcterms:modified>
</cp:coreProperties>
</file>