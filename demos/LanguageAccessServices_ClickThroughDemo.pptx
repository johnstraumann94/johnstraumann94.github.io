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73" r:id="rId2"/>
    <p:sldId id="274"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 Members need translated notices, two-way interpretation and usable transcripts of recorded calls.</a:t>
            </a:r>
          </a:p>
          <a:p>
            <a:r>
              <a:t>Solution: Translate digital/scanned documents, replay bilingual hearings, and translate call transcripts with an inserted audio notice.</a:t>
            </a:r>
          </a:p>
          <a:p>
            <a:r>
              <a:t>Products: Windows .NET MAUI | Azure AI Translator | Azure AI Speech | Azure AI Document Intelligence | Entra ID</a:t>
            </a:r>
          </a:p>
          <a:p>
            <a:r>
              <a:t>Evidence status: Synthetic documents and prerecorded hearing audio. Live-microphone performance and production integration are not established; recognition/session issues are documented.</a:t>
            </a:r>
          </a:p>
          <a:p>
            <a:r>
              <a:t>Customer branding, organization labels and resource identifiers have been generalized. Screenshots are edited historical captures; no service results were rerun.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Architecture: [['Documents', 'Text extraction or DI OCR'], ['Translation', 'Translator target languages'], ['Audio workflows', 'Speech STT / translation / TTS'], ['Review + save', 'Transcript / local WAV splice']]</a:t>
            </a:r>
          </a:p>
          <a:p>
            <a:r>
              <a:t>Boundary: These are related scenarios, not a single serial pipeline. OpenAI/Foundry and cloud UI hosting are not required. Blob intake and approval workflow are proposed.</a:t>
            </a:r>
          </a:p>
          <a:p>
            <a:r>
              <a:t>This is a logical diagram, not a verified deployment inventory. Cards represent separate workflows or branches; do not read them as one serial pipeline.</a:t>
            </a:r>
          </a:p>
          <a:p>
            <a:r>
              <a:t>Customer names, logos and resource identifiers in subsequent captured screens have been generalized. Service brands and the solution's core workflow remain.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Thank you for the time. What you are about to see is not a storyboard or a mock-up. It is a working Windows application running against live Azure AI services in a Microsoft demonstration tenant, and every result on screen is produced in real time during this session. We built it directly from the requirements Talley sent through, so the three scenarios map one-to-one onto the three things Health Plan asked about.
WHAT IS HAPPENING
No technology is running yet. This is the framing slide.
CUSTOMER ASK
Sets context for all three Health Plan use cases: member notice translation, live hearing interpretation, and recorded call handling.
AZURE TECHNOLOGY
Azure AI Translator, Azure AI Speech and Azure AI Document Intelligence.
BUSINESS VALUE
Establishes credibility by making clear up front that this is live, not simulated.
DEMO TRANSITION
Move to the Customer Asks slide and confirm that the requirements have been captured correctly before showing anything.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Before anything moves on screen, I want to read back what you asked for, because if this list is wrong then nothing that follows matters. Three scenarios. Member notices, including the scanned ones that come back from a vendor as images. Live hearings, two-way and near real time. And recorded calls, where you asked for a translated transcript and, in your own words, for a notice in English to be placed into an English audio recording file. You also told us exact layout fidelity is not required, which is a genuinely useful simplification, and you answered yes to all of the governance questions on privacy, PHI, retention, accessibility and human review.
WHAT IS HAPPENING
No technology is running yet.
CUSTOMER ASK
This slide is a direct restatement of the requirements in the email thread, including the named languages.
AZURE TECHNOLOGY
None yet.
BUSINESS VALUE
Confirming requirements in the customer's own words prevents a demonstration that answers the wrong question.
DEMO TRANSITION
Ask directly whether anything is missing or has changed since the thread, then move on to how each ask maps to a capability.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whole demonstration on one page. Every row starts with something you asked for, in the middle is what you will actually watch happen, and on the right is why it matters operationally. If at any point in the next ten minutes you lose track of why we are showing you something, this is the slide to come back to. Note the third column: there are only three Azure services in play. This is deliberately a small solution.
WHAT IS HAPPENING
No technology is running yet.
CUSTOMER ASK
Covers all seven discrete requirements drawn from the thread.
AZURE TECHNOLOGY
Azure AI Translator, Azure AI Speech, Azure AI Document Intelligence.
BUSINESS VALUE
Shows the customer that nothing was invented and nothing was dropped.
DEMO TRANSITION
Point out that only three services are involved, then move to the slide showing exactly what was deployed.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Three services. That is the entire Azure footprint. I want to draw your attention to the box on the left, because it is the thing your security people will ask about first. Local authentication is switched off on all three accounts, which means the API keys do not merely go unused, they are refused. The application authenticates as me, through Entra ID, with the Cognitive Services User role. And on the right, equally important: we deliberately did not deploy storage accounts, key vaults or anything else that would make the diagram look more impressive than the demonstration actually is.
WHAT IS HAPPENING
No technology is running yet.
CUSTOMER ASK
Addresses the privacy and security questions answered yes in the thread.
AZURE TECHNOLOGY
Microsoft Entra ID role-based access control over Azure AI services.
BUSINESS VALUE
A keyless design removes the most common cause of credential incidents, and a minimal footprint keeps cost and review effort low.
DEMO TRANSITION
Move to the architecture slide and stress that it shows only what exists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diagram contains no aspiration. Everything on it is deployed and everything on it gets exercised in the next ten minutes. On the left, a .NET MAUI Windows application and the demo files, which never leave the machine. In the middle, Entra ID issues a token. On the right, the three AI services. The important detail is the dashed line: documents and recordings are read locally, the text or audio is sent for processing, and the result comes back. Nothing is persisted in Azure. That matters for your PHI conversation.
WHAT IS HAPPENING
No technology is running yet.
CUSTOMER ASK
Addresses the PHI, retention and privacy questions.
AZURE TECHNOLOGY
Entra ID token issuance, then direct data-plane calls to the three AI services.
BUSINESS VALUE
A small, honest architecture is far easier to get through a security review than a large speculative one.
DEMO TRANSITION
Flag that the next slide shows what would be added beyond the MVP, so nobody confuses the two.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I want to be careful here. Only the green column exists. The other two columns are where this would go, and I am showing them so that nobody leaves the room thinking a two-day demonstration is a production design. The middle column is what a proof of concept would add, and the one I would highlight is a glossary and Custom Speech, because you will see in a moment that the speech engine does not reliably recognise the word Health Plan. The right-hand column is the production conversation: private networking, retention policy, audit logging and formal accessibility testing.
WHAT IS HAPPENING
No technology is running yet.
CUSTOMER ASK
Addresses retention, accessibility and human review as forward-looking commitments rather than implemented features.
AZURE TECHNOLOGY
None deployed. Services named are recommendations.
BUSINESS VALUE
Honesty about scope protects the relationship and makes the next conversation easier.
DEMO TRANSITION
Switch to the running application. Open the dashboard before saying anything else.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Before we translate anything, let me prove this is live. I am clicking Check Azure connectivity, and the application is calling all three services right now. Translator, Document Intelligence and Speech all come back green, and note that Speech reports the actual duration of audio it just generated, so it is not merely reporting that a connection opened. If I were showing you a recording, this button would be the first thing to give me away.
WHAT IS HAPPENING
The application acquires a Microsoft Entra ID access token through DefaultAzureCredential, exchanges it for a Speech authorisation token at the token issuing endpoint, and makes one real data-plane call per service. The Speech probe synthesises a short phrase to a temporary file and measures the resulting WAV, so a green result means audio was genuinely produced.
CUSTOMER ASK
Underpins every requirement by establishing that the session is live.
AZURE TECHNOLOGY
Microsoft Entra ID, Azure AI Translator, Azure AI Speech, Azure AI Document Intelligence.
BUSINESS VALUE
A customer who believes the demonstration is live will believe the results. It also shows the keyless authentication model working in practice.
DEMO TRANSITION
Say that scenario one is the most common day-to-day need, and open the Member Notices page.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a synthetic Notice of Appeal Hearing, written to look like the correspondence Health Plan actually sends, with a case number, a hearing date and appeal rights. It is a normal digital PDF, so the application reads its text layer directly and recovers about two thousand three hundred characters. No OCR is needed and none is used, which keeps it fast and cheap. I press translate and we get Spanish and Arabic together, in the same pass. Note the Arabic is laid out right to left, which the application handles without any special casing.
WHAT IS HAPPENING
PdfPig extracts the embedded text layer from the PDF locally. The recovered text is sent to Azure AI Translator in a single request carrying both target languages, and the Spanish and Arabic results are rendered alongside the source. The file itself never leaves the workstation; only the extracted text is sent.
CUSTOMER ASK
Translate digital member notices into the member's language on demand, with Spanish and Arabic as the volume languages. The customer confirmed that exact layout fidelity is not required, which is why this returns clean readable text rather than a reconstructed PDF.
AZURE TECHNOLOGY
Azure AI Translator for the translation. PDF text extraction is done locally.
BUSINESS VALUE
A notice can be produced in the member's language the same day rather than waiting on an external translation vendor, which directly affects whether a member responds inside their appeal window.
DEMO TRANSITION
Note that not every document arrives this cleanly, and switch to the scanned example.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case you specifically raised. This one is a form the member filled in by hand and posted back, and it has been scanned. It is slightly skewed, the quality is poor, and there is no text in the file at all, just pixels. The application detects that, sends the image to Document Intelligence, and gets the words back. From that point onward it is the identical code path as the digital notice, Spanish and Arabic together. I want to be straight with you about one thing: OCR latency varies. We have measured about three seconds on one run and thirty on another, on this same file. In production you would run this as a background job rather than making a caseworker watch a progress bar.
WHAT IS HAPPENING
The application finds no extractable text layer, so it falls back to Azure AI Document Intelligence. The image is submitted to the read model, the recognised text is reassembled in reading order, and the result is passed to Azure AI Translator exactly as the digital notice was. Measured OCR latency across runs has ranged from roughly 3 to 30 seconds on identical input.
CUSTOMER ASK
Scanned paper, which the customer called out explicitly as something they receive and currently cannot process. Note this one runs the other way round: it is inbound member correspondence rather than an outbound notice, and the same pipeline serves both.
AZURE TECHNOLOGY
Azure AI Document Intelligence for OCR, Azure AI Translator for translation.
BUSINESS VALUE
Scanned correspondence is usually where language access programmes stall. Making it work means the existing paper and imaged archive becomes usable without re-keying.
DEMO TRANSITION
Ask which language they would like to see next, and use the language selector to answer live.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part that usually changes the conversation. You listed Spanish and Arabic as your volume languages, and you have just seen both produced together. Then you named Vietnamese, Swahili, Burmese, Mandarin and Russian as the long tail. The long tail is where the cost sits today, because a Burmese translation means finding a Burmese translator. Here is the same document, translated into Vietnamese, chosen from a dropdown a moment ago and returned in well under a second. Nothing was pre-translated. If you want to call out a different language now, I will do it live.
WHAT IS HAPPENING
The same source text held in memory is sent to Azure AI Translator with a different target language code. There is no per-language configuration, model or deployment; the language is simply a parameter on the request.
CUSTOMER ASK
The long-tail language list the customer named in the thread. Note that Somali is deliberately absent because the customer did not name it; we did not pad the list.
AZURE TECHNOLOGY
Azure AI Translator.
BUSINESS VALUE
The marginal cost of an additional language is effectively zero, which turns language access from a budgeting problem into an operational one.
DEMO TRANSITION
Say that documents are the easy half, and that the harder requirement is a live conversation. Open the Hearings page.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the harder scenario: a live appeal hearing. The member speaks Spanish, the hearing officer speaks English, and neither should have to wait. I select the member's language, and I will leave the speak-aloud option on so you can hear the output. One honest note on the mechanics: this demonstration feeds pre-recorded member audio through the system rather than using a live microphone, because a conference room microphone is not a fair test. Azure does precisely the same work either way; it is the identical speech translation session, with a file as the audio source instead of a microphone.
WHAT IS HAPPENING
The application opens an Azure AI Speech TranslationRecognizer configured with the member's language as the source and English as a target, plus the reverse direction for the officer's turns. Audio is streamed continuously and interim results arrive before the speaker has finished.
CUSTOMER ASK
Near-real-time, two-way interpretation during a hearing.
AZURE TECHNOLOGY
Azure AI Speech continuous translation recognition, with Azure AI Speech synthesis for the spoken reply.
BUSINESS VALUE
Hearings are time sensitive and interpreter availability is the usual constraint. Removing the wait removes a scheduling bottleneck and a cost line.
DEMO TRANSITION
Start the session and let the first two turns play before speaking over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Seven turns of an appeal hearing, both directions, and you can see both the original and the translation for every turn. The record builds itself as the hearing runs, so there is no transcription step afterwards. Two things I want to point out honestly. First, look closely and you will see Health Plan transcribed as Tencare and Youth Plan as cover kids. The speech engine does not know your programme names, and the fix is a phrase list or Custom Speech, which is a configuration exercise rather than a research problem. Second, this is one place a human reviewer belongs, which is what you were getting at in the thread.
WHAT IS HAPPENING
Each utterance produces a recognised source transcript and a translated text from the same Azure AI Speech session. The translated text is then synthesised to speech and played. Every turn is appended to an in-memory transcript that is written to disk when the session ends.
CUSTOMER ASK
Two-way interpretation and a written record of the hearing, plus the human-review consideration the customer answered yes to.
AZURE TECHNOLOGY
Azure AI Speech translation recognition and neural speech synthesis.
BUSINESS VALUE
The hearing proceeds at conversational pace and produces its own auditable record, which matters for an appeal that may later be challenged.
DEMO TRANSITION
Say that the third scenario was the most interesting ask in the thread, and open the Recorded Calls page.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Scenario three has two halves, and this is the first one. You said you will need a translated transcript. Here is a recorded member service call, just over forty seconds, in English. The application transcribes it with timecodes and translates it in the same pass, into Spanish and Arabic. A reviewer who reads either language can now work this call. One honest detail while it is on screen: look at the first line and you will see Tencare Connect rather than Health Plan Connect. The speech engine does not know your programme names. I will come back to that.
WHAT IS HAPPENING
The WAV file is streamed to Azure AI Speech, which returns a timecoded transcript in the source language together with translations into each configured target language, segment by segment. Segment boundaries and character counts vary slightly from run to run because the service decides where speech pauses fall; read whatever is on screen rather than quoting a figure. The call always processes faster than real time.
CUSTOMER ASK
The customer's words were: we will need a translated transcript. This is that requirement, met directly.
AZURE TECHNOLOGY
Azure AI Speech file-based transcription and translation.
BUSINESS VALUE
Recorded calls become reviewable by staff who do not speak the language, which matters for quality assurance, complaints and audit.
DEMO TRANSITION
Say: the second half of what you asked for was to put a notice into a recording. Then trigger the notice insertion.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And here is the second half of the ask, in your exact words: a notice in English, placed into an English audio recording file. So the notice is synthesised into just under twenty seconds of natural speech and spliced into the call at the twenty second mark, finishing at forty seconds. The recording was forty two point four seconds and is now sixty three point one. The splice is done locally, byte by byte, because both files are the same audio format, so there is no re-encoding and no quality loss. Nothing is uploaded and nothing is stored in Azure. One production note: we insert at a fixed offset here, so it lands mid-sentence. Operationally you would detect a natural pause, which is a small piece of work, not a new capability.
WHAT IS HAPPENING
The English notice text is synthesised to a 16 kHz mono PCM WAV by Azure AI Speech and inserted into the call recording at the chosen offset by rewriting the sample data locally. Both files share the same audio format, so the splice is a byte-range operation with no re-encoding. Duration grows from 42.4 to 63.1 seconds.
CUSTOMER ASK
Verbatim from the thread: we do have some cases where we would like a notice (English) placed into an English audio recording file. Note that this is English into English; the translation requirement for this scenario was the transcript on the previous slide, not the inserted audio.
AZURE TECHNOLOGY
Azure AI Speech neural synthesis. The splice itself is local.
BUSINESS VALUE
A notice delivered inside a recording the member already receives removes a separate outreach step and reaches members who may not read correspondence.
DEMO TRANSITION
Say that the duration changing is not proof, and run the verification step.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 longer file proves nothing; I could have padded it with silence. So we send the edited recording back to Azure AI Speech and transcribe it from scratch, as though we had never seen it before. It comes back as three segments instead of two, and there in the middle you can read the notice: the right to a free interpreter, the right to written materials in your language. The service that read that audio had no knowledge of what we did to it. That is the end of the demonstration.
WHAT IS HAPPENING
The spliced WAV is submitted to Azure AI Speech as a new, unseen file. Continuous recognition re-segments it on natural pauses and returns three segments beginning at 00:00:00, 00:00:28 and 00:00:58, with the inserted notice text appearing inside them.
CUSTOMER ASK
Verification that the inserted audio is genuinely present, closing out the third scenario.
AZURE TECHNOLOGY
Azure AI Speech continuous recognition.
BUSINESS VALUE
Independent verification is what turns a demonstration into evidence. It is also the pattern you would use operationally to confirm a batch of edited recordings is correct.
DEMO TRANSITION
Close the application and return to the deck for the summary of what was proven.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Three numbers and four caveats. Twenty eight automated tests run against the live Azure services, not against mocks, so when something breaks we find out. Three services deployed. And no API keys anywhere, because local authentication is switched off. Then the caveats, and I would rather you hear them from me now than discover them in a pilot. The speech engine does not know your programme names. We have twice seen a speech session accept audio and return nothing, so we put a timeout around it. OCR latency is unpredictable. And everything you saw was synthetic.
WHAT IS HAPPENING
Summary slide.
CUSTOMER ASK
Addresses the PHI and privacy answers directly by confirming synthetic data throughout.
AZURE TECHNOLOGY
All three services, exercised by the test suite.
BUSINESS VALUE
Volunteering limitations early is what separates a demonstration from a sales pitch, and it is what makes the next conversation a technical one.
DEMO TRANSITION
Move to the closing slide and propose the next step.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Four suggestions, in the order I would do them. Pick one notice type and run it at real volume, because volume is what surfaces the problems a demonstration cannot. Teach the system your vocabulary, which fixes the Health Plan and Youth Plan issue you saw. Design the human review step early, because it is the control that makes everything else defensible to an auditor. And then take it through your security review, using this as the starting point rather than a blank page. What I would like from today is simply to know which of the three scenarios matters most to you, because that determines where we would start.
WHAT IS HAPPENING
Closing slide.
CUSTOMER ASK
Addresses human review, retention and accessibility as the next pieces of work.
AZURE TECHNOLOGY
None.
BUSINESS VALUE
Gives the customer a concrete, low-risk first step rather than an open-ended programme.
DEMO TRANSITION
Hand over to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2A56"/>
        </a:solidFill>
        <a:effectLst/>
      </p:bgPr>
    </p:bg>
    <p:spTree>
      <p:nvGrpSpPr>
        <p:cNvPr id="1" name=""/>
        <p:cNvGrpSpPr/>
        <p:nvPr/>
      </p:nvGrpSpPr>
      <p:grpSpPr>
        <a:xfrm>
          <a:off x="0" y="0"/>
          <a:ext cx="0" cy="0"/>
          <a:chOff x="0" y="0"/>
          <a:chExt cx="0" cy="0"/>
        </a:xfrm>
      </p:grpSpPr>
      <p:sp>
        <p:nvSpPr>
          <p:cNvPr id="2" name="TextBox 1"/>
          <p:cNvSpPr txBox="1"/>
          <p:nvPr/>
        </p:nvSpPr>
        <p:spPr>
          <a:xfrm>
            <a:off x="342900" y="240030"/>
            <a:ext cx="8435340" cy="205740"/>
          </a:xfrm>
          <a:prstGeom prst="rect">
            <a:avLst/>
          </a:prstGeom>
          <a:noFill/>
        </p:spPr>
        <p:txBody>
          <a:bodyPr wrap="square" lIns="0" tIns="0" rIns="0" bIns="0">
            <a:spAutoFit/>
          </a:bodyPr>
          <a:lstStyle/>
          <a:p>
            <a:pPr>
              <a:spcAft>
                <a:spcPts val="600"/>
              </a:spcAft>
              <a:defRPr sz="900" b="1">
                <a:solidFill>
                  <a:srgbClr val="D99A22"/>
                </a:solidFill>
                <a:latin typeface="Calibri"/>
              </a:defRPr>
            </a:pPr>
            <a:r>
              <a:t>GENERIC SOLUTION DEMONSTRATION</a:t>
            </a:r>
          </a:p>
        </p:txBody>
      </p:sp>
      <p:sp>
        <p:nvSpPr>
          <p:cNvPr id="3" name="TextBox 2"/>
          <p:cNvSpPr txBox="1"/>
          <p:nvPr/>
        </p:nvSpPr>
        <p:spPr>
          <a:xfrm>
            <a:off x="342900" y="651510"/>
            <a:ext cx="8435340" cy="548640"/>
          </a:xfrm>
          <a:prstGeom prst="rect">
            <a:avLst/>
          </a:prstGeom>
          <a:noFill/>
        </p:spPr>
        <p:txBody>
          <a:bodyPr wrap="square" lIns="0" tIns="0" rIns="0" bIns="0">
            <a:spAutoFit/>
          </a:bodyPr>
          <a:lstStyle/>
          <a:p>
            <a:pPr>
              <a:spcAft>
                <a:spcPts val="600"/>
              </a:spcAft>
              <a:defRPr sz="2550" b="1">
                <a:solidFill>
                  <a:srgbClr val="FFFFFF"/>
                </a:solidFill>
                <a:latin typeface="Calibri"/>
              </a:defRPr>
            </a:pPr>
            <a:r>
              <a:t>Language access services</a:t>
            </a:r>
          </a:p>
        </p:txBody>
      </p:sp>
      <p:sp>
        <p:nvSpPr>
          <p:cNvPr id="4" name="Rounded Rectangle 3"/>
          <p:cNvSpPr/>
          <p:nvPr/>
        </p:nvSpPr>
        <p:spPr>
          <a:xfrm>
            <a:off x="342900" y="1371600"/>
            <a:ext cx="4114800" cy="1371600"/>
          </a:xfrm>
          <a:prstGeom prst="roundRect">
            <a:avLst>
              <a:gd name="adj" fmla="val 5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80060" y="1508760"/>
            <a:ext cx="3840480" cy="205740"/>
          </a:xfrm>
          <a:prstGeom prst="rect">
            <a:avLst/>
          </a:prstGeom>
          <a:noFill/>
        </p:spPr>
        <p:txBody>
          <a:bodyPr wrap="square" lIns="0" tIns="0" rIns="0" bIns="0">
            <a:spAutoFit/>
          </a:bodyPr>
          <a:lstStyle/>
          <a:p>
            <a:pPr>
              <a:spcAft>
                <a:spcPts val="600"/>
              </a:spcAft>
              <a:defRPr sz="975" b="1">
                <a:solidFill>
                  <a:srgbClr val="D99A22"/>
                </a:solidFill>
                <a:latin typeface="Calibri"/>
              </a:defRPr>
            </a:pPr>
            <a:r>
              <a:t>THE PROBLEM</a:t>
            </a:r>
          </a:p>
        </p:txBody>
      </p:sp>
      <p:sp>
        <p:nvSpPr>
          <p:cNvPr id="6" name="TextBox 5"/>
          <p:cNvSpPr txBox="1"/>
          <p:nvPr/>
        </p:nvSpPr>
        <p:spPr>
          <a:xfrm>
            <a:off x="480060" y="1885950"/>
            <a:ext cx="3806190" cy="720090"/>
          </a:xfrm>
          <a:prstGeom prst="rect">
            <a:avLst/>
          </a:prstGeom>
          <a:noFill/>
        </p:spPr>
        <p:txBody>
          <a:bodyPr wrap="square" lIns="0" tIns="0" rIns="0" bIns="0">
            <a:spAutoFit/>
          </a:bodyPr>
          <a:lstStyle/>
          <a:p>
            <a:pPr>
              <a:spcAft>
                <a:spcPts val="600"/>
              </a:spcAft>
              <a:defRPr sz="1500" b="0">
                <a:solidFill>
                  <a:srgbClr val="FFFFFF"/>
                </a:solidFill>
                <a:latin typeface="Calibri"/>
              </a:defRPr>
            </a:pPr>
            <a:r>
              <a:t>Members need translated notices, two-way interpretation and usable transcripts of recorded calls.</a:t>
            </a:r>
          </a:p>
        </p:txBody>
      </p:sp>
      <p:sp>
        <p:nvSpPr>
          <p:cNvPr id="7" name="Rounded Rectangle 6"/>
          <p:cNvSpPr/>
          <p:nvPr/>
        </p:nvSpPr>
        <p:spPr>
          <a:xfrm>
            <a:off x="4684014" y="1371600"/>
            <a:ext cx="4114800" cy="1371600"/>
          </a:xfrm>
          <a:prstGeom prst="roundRect">
            <a:avLst>
              <a:gd name="adj" fmla="val 5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21174" y="1508760"/>
            <a:ext cx="3840480" cy="205740"/>
          </a:xfrm>
          <a:prstGeom prst="rect">
            <a:avLst/>
          </a:prstGeom>
          <a:noFill/>
        </p:spPr>
        <p:txBody>
          <a:bodyPr wrap="square" lIns="0" tIns="0" rIns="0" bIns="0">
            <a:spAutoFit/>
          </a:bodyPr>
          <a:lstStyle/>
          <a:p>
            <a:pPr>
              <a:spcAft>
                <a:spcPts val="600"/>
              </a:spcAft>
              <a:defRPr sz="975" b="1">
                <a:solidFill>
                  <a:srgbClr val="D99A22"/>
                </a:solidFill>
                <a:latin typeface="Calibri"/>
              </a:defRPr>
            </a:pPr>
            <a:r>
              <a:t>THE SOLUTION</a:t>
            </a:r>
          </a:p>
        </p:txBody>
      </p:sp>
      <p:sp>
        <p:nvSpPr>
          <p:cNvPr id="9" name="TextBox 8"/>
          <p:cNvSpPr txBox="1"/>
          <p:nvPr/>
        </p:nvSpPr>
        <p:spPr>
          <a:xfrm>
            <a:off x="4821174" y="1885950"/>
            <a:ext cx="3806190" cy="720090"/>
          </a:xfrm>
          <a:prstGeom prst="rect">
            <a:avLst/>
          </a:prstGeom>
          <a:noFill/>
        </p:spPr>
        <p:txBody>
          <a:bodyPr wrap="square" lIns="0" tIns="0" rIns="0" bIns="0">
            <a:spAutoFit/>
          </a:bodyPr>
          <a:lstStyle/>
          <a:p>
            <a:pPr>
              <a:spcAft>
                <a:spcPts val="600"/>
              </a:spcAft>
              <a:defRPr sz="1500" b="0">
                <a:solidFill>
                  <a:srgbClr val="FFFFFF"/>
                </a:solidFill>
                <a:latin typeface="Calibri"/>
              </a:defRPr>
            </a:pPr>
            <a:r>
              <a:t>Translate digital/scanned documents, replay bilingual hearings, and translate call transcripts with an inserted audio notice.</a:t>
            </a:r>
          </a:p>
        </p:txBody>
      </p:sp>
      <p:sp>
        <p:nvSpPr>
          <p:cNvPr id="10" name="TextBox 9"/>
          <p:cNvSpPr txBox="1"/>
          <p:nvPr/>
        </p:nvSpPr>
        <p:spPr>
          <a:xfrm>
            <a:off x="342900" y="2983230"/>
            <a:ext cx="8229600" cy="205740"/>
          </a:xfrm>
          <a:prstGeom prst="rect">
            <a:avLst/>
          </a:prstGeom>
          <a:noFill/>
        </p:spPr>
        <p:txBody>
          <a:bodyPr wrap="square" lIns="0" tIns="0" rIns="0" bIns="0">
            <a:spAutoFit/>
          </a:bodyPr>
          <a:lstStyle/>
          <a:p>
            <a:pPr>
              <a:spcAft>
                <a:spcPts val="600"/>
              </a:spcAft>
              <a:defRPr sz="975" b="1">
                <a:solidFill>
                  <a:srgbClr val="D99A22"/>
                </a:solidFill>
                <a:latin typeface="Calibri"/>
              </a:defRPr>
            </a:pPr>
            <a:r>
              <a:t>PRODUCTS AND PLATFORM</a:t>
            </a:r>
          </a:p>
        </p:txBody>
      </p:sp>
      <p:sp>
        <p:nvSpPr>
          <p:cNvPr id="11" name="TextBox 10"/>
          <p:cNvSpPr txBox="1"/>
          <p:nvPr/>
        </p:nvSpPr>
        <p:spPr>
          <a:xfrm>
            <a:off x="342900" y="3346704"/>
            <a:ext cx="8366760" cy="617220"/>
          </a:xfrm>
          <a:prstGeom prst="rect">
            <a:avLst/>
          </a:prstGeom>
          <a:noFill/>
        </p:spPr>
        <p:txBody>
          <a:bodyPr wrap="square" lIns="0" tIns="0" rIns="0" bIns="0">
            <a:spAutoFit/>
          </a:bodyPr>
          <a:lstStyle/>
          <a:p>
            <a:pPr>
              <a:spcAft>
                <a:spcPts val="600"/>
              </a:spcAft>
              <a:defRPr sz="1575" b="0">
                <a:solidFill>
                  <a:srgbClr val="FFFFFF"/>
                </a:solidFill>
                <a:latin typeface="Calibri"/>
              </a:defRPr>
            </a:pPr>
            <a:r>
              <a:t>Windows .NET MAUI | Azure AI Translator | Azure AI Speech | Azure AI Document Intelligence | Entra ID</a:t>
            </a:r>
          </a:p>
        </p:txBody>
      </p:sp>
      <p:sp>
        <p:nvSpPr>
          <p:cNvPr id="12" name="TextBox 11"/>
          <p:cNvSpPr txBox="1"/>
          <p:nvPr/>
        </p:nvSpPr>
        <p:spPr>
          <a:xfrm>
            <a:off x="342900" y="4197096"/>
            <a:ext cx="8366760" cy="480060"/>
          </a:xfrm>
          <a:prstGeom prst="rect">
            <a:avLst/>
          </a:prstGeom>
          <a:noFill/>
        </p:spPr>
        <p:txBody>
          <a:bodyPr wrap="square" lIns="0" tIns="0" rIns="0" bIns="0">
            <a:spAutoFit/>
          </a:bodyPr>
          <a:lstStyle/>
          <a:p>
            <a:pPr>
              <a:spcAft>
                <a:spcPts val="600"/>
              </a:spcAft>
              <a:defRPr sz="1200" b="0">
                <a:solidFill>
                  <a:srgbClr val="D4DAE8"/>
                </a:solidFill>
                <a:latin typeface="Calibri"/>
              </a:defRPr>
            </a:pPr>
            <a:r>
              <a:t>Synthetic documents and prerecorded hearing audio. Live-microphone performance and production integration are not established; recognition/session issues are documented.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42900" y="240030"/>
            <a:ext cx="8435340" cy="205740"/>
          </a:xfrm>
          <a:prstGeom prst="rect">
            <a:avLst/>
          </a:prstGeom>
          <a:noFill/>
        </p:spPr>
        <p:txBody>
          <a:bodyPr wrap="square" lIns="0" tIns="0" rIns="0" bIns="0">
            <a:spAutoFit/>
          </a:bodyPr>
          <a:lstStyle/>
          <a:p>
            <a:pPr>
              <a:spcAft>
                <a:spcPts val="600"/>
              </a:spcAft>
              <a:defRPr sz="900" b="1">
                <a:solidFill>
                  <a:srgbClr val="006B65"/>
                </a:solidFill>
                <a:latin typeface="Calibri"/>
              </a:defRPr>
            </a:pPr>
            <a:r>
              <a:t>SOLUTION ARCHITECTURE</a:t>
            </a:r>
          </a:p>
        </p:txBody>
      </p:sp>
      <p:sp>
        <p:nvSpPr>
          <p:cNvPr id="3" name="TextBox 2"/>
          <p:cNvSpPr txBox="1"/>
          <p:nvPr/>
        </p:nvSpPr>
        <p:spPr>
          <a:xfrm>
            <a:off x="342900" y="651510"/>
            <a:ext cx="8435340" cy="480060"/>
          </a:xfrm>
          <a:prstGeom prst="rect">
            <a:avLst/>
          </a:prstGeom>
          <a:noFill/>
        </p:spPr>
        <p:txBody>
          <a:bodyPr wrap="square" lIns="0" tIns="0" rIns="0" bIns="0">
            <a:spAutoFit/>
          </a:bodyPr>
          <a:lstStyle/>
          <a:p>
            <a:pPr>
              <a:spcAft>
                <a:spcPts val="600"/>
              </a:spcAft>
              <a:defRPr sz="2550" b="1">
                <a:solidFill>
                  <a:srgbClr val="182337"/>
                </a:solidFill>
                <a:latin typeface="Calibri"/>
              </a:defRPr>
            </a:pPr>
            <a:r>
              <a:t>How the solution fits together</a:t>
            </a:r>
          </a:p>
        </p:txBody>
      </p:sp>
      <p:sp>
        <p:nvSpPr>
          <p:cNvPr id="4" name="TextBox 3"/>
          <p:cNvSpPr txBox="1"/>
          <p:nvPr/>
        </p:nvSpPr>
        <p:spPr>
          <a:xfrm>
            <a:off x="342900" y="1282446"/>
            <a:ext cx="8435340" cy="205740"/>
          </a:xfrm>
          <a:prstGeom prst="rect">
            <a:avLst/>
          </a:prstGeom>
          <a:noFill/>
        </p:spPr>
        <p:txBody>
          <a:bodyPr wrap="square" lIns="0" tIns="0" rIns="0" bIns="0">
            <a:spAutoFit/>
          </a:bodyPr>
          <a:lstStyle/>
          <a:p>
            <a:pPr>
              <a:spcAft>
                <a:spcPts val="600"/>
              </a:spcAft>
              <a:defRPr sz="975" b="1">
                <a:solidFill>
                  <a:srgbClr val="006B65"/>
                </a:solidFill>
                <a:latin typeface="Calibri"/>
              </a:defRPr>
            </a:pPr>
            <a:r>
              <a:t>RELATED WORKFLOWS / BRANCHES</a:t>
            </a:r>
          </a:p>
        </p:txBody>
      </p:sp>
      <p:sp>
        <p:nvSpPr>
          <p:cNvPr id="5" name="Rounded Rectangle 4"/>
          <p:cNvSpPr/>
          <p:nvPr/>
        </p:nvSpPr>
        <p:spPr>
          <a:xfrm>
            <a:off x="342900" y="1714500"/>
            <a:ext cx="2016252" cy="178308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0060" y="1851660"/>
            <a:ext cx="1714500" cy="377190"/>
          </a:xfrm>
          <a:prstGeom prst="rect">
            <a:avLst/>
          </a:prstGeom>
          <a:noFill/>
        </p:spPr>
        <p:txBody>
          <a:bodyPr wrap="square" lIns="0" tIns="0" rIns="0" bIns="0">
            <a:spAutoFit/>
          </a:bodyPr>
          <a:lstStyle/>
          <a:p>
            <a:pPr>
              <a:spcAft>
                <a:spcPts val="600"/>
              </a:spcAft>
              <a:defRPr sz="2250" b="1">
                <a:solidFill>
                  <a:srgbClr val="D99A22"/>
                </a:solidFill>
                <a:latin typeface="Calibri"/>
              </a:defRPr>
            </a:pPr>
            <a:r>
              <a:t>01</a:t>
            </a:r>
          </a:p>
        </p:txBody>
      </p:sp>
      <p:sp>
        <p:nvSpPr>
          <p:cNvPr id="7" name="TextBox 6"/>
          <p:cNvSpPr txBox="1"/>
          <p:nvPr/>
        </p:nvSpPr>
        <p:spPr>
          <a:xfrm>
            <a:off x="480060" y="2352294"/>
            <a:ext cx="1714500" cy="377190"/>
          </a:xfrm>
          <a:prstGeom prst="rect">
            <a:avLst/>
          </a:prstGeom>
          <a:noFill/>
        </p:spPr>
        <p:txBody>
          <a:bodyPr wrap="square" lIns="0" tIns="0" rIns="0" bIns="0">
            <a:spAutoFit/>
          </a:bodyPr>
          <a:lstStyle/>
          <a:p>
            <a:pPr>
              <a:spcAft>
                <a:spcPts val="600"/>
              </a:spcAft>
              <a:defRPr sz="1575" b="1">
                <a:solidFill>
                  <a:srgbClr val="182337"/>
                </a:solidFill>
                <a:latin typeface="Calibri"/>
              </a:defRPr>
            </a:pPr>
            <a:r>
              <a:t>Documents</a:t>
            </a:r>
          </a:p>
        </p:txBody>
      </p:sp>
      <p:sp>
        <p:nvSpPr>
          <p:cNvPr id="8" name="TextBox 7"/>
          <p:cNvSpPr txBox="1"/>
          <p:nvPr/>
        </p:nvSpPr>
        <p:spPr>
          <a:xfrm>
            <a:off x="480060" y="2880360"/>
            <a:ext cx="1714500" cy="480060"/>
          </a:xfrm>
          <a:prstGeom prst="rect">
            <a:avLst/>
          </a:prstGeom>
          <a:noFill/>
        </p:spPr>
        <p:txBody>
          <a:bodyPr wrap="square" lIns="0" tIns="0" rIns="0" bIns="0">
            <a:spAutoFit/>
          </a:bodyPr>
          <a:lstStyle/>
          <a:p>
            <a:pPr>
              <a:spcAft>
                <a:spcPts val="600"/>
              </a:spcAft>
              <a:defRPr sz="1275" b="0">
                <a:solidFill>
                  <a:srgbClr val="182337"/>
                </a:solidFill>
                <a:latin typeface="Calibri"/>
              </a:defRPr>
            </a:pPr>
            <a:r>
              <a:t>Text extraction or DI OCR</a:t>
            </a:r>
          </a:p>
        </p:txBody>
      </p:sp>
      <p:sp>
        <p:nvSpPr>
          <p:cNvPr id="9" name="Rounded Rectangle 8"/>
          <p:cNvSpPr/>
          <p:nvPr/>
        </p:nvSpPr>
        <p:spPr>
          <a:xfrm>
            <a:off x="2489454" y="1714500"/>
            <a:ext cx="2016252" cy="178308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26614" y="1851660"/>
            <a:ext cx="1714500" cy="377190"/>
          </a:xfrm>
          <a:prstGeom prst="rect">
            <a:avLst/>
          </a:prstGeom>
          <a:noFill/>
        </p:spPr>
        <p:txBody>
          <a:bodyPr wrap="square" lIns="0" tIns="0" rIns="0" bIns="0">
            <a:spAutoFit/>
          </a:bodyPr>
          <a:lstStyle/>
          <a:p>
            <a:pPr>
              <a:spcAft>
                <a:spcPts val="600"/>
              </a:spcAft>
              <a:defRPr sz="2250" b="1">
                <a:solidFill>
                  <a:srgbClr val="D99A22"/>
                </a:solidFill>
                <a:latin typeface="Calibri"/>
              </a:defRPr>
            </a:pPr>
            <a:r>
              <a:t>02</a:t>
            </a:r>
          </a:p>
        </p:txBody>
      </p:sp>
      <p:sp>
        <p:nvSpPr>
          <p:cNvPr id="11" name="TextBox 10"/>
          <p:cNvSpPr txBox="1"/>
          <p:nvPr/>
        </p:nvSpPr>
        <p:spPr>
          <a:xfrm>
            <a:off x="2626614" y="2352294"/>
            <a:ext cx="1714500" cy="377190"/>
          </a:xfrm>
          <a:prstGeom prst="rect">
            <a:avLst/>
          </a:prstGeom>
          <a:noFill/>
        </p:spPr>
        <p:txBody>
          <a:bodyPr wrap="square" lIns="0" tIns="0" rIns="0" bIns="0">
            <a:spAutoFit/>
          </a:bodyPr>
          <a:lstStyle/>
          <a:p>
            <a:pPr>
              <a:spcAft>
                <a:spcPts val="600"/>
              </a:spcAft>
              <a:defRPr sz="1575" b="1">
                <a:solidFill>
                  <a:srgbClr val="182337"/>
                </a:solidFill>
                <a:latin typeface="Calibri"/>
              </a:defRPr>
            </a:pPr>
            <a:r>
              <a:t>Translation</a:t>
            </a:r>
          </a:p>
        </p:txBody>
      </p:sp>
      <p:sp>
        <p:nvSpPr>
          <p:cNvPr id="12" name="TextBox 11"/>
          <p:cNvSpPr txBox="1"/>
          <p:nvPr/>
        </p:nvSpPr>
        <p:spPr>
          <a:xfrm>
            <a:off x="2626614" y="2880360"/>
            <a:ext cx="1714500" cy="480060"/>
          </a:xfrm>
          <a:prstGeom prst="rect">
            <a:avLst/>
          </a:prstGeom>
          <a:noFill/>
        </p:spPr>
        <p:txBody>
          <a:bodyPr wrap="square" lIns="0" tIns="0" rIns="0" bIns="0">
            <a:spAutoFit/>
          </a:bodyPr>
          <a:lstStyle/>
          <a:p>
            <a:pPr>
              <a:spcAft>
                <a:spcPts val="600"/>
              </a:spcAft>
              <a:defRPr sz="1275" b="0">
                <a:solidFill>
                  <a:srgbClr val="182337"/>
                </a:solidFill>
                <a:latin typeface="Calibri"/>
              </a:defRPr>
            </a:pPr>
            <a:r>
              <a:t>Translator target languages</a:t>
            </a:r>
          </a:p>
        </p:txBody>
      </p:sp>
      <p:sp>
        <p:nvSpPr>
          <p:cNvPr id="13" name="Rounded Rectangle 12"/>
          <p:cNvSpPr/>
          <p:nvPr/>
        </p:nvSpPr>
        <p:spPr>
          <a:xfrm>
            <a:off x="4636008" y="1714500"/>
            <a:ext cx="2016252" cy="178308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73168" y="1851660"/>
            <a:ext cx="1714500" cy="377190"/>
          </a:xfrm>
          <a:prstGeom prst="rect">
            <a:avLst/>
          </a:prstGeom>
          <a:noFill/>
        </p:spPr>
        <p:txBody>
          <a:bodyPr wrap="square" lIns="0" tIns="0" rIns="0" bIns="0">
            <a:spAutoFit/>
          </a:bodyPr>
          <a:lstStyle/>
          <a:p>
            <a:pPr>
              <a:spcAft>
                <a:spcPts val="600"/>
              </a:spcAft>
              <a:defRPr sz="2250" b="1">
                <a:solidFill>
                  <a:srgbClr val="D99A22"/>
                </a:solidFill>
                <a:latin typeface="Calibri"/>
              </a:defRPr>
            </a:pPr>
            <a:r>
              <a:t>03</a:t>
            </a:r>
          </a:p>
        </p:txBody>
      </p:sp>
      <p:sp>
        <p:nvSpPr>
          <p:cNvPr id="15" name="TextBox 14"/>
          <p:cNvSpPr txBox="1"/>
          <p:nvPr/>
        </p:nvSpPr>
        <p:spPr>
          <a:xfrm>
            <a:off x="4773168" y="2352294"/>
            <a:ext cx="1714500" cy="377190"/>
          </a:xfrm>
          <a:prstGeom prst="rect">
            <a:avLst/>
          </a:prstGeom>
          <a:noFill/>
        </p:spPr>
        <p:txBody>
          <a:bodyPr wrap="square" lIns="0" tIns="0" rIns="0" bIns="0">
            <a:spAutoFit/>
          </a:bodyPr>
          <a:lstStyle/>
          <a:p>
            <a:pPr>
              <a:spcAft>
                <a:spcPts val="600"/>
              </a:spcAft>
              <a:defRPr sz="1575" b="1">
                <a:solidFill>
                  <a:srgbClr val="182337"/>
                </a:solidFill>
                <a:latin typeface="Calibri"/>
              </a:defRPr>
            </a:pPr>
            <a:r>
              <a:t>Audio workflows</a:t>
            </a:r>
          </a:p>
        </p:txBody>
      </p:sp>
      <p:sp>
        <p:nvSpPr>
          <p:cNvPr id="16" name="TextBox 15"/>
          <p:cNvSpPr txBox="1"/>
          <p:nvPr/>
        </p:nvSpPr>
        <p:spPr>
          <a:xfrm>
            <a:off x="4773168" y="2880360"/>
            <a:ext cx="1714500" cy="480060"/>
          </a:xfrm>
          <a:prstGeom prst="rect">
            <a:avLst/>
          </a:prstGeom>
          <a:noFill/>
        </p:spPr>
        <p:txBody>
          <a:bodyPr wrap="square" lIns="0" tIns="0" rIns="0" bIns="0">
            <a:spAutoFit/>
          </a:bodyPr>
          <a:lstStyle/>
          <a:p>
            <a:pPr>
              <a:spcAft>
                <a:spcPts val="600"/>
              </a:spcAft>
              <a:defRPr sz="1275" b="0">
                <a:solidFill>
                  <a:srgbClr val="182337"/>
                </a:solidFill>
                <a:latin typeface="Calibri"/>
              </a:defRPr>
            </a:pPr>
            <a:r>
              <a:t>Speech STT / translation / TTS</a:t>
            </a:r>
          </a:p>
        </p:txBody>
      </p:sp>
      <p:sp>
        <p:nvSpPr>
          <p:cNvPr id="17" name="Rounded Rectangle 16"/>
          <p:cNvSpPr/>
          <p:nvPr/>
        </p:nvSpPr>
        <p:spPr>
          <a:xfrm>
            <a:off x="6782562" y="1714500"/>
            <a:ext cx="2016252" cy="1783080"/>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19722" y="1851660"/>
            <a:ext cx="1714500" cy="377190"/>
          </a:xfrm>
          <a:prstGeom prst="rect">
            <a:avLst/>
          </a:prstGeom>
          <a:noFill/>
        </p:spPr>
        <p:txBody>
          <a:bodyPr wrap="square" lIns="0" tIns="0" rIns="0" bIns="0">
            <a:spAutoFit/>
          </a:bodyPr>
          <a:lstStyle/>
          <a:p>
            <a:pPr>
              <a:spcAft>
                <a:spcPts val="600"/>
              </a:spcAft>
              <a:defRPr sz="2250" b="1">
                <a:solidFill>
                  <a:srgbClr val="D99A22"/>
                </a:solidFill>
                <a:latin typeface="Calibri"/>
              </a:defRPr>
            </a:pPr>
            <a:r>
              <a:t>04</a:t>
            </a:r>
          </a:p>
        </p:txBody>
      </p:sp>
      <p:sp>
        <p:nvSpPr>
          <p:cNvPr id="19" name="TextBox 18"/>
          <p:cNvSpPr txBox="1"/>
          <p:nvPr/>
        </p:nvSpPr>
        <p:spPr>
          <a:xfrm>
            <a:off x="6919722" y="2352294"/>
            <a:ext cx="1714500" cy="377190"/>
          </a:xfrm>
          <a:prstGeom prst="rect">
            <a:avLst/>
          </a:prstGeom>
          <a:noFill/>
        </p:spPr>
        <p:txBody>
          <a:bodyPr wrap="square" lIns="0" tIns="0" rIns="0" bIns="0">
            <a:spAutoFit/>
          </a:bodyPr>
          <a:lstStyle/>
          <a:p>
            <a:pPr>
              <a:spcAft>
                <a:spcPts val="600"/>
              </a:spcAft>
              <a:defRPr sz="1575" b="1">
                <a:solidFill>
                  <a:srgbClr val="182337"/>
                </a:solidFill>
                <a:latin typeface="Calibri"/>
              </a:defRPr>
            </a:pPr>
            <a:r>
              <a:t>Review + save</a:t>
            </a:r>
          </a:p>
        </p:txBody>
      </p:sp>
      <p:sp>
        <p:nvSpPr>
          <p:cNvPr id="20" name="TextBox 19"/>
          <p:cNvSpPr txBox="1"/>
          <p:nvPr/>
        </p:nvSpPr>
        <p:spPr>
          <a:xfrm>
            <a:off x="6919722" y="2880360"/>
            <a:ext cx="1714500" cy="480060"/>
          </a:xfrm>
          <a:prstGeom prst="rect">
            <a:avLst/>
          </a:prstGeom>
          <a:noFill/>
        </p:spPr>
        <p:txBody>
          <a:bodyPr wrap="square" lIns="0" tIns="0" rIns="0" bIns="0">
            <a:spAutoFit/>
          </a:bodyPr>
          <a:lstStyle/>
          <a:p>
            <a:pPr>
              <a:spcAft>
                <a:spcPts val="600"/>
              </a:spcAft>
              <a:defRPr sz="1275" b="0">
                <a:solidFill>
                  <a:srgbClr val="182337"/>
                </a:solidFill>
                <a:latin typeface="Calibri"/>
              </a:defRPr>
            </a:pPr>
            <a:r>
              <a:t>Transcript / local WAV splice</a:t>
            </a:r>
          </a:p>
        </p:txBody>
      </p:sp>
      <p:sp>
        <p:nvSpPr>
          <p:cNvPr id="21" name="TextBox 20"/>
          <p:cNvSpPr txBox="1"/>
          <p:nvPr/>
        </p:nvSpPr>
        <p:spPr>
          <a:xfrm>
            <a:off x="342900" y="3806190"/>
            <a:ext cx="8366760" cy="548640"/>
          </a:xfrm>
          <a:prstGeom prst="rect">
            <a:avLst/>
          </a:prstGeom>
          <a:noFill/>
        </p:spPr>
        <p:txBody>
          <a:bodyPr wrap="square" lIns="0" tIns="0" rIns="0" bIns="0">
            <a:spAutoFit/>
          </a:bodyPr>
          <a:lstStyle/>
          <a:p>
            <a:pPr>
              <a:spcAft>
                <a:spcPts val="600"/>
              </a:spcAft>
              <a:defRPr sz="1350" b="0">
                <a:solidFill>
                  <a:srgbClr val="182337"/>
                </a:solidFill>
                <a:latin typeface="Calibri"/>
              </a:defRPr>
            </a:pPr>
            <a:r>
              <a:t>These are related scenarios, not a single serial pipeline. OpenAI/Foundry and cloud UI hosting are not required. Blob intake and approval workflow are proposed.</a:t>
            </a:r>
          </a:p>
        </p:txBody>
      </p:sp>
      <p:sp>
        <p:nvSpPr>
          <p:cNvPr id="22" name="TextBox 21"/>
          <p:cNvSpPr txBox="1"/>
          <p:nvPr/>
        </p:nvSpPr>
        <p:spPr>
          <a:xfrm>
            <a:off x="342900" y="4704588"/>
            <a:ext cx="7269480" cy="205740"/>
          </a:xfrm>
          <a:prstGeom prst="rect">
            <a:avLst/>
          </a:prstGeom>
          <a:noFill/>
        </p:spPr>
        <p:txBody>
          <a:bodyPr wrap="square" lIns="0" tIns="0" rIns="0" bIns="0">
            <a:spAutoFit/>
          </a:bodyPr>
          <a:lstStyle/>
          <a:p>
            <a:pPr>
              <a:spcAft>
                <a:spcPts val="600"/>
              </a:spcAft>
              <a:defRPr sz="825" b="0">
                <a:solidFill>
                  <a:srgbClr val="526176"/>
                </a:solidFill>
                <a:latin typeface="Calibri"/>
              </a:defRPr>
            </a:pPr>
            <a:r>
              <a:t>Generic labels and edited screenshots | Historical results are illustrative, not rerun</a:t>
            </a:r>
          </a:p>
        </p:txBody>
      </p:sp>
      <p:sp>
        <p:nvSpPr>
          <p:cNvPr id="23" name="TextBox 22">
            <a:hlinkClick r:id="rId3" action="ppaction://hlinksldjump"/>
          </p:cNvPr>
          <p:cNvSpPr txBox="1"/>
          <p:nvPr/>
        </p:nvSpPr>
        <p:spPr>
          <a:xfrm>
            <a:off x="7783830" y="4677156"/>
            <a:ext cx="1028700" cy="240030"/>
          </a:xfrm>
          <a:prstGeom prst="rect">
            <a:avLst/>
          </a:prstGeom>
          <a:noFill/>
        </p:spPr>
        <p:txBody>
          <a:bodyPr wrap="square" lIns="0" tIns="0" rIns="0" bIns="0">
            <a:spAutoFit/>
          </a:bodyPr>
          <a:lstStyle/>
          <a:p>
            <a:pPr>
              <a:spcAft>
                <a:spcPts val="600"/>
              </a:spcAft>
              <a:defRPr sz="975" b="1">
                <a:solidFill>
                  <a:srgbClr val="006B65"/>
                </a:solidFill>
                <a:latin typeface="Calibri"/>
              </a:defRPr>
            </a:pPr>
            <a:r>
              <a:t>START TOUR &gt;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131E29"/>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A7190C"/>
          </a:solidFill>
          <a:ln/>
        </p:spPr>
      </p:sp>
      <p:sp>
        <p:nvSpPr>
          <p:cNvPr id="3" name="Text 1"/>
          <p:cNvSpPr/>
          <p:nvPr/>
        </p:nvSpPr>
        <p:spPr>
          <a:xfrm>
            <a:off x="731520" y="1051560"/>
            <a:ext cx="7955280" cy="274320"/>
          </a:xfrm>
          <a:prstGeom prst="rect">
            <a:avLst/>
          </a:prstGeom>
          <a:noFill/>
          <a:ln/>
        </p:spPr>
        <p:txBody>
          <a:bodyPr wrap="square" lIns="0" tIns="0" rIns="0" bIns="0" rtlCol="0" anchor="ctr"/>
          <a:lstStyle/>
          <a:p>
            <a:pPr marL="0" indent="0">
              <a:buNone/>
            </a:pPr>
            <a:r>
              <a:rPr lang="en-US" sz="1100" b="1" kern="0" spc="300" dirty="0">
                <a:solidFill>
                  <a:srgbClr val="8FA6C4"/>
                </a:solidFill>
                <a:latin typeface="Calibri" pitchFamily="34" charset="0"/>
                <a:ea typeface="Calibri" pitchFamily="34" charset="-122"/>
                <a:cs typeface="Calibri" pitchFamily="34" charset="-120"/>
              </a:rPr>
              <a:t>STATE OF Example State  •  DIVISION OF Health Plan</a:t>
            </a:r>
            <a:endParaRPr lang="en-US" sz="1100" dirty="0"/>
          </a:p>
        </p:txBody>
      </p:sp>
      <p:sp>
        <p:nvSpPr>
          <p:cNvPr id="4" name="Text 2"/>
          <p:cNvSpPr/>
          <p:nvPr/>
        </p:nvSpPr>
        <p:spPr>
          <a:xfrm>
            <a:off x="731520" y="1389888"/>
            <a:ext cx="7955280" cy="603504"/>
          </a:xfrm>
          <a:prstGeom prst="rect">
            <a:avLst/>
          </a:prstGeom>
          <a:noFill/>
          <a:ln/>
        </p:spPr>
        <p:txBody>
          <a:bodyPr wrap="square" lIns="0" tIns="0" rIns="0" bIns="0" rtlCol="0" anchor="ctr"/>
          <a:lstStyle/>
          <a:p>
            <a:pPr marL="0" indent="0">
              <a:buNone/>
            </a:pPr>
            <a:r>
              <a:rPr lang="en-US" sz="3400" b="1" dirty="0">
                <a:solidFill>
                  <a:srgbClr val="FFFFFF"/>
                </a:solidFill>
                <a:latin typeface="Example State" pitchFamily="34" charset="0"/>
                <a:ea typeface="Example State" pitchFamily="34" charset="-122"/>
                <a:cs typeface="Example State" pitchFamily="34" charset="-120"/>
              </a:rPr>
              <a:t>Language Access with Azure AI</a:t>
            </a:r>
            <a:endParaRPr lang="en-US" sz="3400" dirty="0"/>
          </a:p>
        </p:txBody>
      </p:sp>
      <p:sp>
        <p:nvSpPr>
          <p:cNvPr id="5" name="Text 3"/>
          <p:cNvSpPr/>
          <p:nvPr/>
        </p:nvSpPr>
        <p:spPr>
          <a:xfrm>
            <a:off x="731520" y="2066544"/>
            <a:ext cx="7955280" cy="365760"/>
          </a:xfrm>
          <a:prstGeom prst="rect">
            <a:avLst/>
          </a:prstGeom>
          <a:noFill/>
          <a:ln/>
        </p:spPr>
        <p:txBody>
          <a:bodyPr wrap="square" lIns="0" tIns="0" rIns="0" bIns="0" rtlCol="0" anchor="ctr"/>
          <a:lstStyle/>
          <a:p>
            <a:pPr marL="0" indent="0">
              <a:buNone/>
            </a:pPr>
            <a:r>
              <a:rPr lang="en-US" sz="1600" dirty="0">
                <a:solidFill>
                  <a:srgbClr val="CAD6E6"/>
                </a:solidFill>
                <a:latin typeface="Calibri" pitchFamily="34" charset="0"/>
                <a:ea typeface="Calibri" pitchFamily="34" charset="-122"/>
                <a:cs typeface="Calibri" pitchFamily="34" charset="-120"/>
              </a:rPr>
              <a:t>Translator, Speech and Document Intelligence — working demonstration</a:t>
            </a:r>
            <a:endParaRPr lang="en-US" sz="1600" dirty="0"/>
          </a:p>
        </p:txBody>
      </p:sp>
      <p:sp>
        <p:nvSpPr>
          <p:cNvPr id="6" name="Shape 4"/>
          <p:cNvSpPr/>
          <p:nvPr/>
        </p:nvSpPr>
        <p:spPr>
          <a:xfrm>
            <a:off x="731520" y="2743200"/>
            <a:ext cx="2011680" cy="32004"/>
          </a:xfrm>
          <a:prstGeom prst="rect">
            <a:avLst/>
          </a:prstGeom>
          <a:solidFill>
            <a:srgbClr val="A7190C"/>
          </a:solidFill>
          <a:ln/>
        </p:spPr>
      </p:sp>
      <p:sp>
        <p:nvSpPr>
          <p:cNvPr id="7" name="Text 5"/>
          <p:cNvSpPr/>
          <p:nvPr/>
        </p:nvSpPr>
        <p:spPr>
          <a:xfrm>
            <a:off x="731520" y="3017520"/>
            <a:ext cx="7955280" cy="914400"/>
          </a:xfrm>
          <a:prstGeom prst="rect">
            <a:avLst/>
          </a:prstGeom>
          <a:noFill/>
          <a:ln/>
        </p:spPr>
        <p:txBody>
          <a:bodyPr wrap="square" lIns="0" tIns="0" rIns="0" bIns="0" rtlCol="0" anchor="ctr"/>
          <a:lstStyle/>
          <a:p>
            <a:pPr marL="0" indent="0">
              <a:lnSpc>
                <a:spcPts val="2000"/>
              </a:lnSpc>
              <a:buNone/>
            </a:pPr>
            <a:r>
              <a:rPr lang="en-US" sz="1300" dirty="0">
                <a:solidFill>
                  <a:srgbClr val="A9BBD2"/>
                </a:solidFill>
                <a:latin typeface="Calibri" pitchFamily="34" charset="0"/>
                <a:ea typeface="Calibri" pitchFamily="34" charset="-122"/>
                <a:cs typeface="Calibri" pitchFamily="34" charset="-120"/>
              </a:rPr>
              <a:t>Prepared for the Division of Health Plan</a:t>
            </a:r>
            <a:endParaRPr lang="en-US" sz="1300" dirty="0"/>
          </a:p>
          <a:p>
            <a:pPr marL="0" indent="0">
              <a:lnSpc>
                <a:spcPts val="2000"/>
              </a:lnSpc>
              <a:buNone/>
            </a:pPr>
            <a:r>
              <a:rPr lang="en-US" sz="1300" dirty="0">
                <a:solidFill>
                  <a:srgbClr val="A9BBD2"/>
                </a:solidFill>
                <a:latin typeface="Calibri" pitchFamily="34" charset="0"/>
                <a:ea typeface="Calibri" pitchFamily="34" charset="-122"/>
                <a:cs typeface="Calibri" pitchFamily="34" charset="-120"/>
              </a:rPr>
              <a:t>22 October 2026</a:t>
            </a:r>
            <a:endParaRPr lang="en-US" sz="1300" dirty="0"/>
          </a:p>
          <a:p>
            <a:pPr marL="0" indent="0">
              <a:lnSpc>
                <a:spcPts val="2000"/>
              </a:lnSpc>
              <a:buNone/>
            </a:pPr>
            <a:r>
              <a:rPr lang="en-US" sz="1300" dirty="0">
                <a:solidFill>
                  <a:srgbClr val="A9BBD2"/>
                </a:solidFill>
                <a:latin typeface="Calibri" pitchFamily="34" charset="0"/>
                <a:ea typeface="Calibri" pitchFamily="34" charset="-122"/>
                <a:cs typeface="Calibri" pitchFamily="34" charset="-120"/>
              </a:rPr>
              <a:t>John Straumann, Field CAIO Officer, Microsoft South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CUSTOMER ASKS</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What Health Plan Asked For</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411480" y="1078992"/>
            <a:ext cx="8321040" cy="1170432"/>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7" name="Shape 5"/>
          <p:cNvSpPr/>
          <p:nvPr/>
        </p:nvSpPr>
        <p:spPr>
          <a:xfrm>
            <a:off x="411480" y="1078992"/>
            <a:ext cx="64008" cy="1170432"/>
          </a:xfrm>
          <a:prstGeom prst="rect">
            <a:avLst/>
          </a:prstGeom>
          <a:solidFill>
            <a:srgbClr val="1B365D"/>
          </a:solidFill>
          <a:ln/>
        </p:spPr>
      </p:sp>
      <p:sp>
        <p:nvSpPr>
          <p:cNvPr id="8" name="Shape 6"/>
          <p:cNvSpPr/>
          <p:nvPr/>
        </p:nvSpPr>
        <p:spPr>
          <a:xfrm>
            <a:off x="658368" y="1389888"/>
            <a:ext cx="548640" cy="548640"/>
          </a:xfrm>
          <a:prstGeom prst="ellipse">
            <a:avLst/>
          </a:prstGeom>
          <a:solidFill>
            <a:srgbClr val="1B365D"/>
          </a:solidFill>
          <a:ln/>
        </p:spPr>
      </p:sp>
      <p:sp>
        <p:nvSpPr>
          <p:cNvPr id="9" name="Text 7"/>
          <p:cNvSpPr/>
          <p:nvPr/>
        </p:nvSpPr>
        <p:spPr>
          <a:xfrm>
            <a:off x="658368" y="1389888"/>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Example State" pitchFamily="34" charset="0"/>
                <a:ea typeface="Example State" pitchFamily="34" charset="-122"/>
                <a:cs typeface="Example State" pitchFamily="34" charset="-120"/>
              </a:rPr>
              <a:t>1</a:t>
            </a:r>
            <a:endParaRPr lang="en-US" sz="2200" dirty="0"/>
          </a:p>
        </p:txBody>
      </p:sp>
      <p:sp>
        <p:nvSpPr>
          <p:cNvPr id="10" name="Text 8"/>
          <p:cNvSpPr/>
          <p:nvPr/>
        </p:nvSpPr>
        <p:spPr>
          <a:xfrm>
            <a:off x="1389888" y="1179576"/>
            <a:ext cx="7132320" cy="274320"/>
          </a:xfrm>
          <a:prstGeom prst="rect">
            <a:avLst/>
          </a:prstGeom>
          <a:noFill/>
          <a:ln/>
        </p:spPr>
        <p:txBody>
          <a:bodyPr wrap="square" lIns="0" tIns="0" rIns="0" bIns="0" rtlCol="0" anchor="ctr"/>
          <a:lstStyle/>
          <a:p>
            <a:pPr marL="0" indent="0">
              <a:buNone/>
            </a:pPr>
            <a:r>
              <a:rPr lang="en-US" sz="1500" b="1" dirty="0">
                <a:solidFill>
                  <a:srgbClr val="1B365D"/>
                </a:solidFill>
                <a:latin typeface="Example State" pitchFamily="34" charset="0"/>
                <a:ea typeface="Example State" pitchFamily="34" charset="-122"/>
                <a:cs typeface="Example State" pitchFamily="34" charset="-120"/>
              </a:rPr>
              <a:t>Member notices</a:t>
            </a:r>
            <a:endParaRPr lang="en-US" sz="1500" dirty="0"/>
          </a:p>
        </p:txBody>
      </p:sp>
      <p:sp>
        <p:nvSpPr>
          <p:cNvPr id="11" name="Text 9"/>
          <p:cNvSpPr/>
          <p:nvPr/>
        </p:nvSpPr>
        <p:spPr>
          <a:xfrm>
            <a:off x="1389888" y="1481328"/>
            <a:ext cx="7132320" cy="731520"/>
          </a:xfrm>
          <a:prstGeom prst="rect">
            <a:avLst/>
          </a:prstGeom>
          <a:noFill/>
          <a:ln/>
        </p:spPr>
        <p:txBody>
          <a:bodyPr wrap="square" lIns="0" tIns="0" rIns="0" bIns="0" rtlCol="0" anchor="t"/>
          <a:lstStyle/>
          <a:p>
            <a:pPr marL="0" indent="0">
              <a:lnSpc>
                <a:spcPts val="1350"/>
              </a:lnSpc>
              <a:buNone/>
            </a:pPr>
            <a:r>
              <a:rPr lang="en-US" sz="1050" dirty="0">
                <a:solidFill>
                  <a:srgbClr val="3D3E40"/>
                </a:solidFill>
                <a:latin typeface="Calibri" pitchFamily="34" charset="0"/>
                <a:ea typeface="Calibri" pitchFamily="34" charset="-122"/>
                <a:cs typeface="Calibri" pitchFamily="34" charset="-120"/>
              </a:rPr>
              <a:t>Translate member-facing correspondence on demand</a:t>
            </a:r>
            <a:endParaRPr lang="en-US" sz="1050" dirty="0"/>
          </a:p>
          <a:p>
            <a:pPr marL="0" indent="0">
              <a:lnSpc>
                <a:spcPts val="1350"/>
              </a:lnSpc>
              <a:buNone/>
            </a:pPr>
            <a:r>
              <a:rPr lang="en-US" sz="1050" dirty="0">
                <a:solidFill>
                  <a:srgbClr val="3D3E40"/>
                </a:solidFill>
                <a:latin typeface="Calibri" pitchFamily="34" charset="0"/>
                <a:ea typeface="Calibri" pitchFamily="34" charset="-122"/>
                <a:cs typeface="Calibri" pitchFamily="34" charset="-120"/>
              </a:rPr>
              <a:t>Both digital PDFs and scanned paper; exact layout fidelity is not required</a:t>
            </a:r>
            <a:endParaRPr lang="en-US" sz="1050" dirty="0"/>
          </a:p>
          <a:p>
            <a:pPr marL="0" indent="0">
              <a:lnSpc>
                <a:spcPts val="1350"/>
              </a:lnSpc>
              <a:buNone/>
            </a:pPr>
            <a:r>
              <a:rPr lang="en-US" sz="1050" dirty="0">
                <a:solidFill>
                  <a:srgbClr val="3D3E40"/>
                </a:solidFill>
                <a:latin typeface="Calibri" pitchFamily="34" charset="0"/>
                <a:ea typeface="Calibri" pitchFamily="34" charset="-122"/>
                <a:cs typeface="Calibri" pitchFamily="34" charset="-120"/>
              </a:rPr>
              <a:t>Spanish and Arabic at volume</a:t>
            </a:r>
            <a:endParaRPr lang="en-US" sz="1050" dirty="0"/>
          </a:p>
          <a:p>
            <a:pPr marL="0" indent="0">
              <a:lnSpc>
                <a:spcPts val="1350"/>
              </a:lnSpc>
              <a:buNone/>
            </a:pPr>
            <a:r>
              <a:rPr lang="en-US" sz="1050" dirty="0">
                <a:solidFill>
                  <a:srgbClr val="3D3E40"/>
                </a:solidFill>
                <a:latin typeface="Calibri" pitchFamily="34" charset="0"/>
                <a:ea typeface="Calibri" pitchFamily="34" charset="-122"/>
                <a:cs typeface="Calibri" pitchFamily="34" charset="-120"/>
              </a:rPr>
              <a:t>Vietnamese, Swahili, Burmese, Mandarin and Russian in the long tail</a:t>
            </a:r>
            <a:endParaRPr lang="en-US" sz="1050" dirty="0"/>
          </a:p>
        </p:txBody>
      </p:sp>
      <p:sp>
        <p:nvSpPr>
          <p:cNvPr id="12" name="Shape 10"/>
          <p:cNvSpPr/>
          <p:nvPr/>
        </p:nvSpPr>
        <p:spPr>
          <a:xfrm>
            <a:off x="411480" y="2377440"/>
            <a:ext cx="8321040" cy="1170432"/>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3" name="Shape 11"/>
          <p:cNvSpPr/>
          <p:nvPr/>
        </p:nvSpPr>
        <p:spPr>
          <a:xfrm>
            <a:off x="411480" y="2377440"/>
            <a:ext cx="64008" cy="1170432"/>
          </a:xfrm>
          <a:prstGeom prst="rect">
            <a:avLst/>
          </a:prstGeom>
          <a:solidFill>
            <a:srgbClr val="174A7C"/>
          </a:solidFill>
          <a:ln/>
        </p:spPr>
      </p:sp>
      <p:sp>
        <p:nvSpPr>
          <p:cNvPr id="14" name="Shape 12"/>
          <p:cNvSpPr/>
          <p:nvPr/>
        </p:nvSpPr>
        <p:spPr>
          <a:xfrm>
            <a:off x="658368" y="2688336"/>
            <a:ext cx="548640" cy="548640"/>
          </a:xfrm>
          <a:prstGeom prst="ellipse">
            <a:avLst/>
          </a:prstGeom>
          <a:solidFill>
            <a:srgbClr val="174A7C"/>
          </a:solidFill>
          <a:ln/>
        </p:spPr>
      </p:sp>
      <p:sp>
        <p:nvSpPr>
          <p:cNvPr id="15" name="Text 13"/>
          <p:cNvSpPr/>
          <p:nvPr/>
        </p:nvSpPr>
        <p:spPr>
          <a:xfrm>
            <a:off x="658368" y="2688336"/>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Example State" pitchFamily="34" charset="0"/>
                <a:ea typeface="Example State" pitchFamily="34" charset="-122"/>
                <a:cs typeface="Example State" pitchFamily="34" charset="-120"/>
              </a:rPr>
              <a:t>2</a:t>
            </a:r>
            <a:endParaRPr lang="en-US" sz="2200" dirty="0"/>
          </a:p>
        </p:txBody>
      </p:sp>
      <p:sp>
        <p:nvSpPr>
          <p:cNvPr id="16" name="Text 14"/>
          <p:cNvSpPr/>
          <p:nvPr/>
        </p:nvSpPr>
        <p:spPr>
          <a:xfrm>
            <a:off x="1389888" y="2478024"/>
            <a:ext cx="7132320" cy="274320"/>
          </a:xfrm>
          <a:prstGeom prst="rect">
            <a:avLst/>
          </a:prstGeom>
          <a:noFill/>
          <a:ln/>
        </p:spPr>
        <p:txBody>
          <a:bodyPr wrap="square" lIns="0" tIns="0" rIns="0" bIns="0" rtlCol="0" anchor="ctr"/>
          <a:lstStyle/>
          <a:p>
            <a:pPr marL="0" indent="0">
              <a:buNone/>
            </a:pPr>
            <a:r>
              <a:rPr lang="en-US" sz="1500" b="1" dirty="0">
                <a:solidFill>
                  <a:srgbClr val="1B365D"/>
                </a:solidFill>
                <a:latin typeface="Example State" pitchFamily="34" charset="0"/>
                <a:ea typeface="Example State" pitchFamily="34" charset="-122"/>
                <a:cs typeface="Example State" pitchFamily="34" charset="-120"/>
              </a:rPr>
              <a:t>Live hearings</a:t>
            </a:r>
            <a:endParaRPr lang="en-US" sz="1500" dirty="0"/>
          </a:p>
        </p:txBody>
      </p:sp>
      <p:sp>
        <p:nvSpPr>
          <p:cNvPr id="17" name="Text 15"/>
          <p:cNvSpPr/>
          <p:nvPr/>
        </p:nvSpPr>
        <p:spPr>
          <a:xfrm>
            <a:off x="1389888" y="2779776"/>
            <a:ext cx="7132320" cy="731520"/>
          </a:xfrm>
          <a:prstGeom prst="rect">
            <a:avLst/>
          </a:prstGeom>
          <a:noFill/>
          <a:ln/>
        </p:spPr>
        <p:txBody>
          <a:bodyPr wrap="square" lIns="0" tIns="0" rIns="0" bIns="0" rtlCol="0" anchor="t"/>
          <a:lstStyle/>
          <a:p>
            <a:pPr marL="0" indent="0">
              <a:lnSpc>
                <a:spcPts val="1350"/>
              </a:lnSpc>
              <a:buNone/>
            </a:pPr>
            <a:r>
              <a:rPr lang="en-US" sz="1050" dirty="0">
                <a:solidFill>
                  <a:srgbClr val="3D3E40"/>
                </a:solidFill>
                <a:latin typeface="Calibri" pitchFamily="34" charset="0"/>
                <a:ea typeface="Calibri" pitchFamily="34" charset="-122"/>
                <a:cs typeface="Calibri" pitchFamily="34" charset="-120"/>
              </a:rPr>
              <a:t>Near-real-time, two-way interpretation</a:t>
            </a:r>
            <a:endParaRPr lang="en-US" sz="1050" dirty="0"/>
          </a:p>
          <a:p>
            <a:pPr marL="0" indent="0">
              <a:lnSpc>
                <a:spcPts val="1350"/>
              </a:lnSpc>
              <a:buNone/>
            </a:pPr>
            <a:r>
              <a:rPr lang="en-US" sz="1050" dirty="0">
                <a:solidFill>
                  <a:srgbClr val="3D3E40"/>
                </a:solidFill>
                <a:latin typeface="Calibri" pitchFamily="34" charset="0"/>
                <a:ea typeface="Calibri" pitchFamily="34" charset="-122"/>
                <a:cs typeface="Calibri" pitchFamily="34" charset="-120"/>
              </a:rPr>
              <a:t>Member speaks their language, the hearing officer hears English</a:t>
            </a:r>
            <a:endParaRPr lang="en-US" sz="1050" dirty="0"/>
          </a:p>
          <a:p>
            <a:pPr marL="0" indent="0">
              <a:lnSpc>
                <a:spcPts val="1350"/>
              </a:lnSpc>
              <a:buNone/>
            </a:pPr>
            <a:r>
              <a:rPr lang="en-US" sz="1050" dirty="0">
                <a:solidFill>
                  <a:srgbClr val="3D3E40"/>
                </a:solidFill>
                <a:latin typeface="Calibri" pitchFamily="34" charset="0"/>
                <a:ea typeface="Calibri" pitchFamily="34" charset="-122"/>
                <a:cs typeface="Calibri" pitchFamily="34" charset="-120"/>
              </a:rPr>
              <a:t>The reply is returned to the member spoken aloud</a:t>
            </a:r>
            <a:endParaRPr lang="en-US" sz="1050" dirty="0"/>
          </a:p>
          <a:p>
            <a:pPr marL="0" indent="0">
              <a:lnSpc>
                <a:spcPts val="1350"/>
              </a:lnSpc>
              <a:buNone/>
            </a:pPr>
            <a:r>
              <a:rPr lang="en-US" sz="1050" dirty="0">
                <a:solidFill>
                  <a:srgbClr val="3D3E40"/>
                </a:solidFill>
                <a:latin typeface="Calibri" pitchFamily="34" charset="0"/>
                <a:ea typeface="Calibri" pitchFamily="34" charset="-122"/>
                <a:cs typeface="Calibri" pitchFamily="34" charset="-120"/>
              </a:rPr>
              <a:t>Produces a written bilingual record of the hearing</a:t>
            </a:r>
            <a:endParaRPr lang="en-US" sz="1050" dirty="0"/>
          </a:p>
        </p:txBody>
      </p:sp>
      <p:sp>
        <p:nvSpPr>
          <p:cNvPr id="18" name="Shape 16"/>
          <p:cNvSpPr/>
          <p:nvPr/>
        </p:nvSpPr>
        <p:spPr>
          <a:xfrm>
            <a:off x="411480" y="3675888"/>
            <a:ext cx="8321040" cy="1170432"/>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9" name="Shape 17"/>
          <p:cNvSpPr/>
          <p:nvPr/>
        </p:nvSpPr>
        <p:spPr>
          <a:xfrm>
            <a:off x="411480" y="3675888"/>
            <a:ext cx="64008" cy="1170432"/>
          </a:xfrm>
          <a:prstGeom prst="rect">
            <a:avLst/>
          </a:prstGeom>
          <a:solidFill>
            <a:srgbClr val="A7190C"/>
          </a:solidFill>
          <a:ln/>
        </p:spPr>
      </p:sp>
      <p:sp>
        <p:nvSpPr>
          <p:cNvPr id="20" name="Shape 18"/>
          <p:cNvSpPr/>
          <p:nvPr/>
        </p:nvSpPr>
        <p:spPr>
          <a:xfrm>
            <a:off x="658368" y="3986784"/>
            <a:ext cx="548640" cy="548640"/>
          </a:xfrm>
          <a:prstGeom prst="ellipse">
            <a:avLst/>
          </a:prstGeom>
          <a:solidFill>
            <a:srgbClr val="A7190C"/>
          </a:solidFill>
          <a:ln/>
        </p:spPr>
      </p:sp>
      <p:sp>
        <p:nvSpPr>
          <p:cNvPr id="21" name="Text 19"/>
          <p:cNvSpPr/>
          <p:nvPr/>
        </p:nvSpPr>
        <p:spPr>
          <a:xfrm>
            <a:off x="658368" y="3986784"/>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Example State" pitchFamily="34" charset="0"/>
                <a:ea typeface="Example State" pitchFamily="34" charset="-122"/>
                <a:cs typeface="Example State" pitchFamily="34" charset="-120"/>
              </a:rPr>
              <a:t>3</a:t>
            </a:r>
            <a:endParaRPr lang="en-US" sz="2200" dirty="0"/>
          </a:p>
        </p:txBody>
      </p:sp>
      <p:sp>
        <p:nvSpPr>
          <p:cNvPr id="22" name="Text 20"/>
          <p:cNvSpPr/>
          <p:nvPr/>
        </p:nvSpPr>
        <p:spPr>
          <a:xfrm>
            <a:off x="1389888" y="3776472"/>
            <a:ext cx="7132320" cy="274320"/>
          </a:xfrm>
          <a:prstGeom prst="rect">
            <a:avLst/>
          </a:prstGeom>
          <a:noFill/>
          <a:ln/>
        </p:spPr>
        <p:txBody>
          <a:bodyPr wrap="square" lIns="0" tIns="0" rIns="0" bIns="0" rtlCol="0" anchor="ctr"/>
          <a:lstStyle/>
          <a:p>
            <a:pPr marL="0" indent="0">
              <a:buNone/>
            </a:pPr>
            <a:r>
              <a:rPr lang="en-US" sz="1500" b="1" dirty="0">
                <a:solidFill>
                  <a:srgbClr val="1B365D"/>
                </a:solidFill>
                <a:latin typeface="Example State" pitchFamily="34" charset="0"/>
                <a:ea typeface="Example State" pitchFamily="34" charset="-122"/>
                <a:cs typeface="Example State" pitchFamily="34" charset="-120"/>
              </a:rPr>
              <a:t>Recorded calls</a:t>
            </a:r>
            <a:endParaRPr lang="en-US" sz="1500" dirty="0"/>
          </a:p>
        </p:txBody>
      </p:sp>
      <p:sp>
        <p:nvSpPr>
          <p:cNvPr id="23" name="Text 21"/>
          <p:cNvSpPr/>
          <p:nvPr/>
        </p:nvSpPr>
        <p:spPr>
          <a:xfrm>
            <a:off x="1389888" y="4078224"/>
            <a:ext cx="7132320" cy="731520"/>
          </a:xfrm>
          <a:prstGeom prst="rect">
            <a:avLst/>
          </a:prstGeom>
          <a:noFill/>
          <a:ln/>
        </p:spPr>
        <p:txBody>
          <a:bodyPr wrap="square" lIns="0" tIns="0" rIns="0" bIns="0" rtlCol="0" anchor="t"/>
          <a:lstStyle/>
          <a:p>
            <a:pPr marL="0" indent="0">
              <a:lnSpc>
                <a:spcPts val="1350"/>
              </a:lnSpc>
              <a:buNone/>
            </a:pPr>
            <a:r>
              <a:rPr lang="en-US" sz="1050" dirty="0">
                <a:solidFill>
                  <a:srgbClr val="3D3E40"/>
                </a:solidFill>
                <a:latin typeface="Calibri" pitchFamily="34" charset="0"/>
                <a:ea typeface="Calibri" pitchFamily="34" charset="-122"/>
                <a:cs typeface="Calibri" pitchFamily="34" charset="-120"/>
              </a:rPr>
              <a:t>Transcribe a recorded member call</a:t>
            </a:r>
            <a:endParaRPr lang="en-US" sz="1050" dirty="0"/>
          </a:p>
          <a:p>
            <a:pPr marL="0" indent="0">
              <a:lnSpc>
                <a:spcPts val="1350"/>
              </a:lnSpc>
              <a:buNone/>
            </a:pPr>
            <a:r>
              <a:rPr lang="en-US" sz="1050" dirty="0">
                <a:solidFill>
                  <a:srgbClr val="3D3E40"/>
                </a:solidFill>
                <a:latin typeface="Calibri" pitchFamily="34" charset="0"/>
                <a:ea typeface="Calibri" pitchFamily="34" charset="-122"/>
                <a:cs typeface="Calibri" pitchFamily="34" charset="-120"/>
              </a:rPr>
              <a:t>Produce a translated transcript of it</a:t>
            </a:r>
            <a:endParaRPr lang="en-US" sz="1050" dirty="0"/>
          </a:p>
          <a:p>
            <a:pPr marL="0" indent="0">
              <a:lnSpc>
                <a:spcPts val="1350"/>
              </a:lnSpc>
              <a:buNone/>
            </a:pPr>
            <a:r>
              <a:rPr lang="en-US" sz="1050" dirty="0">
                <a:solidFill>
                  <a:srgbClr val="3D3E40"/>
                </a:solidFill>
                <a:latin typeface="Calibri" pitchFamily="34" charset="0"/>
                <a:ea typeface="Calibri" pitchFamily="34" charset="-122"/>
                <a:cs typeface="Calibri" pitchFamily="34" charset="-120"/>
              </a:rPr>
              <a:t>Place a notice (English) into an English audio recording file</a:t>
            </a:r>
            <a:endParaRPr lang="en-US" sz="1050" dirty="0"/>
          </a:p>
          <a:p>
            <a:pPr marL="0" indent="0">
              <a:lnSpc>
                <a:spcPts val="1350"/>
              </a:lnSpc>
              <a:buNone/>
            </a:pPr>
            <a:r>
              <a:rPr lang="en-US" sz="1050" dirty="0">
                <a:solidFill>
                  <a:srgbClr val="3D3E40"/>
                </a:solidFill>
                <a:latin typeface="Calibri" pitchFamily="34" charset="0"/>
                <a:ea typeface="Calibri" pitchFamily="34" charset="-122"/>
                <a:cs typeface="Calibri" pitchFamily="34" charset="-120"/>
              </a:rPr>
              <a:t>Verify the inserted audio is genuinely present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MAPPING</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Requirement to Capability to Value</a:t>
            </a:r>
            <a:endParaRPr lang="en-US" sz="2400" dirty="0"/>
          </a:p>
        </p:txBody>
      </p:sp>
      <p:sp>
        <p:nvSpPr>
          <p:cNvPr id="5" name="Shape 3"/>
          <p:cNvSpPr/>
          <p:nvPr/>
        </p:nvSpPr>
        <p:spPr>
          <a:xfrm>
            <a:off x="0" y="841248"/>
            <a:ext cx="9144000" cy="45720"/>
          </a:xfrm>
          <a:prstGeom prst="rect">
            <a:avLst/>
          </a:prstGeom>
          <a:solidFill>
            <a:srgbClr val="A7190C"/>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841248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Customer requirement</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1B365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Demo capability</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1B365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Azure capability</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1B365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Business value</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1B365D"/>
                    </a:solidFill>
                  </a:tcPr>
                </a:tc>
                <a:extLst>
                  <a:ext uri="{0D108BD9-81ED-4DB2-BD59-A6C34878D82A}">
                    <a16:rowId xmlns:a16="http://schemas.microsoft.com/office/drawing/2014/main" val="10000"/>
                  </a:ext>
                </a:extLst>
              </a:tr>
              <a:tr h="411480">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Translate digital member notices</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Read the PDF text layer, translate into Spanish and Arabic together</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000" b="1" dirty="0">
                          <a:solidFill>
                            <a:srgbClr val="174A7C"/>
                          </a:solidFill>
                          <a:latin typeface="Calibri" pitchFamily="34" charset="0"/>
                          <a:ea typeface="Calibri" pitchFamily="34" charset="-122"/>
                          <a:cs typeface="Calibri" pitchFamily="34" charset="-120"/>
                        </a:rPr>
                        <a:t>Azure AI Translator</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Same-day notices instead of a vendor turnaround</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Handle scanned paper with no text layer</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OCR the image, then translate the recovered text</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tc>
                  <a:txBody>
                    <a:bodyPr/>
                    <a:lstStyle/>
                    <a:p>
                      <a:pPr marL="0" indent="0">
                        <a:buNone/>
                      </a:pPr>
                      <a:r>
                        <a:rPr lang="en-US" sz="1000" b="1" dirty="0">
                          <a:solidFill>
                            <a:srgbClr val="174A7C"/>
                          </a:solidFill>
                          <a:latin typeface="Calibri" pitchFamily="34" charset="0"/>
                          <a:ea typeface="Calibri" pitchFamily="34" charset="-122"/>
                          <a:cs typeface="Calibri" pitchFamily="34" charset="-120"/>
                        </a:rPr>
                        <a:t>Document Intelligence + Translator</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Scanned archives stop being a dead end</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411480">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Support the long-tail languages</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Any supported language chosen at the moment of need</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000" b="1" dirty="0">
                          <a:solidFill>
                            <a:srgbClr val="174A7C"/>
                          </a:solidFill>
                          <a:latin typeface="Calibri" pitchFamily="34" charset="0"/>
                          <a:ea typeface="Calibri" pitchFamily="34" charset="-122"/>
                          <a:cs typeface="Calibri" pitchFamily="34" charset="-120"/>
                        </a:rPr>
                        <a:t>Azure AI Translator</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Burmese or Swahili costs the same effort as Spanish</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Two-way hearing interpretation</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Speech in, translated text and speech out, both directions</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tc>
                  <a:txBody>
                    <a:bodyPr/>
                    <a:lstStyle/>
                    <a:p>
                      <a:pPr marL="0" indent="0">
                        <a:buNone/>
                      </a:pPr>
                      <a:r>
                        <a:rPr lang="en-US" sz="1000" b="1" dirty="0">
                          <a:solidFill>
                            <a:srgbClr val="174A7C"/>
                          </a:solidFill>
                          <a:latin typeface="Calibri" pitchFamily="34" charset="0"/>
                          <a:ea typeface="Calibri" pitchFamily="34" charset="-122"/>
                          <a:cs typeface="Calibri" pitchFamily="34" charset="-120"/>
                        </a:rPr>
                        <a:t>Azure AI Speech translation and synthesis</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Hearings proceed without waiting for an interpreter</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411480">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Written record of a hearing</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Bilingual transcript saved as the session runs</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000" b="1" dirty="0">
                          <a:solidFill>
                            <a:srgbClr val="174A7C"/>
                          </a:solidFill>
                          <a:latin typeface="Calibri" pitchFamily="34" charset="0"/>
                          <a:ea typeface="Calibri" pitchFamily="34" charset="-122"/>
                          <a:cs typeface="Calibri" pitchFamily="34" charset="-120"/>
                        </a:rPr>
                        <a:t>Azure AI Speech to text</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An auditable record of what each party actually said</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Translated transcript of a call</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Recorded call transcribed, then translated into Spanish and Arabic</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tc>
                  <a:txBody>
                    <a:bodyPr/>
                    <a:lstStyle/>
                    <a:p>
                      <a:pPr marL="0" indent="0">
                        <a:buNone/>
                      </a:pPr>
                      <a:r>
                        <a:rPr lang="en-US" sz="1000" b="1" dirty="0">
                          <a:solidFill>
                            <a:srgbClr val="174A7C"/>
                          </a:solidFill>
                          <a:latin typeface="Calibri" pitchFamily="34" charset="0"/>
                          <a:ea typeface="Calibri" pitchFamily="34" charset="-122"/>
                          <a:cs typeface="Calibri" pitchFamily="34" charset="-120"/>
                        </a:rPr>
                        <a:t>Azure AI Speech to text and translation</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Review and QA without a bilingual staff member</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411480">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Notice (English) into an English recording</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Notice synthesised as English speech and spliced into the audio</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000" b="1" dirty="0">
                          <a:solidFill>
                            <a:srgbClr val="174A7C"/>
                          </a:solidFill>
                          <a:latin typeface="Calibri" pitchFamily="34" charset="0"/>
                          <a:ea typeface="Calibri" pitchFamily="34" charset="-122"/>
                          <a:cs typeface="Calibri" pitchFamily="34" charset="-120"/>
                        </a:rPr>
                        <a:t>Azure AI Speech synthesis</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000" dirty="0">
                          <a:solidFill>
                            <a:srgbClr val="3D3E40"/>
                          </a:solidFill>
                          <a:latin typeface="Calibri" pitchFamily="34" charset="0"/>
                          <a:ea typeface="Calibri" pitchFamily="34" charset="-122"/>
                          <a:cs typeface="Calibri" pitchFamily="34" charset="-120"/>
                        </a:rPr>
                        <a:t>The notice lands inside audio the member already gets</a:t>
                      </a:r>
                      <a:endParaRPr lang="en-US" sz="10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AZURE RESOURCE INVENTORY</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What We Actually Deployed</a:t>
            </a:r>
            <a:endParaRPr lang="en-US" sz="2400" dirty="0"/>
          </a:p>
        </p:txBody>
      </p:sp>
      <p:sp>
        <p:nvSpPr>
          <p:cNvPr id="5" name="Shape 3"/>
          <p:cNvSpPr/>
          <p:nvPr/>
        </p:nvSpPr>
        <p:spPr>
          <a:xfrm>
            <a:off x="0" y="841248"/>
            <a:ext cx="9144000" cy="45720"/>
          </a:xfrm>
          <a:prstGeom prst="rect">
            <a:avLst/>
          </a:prstGeom>
          <a:solidFill>
            <a:srgbClr val="A7190C"/>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8412480" cy="914400"/>
        </p:xfrm>
        <a:graphic>
          <a:graphicData uri="http://schemas.openxmlformats.org/drawingml/2006/table">
            <a:tbl>
              <a:tblPr/>
              <a:tblGrid>
                <a:gridCol w="23317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Resource name</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1B365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Service</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1B365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Tier</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1B365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Purpose in the demo</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1B365D"/>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174A7C"/>
                          </a:solidFill>
                          <a:latin typeface="Consolas" pitchFamily="34" charset="0"/>
                          <a:ea typeface="Consolas" pitchFamily="34" charset="-122"/>
                          <a:cs typeface="Consolas" pitchFamily="34" charset="-120"/>
                        </a:rPr>
                        <a:t>demo-translator</a:t>
                      </a:r>
                      <a:endParaRPr lang="en-US" sz="1100" dirty="0">
                        <a:latin typeface="Consolas" charset="0"/>
                        <a:ea typeface="Consolas" charset="0"/>
                        <a:cs typeface="Consolas"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100" dirty="0">
                          <a:solidFill>
                            <a:srgbClr val="3D3E40"/>
                          </a:solidFill>
                          <a:latin typeface="Calibri" pitchFamily="34" charset="0"/>
                          <a:ea typeface="Calibri" pitchFamily="34" charset="-122"/>
                          <a:cs typeface="Calibri" pitchFamily="34" charset="-120"/>
                        </a:rPr>
                        <a:t>Azure AI Translator</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100" dirty="0">
                          <a:solidFill>
                            <a:srgbClr val="3D3E40"/>
                          </a:solidFill>
                          <a:latin typeface="Calibri" pitchFamily="34" charset="0"/>
                          <a:ea typeface="Calibri" pitchFamily="34" charset="-122"/>
                          <a:cs typeface="Calibri" pitchFamily="34" charset="-120"/>
                        </a:rPr>
                        <a:t>S1</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100" dirty="0">
                          <a:solidFill>
                            <a:srgbClr val="3D3E40"/>
                          </a:solidFill>
                          <a:latin typeface="Calibri" pitchFamily="34" charset="0"/>
                          <a:ea typeface="Calibri" pitchFamily="34" charset="-122"/>
                          <a:cs typeface="Calibri" pitchFamily="34" charset="-120"/>
                        </a:rPr>
                        <a:t>Text translation for notices and hearing turns</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174A7C"/>
                          </a:solidFill>
                          <a:latin typeface="Consolas" pitchFamily="34" charset="0"/>
                          <a:ea typeface="Consolas" pitchFamily="34" charset="-122"/>
                          <a:cs typeface="Consolas" pitchFamily="34" charset="-120"/>
                        </a:rPr>
                        <a:t>demo-speech</a:t>
                      </a:r>
                      <a:endParaRPr lang="en-US" sz="1100" dirty="0">
                        <a:latin typeface="Consolas" charset="0"/>
                        <a:ea typeface="Consolas" charset="0"/>
                        <a:cs typeface="Consolas"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tc>
                  <a:txBody>
                    <a:bodyPr/>
                    <a:lstStyle/>
                    <a:p>
                      <a:pPr marL="0" indent="0">
                        <a:buNone/>
                      </a:pPr>
                      <a:r>
                        <a:rPr lang="en-US" sz="1100" dirty="0">
                          <a:solidFill>
                            <a:srgbClr val="3D3E40"/>
                          </a:solidFill>
                          <a:latin typeface="Calibri" pitchFamily="34" charset="0"/>
                          <a:ea typeface="Calibri" pitchFamily="34" charset="-122"/>
                          <a:cs typeface="Calibri" pitchFamily="34" charset="-120"/>
                        </a:rPr>
                        <a:t>Azure AI Speech</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tc>
                  <a:txBody>
                    <a:bodyPr/>
                    <a:lstStyle/>
                    <a:p>
                      <a:pPr marL="0" indent="0">
                        <a:buNone/>
                      </a:pPr>
                      <a:r>
                        <a:rPr lang="en-US" sz="1100" dirty="0">
                          <a:solidFill>
                            <a:srgbClr val="3D3E40"/>
                          </a:solidFill>
                          <a:latin typeface="Calibri" pitchFamily="34" charset="0"/>
                          <a:ea typeface="Calibri" pitchFamily="34" charset="-122"/>
                          <a:cs typeface="Calibri" pitchFamily="34" charset="-120"/>
                        </a:rPr>
                        <a:t>S0</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tc>
                  <a:txBody>
                    <a:bodyPr/>
                    <a:lstStyle/>
                    <a:p>
                      <a:pPr marL="0" indent="0">
                        <a:buNone/>
                      </a:pPr>
                      <a:r>
                        <a:rPr lang="en-US" sz="1100" dirty="0">
                          <a:solidFill>
                            <a:srgbClr val="3D3E40"/>
                          </a:solidFill>
                          <a:latin typeface="Calibri" pitchFamily="34" charset="0"/>
                          <a:ea typeface="Calibri" pitchFamily="34" charset="-122"/>
                          <a:cs typeface="Calibri" pitchFamily="34" charset="-120"/>
                        </a:rPr>
                        <a:t>Speech to text, speech translation, speech synthesis</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174A7C"/>
                          </a:solidFill>
                          <a:latin typeface="Consolas" pitchFamily="34" charset="0"/>
                          <a:ea typeface="Consolas" pitchFamily="34" charset="-122"/>
                          <a:cs typeface="Consolas" pitchFamily="34" charset="-120"/>
                        </a:rPr>
                        <a:t>demo-docintel</a:t>
                      </a:r>
                      <a:endParaRPr lang="en-US" sz="1100" dirty="0">
                        <a:latin typeface="Consolas" charset="0"/>
                        <a:ea typeface="Consolas" charset="0"/>
                        <a:cs typeface="Consolas"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100" dirty="0">
                          <a:solidFill>
                            <a:srgbClr val="3D3E40"/>
                          </a:solidFill>
                          <a:latin typeface="Calibri" pitchFamily="34" charset="0"/>
                          <a:ea typeface="Calibri" pitchFamily="34" charset="-122"/>
                          <a:cs typeface="Calibri" pitchFamily="34" charset="-120"/>
                        </a:rPr>
                        <a:t>Azure AI Document Intelligence</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100" dirty="0">
                          <a:solidFill>
                            <a:srgbClr val="3D3E40"/>
                          </a:solidFill>
                          <a:latin typeface="Calibri" pitchFamily="34" charset="0"/>
                          <a:ea typeface="Calibri" pitchFamily="34" charset="-122"/>
                          <a:cs typeface="Calibri" pitchFamily="34" charset="-120"/>
                        </a:rPr>
                        <a:t>S0</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tc>
                  <a:txBody>
                    <a:bodyPr/>
                    <a:lstStyle/>
                    <a:p>
                      <a:pPr marL="0" indent="0">
                        <a:buNone/>
                      </a:pPr>
                      <a:r>
                        <a:rPr lang="en-US" sz="1100" dirty="0">
                          <a:solidFill>
                            <a:srgbClr val="3D3E40"/>
                          </a:solidFill>
                          <a:latin typeface="Calibri" pitchFamily="34" charset="0"/>
                          <a:ea typeface="Calibri" pitchFamily="34" charset="-122"/>
                          <a:cs typeface="Calibri" pitchFamily="34" charset="-120"/>
                        </a:rPr>
                        <a:t>OCR for scanned notices with no text layer</a:t>
                      </a:r>
                      <a:endParaRPr lang="en-US" sz="1100" dirty="0">
                        <a:latin typeface="Calibri" charset="0"/>
                        <a:ea typeface="Calibri" charset="0"/>
                        <a:cs typeface="Calibri" charset="0"/>
                      </a:endParaRPr>
                    </a:p>
                  </a:txBody>
                  <a:tcPr marL="88900" marR="88900" marT="50800" marB="50800" anchor="ctr">
                    <a:lnL w="6350" cap="flat" cmpd="sng" algn="ctr">
                      <a:solidFill>
                        <a:srgbClr val="D1D3D4"/>
                      </a:solidFill>
                      <a:prstDash val="solid"/>
                      <a:round/>
                      <a:headEnd type="none" w="med" len="med"/>
                      <a:tailEnd type="none" w="med" len="med"/>
                    </a:lnL>
                    <a:lnR w="6350" cap="flat" cmpd="sng" algn="ctr">
                      <a:solidFill>
                        <a:srgbClr val="D1D3D4"/>
                      </a:solidFill>
                      <a:prstDash val="solid"/>
                      <a:round/>
                      <a:headEnd type="none" w="med" len="med"/>
                      <a:tailEnd type="none" w="med" len="med"/>
                    </a:lnR>
                    <a:lnT w="6350" cap="flat" cmpd="sng" algn="ctr">
                      <a:solidFill>
                        <a:srgbClr val="D1D3D4"/>
                      </a:solidFill>
                      <a:prstDash val="solid"/>
                      <a:round/>
                      <a:headEnd type="none" w="med" len="med"/>
                      <a:tailEnd type="none" w="med" len="med"/>
                    </a:lnT>
                    <a:lnB w="6350" cap="flat" cmpd="sng" algn="ctr">
                      <a:solidFill>
                        <a:srgbClr val="D1D3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365760" y="2743200"/>
            <a:ext cx="8412480" cy="228600"/>
          </a:xfrm>
          <a:prstGeom prst="rect">
            <a:avLst/>
          </a:prstGeom>
          <a:noFill/>
          <a:ln/>
        </p:spPr>
        <p:txBody>
          <a:bodyPr wrap="square" lIns="0" tIns="0" rIns="0" bIns="0" rtlCol="0" anchor="ctr"/>
          <a:lstStyle/>
          <a:p>
            <a:pPr marL="0" indent="0">
              <a:buNone/>
            </a:pPr>
            <a:r>
              <a:rPr lang="en-US" sz="1000" i="1" dirty="0">
                <a:solidFill>
                  <a:srgbClr val="6B6C6E"/>
                </a:solidFill>
                <a:latin typeface="Calibri" pitchFamily="34" charset="0"/>
                <a:ea typeface="Calibri" pitchFamily="34" charset="-122"/>
                <a:cs typeface="Calibri" pitchFamily="34" charset="-120"/>
              </a:rPr>
              <a:t>Resource group demo-rg, East US. Deployed from Bicep, not by hand.</a:t>
            </a:r>
            <a:endParaRPr lang="en-US" sz="1000" dirty="0"/>
          </a:p>
        </p:txBody>
      </p:sp>
      <p:sp>
        <p:nvSpPr>
          <p:cNvPr id="8" name="Shape 5"/>
          <p:cNvSpPr/>
          <p:nvPr/>
        </p:nvSpPr>
        <p:spPr>
          <a:xfrm>
            <a:off x="365760" y="3127248"/>
            <a:ext cx="4114800" cy="157276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9" name="Shape 6"/>
          <p:cNvSpPr/>
          <p:nvPr/>
        </p:nvSpPr>
        <p:spPr>
          <a:xfrm>
            <a:off x="365760" y="3127248"/>
            <a:ext cx="64008" cy="1572768"/>
          </a:xfrm>
          <a:prstGeom prst="rect">
            <a:avLst/>
          </a:prstGeom>
          <a:solidFill>
            <a:srgbClr val="1E7B4D"/>
          </a:solidFill>
          <a:ln/>
        </p:spPr>
      </p:sp>
      <p:sp>
        <p:nvSpPr>
          <p:cNvPr id="10" name="Text 7"/>
          <p:cNvSpPr/>
          <p:nvPr/>
        </p:nvSpPr>
        <p:spPr>
          <a:xfrm>
            <a:off x="621792" y="3273552"/>
            <a:ext cx="3657600" cy="274320"/>
          </a:xfrm>
          <a:prstGeom prst="rect">
            <a:avLst/>
          </a:prstGeom>
          <a:noFill/>
          <a:ln/>
        </p:spPr>
        <p:txBody>
          <a:bodyPr wrap="square" lIns="0" tIns="0" rIns="0" bIns="0" rtlCol="0" anchor="ctr"/>
          <a:lstStyle/>
          <a:p>
            <a:pPr marL="0" indent="0">
              <a:buNone/>
            </a:pPr>
            <a:r>
              <a:rPr lang="en-US" sz="1400" b="1" dirty="0">
                <a:solidFill>
                  <a:srgbClr val="1B365D"/>
                </a:solidFill>
                <a:latin typeface="Example State" pitchFamily="34" charset="0"/>
                <a:ea typeface="Example State" pitchFamily="34" charset="-122"/>
                <a:cs typeface="Example State" pitchFamily="34" charset="-120"/>
              </a:rPr>
              <a:t>No API keys</a:t>
            </a:r>
            <a:endParaRPr lang="en-US" sz="1400" dirty="0"/>
          </a:p>
        </p:txBody>
      </p:sp>
      <p:sp>
        <p:nvSpPr>
          <p:cNvPr id="11" name="Text 8"/>
          <p:cNvSpPr/>
          <p:nvPr/>
        </p:nvSpPr>
        <p:spPr>
          <a:xfrm>
            <a:off x="621792" y="3566160"/>
            <a:ext cx="3703320" cy="1005840"/>
          </a:xfrm>
          <a:prstGeom prst="rect">
            <a:avLst/>
          </a:prstGeom>
          <a:noFill/>
          <a:ln/>
        </p:spPr>
        <p:txBody>
          <a:bodyPr wrap="square" lIns="0" tIns="0" rIns="0" bIns="0" rtlCol="0" anchor="ctr"/>
          <a:lstStyle/>
          <a:p>
            <a:pPr marL="0" indent="0">
              <a:lnSpc>
                <a:spcPts val="1400"/>
              </a:lnSpc>
              <a:buNone/>
            </a:pPr>
            <a:r>
              <a:rPr lang="en-US" sz="1050" dirty="0">
                <a:solidFill>
                  <a:srgbClr val="3D3E40"/>
                </a:solidFill>
                <a:latin typeface="Calibri" pitchFamily="34" charset="0"/>
                <a:ea typeface="Calibri" pitchFamily="34" charset="-122"/>
                <a:cs typeface="Calibri" pitchFamily="34" charset="-120"/>
              </a:rPr>
              <a:t>Local authentication is disabled on all three accounts. The application signs in with Microsoft Entra ID and holds the Cognitive Services User role. There is no key to leak because no key will work.</a:t>
            </a:r>
            <a:endParaRPr lang="en-US" sz="1050" dirty="0"/>
          </a:p>
        </p:txBody>
      </p:sp>
      <p:sp>
        <p:nvSpPr>
          <p:cNvPr id="12" name="Shape 9"/>
          <p:cNvSpPr/>
          <p:nvPr/>
        </p:nvSpPr>
        <p:spPr>
          <a:xfrm>
            <a:off x="4663440" y="3127248"/>
            <a:ext cx="4114800" cy="157276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3" name="Shape 10"/>
          <p:cNvSpPr/>
          <p:nvPr/>
        </p:nvSpPr>
        <p:spPr>
          <a:xfrm>
            <a:off x="4663440" y="3127248"/>
            <a:ext cx="64008" cy="1572768"/>
          </a:xfrm>
          <a:prstGeom prst="rect">
            <a:avLst/>
          </a:prstGeom>
          <a:solidFill>
            <a:srgbClr val="1B365D"/>
          </a:solidFill>
          <a:ln/>
        </p:spPr>
      </p:sp>
      <p:sp>
        <p:nvSpPr>
          <p:cNvPr id="14" name="Text 11"/>
          <p:cNvSpPr/>
          <p:nvPr/>
        </p:nvSpPr>
        <p:spPr>
          <a:xfrm>
            <a:off x="4919472" y="3273552"/>
            <a:ext cx="3657600" cy="274320"/>
          </a:xfrm>
          <a:prstGeom prst="rect">
            <a:avLst/>
          </a:prstGeom>
          <a:noFill/>
          <a:ln/>
        </p:spPr>
        <p:txBody>
          <a:bodyPr wrap="square" lIns="0" tIns="0" rIns="0" bIns="0" rtlCol="0" anchor="ctr"/>
          <a:lstStyle/>
          <a:p>
            <a:pPr marL="0" indent="0">
              <a:buNone/>
            </a:pPr>
            <a:r>
              <a:rPr lang="en-US" sz="1400" b="1" dirty="0">
                <a:solidFill>
                  <a:srgbClr val="1B365D"/>
                </a:solidFill>
                <a:latin typeface="Example State" pitchFamily="34" charset="0"/>
                <a:ea typeface="Example State" pitchFamily="34" charset="-122"/>
                <a:cs typeface="Example State" pitchFamily="34" charset="-120"/>
              </a:rPr>
              <a:t>Nothing else deployed</a:t>
            </a:r>
            <a:endParaRPr lang="en-US" sz="1400" dirty="0"/>
          </a:p>
        </p:txBody>
      </p:sp>
      <p:sp>
        <p:nvSpPr>
          <p:cNvPr id="15" name="Text 12"/>
          <p:cNvSpPr/>
          <p:nvPr/>
        </p:nvSpPr>
        <p:spPr>
          <a:xfrm>
            <a:off x="4919472" y="3566160"/>
            <a:ext cx="3703320" cy="1005840"/>
          </a:xfrm>
          <a:prstGeom prst="rect">
            <a:avLst/>
          </a:prstGeom>
          <a:noFill/>
          <a:ln/>
        </p:spPr>
        <p:txBody>
          <a:bodyPr wrap="square" lIns="0" tIns="0" rIns="0" bIns="0" rtlCol="0" anchor="ctr"/>
          <a:lstStyle/>
          <a:p>
            <a:pPr marL="0" indent="0">
              <a:lnSpc>
                <a:spcPts val="1400"/>
              </a:lnSpc>
              <a:buNone/>
            </a:pPr>
            <a:r>
              <a:rPr lang="en-US" sz="1050" dirty="0">
                <a:solidFill>
                  <a:srgbClr val="3D3E40"/>
                </a:solidFill>
                <a:latin typeface="Calibri" pitchFamily="34" charset="0"/>
                <a:ea typeface="Calibri" pitchFamily="34" charset="-122"/>
                <a:cs typeface="Calibri" pitchFamily="34" charset="-120"/>
              </a:rPr>
              <a:t>No storage, no key vault, no containers, no Azure OpenAI. Documents and recordings stay on the workstation. We did not deploy services the demonstration does not exercise.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MVP — WHAT EXISTS TODAY</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Architecture as Deployed</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365760" y="1143000"/>
            <a:ext cx="3383280" cy="3246120"/>
          </a:xfrm>
          <a:prstGeom prst="rect">
            <a:avLst/>
          </a:prstGeom>
          <a:solidFill>
            <a:srgbClr val="FFFFFF"/>
          </a:solidFill>
          <a:ln w="15875">
            <a:solidFill>
              <a:srgbClr val="1B365D"/>
            </a:solidFill>
            <a:prstDash val="dash"/>
          </a:ln>
        </p:spPr>
      </p:sp>
      <p:sp>
        <p:nvSpPr>
          <p:cNvPr id="7" name="Text 5"/>
          <p:cNvSpPr/>
          <p:nvPr/>
        </p:nvSpPr>
        <p:spPr>
          <a:xfrm>
            <a:off x="365760" y="1234440"/>
            <a:ext cx="3383280" cy="228600"/>
          </a:xfrm>
          <a:prstGeom prst="rect">
            <a:avLst/>
          </a:prstGeom>
          <a:noFill/>
          <a:ln/>
        </p:spPr>
        <p:txBody>
          <a:bodyPr wrap="square" lIns="0" tIns="0" rIns="0" bIns="0" rtlCol="0" anchor="ctr"/>
          <a:lstStyle/>
          <a:p>
            <a:pPr marL="0" indent="0" algn="ctr">
              <a:buNone/>
            </a:pPr>
            <a:r>
              <a:rPr lang="en-US" sz="950" b="1" kern="0" spc="150" dirty="0">
                <a:solidFill>
                  <a:srgbClr val="1B365D"/>
                </a:solidFill>
                <a:latin typeface="Calibri" pitchFamily="34" charset="0"/>
                <a:ea typeface="Calibri" pitchFamily="34" charset="-122"/>
                <a:cs typeface="Calibri" pitchFamily="34" charset="-120"/>
              </a:rPr>
              <a:t>PRESENTER WORKSTATION</a:t>
            </a:r>
            <a:endParaRPr lang="en-US" sz="950" dirty="0"/>
          </a:p>
        </p:txBody>
      </p:sp>
      <p:sp>
        <p:nvSpPr>
          <p:cNvPr id="8" name="Shape 6"/>
          <p:cNvSpPr/>
          <p:nvPr/>
        </p:nvSpPr>
        <p:spPr>
          <a:xfrm>
            <a:off x="594360" y="1572768"/>
            <a:ext cx="2926080" cy="786384"/>
          </a:xfrm>
          <a:prstGeom prst="rect">
            <a:avLst/>
          </a:prstGeom>
          <a:solidFill>
            <a:srgbClr val="F9F9F9"/>
          </a:solidFill>
          <a:ln w="9525">
            <a:solidFill>
              <a:srgbClr val="D1D3D4"/>
            </a:solidFill>
            <a:prstDash val="solid"/>
          </a:ln>
        </p:spPr>
      </p:sp>
      <p:sp>
        <p:nvSpPr>
          <p:cNvPr id="9" name="Shape 7"/>
          <p:cNvSpPr/>
          <p:nvPr/>
        </p:nvSpPr>
        <p:spPr>
          <a:xfrm>
            <a:off x="594360" y="1572768"/>
            <a:ext cx="54864" cy="786384"/>
          </a:xfrm>
          <a:prstGeom prst="rect">
            <a:avLst/>
          </a:prstGeom>
          <a:solidFill>
            <a:srgbClr val="1B365D"/>
          </a:solidFill>
          <a:ln/>
        </p:spPr>
      </p:sp>
      <p:sp>
        <p:nvSpPr>
          <p:cNvPr id="10" name="Text 8"/>
          <p:cNvSpPr/>
          <p:nvPr/>
        </p:nvSpPr>
        <p:spPr>
          <a:xfrm>
            <a:off x="777240" y="1691640"/>
            <a:ext cx="2651760" cy="256032"/>
          </a:xfrm>
          <a:prstGeom prst="rect">
            <a:avLst/>
          </a:prstGeom>
          <a:noFill/>
          <a:ln/>
        </p:spPr>
        <p:txBody>
          <a:bodyPr wrap="square" lIns="0" tIns="0" rIns="0" bIns="0" rtlCol="0" anchor="ctr"/>
          <a:lstStyle/>
          <a:p>
            <a:pPr marL="0" indent="0">
              <a:buNone/>
            </a:pPr>
            <a:r>
              <a:rPr lang="en-US" sz="1100" b="1" dirty="0">
                <a:solidFill>
                  <a:srgbClr val="1B365D"/>
                </a:solidFill>
                <a:latin typeface="Calibri" pitchFamily="34" charset="0"/>
                <a:ea typeface="Calibri" pitchFamily="34" charset="-122"/>
                <a:cs typeface="Calibri" pitchFamily="34" charset="-120"/>
              </a:rPr>
              <a:t>.NET MAUI Windows app</a:t>
            </a:r>
            <a:endParaRPr lang="en-US" sz="1100" dirty="0"/>
          </a:p>
        </p:txBody>
      </p:sp>
      <p:sp>
        <p:nvSpPr>
          <p:cNvPr id="11" name="Text 9"/>
          <p:cNvSpPr/>
          <p:nvPr/>
        </p:nvSpPr>
        <p:spPr>
          <a:xfrm>
            <a:off x="777240" y="1956816"/>
            <a:ext cx="2651760" cy="256032"/>
          </a:xfrm>
          <a:prstGeom prst="rect">
            <a:avLst/>
          </a:prstGeom>
          <a:noFill/>
          <a:ln/>
        </p:spPr>
        <p:txBody>
          <a:bodyPr wrap="square" lIns="0" tIns="0" rIns="0" bIns="0" rtlCol="0" anchor="ctr"/>
          <a:lstStyle/>
          <a:p>
            <a:pPr marL="0" indent="0">
              <a:buNone/>
            </a:pPr>
            <a:r>
              <a:rPr lang="en-US" sz="950" dirty="0">
                <a:solidFill>
                  <a:srgbClr val="3D3E40"/>
                </a:solidFill>
                <a:latin typeface="Calibri" pitchFamily="34" charset="0"/>
                <a:ea typeface="Calibri" pitchFamily="34" charset="-122"/>
                <a:cs typeface="Calibri" pitchFamily="34" charset="-120"/>
              </a:rPr>
              <a:t>Three scenario pages</a:t>
            </a:r>
            <a:endParaRPr lang="en-US" sz="950" dirty="0"/>
          </a:p>
        </p:txBody>
      </p:sp>
      <p:sp>
        <p:nvSpPr>
          <p:cNvPr id="12" name="Shape 10"/>
          <p:cNvSpPr/>
          <p:nvPr/>
        </p:nvSpPr>
        <p:spPr>
          <a:xfrm>
            <a:off x="594360" y="2487168"/>
            <a:ext cx="2926080" cy="786384"/>
          </a:xfrm>
          <a:prstGeom prst="rect">
            <a:avLst/>
          </a:prstGeom>
          <a:solidFill>
            <a:srgbClr val="F9F9F9"/>
          </a:solidFill>
          <a:ln w="9525">
            <a:solidFill>
              <a:srgbClr val="D1D3D4"/>
            </a:solidFill>
            <a:prstDash val="solid"/>
          </a:ln>
        </p:spPr>
      </p:sp>
      <p:sp>
        <p:nvSpPr>
          <p:cNvPr id="13" name="Shape 11"/>
          <p:cNvSpPr/>
          <p:nvPr/>
        </p:nvSpPr>
        <p:spPr>
          <a:xfrm>
            <a:off x="594360" y="2487168"/>
            <a:ext cx="54864" cy="786384"/>
          </a:xfrm>
          <a:prstGeom prst="rect">
            <a:avLst/>
          </a:prstGeom>
          <a:solidFill>
            <a:srgbClr val="3D3E40"/>
          </a:solidFill>
          <a:ln/>
        </p:spPr>
      </p:sp>
      <p:sp>
        <p:nvSpPr>
          <p:cNvPr id="14" name="Text 12"/>
          <p:cNvSpPr/>
          <p:nvPr/>
        </p:nvSpPr>
        <p:spPr>
          <a:xfrm>
            <a:off x="777240" y="2606040"/>
            <a:ext cx="2651760" cy="256032"/>
          </a:xfrm>
          <a:prstGeom prst="rect">
            <a:avLst/>
          </a:prstGeom>
          <a:noFill/>
          <a:ln/>
        </p:spPr>
        <p:txBody>
          <a:bodyPr wrap="square" lIns="0" tIns="0" rIns="0" bIns="0" rtlCol="0" anchor="ctr"/>
          <a:lstStyle/>
          <a:p>
            <a:pPr marL="0" indent="0">
              <a:buNone/>
            </a:pPr>
            <a:r>
              <a:rPr lang="en-US" sz="1100" b="1" dirty="0">
                <a:solidFill>
                  <a:srgbClr val="1B365D"/>
                </a:solidFill>
                <a:latin typeface="Calibri" pitchFamily="34" charset="0"/>
                <a:ea typeface="Calibri" pitchFamily="34" charset="-122"/>
                <a:cs typeface="Calibri" pitchFamily="34" charset="-120"/>
              </a:rPr>
              <a:t>Local demo files</a:t>
            </a:r>
            <a:endParaRPr lang="en-US" sz="1100" dirty="0"/>
          </a:p>
        </p:txBody>
      </p:sp>
      <p:sp>
        <p:nvSpPr>
          <p:cNvPr id="15" name="Text 13"/>
          <p:cNvSpPr/>
          <p:nvPr/>
        </p:nvSpPr>
        <p:spPr>
          <a:xfrm>
            <a:off x="777240" y="2871216"/>
            <a:ext cx="2651760" cy="256032"/>
          </a:xfrm>
          <a:prstGeom prst="rect">
            <a:avLst/>
          </a:prstGeom>
          <a:noFill/>
          <a:ln/>
        </p:spPr>
        <p:txBody>
          <a:bodyPr wrap="square" lIns="0" tIns="0" rIns="0" bIns="0" rtlCol="0" anchor="ctr"/>
          <a:lstStyle/>
          <a:p>
            <a:pPr marL="0" indent="0">
              <a:buNone/>
            </a:pPr>
            <a:r>
              <a:rPr lang="en-US" sz="950" dirty="0">
                <a:solidFill>
                  <a:srgbClr val="3D3E40"/>
                </a:solidFill>
                <a:latin typeface="Calibri" pitchFamily="34" charset="0"/>
                <a:ea typeface="Calibri" pitchFamily="34" charset="-122"/>
                <a:cs typeface="Calibri" pitchFamily="34" charset="-120"/>
              </a:rPr>
              <a:t>Synthetic notices and audio</a:t>
            </a:r>
            <a:endParaRPr lang="en-US" sz="950" dirty="0"/>
          </a:p>
        </p:txBody>
      </p:sp>
      <p:sp>
        <p:nvSpPr>
          <p:cNvPr id="16" name="Shape 14"/>
          <p:cNvSpPr/>
          <p:nvPr/>
        </p:nvSpPr>
        <p:spPr>
          <a:xfrm>
            <a:off x="594360" y="3401568"/>
            <a:ext cx="2926080" cy="786384"/>
          </a:xfrm>
          <a:prstGeom prst="rect">
            <a:avLst/>
          </a:prstGeom>
          <a:solidFill>
            <a:srgbClr val="F9F9F9"/>
          </a:solidFill>
          <a:ln w="9525">
            <a:solidFill>
              <a:srgbClr val="D1D3D4"/>
            </a:solidFill>
            <a:prstDash val="solid"/>
          </a:ln>
        </p:spPr>
      </p:sp>
      <p:sp>
        <p:nvSpPr>
          <p:cNvPr id="17" name="Shape 15"/>
          <p:cNvSpPr/>
          <p:nvPr/>
        </p:nvSpPr>
        <p:spPr>
          <a:xfrm>
            <a:off x="594360" y="3401568"/>
            <a:ext cx="54864" cy="786384"/>
          </a:xfrm>
          <a:prstGeom prst="rect">
            <a:avLst/>
          </a:prstGeom>
          <a:solidFill>
            <a:srgbClr val="3D3E40"/>
          </a:solidFill>
          <a:ln/>
        </p:spPr>
      </p:sp>
      <p:sp>
        <p:nvSpPr>
          <p:cNvPr id="18" name="Text 16"/>
          <p:cNvSpPr/>
          <p:nvPr/>
        </p:nvSpPr>
        <p:spPr>
          <a:xfrm>
            <a:off x="777240" y="3520440"/>
            <a:ext cx="2651760" cy="256032"/>
          </a:xfrm>
          <a:prstGeom prst="rect">
            <a:avLst/>
          </a:prstGeom>
          <a:noFill/>
          <a:ln/>
        </p:spPr>
        <p:txBody>
          <a:bodyPr wrap="square" lIns="0" tIns="0" rIns="0" bIns="0" rtlCol="0" anchor="ctr"/>
          <a:lstStyle/>
          <a:p>
            <a:pPr marL="0" indent="0">
              <a:buNone/>
            </a:pPr>
            <a:r>
              <a:rPr lang="en-US" sz="1100" b="1" dirty="0">
                <a:solidFill>
                  <a:srgbClr val="1B365D"/>
                </a:solidFill>
                <a:latin typeface="Calibri" pitchFamily="34" charset="0"/>
                <a:ea typeface="Calibri" pitchFamily="34" charset="-122"/>
                <a:cs typeface="Calibri" pitchFamily="34" charset="-120"/>
              </a:rPr>
              <a:t>Audio splicing</a:t>
            </a:r>
            <a:endParaRPr lang="en-US" sz="1100" dirty="0"/>
          </a:p>
        </p:txBody>
      </p:sp>
      <p:sp>
        <p:nvSpPr>
          <p:cNvPr id="19" name="Text 17"/>
          <p:cNvSpPr/>
          <p:nvPr/>
        </p:nvSpPr>
        <p:spPr>
          <a:xfrm>
            <a:off x="777240" y="3785616"/>
            <a:ext cx="2651760" cy="256032"/>
          </a:xfrm>
          <a:prstGeom prst="rect">
            <a:avLst/>
          </a:prstGeom>
          <a:noFill/>
          <a:ln/>
        </p:spPr>
        <p:txBody>
          <a:bodyPr wrap="square" lIns="0" tIns="0" rIns="0" bIns="0" rtlCol="0" anchor="ctr"/>
          <a:lstStyle/>
          <a:p>
            <a:pPr marL="0" indent="0">
              <a:buNone/>
            </a:pPr>
            <a:r>
              <a:rPr lang="en-US" sz="950" dirty="0">
                <a:solidFill>
                  <a:srgbClr val="3D3E40"/>
                </a:solidFill>
                <a:latin typeface="Calibri" pitchFamily="34" charset="0"/>
                <a:ea typeface="Calibri" pitchFamily="34" charset="-122"/>
                <a:cs typeface="Calibri" pitchFamily="34" charset="-120"/>
              </a:rPr>
              <a:t>In-process WAV editing</a:t>
            </a:r>
            <a:endParaRPr lang="en-US" sz="950" dirty="0"/>
          </a:p>
        </p:txBody>
      </p:sp>
      <p:sp>
        <p:nvSpPr>
          <p:cNvPr id="20" name="Shape 18"/>
          <p:cNvSpPr/>
          <p:nvPr/>
        </p:nvSpPr>
        <p:spPr>
          <a:xfrm>
            <a:off x="3977640" y="2212848"/>
            <a:ext cx="1188720" cy="713232"/>
          </a:xfrm>
          <a:prstGeom prst="rect">
            <a:avLst/>
          </a:prstGeom>
          <a:solidFill>
            <a:srgbClr val="1E7B4D"/>
          </a:solidFill>
          <a:ln/>
        </p:spPr>
      </p:sp>
      <p:sp>
        <p:nvSpPr>
          <p:cNvPr id="21" name="Text 19"/>
          <p:cNvSpPr/>
          <p:nvPr/>
        </p:nvSpPr>
        <p:spPr>
          <a:xfrm>
            <a:off x="3977640" y="2212848"/>
            <a:ext cx="1188720" cy="7132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Microsoft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Entra ID</a:t>
            </a:r>
            <a:endParaRPr lang="en-US" sz="1000" dirty="0"/>
          </a:p>
        </p:txBody>
      </p:sp>
      <p:sp>
        <p:nvSpPr>
          <p:cNvPr id="22" name="Text 20"/>
          <p:cNvSpPr/>
          <p:nvPr/>
        </p:nvSpPr>
        <p:spPr>
          <a:xfrm>
            <a:off x="3977640" y="2944368"/>
            <a:ext cx="1188720" cy="201168"/>
          </a:xfrm>
          <a:prstGeom prst="rect">
            <a:avLst/>
          </a:prstGeom>
          <a:noFill/>
          <a:ln/>
        </p:spPr>
        <p:txBody>
          <a:bodyPr wrap="square" lIns="0" tIns="0" rIns="0" bIns="0" rtlCol="0" anchor="ctr"/>
          <a:lstStyle/>
          <a:p>
            <a:pPr marL="0" indent="0" algn="ctr">
              <a:buNone/>
            </a:pPr>
            <a:r>
              <a:rPr lang="en-US" sz="850" i="1" dirty="0">
                <a:solidFill>
                  <a:srgbClr val="6B6C6E"/>
                </a:solidFill>
                <a:latin typeface="Calibri" pitchFamily="34" charset="0"/>
                <a:ea typeface="Calibri" pitchFamily="34" charset="-122"/>
                <a:cs typeface="Calibri" pitchFamily="34" charset="-120"/>
              </a:rPr>
              <a:t>token</a:t>
            </a:r>
            <a:endParaRPr lang="en-US" sz="850" dirty="0"/>
          </a:p>
        </p:txBody>
      </p:sp>
      <p:sp>
        <p:nvSpPr>
          <p:cNvPr id="23" name="Shape 21"/>
          <p:cNvSpPr/>
          <p:nvPr/>
        </p:nvSpPr>
        <p:spPr>
          <a:xfrm>
            <a:off x="3749040" y="2569464"/>
            <a:ext cx="228600" cy="0"/>
          </a:xfrm>
          <a:prstGeom prst="line">
            <a:avLst/>
          </a:prstGeom>
          <a:noFill/>
          <a:ln w="19050">
            <a:solidFill>
              <a:srgbClr val="1B365D"/>
            </a:solidFill>
            <a:prstDash val="solid"/>
            <a:tailEnd type="triangle"/>
          </a:ln>
        </p:spPr>
      </p:sp>
      <p:sp>
        <p:nvSpPr>
          <p:cNvPr id="24" name="Shape 22"/>
          <p:cNvSpPr/>
          <p:nvPr/>
        </p:nvSpPr>
        <p:spPr>
          <a:xfrm>
            <a:off x="5166360" y="2569464"/>
            <a:ext cx="228600" cy="0"/>
          </a:xfrm>
          <a:prstGeom prst="line">
            <a:avLst/>
          </a:prstGeom>
          <a:noFill/>
          <a:ln w="19050">
            <a:solidFill>
              <a:srgbClr val="1B365D"/>
            </a:solidFill>
            <a:prstDash val="solid"/>
            <a:tailEnd type="triangle"/>
          </a:ln>
        </p:spPr>
      </p:sp>
      <p:sp>
        <p:nvSpPr>
          <p:cNvPr id="25" name="Shape 23"/>
          <p:cNvSpPr/>
          <p:nvPr/>
        </p:nvSpPr>
        <p:spPr>
          <a:xfrm>
            <a:off x="5394960" y="1143000"/>
            <a:ext cx="3383280" cy="3246120"/>
          </a:xfrm>
          <a:prstGeom prst="rect">
            <a:avLst/>
          </a:prstGeom>
          <a:solidFill>
            <a:srgbClr val="EEF2F7"/>
          </a:solidFill>
          <a:ln w="15875">
            <a:solidFill>
              <a:srgbClr val="174A7C"/>
            </a:solidFill>
            <a:prstDash val="solid"/>
          </a:ln>
        </p:spPr>
      </p:sp>
      <p:sp>
        <p:nvSpPr>
          <p:cNvPr id="26" name="Text 24"/>
          <p:cNvSpPr/>
          <p:nvPr/>
        </p:nvSpPr>
        <p:spPr>
          <a:xfrm>
            <a:off x="5394960" y="1234440"/>
            <a:ext cx="3383280" cy="228600"/>
          </a:xfrm>
          <a:prstGeom prst="rect">
            <a:avLst/>
          </a:prstGeom>
          <a:noFill/>
          <a:ln/>
        </p:spPr>
        <p:txBody>
          <a:bodyPr wrap="square" lIns="0" tIns="0" rIns="0" bIns="0" rtlCol="0" anchor="ctr"/>
          <a:lstStyle/>
          <a:p>
            <a:pPr marL="0" indent="0" algn="ctr">
              <a:buNone/>
            </a:pPr>
            <a:r>
              <a:rPr lang="en-US" sz="950" b="1" kern="0" spc="150" dirty="0">
                <a:solidFill>
                  <a:srgbClr val="174A7C"/>
                </a:solidFill>
                <a:latin typeface="Calibri" pitchFamily="34" charset="0"/>
                <a:ea typeface="Calibri" pitchFamily="34" charset="-122"/>
                <a:cs typeface="Calibri" pitchFamily="34" charset="-120"/>
              </a:rPr>
              <a:t>AZURE — demo-rg, East US</a:t>
            </a:r>
            <a:endParaRPr lang="en-US" sz="950" dirty="0"/>
          </a:p>
        </p:txBody>
      </p:sp>
      <p:sp>
        <p:nvSpPr>
          <p:cNvPr id="27" name="Shape 25"/>
          <p:cNvSpPr/>
          <p:nvPr/>
        </p:nvSpPr>
        <p:spPr>
          <a:xfrm>
            <a:off x="5623560" y="1572768"/>
            <a:ext cx="2926080" cy="786384"/>
          </a:xfrm>
          <a:prstGeom prst="rect">
            <a:avLst/>
          </a:prstGeom>
          <a:solidFill>
            <a:srgbClr val="FFFFFF"/>
          </a:solidFill>
          <a:ln w="9525">
            <a:solidFill>
              <a:srgbClr val="D1D3D4"/>
            </a:solidFill>
            <a:prstDash val="solid"/>
          </a:ln>
        </p:spPr>
      </p:sp>
      <p:sp>
        <p:nvSpPr>
          <p:cNvPr id="28" name="Shape 26"/>
          <p:cNvSpPr/>
          <p:nvPr/>
        </p:nvSpPr>
        <p:spPr>
          <a:xfrm>
            <a:off x="5623560" y="1572768"/>
            <a:ext cx="54864" cy="786384"/>
          </a:xfrm>
          <a:prstGeom prst="rect">
            <a:avLst/>
          </a:prstGeom>
          <a:solidFill>
            <a:srgbClr val="174A7C"/>
          </a:solidFill>
          <a:ln/>
        </p:spPr>
      </p:sp>
      <p:sp>
        <p:nvSpPr>
          <p:cNvPr id="29" name="Text 27"/>
          <p:cNvSpPr/>
          <p:nvPr/>
        </p:nvSpPr>
        <p:spPr>
          <a:xfrm>
            <a:off x="5806440" y="1691640"/>
            <a:ext cx="2651760" cy="256032"/>
          </a:xfrm>
          <a:prstGeom prst="rect">
            <a:avLst/>
          </a:prstGeom>
          <a:noFill/>
          <a:ln/>
        </p:spPr>
        <p:txBody>
          <a:bodyPr wrap="square" lIns="0" tIns="0" rIns="0" bIns="0" rtlCol="0" anchor="ctr"/>
          <a:lstStyle/>
          <a:p>
            <a:pPr marL="0" indent="0">
              <a:buNone/>
            </a:pPr>
            <a:r>
              <a:rPr lang="en-US" sz="1100" b="1" dirty="0">
                <a:solidFill>
                  <a:srgbClr val="1B365D"/>
                </a:solidFill>
                <a:latin typeface="Calibri" pitchFamily="34" charset="0"/>
                <a:ea typeface="Calibri" pitchFamily="34" charset="-122"/>
                <a:cs typeface="Calibri" pitchFamily="34" charset="-120"/>
              </a:rPr>
              <a:t>Azure AI Translator</a:t>
            </a:r>
            <a:endParaRPr lang="en-US" sz="1100" dirty="0"/>
          </a:p>
        </p:txBody>
      </p:sp>
      <p:sp>
        <p:nvSpPr>
          <p:cNvPr id="30" name="Text 28"/>
          <p:cNvSpPr/>
          <p:nvPr/>
        </p:nvSpPr>
        <p:spPr>
          <a:xfrm>
            <a:off x="5806440" y="1956816"/>
            <a:ext cx="2651760" cy="256032"/>
          </a:xfrm>
          <a:prstGeom prst="rect">
            <a:avLst/>
          </a:prstGeom>
          <a:noFill/>
          <a:ln/>
        </p:spPr>
        <p:txBody>
          <a:bodyPr wrap="square" lIns="0" tIns="0" rIns="0" bIns="0" rtlCol="0" anchor="ctr"/>
          <a:lstStyle/>
          <a:p>
            <a:pPr marL="0" indent="0">
              <a:buNone/>
            </a:pPr>
            <a:r>
              <a:rPr lang="en-US" sz="950" dirty="0">
                <a:solidFill>
                  <a:srgbClr val="3D3E40"/>
                </a:solidFill>
                <a:latin typeface="Calibri" pitchFamily="34" charset="0"/>
                <a:ea typeface="Calibri" pitchFamily="34" charset="-122"/>
                <a:cs typeface="Calibri" pitchFamily="34" charset="-120"/>
              </a:rPr>
              <a:t>Notice and hearing text</a:t>
            </a:r>
            <a:endParaRPr lang="en-US" sz="950" dirty="0"/>
          </a:p>
        </p:txBody>
      </p:sp>
      <p:sp>
        <p:nvSpPr>
          <p:cNvPr id="31" name="Shape 29"/>
          <p:cNvSpPr/>
          <p:nvPr/>
        </p:nvSpPr>
        <p:spPr>
          <a:xfrm>
            <a:off x="5623560" y="2487168"/>
            <a:ext cx="2926080" cy="786384"/>
          </a:xfrm>
          <a:prstGeom prst="rect">
            <a:avLst/>
          </a:prstGeom>
          <a:solidFill>
            <a:srgbClr val="FFFFFF"/>
          </a:solidFill>
          <a:ln w="9525">
            <a:solidFill>
              <a:srgbClr val="D1D3D4"/>
            </a:solidFill>
            <a:prstDash val="solid"/>
          </a:ln>
        </p:spPr>
      </p:sp>
      <p:sp>
        <p:nvSpPr>
          <p:cNvPr id="32" name="Shape 30"/>
          <p:cNvSpPr/>
          <p:nvPr/>
        </p:nvSpPr>
        <p:spPr>
          <a:xfrm>
            <a:off x="5623560" y="2487168"/>
            <a:ext cx="54864" cy="786384"/>
          </a:xfrm>
          <a:prstGeom prst="rect">
            <a:avLst/>
          </a:prstGeom>
          <a:solidFill>
            <a:srgbClr val="174A7C"/>
          </a:solidFill>
          <a:ln/>
        </p:spPr>
      </p:sp>
      <p:sp>
        <p:nvSpPr>
          <p:cNvPr id="33" name="Text 31"/>
          <p:cNvSpPr/>
          <p:nvPr/>
        </p:nvSpPr>
        <p:spPr>
          <a:xfrm>
            <a:off x="5806440" y="2606040"/>
            <a:ext cx="2651760" cy="256032"/>
          </a:xfrm>
          <a:prstGeom prst="rect">
            <a:avLst/>
          </a:prstGeom>
          <a:noFill/>
          <a:ln/>
        </p:spPr>
        <p:txBody>
          <a:bodyPr wrap="square" lIns="0" tIns="0" rIns="0" bIns="0" rtlCol="0" anchor="ctr"/>
          <a:lstStyle/>
          <a:p>
            <a:pPr marL="0" indent="0">
              <a:buNone/>
            </a:pPr>
            <a:r>
              <a:rPr lang="en-US" sz="1100" b="1" dirty="0">
                <a:solidFill>
                  <a:srgbClr val="1B365D"/>
                </a:solidFill>
                <a:latin typeface="Calibri" pitchFamily="34" charset="0"/>
                <a:ea typeface="Calibri" pitchFamily="34" charset="-122"/>
                <a:cs typeface="Calibri" pitchFamily="34" charset="-120"/>
              </a:rPr>
              <a:t>Azure AI Speech</a:t>
            </a:r>
            <a:endParaRPr lang="en-US" sz="1100" dirty="0"/>
          </a:p>
        </p:txBody>
      </p:sp>
      <p:sp>
        <p:nvSpPr>
          <p:cNvPr id="34" name="Text 32"/>
          <p:cNvSpPr/>
          <p:nvPr/>
        </p:nvSpPr>
        <p:spPr>
          <a:xfrm>
            <a:off x="5806440" y="2871216"/>
            <a:ext cx="2651760" cy="256032"/>
          </a:xfrm>
          <a:prstGeom prst="rect">
            <a:avLst/>
          </a:prstGeom>
          <a:noFill/>
          <a:ln/>
        </p:spPr>
        <p:txBody>
          <a:bodyPr wrap="square" lIns="0" tIns="0" rIns="0" bIns="0" rtlCol="0" anchor="ctr"/>
          <a:lstStyle/>
          <a:p>
            <a:pPr marL="0" indent="0">
              <a:buNone/>
            </a:pPr>
            <a:r>
              <a:rPr lang="en-US" sz="950" dirty="0">
                <a:solidFill>
                  <a:srgbClr val="3D3E40"/>
                </a:solidFill>
                <a:latin typeface="Calibri" pitchFamily="34" charset="0"/>
                <a:ea typeface="Calibri" pitchFamily="34" charset="-122"/>
                <a:cs typeface="Calibri" pitchFamily="34" charset="-120"/>
              </a:rPr>
              <a:t>Transcribe, translate, synthesise</a:t>
            </a:r>
            <a:endParaRPr lang="en-US" sz="950" dirty="0"/>
          </a:p>
        </p:txBody>
      </p:sp>
      <p:sp>
        <p:nvSpPr>
          <p:cNvPr id="35" name="Shape 33"/>
          <p:cNvSpPr/>
          <p:nvPr/>
        </p:nvSpPr>
        <p:spPr>
          <a:xfrm>
            <a:off x="5623560" y="3401568"/>
            <a:ext cx="2926080" cy="786384"/>
          </a:xfrm>
          <a:prstGeom prst="rect">
            <a:avLst/>
          </a:prstGeom>
          <a:solidFill>
            <a:srgbClr val="FFFFFF"/>
          </a:solidFill>
          <a:ln w="9525">
            <a:solidFill>
              <a:srgbClr val="D1D3D4"/>
            </a:solidFill>
            <a:prstDash val="solid"/>
          </a:ln>
        </p:spPr>
      </p:sp>
      <p:sp>
        <p:nvSpPr>
          <p:cNvPr id="36" name="Shape 34"/>
          <p:cNvSpPr/>
          <p:nvPr/>
        </p:nvSpPr>
        <p:spPr>
          <a:xfrm>
            <a:off x="5623560" y="3401568"/>
            <a:ext cx="54864" cy="786384"/>
          </a:xfrm>
          <a:prstGeom prst="rect">
            <a:avLst/>
          </a:prstGeom>
          <a:solidFill>
            <a:srgbClr val="174A7C"/>
          </a:solidFill>
          <a:ln/>
        </p:spPr>
      </p:sp>
      <p:sp>
        <p:nvSpPr>
          <p:cNvPr id="37" name="Text 35"/>
          <p:cNvSpPr/>
          <p:nvPr/>
        </p:nvSpPr>
        <p:spPr>
          <a:xfrm>
            <a:off x="5806440" y="3520440"/>
            <a:ext cx="2651760" cy="256032"/>
          </a:xfrm>
          <a:prstGeom prst="rect">
            <a:avLst/>
          </a:prstGeom>
          <a:noFill/>
          <a:ln/>
        </p:spPr>
        <p:txBody>
          <a:bodyPr wrap="square" lIns="0" tIns="0" rIns="0" bIns="0" rtlCol="0" anchor="ctr"/>
          <a:lstStyle/>
          <a:p>
            <a:pPr marL="0" indent="0">
              <a:buNone/>
            </a:pPr>
            <a:r>
              <a:rPr lang="en-US" sz="1100" b="1" dirty="0">
                <a:solidFill>
                  <a:srgbClr val="1B365D"/>
                </a:solidFill>
                <a:latin typeface="Calibri" pitchFamily="34" charset="0"/>
                <a:ea typeface="Calibri" pitchFamily="34" charset="-122"/>
                <a:cs typeface="Calibri" pitchFamily="34" charset="-120"/>
              </a:rPr>
              <a:t>Azure AI Document Intelligence</a:t>
            </a:r>
            <a:endParaRPr lang="en-US" sz="1100" dirty="0"/>
          </a:p>
        </p:txBody>
      </p:sp>
      <p:sp>
        <p:nvSpPr>
          <p:cNvPr id="38" name="Text 36"/>
          <p:cNvSpPr/>
          <p:nvPr/>
        </p:nvSpPr>
        <p:spPr>
          <a:xfrm>
            <a:off x="5806440" y="3785616"/>
            <a:ext cx="2651760" cy="256032"/>
          </a:xfrm>
          <a:prstGeom prst="rect">
            <a:avLst/>
          </a:prstGeom>
          <a:noFill/>
          <a:ln/>
        </p:spPr>
        <p:txBody>
          <a:bodyPr wrap="square" lIns="0" tIns="0" rIns="0" bIns="0" rtlCol="0" anchor="ctr"/>
          <a:lstStyle/>
          <a:p>
            <a:pPr marL="0" indent="0">
              <a:buNone/>
            </a:pPr>
            <a:r>
              <a:rPr lang="en-US" sz="950" dirty="0">
                <a:solidFill>
                  <a:srgbClr val="3D3E40"/>
                </a:solidFill>
                <a:latin typeface="Calibri" pitchFamily="34" charset="0"/>
                <a:ea typeface="Calibri" pitchFamily="34" charset="-122"/>
                <a:cs typeface="Calibri" pitchFamily="34" charset="-120"/>
              </a:rPr>
              <a:t>OCR for scanned notices</a:t>
            </a:r>
            <a:endParaRPr lang="en-US" sz="950" dirty="0"/>
          </a:p>
        </p:txBody>
      </p:sp>
      <p:sp>
        <p:nvSpPr>
          <p:cNvPr id="39" name="Text 37"/>
          <p:cNvSpPr/>
          <p:nvPr/>
        </p:nvSpPr>
        <p:spPr>
          <a:xfrm>
            <a:off x="365760" y="4498848"/>
            <a:ext cx="8412480" cy="274320"/>
          </a:xfrm>
          <a:prstGeom prst="rect">
            <a:avLst/>
          </a:prstGeom>
          <a:noFill/>
          <a:ln/>
        </p:spPr>
        <p:txBody>
          <a:bodyPr wrap="square" lIns="0" tIns="0" rIns="0" bIns="0" rtlCol="0" anchor="ctr"/>
          <a:lstStyle/>
          <a:p>
            <a:pPr marL="0" indent="0" algn="ctr">
              <a:buNone/>
            </a:pPr>
            <a:r>
              <a:rPr lang="en-US" sz="1000" i="1" dirty="0">
                <a:solidFill>
                  <a:srgbClr val="6B6C6E"/>
                </a:solidFill>
                <a:latin typeface="Calibri" pitchFamily="34" charset="0"/>
                <a:ea typeface="Calibri" pitchFamily="34" charset="-122"/>
                <a:cs typeface="Calibri" pitchFamily="34" charset="-120"/>
              </a:rPr>
              <a:t>Dashed boundary stays on the workstation. No member content is stored in Azure; calls are request and response only.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NOT DEPLOYED — FOR DISCUSSION ONLY</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Beyond the MVP</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365760" y="1097280"/>
            <a:ext cx="2706624" cy="267004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7" name="Shape 5"/>
          <p:cNvSpPr/>
          <p:nvPr/>
        </p:nvSpPr>
        <p:spPr>
          <a:xfrm>
            <a:off x="365760" y="1097280"/>
            <a:ext cx="64008" cy="2670048"/>
          </a:xfrm>
          <a:prstGeom prst="rect">
            <a:avLst/>
          </a:prstGeom>
          <a:solidFill>
            <a:srgbClr val="1E7B4D"/>
          </a:solidFill>
          <a:ln/>
        </p:spPr>
      </p:sp>
      <p:sp>
        <p:nvSpPr>
          <p:cNvPr id="8" name="Shape 6"/>
          <p:cNvSpPr/>
          <p:nvPr/>
        </p:nvSpPr>
        <p:spPr>
          <a:xfrm>
            <a:off x="429768" y="1097280"/>
            <a:ext cx="2642616" cy="658368"/>
          </a:xfrm>
          <a:prstGeom prst="rect">
            <a:avLst/>
          </a:prstGeom>
          <a:solidFill>
            <a:srgbClr val="1E7B4D"/>
          </a:solidFill>
          <a:ln/>
        </p:spPr>
      </p:sp>
      <p:sp>
        <p:nvSpPr>
          <p:cNvPr id="9" name="Text 7"/>
          <p:cNvSpPr/>
          <p:nvPr/>
        </p:nvSpPr>
        <p:spPr>
          <a:xfrm>
            <a:off x="621792" y="1170432"/>
            <a:ext cx="2286000" cy="292608"/>
          </a:xfrm>
          <a:prstGeom prst="rect">
            <a:avLst/>
          </a:prstGeom>
          <a:noFill/>
          <a:ln/>
        </p:spPr>
        <p:txBody>
          <a:bodyPr wrap="square" lIns="0" tIns="0" rIns="0" bIns="0" rtlCol="0" anchor="ctr"/>
          <a:lstStyle/>
          <a:p>
            <a:pPr marL="0" indent="0">
              <a:buNone/>
            </a:pPr>
            <a:r>
              <a:rPr lang="en-US" sz="1700" b="1" dirty="0">
                <a:solidFill>
                  <a:srgbClr val="FFFFFF"/>
                </a:solidFill>
                <a:latin typeface="Example State" pitchFamily="34" charset="0"/>
                <a:ea typeface="Example State" pitchFamily="34" charset="-122"/>
                <a:cs typeface="Example State" pitchFamily="34" charset="-120"/>
              </a:rPr>
              <a:t>MVP</a:t>
            </a:r>
            <a:endParaRPr lang="en-US" sz="1700" dirty="0"/>
          </a:p>
        </p:txBody>
      </p:sp>
      <p:sp>
        <p:nvSpPr>
          <p:cNvPr id="10" name="Text 8"/>
          <p:cNvSpPr/>
          <p:nvPr/>
        </p:nvSpPr>
        <p:spPr>
          <a:xfrm>
            <a:off x="621792" y="1453896"/>
            <a:ext cx="2286000" cy="237744"/>
          </a:xfrm>
          <a:prstGeom prst="rect">
            <a:avLst/>
          </a:prstGeom>
          <a:noFill/>
          <a:ln/>
        </p:spPr>
        <p:txBody>
          <a:bodyPr wrap="square" lIns="0" tIns="0" rIns="0" bIns="0" rtlCol="0" anchor="ctr"/>
          <a:lstStyle/>
          <a:p>
            <a:pPr marL="0" indent="0">
              <a:buNone/>
            </a:pPr>
            <a:r>
              <a:rPr lang="en-US" sz="950" dirty="0">
                <a:solidFill>
                  <a:srgbClr val="DCE6F2"/>
                </a:solidFill>
                <a:latin typeface="Calibri" pitchFamily="34" charset="0"/>
                <a:ea typeface="Calibri" pitchFamily="34" charset="-122"/>
                <a:cs typeface="Calibri" pitchFamily="34" charset="-120"/>
              </a:rPr>
              <a:t>Deployed and demonstrated</a:t>
            </a:r>
            <a:endParaRPr lang="en-US" sz="950" dirty="0"/>
          </a:p>
        </p:txBody>
      </p:sp>
      <p:sp>
        <p:nvSpPr>
          <p:cNvPr id="11" name="Text 9"/>
          <p:cNvSpPr/>
          <p:nvPr/>
        </p:nvSpPr>
        <p:spPr>
          <a:xfrm>
            <a:off x="603504" y="1883664"/>
            <a:ext cx="2340864" cy="228600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Translator, Speech, Document Intelligence</a:t>
            </a:r>
            <a:endParaRPr lang="en-US" sz="1050" dirty="0"/>
          </a:p>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Windows desktop application</a:t>
            </a:r>
            <a:endParaRPr lang="en-US" sz="1050" dirty="0"/>
          </a:p>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Local files, nothing persisted</a:t>
            </a:r>
            <a:endParaRPr lang="en-US" sz="1050" dirty="0"/>
          </a:p>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Entra ID, no keys</a:t>
            </a:r>
            <a:endParaRPr lang="en-US" sz="1050" dirty="0"/>
          </a:p>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Synthetic data only</a:t>
            </a:r>
            <a:endParaRPr lang="en-US" sz="1050" dirty="0"/>
          </a:p>
        </p:txBody>
      </p:sp>
      <p:sp>
        <p:nvSpPr>
          <p:cNvPr id="12" name="Shape 10"/>
          <p:cNvSpPr/>
          <p:nvPr/>
        </p:nvSpPr>
        <p:spPr>
          <a:xfrm>
            <a:off x="3218688" y="1097280"/>
            <a:ext cx="2706624" cy="267004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3" name="Shape 11"/>
          <p:cNvSpPr/>
          <p:nvPr/>
        </p:nvSpPr>
        <p:spPr>
          <a:xfrm>
            <a:off x="3218688" y="1097280"/>
            <a:ext cx="64008" cy="2670048"/>
          </a:xfrm>
          <a:prstGeom prst="rect">
            <a:avLst/>
          </a:prstGeom>
          <a:solidFill>
            <a:srgbClr val="174A7C"/>
          </a:solidFill>
          <a:ln/>
        </p:spPr>
      </p:sp>
      <p:sp>
        <p:nvSpPr>
          <p:cNvPr id="14" name="Shape 12"/>
          <p:cNvSpPr/>
          <p:nvPr/>
        </p:nvSpPr>
        <p:spPr>
          <a:xfrm>
            <a:off x="3282696" y="1097280"/>
            <a:ext cx="2642616" cy="658368"/>
          </a:xfrm>
          <a:prstGeom prst="rect">
            <a:avLst/>
          </a:prstGeom>
          <a:solidFill>
            <a:srgbClr val="174A7C"/>
          </a:solidFill>
          <a:ln/>
        </p:spPr>
      </p:sp>
      <p:sp>
        <p:nvSpPr>
          <p:cNvPr id="15" name="Text 13"/>
          <p:cNvSpPr/>
          <p:nvPr/>
        </p:nvSpPr>
        <p:spPr>
          <a:xfrm>
            <a:off x="3474720" y="1170432"/>
            <a:ext cx="2286000" cy="292608"/>
          </a:xfrm>
          <a:prstGeom prst="rect">
            <a:avLst/>
          </a:prstGeom>
          <a:noFill/>
          <a:ln/>
        </p:spPr>
        <p:txBody>
          <a:bodyPr wrap="square" lIns="0" tIns="0" rIns="0" bIns="0" rtlCol="0" anchor="ctr"/>
          <a:lstStyle/>
          <a:p>
            <a:pPr marL="0" indent="0">
              <a:buNone/>
            </a:pPr>
            <a:r>
              <a:rPr lang="en-US" sz="1700" b="1" dirty="0">
                <a:solidFill>
                  <a:srgbClr val="FFFFFF"/>
                </a:solidFill>
                <a:latin typeface="Example State" pitchFamily="34" charset="0"/>
                <a:ea typeface="Example State" pitchFamily="34" charset="-122"/>
                <a:cs typeface="Example State" pitchFamily="34" charset="-120"/>
              </a:rPr>
              <a:t>POC</a:t>
            </a:r>
            <a:endParaRPr lang="en-US" sz="1700" dirty="0"/>
          </a:p>
        </p:txBody>
      </p:sp>
      <p:sp>
        <p:nvSpPr>
          <p:cNvPr id="16" name="Text 14"/>
          <p:cNvSpPr/>
          <p:nvPr/>
        </p:nvSpPr>
        <p:spPr>
          <a:xfrm>
            <a:off x="3474720" y="1453896"/>
            <a:ext cx="2286000" cy="237744"/>
          </a:xfrm>
          <a:prstGeom prst="rect">
            <a:avLst/>
          </a:prstGeom>
          <a:noFill/>
          <a:ln/>
        </p:spPr>
        <p:txBody>
          <a:bodyPr wrap="square" lIns="0" tIns="0" rIns="0" bIns="0" rtlCol="0" anchor="ctr"/>
          <a:lstStyle/>
          <a:p>
            <a:pPr marL="0" indent="0">
              <a:buNone/>
            </a:pPr>
            <a:r>
              <a:rPr lang="en-US" sz="950" dirty="0">
                <a:solidFill>
                  <a:srgbClr val="DCE6F2"/>
                </a:solidFill>
                <a:latin typeface="Calibri" pitchFamily="34" charset="0"/>
                <a:ea typeface="Calibri" pitchFamily="34" charset="-122"/>
                <a:cs typeface="Calibri" pitchFamily="34" charset="-120"/>
              </a:rPr>
              <a:t>Next step, not built</a:t>
            </a:r>
            <a:endParaRPr lang="en-US" sz="950" dirty="0"/>
          </a:p>
        </p:txBody>
      </p:sp>
      <p:sp>
        <p:nvSpPr>
          <p:cNvPr id="17" name="Text 15"/>
          <p:cNvSpPr/>
          <p:nvPr/>
        </p:nvSpPr>
        <p:spPr>
          <a:xfrm>
            <a:off x="3456432" y="1883664"/>
            <a:ext cx="2340864" cy="228600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Blob Storage for notice intake</a:t>
            </a:r>
            <a:endParaRPr lang="en-US" sz="1050" dirty="0"/>
          </a:p>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Human review and approval queue</a:t>
            </a:r>
            <a:endParaRPr lang="en-US" sz="1050" dirty="0"/>
          </a:p>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Glossary of Health Plan terminology</a:t>
            </a:r>
            <a:endParaRPr lang="en-US" sz="1050" dirty="0"/>
          </a:p>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Custom Speech for programme names</a:t>
            </a:r>
            <a:endParaRPr lang="en-US" sz="1050" dirty="0"/>
          </a:p>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Integration with the notice system</a:t>
            </a:r>
            <a:endParaRPr lang="en-US" sz="1050" dirty="0"/>
          </a:p>
        </p:txBody>
      </p:sp>
      <p:sp>
        <p:nvSpPr>
          <p:cNvPr id="18" name="Shape 16"/>
          <p:cNvSpPr/>
          <p:nvPr/>
        </p:nvSpPr>
        <p:spPr>
          <a:xfrm>
            <a:off x="6071616" y="1097280"/>
            <a:ext cx="2706624" cy="267004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9" name="Shape 17"/>
          <p:cNvSpPr/>
          <p:nvPr/>
        </p:nvSpPr>
        <p:spPr>
          <a:xfrm>
            <a:off x="6071616" y="1097280"/>
            <a:ext cx="64008" cy="2670048"/>
          </a:xfrm>
          <a:prstGeom prst="rect">
            <a:avLst/>
          </a:prstGeom>
          <a:solidFill>
            <a:srgbClr val="1B365D"/>
          </a:solidFill>
          <a:ln/>
        </p:spPr>
      </p:sp>
      <p:sp>
        <p:nvSpPr>
          <p:cNvPr id="20" name="Shape 18"/>
          <p:cNvSpPr/>
          <p:nvPr/>
        </p:nvSpPr>
        <p:spPr>
          <a:xfrm>
            <a:off x="6135624" y="1097280"/>
            <a:ext cx="2642616" cy="658368"/>
          </a:xfrm>
          <a:prstGeom prst="rect">
            <a:avLst/>
          </a:prstGeom>
          <a:solidFill>
            <a:srgbClr val="1B365D"/>
          </a:solidFill>
          <a:ln/>
        </p:spPr>
      </p:sp>
      <p:sp>
        <p:nvSpPr>
          <p:cNvPr id="21" name="Text 19"/>
          <p:cNvSpPr/>
          <p:nvPr/>
        </p:nvSpPr>
        <p:spPr>
          <a:xfrm>
            <a:off x="6327648" y="1170432"/>
            <a:ext cx="2286000" cy="292608"/>
          </a:xfrm>
          <a:prstGeom prst="rect">
            <a:avLst/>
          </a:prstGeom>
          <a:noFill/>
          <a:ln/>
        </p:spPr>
        <p:txBody>
          <a:bodyPr wrap="square" lIns="0" tIns="0" rIns="0" bIns="0" rtlCol="0" anchor="ctr"/>
          <a:lstStyle/>
          <a:p>
            <a:pPr marL="0" indent="0">
              <a:buNone/>
            </a:pPr>
            <a:r>
              <a:rPr lang="en-US" sz="1700" b="1" dirty="0">
                <a:solidFill>
                  <a:srgbClr val="FFFFFF"/>
                </a:solidFill>
                <a:latin typeface="Example State" pitchFamily="34" charset="0"/>
                <a:ea typeface="Example State" pitchFamily="34" charset="-122"/>
                <a:cs typeface="Example State" pitchFamily="34" charset="-120"/>
              </a:rPr>
              <a:t>Production</a:t>
            </a:r>
            <a:endParaRPr lang="en-US" sz="1700" dirty="0"/>
          </a:p>
        </p:txBody>
      </p:sp>
      <p:sp>
        <p:nvSpPr>
          <p:cNvPr id="22" name="Text 20"/>
          <p:cNvSpPr/>
          <p:nvPr/>
        </p:nvSpPr>
        <p:spPr>
          <a:xfrm>
            <a:off x="6327648" y="1453896"/>
            <a:ext cx="2286000" cy="237744"/>
          </a:xfrm>
          <a:prstGeom prst="rect">
            <a:avLst/>
          </a:prstGeom>
          <a:noFill/>
          <a:ln/>
        </p:spPr>
        <p:txBody>
          <a:bodyPr wrap="square" lIns="0" tIns="0" rIns="0" bIns="0" rtlCol="0" anchor="ctr"/>
          <a:lstStyle/>
          <a:p>
            <a:pPr marL="0" indent="0">
              <a:buNone/>
            </a:pPr>
            <a:r>
              <a:rPr lang="en-US" sz="950" dirty="0">
                <a:solidFill>
                  <a:srgbClr val="DCE6F2"/>
                </a:solidFill>
                <a:latin typeface="Calibri" pitchFamily="34" charset="0"/>
                <a:ea typeface="Calibri" pitchFamily="34" charset="-122"/>
                <a:cs typeface="Calibri" pitchFamily="34" charset="-120"/>
              </a:rPr>
              <a:t>Target state, not built</a:t>
            </a:r>
            <a:endParaRPr lang="en-US" sz="950" dirty="0"/>
          </a:p>
        </p:txBody>
      </p:sp>
      <p:sp>
        <p:nvSpPr>
          <p:cNvPr id="23" name="Text 21"/>
          <p:cNvSpPr/>
          <p:nvPr/>
        </p:nvSpPr>
        <p:spPr>
          <a:xfrm>
            <a:off x="6309360" y="1883664"/>
            <a:ext cx="2340864" cy="228600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Private endpoints and network isolation</a:t>
            </a:r>
            <a:endParaRPr lang="en-US" sz="1050" dirty="0"/>
          </a:p>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Customer-managed keys, retention policy</a:t>
            </a:r>
            <a:endParaRPr lang="en-US" sz="1050" dirty="0"/>
          </a:p>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Audit logging and Purview classification</a:t>
            </a:r>
            <a:endParaRPr lang="en-US" sz="1050" dirty="0"/>
          </a:p>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High availability across paired regions</a:t>
            </a:r>
            <a:endParaRPr lang="en-US" sz="1050" dirty="0"/>
          </a:p>
          <a:p>
            <a:pPr marL="152400" indent="-152400">
              <a:spcAft>
                <a:spcPts val="700"/>
              </a:spcAft>
              <a:buSzPct val="100000"/>
              <a:buChar char="•"/>
            </a:pPr>
            <a:r>
              <a:rPr lang="en-US" sz="1050" dirty="0">
                <a:solidFill>
                  <a:srgbClr val="3D3E40"/>
                </a:solidFill>
                <a:latin typeface="Calibri" pitchFamily="34" charset="0"/>
                <a:ea typeface="Calibri" pitchFamily="34" charset="-122"/>
                <a:cs typeface="Calibri" pitchFamily="34" charset="-120"/>
              </a:rPr>
              <a:t>Accessibility conformance testing</a:t>
            </a:r>
            <a:endParaRPr lang="en-US" sz="1050" dirty="0"/>
          </a:p>
        </p:txBody>
      </p:sp>
      <p:sp>
        <p:nvSpPr>
          <p:cNvPr id="24" name="Text 22"/>
          <p:cNvSpPr/>
          <p:nvPr/>
        </p:nvSpPr>
        <p:spPr>
          <a:xfrm>
            <a:off x="365760" y="4005072"/>
            <a:ext cx="8412480" cy="274320"/>
          </a:xfrm>
          <a:prstGeom prst="rect">
            <a:avLst/>
          </a:prstGeom>
          <a:noFill/>
          <a:ln/>
        </p:spPr>
        <p:txBody>
          <a:bodyPr wrap="square" lIns="0" tIns="0" rIns="0" bIns="0" rtlCol="0" anchor="ctr"/>
          <a:lstStyle/>
          <a:p>
            <a:pPr marL="0" indent="0" algn="ctr">
              <a:buNone/>
            </a:pPr>
            <a:r>
              <a:rPr lang="en-US" sz="1000" i="1" dirty="0">
                <a:solidFill>
                  <a:srgbClr val="6B6C6E"/>
                </a:solidFill>
                <a:latin typeface="Calibri" pitchFamily="34" charset="0"/>
                <a:ea typeface="Calibri" pitchFamily="34" charset="-122"/>
                <a:cs typeface="Calibri" pitchFamily="34" charset="-120"/>
              </a:rPr>
              <a:t>Only the left-hand column exists. The other two are recommendations, shown so the demonstration is not mistaken for a production design.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DEMONSTRATION — OPENING</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Live Connectivity Check</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338328" y="1069848"/>
            <a:ext cx="5504688" cy="3483864"/>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pic>
        <p:nvPicPr>
          <p:cNvPr id="7" name="Image 0" descr="Live Connectivity Check. One click calls all three services and reports back. Translator returns a language list, Document Intelligence answers a service call, and Speech synthesises a short phrase and reports its real duration. Each probe acquires an Entra token. No API key exists."/>
          <p:cNvPicPr>
            <a:picLocks noChangeAspect="1"/>
          </p:cNvPicPr>
          <p:nvPr/>
        </p:nvPicPr>
        <p:blipFill>
          <a:blip r:embed="rId3"/>
          <a:stretch>
            <a:fillRect/>
          </a:stretch>
        </p:blipFill>
        <p:spPr>
          <a:xfrm>
            <a:off x="393192" y="1124712"/>
            <a:ext cx="5394960" cy="3374136"/>
          </a:xfrm>
          <a:prstGeom prst="rect">
            <a:avLst/>
          </a:prstGeom>
        </p:spPr>
      </p:pic>
      <p:sp>
        <p:nvSpPr>
          <p:cNvPr id="8" name="Shape 5"/>
          <p:cNvSpPr/>
          <p:nvPr/>
        </p:nvSpPr>
        <p:spPr>
          <a:xfrm>
            <a:off x="6035040" y="1069848"/>
            <a:ext cx="2743200" cy="1810512"/>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9" name="Shape 6"/>
          <p:cNvSpPr/>
          <p:nvPr/>
        </p:nvSpPr>
        <p:spPr>
          <a:xfrm>
            <a:off x="6035040" y="1069848"/>
            <a:ext cx="64008" cy="1810512"/>
          </a:xfrm>
          <a:prstGeom prst="rect">
            <a:avLst/>
          </a:prstGeom>
          <a:solidFill>
            <a:srgbClr val="1B365D"/>
          </a:solidFill>
          <a:ln/>
        </p:spPr>
      </p:sp>
      <p:sp>
        <p:nvSpPr>
          <p:cNvPr id="10" name="Text 7"/>
          <p:cNvSpPr/>
          <p:nvPr/>
        </p:nvSpPr>
        <p:spPr>
          <a:xfrm>
            <a:off x="6236208" y="1188720"/>
            <a:ext cx="2377440" cy="201168"/>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WHAT IS HAPPENING</a:t>
            </a:r>
            <a:endParaRPr lang="en-US" sz="850" dirty="0"/>
          </a:p>
        </p:txBody>
      </p:sp>
      <p:sp>
        <p:nvSpPr>
          <p:cNvPr id="11" name="Text 8"/>
          <p:cNvSpPr/>
          <p:nvPr/>
        </p:nvSpPr>
        <p:spPr>
          <a:xfrm>
            <a:off x="6236208" y="1389888"/>
            <a:ext cx="2395728" cy="1426464"/>
          </a:xfrm>
          <a:prstGeom prst="rect">
            <a:avLst/>
          </a:prstGeom>
          <a:noFill/>
          <a:ln/>
        </p:spPr>
        <p:txBody>
          <a:bodyPr wrap="square" lIns="0" tIns="0" rIns="0" bIns="0" rtlCol="0" anchor="t"/>
          <a:lstStyle/>
          <a:p>
            <a:pPr marL="0" indent="0">
              <a:lnSpc>
                <a:spcPts val="1250"/>
              </a:lnSpc>
              <a:spcAft>
                <a:spcPts val="800"/>
              </a:spcAft>
              <a:buNone/>
            </a:pPr>
            <a:r>
              <a:rPr lang="en-US" sz="950" dirty="0">
                <a:solidFill>
                  <a:srgbClr val="3D3E40"/>
                </a:solidFill>
                <a:latin typeface="Calibri" pitchFamily="34" charset="0"/>
                <a:ea typeface="Calibri" pitchFamily="34" charset="-122"/>
                <a:cs typeface="Calibri" pitchFamily="34" charset="-120"/>
              </a:rPr>
              <a:t>One click calls all three services and reports back. Translator returns a language list, Document Intelligence answers a service call, and Speech synthesises a short phrase and reports its real duration.</a:t>
            </a:r>
            <a:endParaRPr lang="en-US" sz="950" dirty="0"/>
          </a:p>
          <a:p>
            <a:pPr marL="0" indent="0">
              <a:lnSpc>
                <a:spcPts val="1250"/>
              </a:lnSpc>
              <a:buNone/>
            </a:pPr>
            <a:r>
              <a:rPr lang="en-US" sz="950" b="1" dirty="0">
                <a:solidFill>
                  <a:srgbClr val="1B365D"/>
                </a:solidFill>
                <a:latin typeface="Calibri" pitchFamily="34" charset="0"/>
                <a:ea typeface="Calibri" pitchFamily="34" charset="-122"/>
                <a:cs typeface="Calibri" pitchFamily="34" charset="-120"/>
              </a:rPr>
              <a:t>Each probe acquires an Entra token. No API key exists.</a:t>
            </a:r>
            <a:endParaRPr lang="en-US" sz="950" dirty="0"/>
          </a:p>
        </p:txBody>
      </p:sp>
      <p:sp>
        <p:nvSpPr>
          <p:cNvPr id="12" name="Shape 9"/>
          <p:cNvSpPr/>
          <p:nvPr/>
        </p:nvSpPr>
        <p:spPr>
          <a:xfrm>
            <a:off x="6035040" y="2980944"/>
            <a:ext cx="2743200" cy="74980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3" name="Shape 10"/>
          <p:cNvSpPr/>
          <p:nvPr/>
        </p:nvSpPr>
        <p:spPr>
          <a:xfrm>
            <a:off x="6035040" y="2980944"/>
            <a:ext cx="64008" cy="749808"/>
          </a:xfrm>
          <a:prstGeom prst="rect">
            <a:avLst/>
          </a:prstGeom>
          <a:solidFill>
            <a:srgbClr val="A7190C"/>
          </a:solidFill>
          <a:ln/>
        </p:spPr>
      </p:sp>
      <p:sp>
        <p:nvSpPr>
          <p:cNvPr id="14" name="Text 11"/>
          <p:cNvSpPr/>
          <p:nvPr/>
        </p:nvSpPr>
        <p:spPr>
          <a:xfrm>
            <a:off x="6236208" y="3081528"/>
            <a:ext cx="2377440" cy="182880"/>
          </a:xfrm>
          <a:prstGeom prst="rect">
            <a:avLst/>
          </a:prstGeom>
          <a:noFill/>
          <a:ln/>
        </p:spPr>
        <p:txBody>
          <a:bodyPr wrap="square" lIns="0" tIns="0" rIns="0" bIns="0" rtlCol="0" anchor="ctr"/>
          <a:lstStyle/>
          <a:p>
            <a:pPr marL="0" indent="0">
              <a:buNone/>
            </a:pPr>
            <a:r>
              <a:rPr lang="en-US" sz="850" b="1" kern="0" spc="120" dirty="0">
                <a:solidFill>
                  <a:srgbClr val="A7190C"/>
                </a:solidFill>
                <a:latin typeface="Calibri" pitchFamily="34" charset="0"/>
                <a:ea typeface="Calibri" pitchFamily="34" charset="-122"/>
                <a:cs typeface="Calibri" pitchFamily="34" charset="-120"/>
              </a:rPr>
              <a:t>CUSTOMER ASK</a:t>
            </a:r>
            <a:endParaRPr lang="en-US" sz="850" dirty="0"/>
          </a:p>
        </p:txBody>
      </p:sp>
      <p:sp>
        <p:nvSpPr>
          <p:cNvPr id="15" name="Text 12"/>
          <p:cNvSpPr/>
          <p:nvPr/>
        </p:nvSpPr>
        <p:spPr>
          <a:xfrm>
            <a:off x="6236208" y="3264408"/>
            <a:ext cx="2395728" cy="420624"/>
          </a:xfrm>
          <a:prstGeom prst="rect">
            <a:avLst/>
          </a:prstGeom>
          <a:noFill/>
          <a:ln/>
        </p:spPr>
        <p:txBody>
          <a:bodyPr wrap="square" lIns="0" tIns="0" rIns="0" bIns="0" rtlCol="0" anchor="ctr"/>
          <a:lstStyle/>
          <a:p>
            <a:pPr marL="0" indent="0">
              <a:lnSpc>
                <a:spcPts val="1250"/>
              </a:lnSpc>
              <a:buNone/>
            </a:pPr>
            <a:r>
              <a:rPr lang="en-US" sz="1000" b="1" dirty="0">
                <a:solidFill>
                  <a:srgbClr val="1B365D"/>
                </a:solidFill>
                <a:latin typeface="Calibri" pitchFamily="34" charset="0"/>
                <a:ea typeface="Calibri" pitchFamily="34" charset="-122"/>
                <a:cs typeface="Calibri" pitchFamily="34" charset="-120"/>
              </a:rPr>
              <a:t>Proves the demo is live, not recorded</a:t>
            </a:r>
            <a:endParaRPr lang="en-US" sz="1000" dirty="0"/>
          </a:p>
        </p:txBody>
      </p:sp>
      <p:sp>
        <p:nvSpPr>
          <p:cNvPr id="16" name="Shape 13"/>
          <p:cNvSpPr/>
          <p:nvPr/>
        </p:nvSpPr>
        <p:spPr>
          <a:xfrm>
            <a:off x="6035040" y="3831336"/>
            <a:ext cx="2743200" cy="722376"/>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7" name="Shape 14"/>
          <p:cNvSpPr/>
          <p:nvPr/>
        </p:nvSpPr>
        <p:spPr>
          <a:xfrm>
            <a:off x="6035040" y="3831336"/>
            <a:ext cx="64008" cy="722376"/>
          </a:xfrm>
          <a:prstGeom prst="rect">
            <a:avLst/>
          </a:prstGeom>
          <a:solidFill>
            <a:srgbClr val="174A7C"/>
          </a:solidFill>
          <a:ln/>
        </p:spPr>
      </p:sp>
      <p:sp>
        <p:nvSpPr>
          <p:cNvPr id="18" name="Text 15"/>
          <p:cNvSpPr/>
          <p:nvPr/>
        </p:nvSpPr>
        <p:spPr>
          <a:xfrm>
            <a:off x="6236208" y="3922776"/>
            <a:ext cx="2377440" cy="182880"/>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AZURE TECHNOLOGY</a:t>
            </a:r>
            <a:endParaRPr lang="en-US" sz="850" dirty="0"/>
          </a:p>
        </p:txBody>
      </p:sp>
      <p:sp>
        <p:nvSpPr>
          <p:cNvPr id="19" name="Text 16"/>
          <p:cNvSpPr/>
          <p:nvPr/>
        </p:nvSpPr>
        <p:spPr>
          <a:xfrm>
            <a:off x="6236208" y="4105656"/>
            <a:ext cx="2395728" cy="402336"/>
          </a:xfrm>
          <a:prstGeom prst="rect">
            <a:avLst/>
          </a:prstGeom>
          <a:noFill/>
          <a:ln/>
        </p:spPr>
        <p:txBody>
          <a:bodyPr wrap="square" lIns="0" tIns="0" rIns="0" bIns="0" rtlCol="0" anchor="ctr"/>
          <a:lstStyle/>
          <a:p>
            <a:pPr marL="0" indent="0">
              <a:lnSpc>
                <a:spcPts val="1200"/>
              </a:lnSpc>
              <a:buNone/>
            </a:pPr>
            <a:r>
              <a:rPr lang="en-US" sz="950" dirty="0">
                <a:solidFill>
                  <a:srgbClr val="3D3E40"/>
                </a:solidFill>
                <a:latin typeface="Calibri" pitchFamily="34" charset="0"/>
                <a:ea typeface="Calibri" pitchFamily="34" charset="-122"/>
                <a:cs typeface="Calibri" pitchFamily="34" charset="-120"/>
              </a:rPr>
              <a:t>Entra ID token exchange against all three Azure AI services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DEMONSTRATION — SCENARIO 1</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Translating a Digital Notice</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338328" y="1069848"/>
            <a:ext cx="5504688" cy="3483864"/>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pic>
        <p:nvPicPr>
          <p:cNvPr id="7" name="Image 0" descr="Translating a Digital Notice. A synthetic Notice of Appeal Hearing is loaded as a PDF. The application reads the embedded text layer directly, recovering 2,365 characters with no OCR, then translates it into Spanish and Arabic in the same pass. On demand, in seconds, not a vendor queue."/>
          <p:cNvPicPr>
            <a:picLocks noChangeAspect="1"/>
          </p:cNvPicPr>
          <p:nvPr/>
        </p:nvPicPr>
        <p:blipFill>
          <a:blip r:embed="rId3"/>
          <a:stretch>
            <a:fillRect/>
          </a:stretch>
        </p:blipFill>
        <p:spPr>
          <a:xfrm>
            <a:off x="393192" y="1124712"/>
            <a:ext cx="5394960" cy="3374136"/>
          </a:xfrm>
          <a:prstGeom prst="rect">
            <a:avLst/>
          </a:prstGeom>
        </p:spPr>
      </p:pic>
      <p:sp>
        <p:nvSpPr>
          <p:cNvPr id="8" name="Shape 5"/>
          <p:cNvSpPr/>
          <p:nvPr/>
        </p:nvSpPr>
        <p:spPr>
          <a:xfrm>
            <a:off x="6035040" y="1069848"/>
            <a:ext cx="2743200" cy="1810512"/>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9" name="Shape 6"/>
          <p:cNvSpPr/>
          <p:nvPr/>
        </p:nvSpPr>
        <p:spPr>
          <a:xfrm>
            <a:off x="6035040" y="1069848"/>
            <a:ext cx="64008" cy="1810512"/>
          </a:xfrm>
          <a:prstGeom prst="rect">
            <a:avLst/>
          </a:prstGeom>
          <a:solidFill>
            <a:srgbClr val="1B365D"/>
          </a:solidFill>
          <a:ln/>
        </p:spPr>
      </p:sp>
      <p:sp>
        <p:nvSpPr>
          <p:cNvPr id="10" name="Text 7"/>
          <p:cNvSpPr/>
          <p:nvPr/>
        </p:nvSpPr>
        <p:spPr>
          <a:xfrm>
            <a:off x="6236208" y="1188720"/>
            <a:ext cx="2377440" cy="201168"/>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WHAT IS HAPPENING</a:t>
            </a:r>
            <a:endParaRPr lang="en-US" sz="850" dirty="0"/>
          </a:p>
        </p:txBody>
      </p:sp>
      <p:sp>
        <p:nvSpPr>
          <p:cNvPr id="11" name="Text 8"/>
          <p:cNvSpPr/>
          <p:nvPr/>
        </p:nvSpPr>
        <p:spPr>
          <a:xfrm>
            <a:off x="6236208" y="1389888"/>
            <a:ext cx="2395728" cy="1426464"/>
          </a:xfrm>
          <a:prstGeom prst="rect">
            <a:avLst/>
          </a:prstGeom>
          <a:noFill/>
          <a:ln/>
        </p:spPr>
        <p:txBody>
          <a:bodyPr wrap="square" lIns="0" tIns="0" rIns="0" bIns="0" rtlCol="0" anchor="t"/>
          <a:lstStyle/>
          <a:p>
            <a:pPr marL="0" indent="0">
              <a:lnSpc>
                <a:spcPts val="1250"/>
              </a:lnSpc>
              <a:spcAft>
                <a:spcPts val="800"/>
              </a:spcAft>
              <a:buNone/>
            </a:pPr>
            <a:r>
              <a:rPr lang="en-US" sz="950" dirty="0">
                <a:solidFill>
                  <a:srgbClr val="3D3E40"/>
                </a:solidFill>
                <a:latin typeface="Calibri" pitchFamily="34" charset="0"/>
                <a:ea typeface="Calibri" pitchFamily="34" charset="-122"/>
                <a:cs typeface="Calibri" pitchFamily="34" charset="-120"/>
              </a:rPr>
              <a:t>A synthetic Notice of Appeal Hearing is loaded as a PDF. The application reads the embedded text layer directly, recovering 2,365 characters with no OCR, then translates it into Spanish and Arabic in the same pass.</a:t>
            </a:r>
            <a:endParaRPr lang="en-US" sz="950" dirty="0"/>
          </a:p>
          <a:p>
            <a:pPr marL="0" indent="0">
              <a:lnSpc>
                <a:spcPts val="1250"/>
              </a:lnSpc>
              <a:buNone/>
            </a:pPr>
            <a:r>
              <a:rPr lang="en-US" sz="950" b="1" dirty="0">
                <a:solidFill>
                  <a:srgbClr val="1B365D"/>
                </a:solidFill>
                <a:latin typeface="Calibri" pitchFamily="34" charset="0"/>
                <a:ea typeface="Calibri" pitchFamily="34" charset="-122"/>
                <a:cs typeface="Calibri" pitchFamily="34" charset="-120"/>
              </a:rPr>
              <a:t>On demand, in seconds, not a vendor queue.</a:t>
            </a:r>
            <a:endParaRPr lang="en-US" sz="950" dirty="0"/>
          </a:p>
        </p:txBody>
      </p:sp>
      <p:sp>
        <p:nvSpPr>
          <p:cNvPr id="12" name="Shape 9"/>
          <p:cNvSpPr/>
          <p:nvPr/>
        </p:nvSpPr>
        <p:spPr>
          <a:xfrm>
            <a:off x="6035040" y="2980944"/>
            <a:ext cx="2743200" cy="74980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3" name="Shape 10"/>
          <p:cNvSpPr/>
          <p:nvPr/>
        </p:nvSpPr>
        <p:spPr>
          <a:xfrm>
            <a:off x="6035040" y="2980944"/>
            <a:ext cx="64008" cy="749808"/>
          </a:xfrm>
          <a:prstGeom prst="rect">
            <a:avLst/>
          </a:prstGeom>
          <a:solidFill>
            <a:srgbClr val="A7190C"/>
          </a:solidFill>
          <a:ln/>
        </p:spPr>
      </p:sp>
      <p:sp>
        <p:nvSpPr>
          <p:cNvPr id="14" name="Text 11"/>
          <p:cNvSpPr/>
          <p:nvPr/>
        </p:nvSpPr>
        <p:spPr>
          <a:xfrm>
            <a:off x="6236208" y="3081528"/>
            <a:ext cx="2377440" cy="182880"/>
          </a:xfrm>
          <a:prstGeom prst="rect">
            <a:avLst/>
          </a:prstGeom>
          <a:noFill/>
          <a:ln/>
        </p:spPr>
        <p:txBody>
          <a:bodyPr wrap="square" lIns="0" tIns="0" rIns="0" bIns="0" rtlCol="0" anchor="ctr"/>
          <a:lstStyle/>
          <a:p>
            <a:pPr marL="0" indent="0">
              <a:buNone/>
            </a:pPr>
            <a:r>
              <a:rPr lang="en-US" sz="850" b="1" kern="0" spc="120" dirty="0">
                <a:solidFill>
                  <a:srgbClr val="A7190C"/>
                </a:solidFill>
                <a:latin typeface="Calibri" pitchFamily="34" charset="0"/>
                <a:ea typeface="Calibri" pitchFamily="34" charset="-122"/>
                <a:cs typeface="Calibri" pitchFamily="34" charset="-120"/>
              </a:rPr>
              <a:t>CUSTOMER ASK</a:t>
            </a:r>
            <a:endParaRPr lang="en-US" sz="850" dirty="0"/>
          </a:p>
        </p:txBody>
      </p:sp>
      <p:sp>
        <p:nvSpPr>
          <p:cNvPr id="15" name="Text 12"/>
          <p:cNvSpPr/>
          <p:nvPr/>
        </p:nvSpPr>
        <p:spPr>
          <a:xfrm>
            <a:off x="6236208" y="3264408"/>
            <a:ext cx="2395728" cy="420624"/>
          </a:xfrm>
          <a:prstGeom prst="rect">
            <a:avLst/>
          </a:prstGeom>
          <a:noFill/>
          <a:ln/>
        </p:spPr>
        <p:txBody>
          <a:bodyPr wrap="square" lIns="0" tIns="0" rIns="0" bIns="0" rtlCol="0" anchor="ctr"/>
          <a:lstStyle/>
          <a:p>
            <a:pPr marL="0" indent="0">
              <a:lnSpc>
                <a:spcPts val="1250"/>
              </a:lnSpc>
              <a:buNone/>
            </a:pPr>
            <a:r>
              <a:rPr lang="en-US" sz="1000" b="1" dirty="0">
                <a:solidFill>
                  <a:srgbClr val="1B365D"/>
                </a:solidFill>
                <a:latin typeface="Calibri" pitchFamily="34" charset="0"/>
                <a:ea typeface="Calibri" pitchFamily="34" charset="-122"/>
                <a:cs typeface="Calibri" pitchFamily="34" charset="-120"/>
              </a:rPr>
              <a:t>Translate member-facing notices on demand</a:t>
            </a:r>
            <a:endParaRPr lang="en-US" sz="1000" dirty="0"/>
          </a:p>
        </p:txBody>
      </p:sp>
      <p:sp>
        <p:nvSpPr>
          <p:cNvPr id="16" name="Shape 13"/>
          <p:cNvSpPr/>
          <p:nvPr/>
        </p:nvSpPr>
        <p:spPr>
          <a:xfrm>
            <a:off x="6035040" y="3831336"/>
            <a:ext cx="2743200" cy="722376"/>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7" name="Shape 14"/>
          <p:cNvSpPr/>
          <p:nvPr/>
        </p:nvSpPr>
        <p:spPr>
          <a:xfrm>
            <a:off x="6035040" y="3831336"/>
            <a:ext cx="64008" cy="722376"/>
          </a:xfrm>
          <a:prstGeom prst="rect">
            <a:avLst/>
          </a:prstGeom>
          <a:solidFill>
            <a:srgbClr val="174A7C"/>
          </a:solidFill>
          <a:ln/>
        </p:spPr>
      </p:sp>
      <p:sp>
        <p:nvSpPr>
          <p:cNvPr id="18" name="Text 15"/>
          <p:cNvSpPr/>
          <p:nvPr/>
        </p:nvSpPr>
        <p:spPr>
          <a:xfrm>
            <a:off x="6236208" y="3922776"/>
            <a:ext cx="2377440" cy="182880"/>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AZURE TECHNOLOGY</a:t>
            </a:r>
            <a:endParaRPr lang="en-US" sz="850" dirty="0"/>
          </a:p>
        </p:txBody>
      </p:sp>
      <p:sp>
        <p:nvSpPr>
          <p:cNvPr id="19" name="Text 16"/>
          <p:cNvSpPr/>
          <p:nvPr/>
        </p:nvSpPr>
        <p:spPr>
          <a:xfrm>
            <a:off x="6236208" y="4105656"/>
            <a:ext cx="2395728" cy="402336"/>
          </a:xfrm>
          <a:prstGeom prst="rect">
            <a:avLst/>
          </a:prstGeom>
          <a:noFill/>
          <a:ln/>
        </p:spPr>
        <p:txBody>
          <a:bodyPr wrap="square" lIns="0" tIns="0" rIns="0" bIns="0" rtlCol="0" anchor="ctr"/>
          <a:lstStyle/>
          <a:p>
            <a:pPr marL="0" indent="0">
              <a:lnSpc>
                <a:spcPts val="1200"/>
              </a:lnSpc>
              <a:buNone/>
            </a:pPr>
            <a:r>
              <a:rPr lang="en-US" sz="950" dirty="0">
                <a:solidFill>
                  <a:srgbClr val="3D3E40"/>
                </a:solidFill>
                <a:latin typeface="Calibri" pitchFamily="34" charset="0"/>
                <a:ea typeface="Calibri" pitchFamily="34" charset="-122"/>
                <a:cs typeface="Calibri" pitchFamily="34" charset="-120"/>
              </a:rPr>
              <a:t>PDF text extraction, then Azure AI Translator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DEMONSTRATION — SCENARIO 1</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Reading a Scanned Form</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338328" y="1069848"/>
            <a:ext cx="5504688" cy="3483864"/>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pic>
        <p:nvPicPr>
          <p:cNvPr id="7" name="Image 0" descr="Reading a Scanned Form. A member-completed Request for Language Assistance, received by mail and scanned. Skewed, grainy, no text layer at all. Document Intelligence recovers 1,193 characters, which then follow exactly the same translation path. The scanned archive stops being a dead end."/>
          <p:cNvPicPr>
            <a:picLocks noChangeAspect="1"/>
          </p:cNvPicPr>
          <p:nvPr/>
        </p:nvPicPr>
        <p:blipFill>
          <a:blip r:embed="rId3"/>
          <a:stretch>
            <a:fillRect/>
          </a:stretch>
        </p:blipFill>
        <p:spPr>
          <a:xfrm>
            <a:off x="393192" y="1124712"/>
            <a:ext cx="5394960" cy="3374136"/>
          </a:xfrm>
          <a:prstGeom prst="rect">
            <a:avLst/>
          </a:prstGeom>
        </p:spPr>
      </p:pic>
      <p:sp>
        <p:nvSpPr>
          <p:cNvPr id="8" name="Shape 5"/>
          <p:cNvSpPr/>
          <p:nvPr/>
        </p:nvSpPr>
        <p:spPr>
          <a:xfrm>
            <a:off x="6035040" y="1069848"/>
            <a:ext cx="2743200" cy="1810512"/>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9" name="Shape 6"/>
          <p:cNvSpPr/>
          <p:nvPr/>
        </p:nvSpPr>
        <p:spPr>
          <a:xfrm>
            <a:off x="6035040" y="1069848"/>
            <a:ext cx="64008" cy="1810512"/>
          </a:xfrm>
          <a:prstGeom prst="rect">
            <a:avLst/>
          </a:prstGeom>
          <a:solidFill>
            <a:srgbClr val="1B365D"/>
          </a:solidFill>
          <a:ln/>
        </p:spPr>
      </p:sp>
      <p:sp>
        <p:nvSpPr>
          <p:cNvPr id="10" name="Text 7"/>
          <p:cNvSpPr/>
          <p:nvPr/>
        </p:nvSpPr>
        <p:spPr>
          <a:xfrm>
            <a:off x="6236208" y="1188720"/>
            <a:ext cx="2377440" cy="201168"/>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WHAT IS HAPPENING</a:t>
            </a:r>
            <a:endParaRPr lang="en-US" sz="850" dirty="0"/>
          </a:p>
        </p:txBody>
      </p:sp>
      <p:sp>
        <p:nvSpPr>
          <p:cNvPr id="11" name="Text 8"/>
          <p:cNvSpPr/>
          <p:nvPr/>
        </p:nvSpPr>
        <p:spPr>
          <a:xfrm>
            <a:off x="6236208" y="1389888"/>
            <a:ext cx="2395728" cy="1426464"/>
          </a:xfrm>
          <a:prstGeom prst="rect">
            <a:avLst/>
          </a:prstGeom>
          <a:noFill/>
          <a:ln/>
        </p:spPr>
        <p:txBody>
          <a:bodyPr wrap="square" lIns="0" tIns="0" rIns="0" bIns="0" rtlCol="0" anchor="t"/>
          <a:lstStyle/>
          <a:p>
            <a:pPr marL="0" indent="0">
              <a:lnSpc>
                <a:spcPts val="1250"/>
              </a:lnSpc>
              <a:spcAft>
                <a:spcPts val="800"/>
              </a:spcAft>
              <a:buNone/>
            </a:pPr>
            <a:r>
              <a:rPr lang="en-US" sz="950" dirty="0">
                <a:solidFill>
                  <a:srgbClr val="3D3E40"/>
                </a:solidFill>
                <a:latin typeface="Calibri" pitchFamily="34" charset="0"/>
                <a:ea typeface="Calibri" pitchFamily="34" charset="-122"/>
                <a:cs typeface="Calibri" pitchFamily="34" charset="-120"/>
              </a:rPr>
              <a:t>A member-completed Request for Language Assistance, received by mail and scanned. Skewed, grainy, no text layer at all. Document Intelligence recovers 1,193 characters, which then follow exactly the same translation path.</a:t>
            </a:r>
            <a:endParaRPr lang="en-US" sz="950" dirty="0"/>
          </a:p>
          <a:p>
            <a:pPr marL="0" indent="0">
              <a:lnSpc>
                <a:spcPts val="1250"/>
              </a:lnSpc>
              <a:buNone/>
            </a:pPr>
            <a:r>
              <a:rPr lang="en-US" sz="950" b="1" dirty="0">
                <a:solidFill>
                  <a:srgbClr val="1B365D"/>
                </a:solidFill>
                <a:latin typeface="Calibri" pitchFamily="34" charset="0"/>
                <a:ea typeface="Calibri" pitchFamily="34" charset="-122"/>
                <a:cs typeface="Calibri" pitchFamily="34" charset="-120"/>
              </a:rPr>
              <a:t>The scanned archive stops being a dead end.</a:t>
            </a:r>
            <a:endParaRPr lang="en-US" sz="950" dirty="0"/>
          </a:p>
        </p:txBody>
      </p:sp>
      <p:sp>
        <p:nvSpPr>
          <p:cNvPr id="12" name="Shape 9"/>
          <p:cNvSpPr/>
          <p:nvPr/>
        </p:nvSpPr>
        <p:spPr>
          <a:xfrm>
            <a:off x="6035040" y="2980944"/>
            <a:ext cx="2743200" cy="74980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3" name="Shape 10"/>
          <p:cNvSpPr/>
          <p:nvPr/>
        </p:nvSpPr>
        <p:spPr>
          <a:xfrm>
            <a:off x="6035040" y="2980944"/>
            <a:ext cx="64008" cy="749808"/>
          </a:xfrm>
          <a:prstGeom prst="rect">
            <a:avLst/>
          </a:prstGeom>
          <a:solidFill>
            <a:srgbClr val="A7190C"/>
          </a:solidFill>
          <a:ln/>
        </p:spPr>
      </p:sp>
      <p:sp>
        <p:nvSpPr>
          <p:cNvPr id="14" name="Text 11"/>
          <p:cNvSpPr/>
          <p:nvPr/>
        </p:nvSpPr>
        <p:spPr>
          <a:xfrm>
            <a:off x="6236208" y="3081528"/>
            <a:ext cx="2377440" cy="182880"/>
          </a:xfrm>
          <a:prstGeom prst="rect">
            <a:avLst/>
          </a:prstGeom>
          <a:noFill/>
          <a:ln/>
        </p:spPr>
        <p:txBody>
          <a:bodyPr wrap="square" lIns="0" tIns="0" rIns="0" bIns="0" rtlCol="0" anchor="ctr"/>
          <a:lstStyle/>
          <a:p>
            <a:pPr marL="0" indent="0">
              <a:buNone/>
            </a:pPr>
            <a:r>
              <a:rPr lang="en-US" sz="850" b="1" kern="0" spc="120" dirty="0">
                <a:solidFill>
                  <a:srgbClr val="A7190C"/>
                </a:solidFill>
                <a:latin typeface="Calibri" pitchFamily="34" charset="0"/>
                <a:ea typeface="Calibri" pitchFamily="34" charset="-122"/>
                <a:cs typeface="Calibri" pitchFamily="34" charset="-120"/>
              </a:rPr>
              <a:t>CUSTOMER ASK</a:t>
            </a:r>
            <a:endParaRPr lang="en-US" sz="850" dirty="0"/>
          </a:p>
        </p:txBody>
      </p:sp>
      <p:sp>
        <p:nvSpPr>
          <p:cNvPr id="15" name="Text 12"/>
          <p:cNvSpPr/>
          <p:nvPr/>
        </p:nvSpPr>
        <p:spPr>
          <a:xfrm>
            <a:off x="6236208" y="3264408"/>
            <a:ext cx="2395728" cy="420624"/>
          </a:xfrm>
          <a:prstGeom prst="rect">
            <a:avLst/>
          </a:prstGeom>
          <a:noFill/>
          <a:ln/>
        </p:spPr>
        <p:txBody>
          <a:bodyPr wrap="square" lIns="0" tIns="0" rIns="0" bIns="0" rtlCol="0" anchor="ctr"/>
          <a:lstStyle/>
          <a:p>
            <a:pPr marL="0" indent="0">
              <a:lnSpc>
                <a:spcPts val="1250"/>
              </a:lnSpc>
              <a:buNone/>
            </a:pPr>
            <a:r>
              <a:rPr lang="en-US" sz="1000" b="1" dirty="0">
                <a:solidFill>
                  <a:srgbClr val="1B365D"/>
                </a:solidFill>
                <a:latin typeface="Calibri" pitchFamily="34" charset="0"/>
                <a:ea typeface="Calibri" pitchFamily="34" charset="-122"/>
                <a:cs typeface="Calibri" pitchFamily="34" charset="-120"/>
              </a:rPr>
              <a:t>Handle scanned paper with no text layer</a:t>
            </a:r>
            <a:endParaRPr lang="en-US" sz="1000" dirty="0"/>
          </a:p>
        </p:txBody>
      </p:sp>
      <p:sp>
        <p:nvSpPr>
          <p:cNvPr id="16" name="Shape 13"/>
          <p:cNvSpPr/>
          <p:nvPr/>
        </p:nvSpPr>
        <p:spPr>
          <a:xfrm>
            <a:off x="6035040" y="3831336"/>
            <a:ext cx="2743200" cy="722376"/>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7" name="Shape 14"/>
          <p:cNvSpPr/>
          <p:nvPr/>
        </p:nvSpPr>
        <p:spPr>
          <a:xfrm>
            <a:off x="6035040" y="3831336"/>
            <a:ext cx="64008" cy="722376"/>
          </a:xfrm>
          <a:prstGeom prst="rect">
            <a:avLst/>
          </a:prstGeom>
          <a:solidFill>
            <a:srgbClr val="174A7C"/>
          </a:solidFill>
          <a:ln/>
        </p:spPr>
      </p:sp>
      <p:sp>
        <p:nvSpPr>
          <p:cNvPr id="18" name="Text 15"/>
          <p:cNvSpPr/>
          <p:nvPr/>
        </p:nvSpPr>
        <p:spPr>
          <a:xfrm>
            <a:off x="6236208" y="3922776"/>
            <a:ext cx="2377440" cy="182880"/>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AZURE TECHNOLOGY</a:t>
            </a:r>
            <a:endParaRPr lang="en-US" sz="850" dirty="0"/>
          </a:p>
        </p:txBody>
      </p:sp>
      <p:sp>
        <p:nvSpPr>
          <p:cNvPr id="19" name="Text 16"/>
          <p:cNvSpPr/>
          <p:nvPr/>
        </p:nvSpPr>
        <p:spPr>
          <a:xfrm>
            <a:off x="6236208" y="4105656"/>
            <a:ext cx="2395728" cy="402336"/>
          </a:xfrm>
          <a:prstGeom prst="rect">
            <a:avLst/>
          </a:prstGeom>
          <a:noFill/>
          <a:ln/>
        </p:spPr>
        <p:txBody>
          <a:bodyPr wrap="square" lIns="0" tIns="0" rIns="0" bIns="0" rtlCol="0" anchor="ctr"/>
          <a:lstStyle/>
          <a:p>
            <a:pPr marL="0" indent="0">
              <a:lnSpc>
                <a:spcPts val="1200"/>
              </a:lnSpc>
              <a:buNone/>
            </a:pPr>
            <a:r>
              <a:rPr lang="en-US" sz="950" dirty="0">
                <a:solidFill>
                  <a:srgbClr val="3D3E40"/>
                </a:solidFill>
                <a:latin typeface="Calibri" pitchFamily="34" charset="0"/>
                <a:ea typeface="Calibri" pitchFamily="34" charset="-122"/>
                <a:cs typeface="Calibri" pitchFamily="34" charset="-120"/>
              </a:rPr>
              <a:t>Azure AI Document Intelligence, then Azure AI Translator</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DEMONSTRATION — SCENARIO 1</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The Long Tail, On Demand</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338328" y="1069848"/>
            <a:ext cx="5504688" cy="3483864"/>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pic>
        <p:nvPicPr>
          <p:cNvPr id="7" name="Image 0" descr="The Long Tail, On Demand. The same scanned form translated again, this time into Vietnamese, chosen at the moment of need rather than configured in advance. Nothing was pre-translated and nothing was cached. A rare language costs the same effort as a common one."/>
          <p:cNvPicPr>
            <a:picLocks noChangeAspect="1"/>
          </p:cNvPicPr>
          <p:nvPr/>
        </p:nvPicPr>
        <p:blipFill>
          <a:blip r:embed="rId3"/>
          <a:stretch>
            <a:fillRect/>
          </a:stretch>
        </p:blipFill>
        <p:spPr>
          <a:xfrm>
            <a:off x="393192" y="1124712"/>
            <a:ext cx="5394960" cy="3374136"/>
          </a:xfrm>
          <a:prstGeom prst="rect">
            <a:avLst/>
          </a:prstGeom>
        </p:spPr>
      </p:pic>
      <p:sp>
        <p:nvSpPr>
          <p:cNvPr id="8" name="Shape 5"/>
          <p:cNvSpPr/>
          <p:nvPr/>
        </p:nvSpPr>
        <p:spPr>
          <a:xfrm>
            <a:off x="6035040" y="1069848"/>
            <a:ext cx="2743200" cy="1810512"/>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9" name="Shape 6"/>
          <p:cNvSpPr/>
          <p:nvPr/>
        </p:nvSpPr>
        <p:spPr>
          <a:xfrm>
            <a:off x="6035040" y="1069848"/>
            <a:ext cx="64008" cy="1810512"/>
          </a:xfrm>
          <a:prstGeom prst="rect">
            <a:avLst/>
          </a:prstGeom>
          <a:solidFill>
            <a:srgbClr val="1B365D"/>
          </a:solidFill>
          <a:ln/>
        </p:spPr>
      </p:sp>
      <p:sp>
        <p:nvSpPr>
          <p:cNvPr id="10" name="Text 7"/>
          <p:cNvSpPr/>
          <p:nvPr/>
        </p:nvSpPr>
        <p:spPr>
          <a:xfrm>
            <a:off x="6236208" y="1188720"/>
            <a:ext cx="2377440" cy="201168"/>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WHAT IS HAPPENING</a:t>
            </a:r>
            <a:endParaRPr lang="en-US" sz="850" dirty="0"/>
          </a:p>
        </p:txBody>
      </p:sp>
      <p:sp>
        <p:nvSpPr>
          <p:cNvPr id="11" name="Text 8"/>
          <p:cNvSpPr/>
          <p:nvPr/>
        </p:nvSpPr>
        <p:spPr>
          <a:xfrm>
            <a:off x="6236208" y="1389888"/>
            <a:ext cx="2395728" cy="1426464"/>
          </a:xfrm>
          <a:prstGeom prst="rect">
            <a:avLst/>
          </a:prstGeom>
          <a:noFill/>
          <a:ln/>
        </p:spPr>
        <p:txBody>
          <a:bodyPr wrap="square" lIns="0" tIns="0" rIns="0" bIns="0" rtlCol="0" anchor="t"/>
          <a:lstStyle/>
          <a:p>
            <a:pPr marL="0" indent="0">
              <a:lnSpc>
                <a:spcPts val="1250"/>
              </a:lnSpc>
              <a:spcAft>
                <a:spcPts val="800"/>
              </a:spcAft>
              <a:buNone/>
            </a:pPr>
            <a:r>
              <a:rPr lang="en-US" sz="950" dirty="0">
                <a:solidFill>
                  <a:srgbClr val="3D3E40"/>
                </a:solidFill>
                <a:latin typeface="Calibri" pitchFamily="34" charset="0"/>
                <a:ea typeface="Calibri" pitchFamily="34" charset="-122"/>
                <a:cs typeface="Calibri" pitchFamily="34" charset="-120"/>
              </a:rPr>
              <a:t>The same scanned form translated again, this time into Vietnamese, chosen at the moment of need rather than configured in advance. Nothing was pre-translated and nothing was cached.</a:t>
            </a:r>
            <a:endParaRPr lang="en-US" sz="950" dirty="0"/>
          </a:p>
          <a:p>
            <a:pPr marL="0" indent="0">
              <a:lnSpc>
                <a:spcPts val="1250"/>
              </a:lnSpc>
              <a:buNone/>
            </a:pPr>
            <a:r>
              <a:rPr lang="en-US" sz="950" b="1" dirty="0">
                <a:solidFill>
                  <a:srgbClr val="1B365D"/>
                </a:solidFill>
                <a:latin typeface="Calibri" pitchFamily="34" charset="0"/>
                <a:ea typeface="Calibri" pitchFamily="34" charset="-122"/>
                <a:cs typeface="Calibri" pitchFamily="34" charset="-120"/>
              </a:rPr>
              <a:t>A rare language costs the same effort as a common one.</a:t>
            </a:r>
            <a:endParaRPr lang="en-US" sz="950" dirty="0"/>
          </a:p>
        </p:txBody>
      </p:sp>
      <p:sp>
        <p:nvSpPr>
          <p:cNvPr id="12" name="Shape 9"/>
          <p:cNvSpPr/>
          <p:nvPr/>
        </p:nvSpPr>
        <p:spPr>
          <a:xfrm>
            <a:off x="6035040" y="2980944"/>
            <a:ext cx="2743200" cy="74980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3" name="Shape 10"/>
          <p:cNvSpPr/>
          <p:nvPr/>
        </p:nvSpPr>
        <p:spPr>
          <a:xfrm>
            <a:off x="6035040" y="2980944"/>
            <a:ext cx="64008" cy="749808"/>
          </a:xfrm>
          <a:prstGeom prst="rect">
            <a:avLst/>
          </a:prstGeom>
          <a:solidFill>
            <a:srgbClr val="A7190C"/>
          </a:solidFill>
          <a:ln/>
        </p:spPr>
      </p:sp>
      <p:sp>
        <p:nvSpPr>
          <p:cNvPr id="14" name="Text 11"/>
          <p:cNvSpPr/>
          <p:nvPr/>
        </p:nvSpPr>
        <p:spPr>
          <a:xfrm>
            <a:off x="6236208" y="3081528"/>
            <a:ext cx="2377440" cy="182880"/>
          </a:xfrm>
          <a:prstGeom prst="rect">
            <a:avLst/>
          </a:prstGeom>
          <a:noFill/>
          <a:ln/>
        </p:spPr>
        <p:txBody>
          <a:bodyPr wrap="square" lIns="0" tIns="0" rIns="0" bIns="0" rtlCol="0" anchor="ctr"/>
          <a:lstStyle/>
          <a:p>
            <a:pPr marL="0" indent="0">
              <a:buNone/>
            </a:pPr>
            <a:r>
              <a:rPr lang="en-US" sz="850" b="1" kern="0" spc="120" dirty="0">
                <a:solidFill>
                  <a:srgbClr val="A7190C"/>
                </a:solidFill>
                <a:latin typeface="Calibri" pitchFamily="34" charset="0"/>
                <a:ea typeface="Calibri" pitchFamily="34" charset="-122"/>
                <a:cs typeface="Calibri" pitchFamily="34" charset="-120"/>
              </a:rPr>
              <a:t>CUSTOMER ASK</a:t>
            </a:r>
            <a:endParaRPr lang="en-US" sz="850" dirty="0"/>
          </a:p>
        </p:txBody>
      </p:sp>
      <p:sp>
        <p:nvSpPr>
          <p:cNvPr id="15" name="Text 12"/>
          <p:cNvSpPr/>
          <p:nvPr/>
        </p:nvSpPr>
        <p:spPr>
          <a:xfrm>
            <a:off x="6236208" y="3264408"/>
            <a:ext cx="2395728" cy="420624"/>
          </a:xfrm>
          <a:prstGeom prst="rect">
            <a:avLst/>
          </a:prstGeom>
          <a:noFill/>
          <a:ln/>
        </p:spPr>
        <p:txBody>
          <a:bodyPr wrap="square" lIns="0" tIns="0" rIns="0" bIns="0" rtlCol="0" anchor="ctr"/>
          <a:lstStyle/>
          <a:p>
            <a:pPr marL="0" indent="0">
              <a:lnSpc>
                <a:spcPts val="1250"/>
              </a:lnSpc>
              <a:buNone/>
            </a:pPr>
            <a:r>
              <a:rPr lang="en-US" sz="1000" b="1" dirty="0">
                <a:solidFill>
                  <a:srgbClr val="1B365D"/>
                </a:solidFill>
                <a:latin typeface="Calibri" pitchFamily="34" charset="0"/>
                <a:ea typeface="Calibri" pitchFamily="34" charset="-122"/>
                <a:cs typeface="Calibri" pitchFamily="34" charset="-120"/>
              </a:rPr>
              <a:t>Vietnamese, Swahili, Burmese, Mandarin, Russian</a:t>
            </a:r>
            <a:endParaRPr lang="en-US" sz="1000" dirty="0"/>
          </a:p>
        </p:txBody>
      </p:sp>
      <p:sp>
        <p:nvSpPr>
          <p:cNvPr id="16" name="Shape 13"/>
          <p:cNvSpPr/>
          <p:nvPr/>
        </p:nvSpPr>
        <p:spPr>
          <a:xfrm>
            <a:off x="6035040" y="3831336"/>
            <a:ext cx="2743200" cy="722376"/>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7" name="Shape 14"/>
          <p:cNvSpPr/>
          <p:nvPr/>
        </p:nvSpPr>
        <p:spPr>
          <a:xfrm>
            <a:off x="6035040" y="3831336"/>
            <a:ext cx="64008" cy="722376"/>
          </a:xfrm>
          <a:prstGeom prst="rect">
            <a:avLst/>
          </a:prstGeom>
          <a:solidFill>
            <a:srgbClr val="174A7C"/>
          </a:solidFill>
          <a:ln/>
        </p:spPr>
      </p:sp>
      <p:sp>
        <p:nvSpPr>
          <p:cNvPr id="18" name="Text 15"/>
          <p:cNvSpPr/>
          <p:nvPr/>
        </p:nvSpPr>
        <p:spPr>
          <a:xfrm>
            <a:off x="6236208" y="3922776"/>
            <a:ext cx="2377440" cy="182880"/>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AZURE TECHNOLOGY</a:t>
            </a:r>
            <a:endParaRPr lang="en-US" sz="850" dirty="0"/>
          </a:p>
        </p:txBody>
      </p:sp>
      <p:sp>
        <p:nvSpPr>
          <p:cNvPr id="19" name="Text 16"/>
          <p:cNvSpPr/>
          <p:nvPr/>
        </p:nvSpPr>
        <p:spPr>
          <a:xfrm>
            <a:off x="6236208" y="4105656"/>
            <a:ext cx="2395728" cy="402336"/>
          </a:xfrm>
          <a:prstGeom prst="rect">
            <a:avLst/>
          </a:prstGeom>
          <a:noFill/>
          <a:ln/>
        </p:spPr>
        <p:txBody>
          <a:bodyPr wrap="square" lIns="0" tIns="0" rIns="0" bIns="0" rtlCol="0" anchor="ctr"/>
          <a:lstStyle/>
          <a:p>
            <a:pPr marL="0" indent="0">
              <a:lnSpc>
                <a:spcPts val="1200"/>
              </a:lnSpc>
              <a:buNone/>
            </a:pPr>
            <a:r>
              <a:rPr lang="en-US" sz="950" dirty="0">
                <a:solidFill>
                  <a:srgbClr val="3D3E40"/>
                </a:solidFill>
                <a:latin typeface="Calibri" pitchFamily="34" charset="0"/>
                <a:ea typeface="Calibri" pitchFamily="34" charset="-122"/>
                <a:cs typeface="Calibri" pitchFamily="34" charset="-120"/>
              </a:rPr>
              <a:t>Azure AI Translator, language chosen at run time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DEMONSTRATION — SCENARIO 2</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Setting Up a Live Hearing</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338328" y="1069848"/>
            <a:ext cx="5504688" cy="3483864"/>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pic>
        <p:nvPicPr>
          <p:cNvPr id="7" name="Image 0" descr="Setting Up a Live Hearing. The hearing page before the session begins. The member's language is selected and the hearing officer works in English. Interpretation runs in both directions through a single Azure AI Speech translation session. The presenter chooses whether output is spoken aloud."/>
          <p:cNvPicPr>
            <a:picLocks noChangeAspect="1"/>
          </p:cNvPicPr>
          <p:nvPr/>
        </p:nvPicPr>
        <p:blipFill>
          <a:blip r:embed="rId3"/>
          <a:stretch>
            <a:fillRect/>
          </a:stretch>
        </p:blipFill>
        <p:spPr>
          <a:xfrm>
            <a:off x="393192" y="1124712"/>
            <a:ext cx="5394960" cy="3374136"/>
          </a:xfrm>
          <a:prstGeom prst="rect">
            <a:avLst/>
          </a:prstGeom>
        </p:spPr>
      </p:pic>
      <p:sp>
        <p:nvSpPr>
          <p:cNvPr id="8" name="Shape 5"/>
          <p:cNvSpPr/>
          <p:nvPr/>
        </p:nvSpPr>
        <p:spPr>
          <a:xfrm>
            <a:off x="6035040" y="1069848"/>
            <a:ext cx="2743200" cy="1810512"/>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9" name="Shape 6"/>
          <p:cNvSpPr/>
          <p:nvPr/>
        </p:nvSpPr>
        <p:spPr>
          <a:xfrm>
            <a:off x="6035040" y="1069848"/>
            <a:ext cx="64008" cy="1810512"/>
          </a:xfrm>
          <a:prstGeom prst="rect">
            <a:avLst/>
          </a:prstGeom>
          <a:solidFill>
            <a:srgbClr val="1B365D"/>
          </a:solidFill>
          <a:ln/>
        </p:spPr>
      </p:sp>
      <p:sp>
        <p:nvSpPr>
          <p:cNvPr id="10" name="Text 7"/>
          <p:cNvSpPr/>
          <p:nvPr/>
        </p:nvSpPr>
        <p:spPr>
          <a:xfrm>
            <a:off x="6236208" y="1188720"/>
            <a:ext cx="2377440" cy="201168"/>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WHAT IS HAPPENING</a:t>
            </a:r>
            <a:endParaRPr lang="en-US" sz="850" dirty="0"/>
          </a:p>
        </p:txBody>
      </p:sp>
      <p:sp>
        <p:nvSpPr>
          <p:cNvPr id="11" name="Text 8"/>
          <p:cNvSpPr/>
          <p:nvPr/>
        </p:nvSpPr>
        <p:spPr>
          <a:xfrm>
            <a:off x="6236208" y="1389888"/>
            <a:ext cx="2395728" cy="1426464"/>
          </a:xfrm>
          <a:prstGeom prst="rect">
            <a:avLst/>
          </a:prstGeom>
          <a:noFill/>
          <a:ln/>
        </p:spPr>
        <p:txBody>
          <a:bodyPr wrap="square" lIns="0" tIns="0" rIns="0" bIns="0" rtlCol="0" anchor="t"/>
          <a:lstStyle/>
          <a:p>
            <a:pPr marL="0" indent="0">
              <a:lnSpc>
                <a:spcPts val="1250"/>
              </a:lnSpc>
              <a:spcAft>
                <a:spcPts val="800"/>
              </a:spcAft>
              <a:buNone/>
            </a:pPr>
            <a:r>
              <a:rPr lang="en-US" sz="950" dirty="0">
                <a:solidFill>
                  <a:srgbClr val="3D3E40"/>
                </a:solidFill>
                <a:latin typeface="Calibri" pitchFamily="34" charset="0"/>
                <a:ea typeface="Calibri" pitchFamily="34" charset="-122"/>
                <a:cs typeface="Calibri" pitchFamily="34" charset="-120"/>
              </a:rPr>
              <a:t>The hearing page before the session begins. The member's language is selected and the hearing officer works in English. Interpretation runs in both directions through a single Azure AI Speech translation session.</a:t>
            </a:r>
            <a:endParaRPr lang="en-US" sz="950" dirty="0"/>
          </a:p>
          <a:p>
            <a:pPr marL="0" indent="0">
              <a:lnSpc>
                <a:spcPts val="1250"/>
              </a:lnSpc>
              <a:buNone/>
            </a:pPr>
            <a:r>
              <a:rPr lang="en-US" sz="950" b="1" dirty="0">
                <a:solidFill>
                  <a:srgbClr val="1B365D"/>
                </a:solidFill>
                <a:latin typeface="Calibri" pitchFamily="34" charset="0"/>
                <a:ea typeface="Calibri" pitchFamily="34" charset="-122"/>
                <a:cs typeface="Calibri" pitchFamily="34" charset="-120"/>
              </a:rPr>
              <a:t>The presenter chooses whether output is spoken aloud.</a:t>
            </a:r>
            <a:endParaRPr lang="en-US" sz="950" dirty="0"/>
          </a:p>
        </p:txBody>
      </p:sp>
      <p:sp>
        <p:nvSpPr>
          <p:cNvPr id="12" name="Shape 9"/>
          <p:cNvSpPr/>
          <p:nvPr/>
        </p:nvSpPr>
        <p:spPr>
          <a:xfrm>
            <a:off x="6035040" y="2980944"/>
            <a:ext cx="2743200" cy="74980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3" name="Shape 10"/>
          <p:cNvSpPr/>
          <p:nvPr/>
        </p:nvSpPr>
        <p:spPr>
          <a:xfrm>
            <a:off x="6035040" y="2980944"/>
            <a:ext cx="64008" cy="749808"/>
          </a:xfrm>
          <a:prstGeom prst="rect">
            <a:avLst/>
          </a:prstGeom>
          <a:solidFill>
            <a:srgbClr val="A7190C"/>
          </a:solidFill>
          <a:ln/>
        </p:spPr>
      </p:sp>
      <p:sp>
        <p:nvSpPr>
          <p:cNvPr id="14" name="Text 11"/>
          <p:cNvSpPr/>
          <p:nvPr/>
        </p:nvSpPr>
        <p:spPr>
          <a:xfrm>
            <a:off x="6236208" y="3081528"/>
            <a:ext cx="2377440" cy="182880"/>
          </a:xfrm>
          <a:prstGeom prst="rect">
            <a:avLst/>
          </a:prstGeom>
          <a:noFill/>
          <a:ln/>
        </p:spPr>
        <p:txBody>
          <a:bodyPr wrap="square" lIns="0" tIns="0" rIns="0" bIns="0" rtlCol="0" anchor="ctr"/>
          <a:lstStyle/>
          <a:p>
            <a:pPr marL="0" indent="0">
              <a:buNone/>
            </a:pPr>
            <a:r>
              <a:rPr lang="en-US" sz="850" b="1" kern="0" spc="120" dirty="0">
                <a:solidFill>
                  <a:srgbClr val="A7190C"/>
                </a:solidFill>
                <a:latin typeface="Calibri" pitchFamily="34" charset="0"/>
                <a:ea typeface="Calibri" pitchFamily="34" charset="-122"/>
                <a:cs typeface="Calibri" pitchFamily="34" charset="-120"/>
              </a:rPr>
              <a:t>CUSTOMER ASK</a:t>
            </a:r>
            <a:endParaRPr lang="en-US" sz="850" dirty="0"/>
          </a:p>
        </p:txBody>
      </p:sp>
      <p:sp>
        <p:nvSpPr>
          <p:cNvPr id="15" name="Text 12"/>
          <p:cNvSpPr/>
          <p:nvPr/>
        </p:nvSpPr>
        <p:spPr>
          <a:xfrm>
            <a:off x="6236208" y="3264408"/>
            <a:ext cx="2395728" cy="420624"/>
          </a:xfrm>
          <a:prstGeom prst="rect">
            <a:avLst/>
          </a:prstGeom>
          <a:noFill/>
          <a:ln/>
        </p:spPr>
        <p:txBody>
          <a:bodyPr wrap="square" lIns="0" tIns="0" rIns="0" bIns="0" rtlCol="0" anchor="ctr"/>
          <a:lstStyle/>
          <a:p>
            <a:pPr marL="0" indent="0">
              <a:lnSpc>
                <a:spcPts val="1250"/>
              </a:lnSpc>
              <a:buNone/>
            </a:pPr>
            <a:r>
              <a:rPr lang="en-US" sz="1000" b="1" dirty="0">
                <a:solidFill>
                  <a:srgbClr val="1B365D"/>
                </a:solidFill>
                <a:latin typeface="Calibri" pitchFamily="34" charset="0"/>
                <a:ea typeface="Calibri" pitchFamily="34" charset="-122"/>
                <a:cs typeface="Calibri" pitchFamily="34" charset="-120"/>
              </a:rPr>
              <a:t>Near-real-time, two-way interpretation</a:t>
            </a:r>
            <a:endParaRPr lang="en-US" sz="1000" dirty="0"/>
          </a:p>
        </p:txBody>
      </p:sp>
      <p:sp>
        <p:nvSpPr>
          <p:cNvPr id="16" name="Shape 13"/>
          <p:cNvSpPr/>
          <p:nvPr/>
        </p:nvSpPr>
        <p:spPr>
          <a:xfrm>
            <a:off x="6035040" y="3831336"/>
            <a:ext cx="2743200" cy="722376"/>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7" name="Shape 14"/>
          <p:cNvSpPr/>
          <p:nvPr/>
        </p:nvSpPr>
        <p:spPr>
          <a:xfrm>
            <a:off x="6035040" y="3831336"/>
            <a:ext cx="64008" cy="722376"/>
          </a:xfrm>
          <a:prstGeom prst="rect">
            <a:avLst/>
          </a:prstGeom>
          <a:solidFill>
            <a:srgbClr val="174A7C"/>
          </a:solidFill>
          <a:ln/>
        </p:spPr>
      </p:sp>
      <p:sp>
        <p:nvSpPr>
          <p:cNvPr id="18" name="Text 15"/>
          <p:cNvSpPr/>
          <p:nvPr/>
        </p:nvSpPr>
        <p:spPr>
          <a:xfrm>
            <a:off x="6236208" y="3922776"/>
            <a:ext cx="2377440" cy="182880"/>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AZURE TECHNOLOGY</a:t>
            </a:r>
            <a:endParaRPr lang="en-US" sz="850" dirty="0"/>
          </a:p>
        </p:txBody>
      </p:sp>
      <p:sp>
        <p:nvSpPr>
          <p:cNvPr id="19" name="Text 16"/>
          <p:cNvSpPr/>
          <p:nvPr/>
        </p:nvSpPr>
        <p:spPr>
          <a:xfrm>
            <a:off x="6236208" y="4105656"/>
            <a:ext cx="2395728" cy="402336"/>
          </a:xfrm>
          <a:prstGeom prst="rect">
            <a:avLst/>
          </a:prstGeom>
          <a:noFill/>
          <a:ln/>
        </p:spPr>
        <p:txBody>
          <a:bodyPr wrap="square" lIns="0" tIns="0" rIns="0" bIns="0" rtlCol="0" anchor="ctr"/>
          <a:lstStyle/>
          <a:p>
            <a:pPr marL="0" indent="0">
              <a:lnSpc>
                <a:spcPts val="1200"/>
              </a:lnSpc>
              <a:buNone/>
            </a:pPr>
            <a:r>
              <a:rPr lang="en-US" sz="950" dirty="0">
                <a:solidFill>
                  <a:srgbClr val="3D3E40"/>
                </a:solidFill>
                <a:latin typeface="Calibri" pitchFamily="34" charset="0"/>
                <a:ea typeface="Calibri" pitchFamily="34" charset="-122"/>
                <a:cs typeface="Calibri" pitchFamily="34" charset="-120"/>
              </a:rPr>
              <a:t>Azure AI Speech translation recognition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DEMONSTRATION — SCENARIO 2</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A Bilingual Record of the Hearing</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338328" y="1069848"/>
            <a:ext cx="5504688" cy="3483864"/>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pic>
        <p:nvPicPr>
          <p:cNvPr id="7" name="Image 0" descr="A Bilingual Record of the Hearing. Seven turns of a rehearsed appeal hearing, interpreted in both directions and spoken aloud as they are produced. Each turn is captured with the original and the translation, building an auditable bilingual transcript as it goes. The transcript is saved to disk at the end of the session."/>
          <p:cNvPicPr>
            <a:picLocks noChangeAspect="1"/>
          </p:cNvPicPr>
          <p:nvPr/>
        </p:nvPicPr>
        <p:blipFill>
          <a:blip r:embed="rId3"/>
          <a:stretch>
            <a:fillRect/>
          </a:stretch>
        </p:blipFill>
        <p:spPr>
          <a:xfrm>
            <a:off x="393192" y="1124712"/>
            <a:ext cx="5394960" cy="3374136"/>
          </a:xfrm>
          <a:prstGeom prst="rect">
            <a:avLst/>
          </a:prstGeom>
        </p:spPr>
      </p:pic>
      <p:sp>
        <p:nvSpPr>
          <p:cNvPr id="8" name="Shape 5"/>
          <p:cNvSpPr/>
          <p:nvPr/>
        </p:nvSpPr>
        <p:spPr>
          <a:xfrm>
            <a:off x="6035040" y="1069848"/>
            <a:ext cx="2743200" cy="1810512"/>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9" name="Shape 6"/>
          <p:cNvSpPr/>
          <p:nvPr/>
        </p:nvSpPr>
        <p:spPr>
          <a:xfrm>
            <a:off x="6035040" y="1069848"/>
            <a:ext cx="64008" cy="1810512"/>
          </a:xfrm>
          <a:prstGeom prst="rect">
            <a:avLst/>
          </a:prstGeom>
          <a:solidFill>
            <a:srgbClr val="1B365D"/>
          </a:solidFill>
          <a:ln/>
        </p:spPr>
      </p:sp>
      <p:sp>
        <p:nvSpPr>
          <p:cNvPr id="10" name="Text 7"/>
          <p:cNvSpPr/>
          <p:nvPr/>
        </p:nvSpPr>
        <p:spPr>
          <a:xfrm>
            <a:off x="6236208" y="1188720"/>
            <a:ext cx="2377440" cy="201168"/>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WHAT IS HAPPENING</a:t>
            </a:r>
            <a:endParaRPr lang="en-US" sz="850" dirty="0"/>
          </a:p>
        </p:txBody>
      </p:sp>
      <p:sp>
        <p:nvSpPr>
          <p:cNvPr id="11" name="Text 8"/>
          <p:cNvSpPr/>
          <p:nvPr/>
        </p:nvSpPr>
        <p:spPr>
          <a:xfrm>
            <a:off x="6236208" y="1389888"/>
            <a:ext cx="2395728" cy="1426464"/>
          </a:xfrm>
          <a:prstGeom prst="rect">
            <a:avLst/>
          </a:prstGeom>
          <a:noFill/>
          <a:ln/>
        </p:spPr>
        <p:txBody>
          <a:bodyPr wrap="square" lIns="0" tIns="0" rIns="0" bIns="0" rtlCol="0" anchor="t"/>
          <a:lstStyle/>
          <a:p>
            <a:pPr marL="0" indent="0">
              <a:lnSpc>
                <a:spcPts val="1250"/>
              </a:lnSpc>
              <a:spcAft>
                <a:spcPts val="800"/>
              </a:spcAft>
              <a:buNone/>
            </a:pPr>
            <a:r>
              <a:rPr lang="en-US" sz="950" dirty="0">
                <a:solidFill>
                  <a:srgbClr val="3D3E40"/>
                </a:solidFill>
                <a:latin typeface="Calibri" pitchFamily="34" charset="0"/>
                <a:ea typeface="Calibri" pitchFamily="34" charset="-122"/>
                <a:cs typeface="Calibri" pitchFamily="34" charset="-120"/>
              </a:rPr>
              <a:t>Seven turns of a rehearsed appeal hearing, interpreted in both directions and spoken aloud as they are produced. Each turn is captured with the original and the translation, building an auditable bilingual transcript as it goes.</a:t>
            </a:r>
            <a:endParaRPr lang="en-US" sz="950" dirty="0"/>
          </a:p>
          <a:p>
            <a:pPr marL="0" indent="0">
              <a:lnSpc>
                <a:spcPts val="1250"/>
              </a:lnSpc>
              <a:buNone/>
            </a:pPr>
            <a:r>
              <a:rPr lang="en-US" sz="950" b="1" dirty="0">
                <a:solidFill>
                  <a:srgbClr val="1B365D"/>
                </a:solidFill>
                <a:latin typeface="Calibri" pitchFamily="34" charset="0"/>
                <a:ea typeface="Calibri" pitchFamily="34" charset="-122"/>
                <a:cs typeface="Calibri" pitchFamily="34" charset="-120"/>
              </a:rPr>
              <a:t>The transcript is saved to disk at the end of the session.</a:t>
            </a:r>
            <a:endParaRPr lang="en-US" sz="950" dirty="0"/>
          </a:p>
        </p:txBody>
      </p:sp>
      <p:sp>
        <p:nvSpPr>
          <p:cNvPr id="12" name="Shape 9"/>
          <p:cNvSpPr/>
          <p:nvPr/>
        </p:nvSpPr>
        <p:spPr>
          <a:xfrm>
            <a:off x="6035040" y="2980944"/>
            <a:ext cx="2743200" cy="74980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3" name="Shape 10"/>
          <p:cNvSpPr/>
          <p:nvPr/>
        </p:nvSpPr>
        <p:spPr>
          <a:xfrm>
            <a:off x="6035040" y="2980944"/>
            <a:ext cx="64008" cy="749808"/>
          </a:xfrm>
          <a:prstGeom prst="rect">
            <a:avLst/>
          </a:prstGeom>
          <a:solidFill>
            <a:srgbClr val="A7190C"/>
          </a:solidFill>
          <a:ln/>
        </p:spPr>
      </p:sp>
      <p:sp>
        <p:nvSpPr>
          <p:cNvPr id="14" name="Text 11"/>
          <p:cNvSpPr/>
          <p:nvPr/>
        </p:nvSpPr>
        <p:spPr>
          <a:xfrm>
            <a:off x="6236208" y="3081528"/>
            <a:ext cx="2377440" cy="182880"/>
          </a:xfrm>
          <a:prstGeom prst="rect">
            <a:avLst/>
          </a:prstGeom>
          <a:noFill/>
          <a:ln/>
        </p:spPr>
        <p:txBody>
          <a:bodyPr wrap="square" lIns="0" tIns="0" rIns="0" bIns="0" rtlCol="0" anchor="ctr"/>
          <a:lstStyle/>
          <a:p>
            <a:pPr marL="0" indent="0">
              <a:buNone/>
            </a:pPr>
            <a:r>
              <a:rPr lang="en-US" sz="850" b="1" kern="0" spc="120" dirty="0">
                <a:solidFill>
                  <a:srgbClr val="A7190C"/>
                </a:solidFill>
                <a:latin typeface="Calibri" pitchFamily="34" charset="0"/>
                <a:ea typeface="Calibri" pitchFamily="34" charset="-122"/>
                <a:cs typeface="Calibri" pitchFamily="34" charset="-120"/>
              </a:rPr>
              <a:t>CUSTOMER ASK</a:t>
            </a:r>
            <a:endParaRPr lang="en-US" sz="850" dirty="0"/>
          </a:p>
        </p:txBody>
      </p:sp>
      <p:sp>
        <p:nvSpPr>
          <p:cNvPr id="15" name="Text 12"/>
          <p:cNvSpPr/>
          <p:nvPr/>
        </p:nvSpPr>
        <p:spPr>
          <a:xfrm>
            <a:off x="6236208" y="3264408"/>
            <a:ext cx="2395728" cy="420624"/>
          </a:xfrm>
          <a:prstGeom prst="rect">
            <a:avLst/>
          </a:prstGeom>
          <a:noFill/>
          <a:ln/>
        </p:spPr>
        <p:txBody>
          <a:bodyPr wrap="square" lIns="0" tIns="0" rIns="0" bIns="0" rtlCol="0" anchor="ctr"/>
          <a:lstStyle/>
          <a:p>
            <a:pPr marL="0" indent="0">
              <a:lnSpc>
                <a:spcPts val="1250"/>
              </a:lnSpc>
              <a:buNone/>
            </a:pPr>
            <a:r>
              <a:rPr lang="en-US" sz="1000" b="1" dirty="0">
                <a:solidFill>
                  <a:srgbClr val="1B365D"/>
                </a:solidFill>
                <a:latin typeface="Calibri" pitchFamily="34" charset="0"/>
                <a:ea typeface="Calibri" pitchFamily="34" charset="-122"/>
                <a:cs typeface="Calibri" pitchFamily="34" charset="-120"/>
              </a:rPr>
              <a:t>Two-way interpretation plus a written record</a:t>
            </a:r>
            <a:endParaRPr lang="en-US" sz="1000" dirty="0"/>
          </a:p>
        </p:txBody>
      </p:sp>
      <p:sp>
        <p:nvSpPr>
          <p:cNvPr id="16" name="Shape 13"/>
          <p:cNvSpPr/>
          <p:nvPr/>
        </p:nvSpPr>
        <p:spPr>
          <a:xfrm>
            <a:off x="6035040" y="3831336"/>
            <a:ext cx="2743200" cy="722376"/>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7" name="Shape 14"/>
          <p:cNvSpPr/>
          <p:nvPr/>
        </p:nvSpPr>
        <p:spPr>
          <a:xfrm>
            <a:off x="6035040" y="3831336"/>
            <a:ext cx="64008" cy="722376"/>
          </a:xfrm>
          <a:prstGeom prst="rect">
            <a:avLst/>
          </a:prstGeom>
          <a:solidFill>
            <a:srgbClr val="174A7C"/>
          </a:solidFill>
          <a:ln/>
        </p:spPr>
      </p:sp>
      <p:sp>
        <p:nvSpPr>
          <p:cNvPr id="18" name="Text 15"/>
          <p:cNvSpPr/>
          <p:nvPr/>
        </p:nvSpPr>
        <p:spPr>
          <a:xfrm>
            <a:off x="6236208" y="3922776"/>
            <a:ext cx="2377440" cy="182880"/>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AZURE TECHNOLOGY</a:t>
            </a:r>
            <a:endParaRPr lang="en-US" sz="850" dirty="0"/>
          </a:p>
        </p:txBody>
      </p:sp>
      <p:sp>
        <p:nvSpPr>
          <p:cNvPr id="19" name="Text 16"/>
          <p:cNvSpPr/>
          <p:nvPr/>
        </p:nvSpPr>
        <p:spPr>
          <a:xfrm>
            <a:off x="6236208" y="4105656"/>
            <a:ext cx="2395728" cy="402336"/>
          </a:xfrm>
          <a:prstGeom prst="rect">
            <a:avLst/>
          </a:prstGeom>
          <a:noFill/>
          <a:ln/>
        </p:spPr>
        <p:txBody>
          <a:bodyPr wrap="square" lIns="0" tIns="0" rIns="0" bIns="0" rtlCol="0" anchor="ctr"/>
          <a:lstStyle/>
          <a:p>
            <a:pPr marL="0" indent="0">
              <a:lnSpc>
                <a:spcPts val="1200"/>
              </a:lnSpc>
              <a:buNone/>
            </a:pPr>
            <a:r>
              <a:rPr lang="en-US" sz="950" dirty="0">
                <a:solidFill>
                  <a:srgbClr val="3D3E40"/>
                </a:solidFill>
                <a:latin typeface="Calibri" pitchFamily="34" charset="0"/>
                <a:ea typeface="Calibri" pitchFamily="34" charset="-122"/>
                <a:cs typeface="Calibri" pitchFamily="34" charset="-120"/>
              </a:rPr>
              <a:t>Azure AI Speech translation and synthesis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DEMONSTRATION — SCENARIO 3</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A Translated Transcript of a Call</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338328" y="1069848"/>
            <a:ext cx="5504688" cy="3483864"/>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pic>
        <p:nvPicPr>
          <p:cNvPr id="7" name="Image 0" descr="A Translated Transcript of a Call. A 42.4 second recorded member service call in English is transcribed with timecodes and translated in the same pass into Spanish and Arabic, shown side by side. No bilingual reviewer is needed to work the call."/>
          <p:cNvPicPr>
            <a:picLocks noChangeAspect="1"/>
          </p:cNvPicPr>
          <p:nvPr/>
        </p:nvPicPr>
        <p:blipFill>
          <a:blip r:embed="rId3"/>
          <a:stretch>
            <a:fillRect/>
          </a:stretch>
        </p:blipFill>
        <p:spPr>
          <a:xfrm>
            <a:off x="393192" y="1124712"/>
            <a:ext cx="5394960" cy="3374136"/>
          </a:xfrm>
          <a:prstGeom prst="rect">
            <a:avLst/>
          </a:prstGeom>
        </p:spPr>
      </p:pic>
      <p:sp>
        <p:nvSpPr>
          <p:cNvPr id="8" name="Shape 5"/>
          <p:cNvSpPr/>
          <p:nvPr/>
        </p:nvSpPr>
        <p:spPr>
          <a:xfrm>
            <a:off x="6035040" y="1069848"/>
            <a:ext cx="2743200" cy="1810512"/>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9" name="Shape 6"/>
          <p:cNvSpPr/>
          <p:nvPr/>
        </p:nvSpPr>
        <p:spPr>
          <a:xfrm>
            <a:off x="6035040" y="1069848"/>
            <a:ext cx="64008" cy="1810512"/>
          </a:xfrm>
          <a:prstGeom prst="rect">
            <a:avLst/>
          </a:prstGeom>
          <a:solidFill>
            <a:srgbClr val="1B365D"/>
          </a:solidFill>
          <a:ln/>
        </p:spPr>
      </p:sp>
      <p:sp>
        <p:nvSpPr>
          <p:cNvPr id="10" name="Text 7"/>
          <p:cNvSpPr/>
          <p:nvPr/>
        </p:nvSpPr>
        <p:spPr>
          <a:xfrm>
            <a:off x="6236208" y="1188720"/>
            <a:ext cx="2377440" cy="201168"/>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WHAT IS HAPPENING</a:t>
            </a:r>
            <a:endParaRPr lang="en-US" sz="850" dirty="0"/>
          </a:p>
        </p:txBody>
      </p:sp>
      <p:sp>
        <p:nvSpPr>
          <p:cNvPr id="11" name="Text 8"/>
          <p:cNvSpPr/>
          <p:nvPr/>
        </p:nvSpPr>
        <p:spPr>
          <a:xfrm>
            <a:off x="6236208" y="1389888"/>
            <a:ext cx="2395728" cy="1426464"/>
          </a:xfrm>
          <a:prstGeom prst="rect">
            <a:avLst/>
          </a:prstGeom>
          <a:noFill/>
          <a:ln/>
        </p:spPr>
        <p:txBody>
          <a:bodyPr wrap="square" lIns="0" tIns="0" rIns="0" bIns="0" rtlCol="0" anchor="t"/>
          <a:lstStyle/>
          <a:p>
            <a:pPr marL="0" indent="0">
              <a:lnSpc>
                <a:spcPts val="1250"/>
              </a:lnSpc>
              <a:spcAft>
                <a:spcPts val="800"/>
              </a:spcAft>
              <a:buNone/>
            </a:pPr>
            <a:r>
              <a:rPr lang="en-US" sz="950" dirty="0">
                <a:solidFill>
                  <a:srgbClr val="3D3E40"/>
                </a:solidFill>
                <a:latin typeface="Calibri" pitchFamily="34" charset="0"/>
                <a:ea typeface="Calibri" pitchFamily="34" charset="-122"/>
                <a:cs typeface="Calibri" pitchFamily="34" charset="-120"/>
              </a:rPr>
              <a:t>A 42.4 second recorded member service call in English is transcribed with timecodes and translated in the same pass into Spanish and Arabic, shown side by side.</a:t>
            </a:r>
            <a:endParaRPr lang="en-US" sz="950" dirty="0"/>
          </a:p>
          <a:p>
            <a:pPr marL="0" indent="0">
              <a:lnSpc>
                <a:spcPts val="1250"/>
              </a:lnSpc>
              <a:buNone/>
            </a:pPr>
            <a:r>
              <a:rPr lang="en-US" sz="950" b="1" dirty="0">
                <a:solidFill>
                  <a:srgbClr val="1B365D"/>
                </a:solidFill>
                <a:latin typeface="Calibri" pitchFamily="34" charset="0"/>
                <a:ea typeface="Calibri" pitchFamily="34" charset="-122"/>
                <a:cs typeface="Calibri" pitchFamily="34" charset="-120"/>
              </a:rPr>
              <a:t>No bilingual reviewer is needed to work the call.</a:t>
            </a:r>
            <a:endParaRPr lang="en-US" sz="950" dirty="0"/>
          </a:p>
        </p:txBody>
      </p:sp>
      <p:sp>
        <p:nvSpPr>
          <p:cNvPr id="12" name="Shape 9"/>
          <p:cNvSpPr/>
          <p:nvPr/>
        </p:nvSpPr>
        <p:spPr>
          <a:xfrm>
            <a:off x="6035040" y="2980944"/>
            <a:ext cx="2743200" cy="74980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3" name="Shape 10"/>
          <p:cNvSpPr/>
          <p:nvPr/>
        </p:nvSpPr>
        <p:spPr>
          <a:xfrm>
            <a:off x="6035040" y="2980944"/>
            <a:ext cx="64008" cy="749808"/>
          </a:xfrm>
          <a:prstGeom prst="rect">
            <a:avLst/>
          </a:prstGeom>
          <a:solidFill>
            <a:srgbClr val="A7190C"/>
          </a:solidFill>
          <a:ln/>
        </p:spPr>
      </p:sp>
      <p:sp>
        <p:nvSpPr>
          <p:cNvPr id="14" name="Text 11"/>
          <p:cNvSpPr/>
          <p:nvPr/>
        </p:nvSpPr>
        <p:spPr>
          <a:xfrm>
            <a:off x="6236208" y="3081528"/>
            <a:ext cx="2377440" cy="182880"/>
          </a:xfrm>
          <a:prstGeom prst="rect">
            <a:avLst/>
          </a:prstGeom>
          <a:noFill/>
          <a:ln/>
        </p:spPr>
        <p:txBody>
          <a:bodyPr wrap="square" lIns="0" tIns="0" rIns="0" bIns="0" rtlCol="0" anchor="ctr"/>
          <a:lstStyle/>
          <a:p>
            <a:pPr marL="0" indent="0">
              <a:buNone/>
            </a:pPr>
            <a:r>
              <a:rPr lang="en-US" sz="850" b="1" kern="0" spc="120" dirty="0">
                <a:solidFill>
                  <a:srgbClr val="A7190C"/>
                </a:solidFill>
                <a:latin typeface="Calibri" pitchFamily="34" charset="0"/>
                <a:ea typeface="Calibri" pitchFamily="34" charset="-122"/>
                <a:cs typeface="Calibri" pitchFamily="34" charset="-120"/>
              </a:rPr>
              <a:t>CUSTOMER ASK</a:t>
            </a:r>
            <a:endParaRPr lang="en-US" sz="850" dirty="0"/>
          </a:p>
        </p:txBody>
      </p:sp>
      <p:sp>
        <p:nvSpPr>
          <p:cNvPr id="15" name="Text 12"/>
          <p:cNvSpPr/>
          <p:nvPr/>
        </p:nvSpPr>
        <p:spPr>
          <a:xfrm>
            <a:off x="6236208" y="3264408"/>
            <a:ext cx="2395728" cy="420624"/>
          </a:xfrm>
          <a:prstGeom prst="rect">
            <a:avLst/>
          </a:prstGeom>
          <a:noFill/>
          <a:ln/>
        </p:spPr>
        <p:txBody>
          <a:bodyPr wrap="square" lIns="0" tIns="0" rIns="0" bIns="0" rtlCol="0" anchor="ctr"/>
          <a:lstStyle/>
          <a:p>
            <a:pPr marL="0" indent="0">
              <a:lnSpc>
                <a:spcPts val="1250"/>
              </a:lnSpc>
              <a:buNone/>
            </a:pPr>
            <a:r>
              <a:rPr lang="en-US" sz="1000" b="1" dirty="0">
                <a:solidFill>
                  <a:srgbClr val="1B365D"/>
                </a:solidFill>
                <a:latin typeface="Calibri" pitchFamily="34" charset="0"/>
                <a:ea typeface="Calibri" pitchFamily="34" charset="-122"/>
                <a:cs typeface="Calibri" pitchFamily="34" charset="-120"/>
              </a:rPr>
              <a:t>Transcribe a call and produce a translated transcript</a:t>
            </a:r>
            <a:endParaRPr lang="en-US" sz="1000" dirty="0"/>
          </a:p>
        </p:txBody>
      </p:sp>
      <p:sp>
        <p:nvSpPr>
          <p:cNvPr id="16" name="Shape 13"/>
          <p:cNvSpPr/>
          <p:nvPr/>
        </p:nvSpPr>
        <p:spPr>
          <a:xfrm>
            <a:off x="6035040" y="3831336"/>
            <a:ext cx="2743200" cy="722376"/>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7" name="Shape 14"/>
          <p:cNvSpPr/>
          <p:nvPr/>
        </p:nvSpPr>
        <p:spPr>
          <a:xfrm>
            <a:off x="6035040" y="3831336"/>
            <a:ext cx="64008" cy="722376"/>
          </a:xfrm>
          <a:prstGeom prst="rect">
            <a:avLst/>
          </a:prstGeom>
          <a:solidFill>
            <a:srgbClr val="174A7C"/>
          </a:solidFill>
          <a:ln/>
        </p:spPr>
      </p:sp>
      <p:sp>
        <p:nvSpPr>
          <p:cNvPr id="18" name="Text 15"/>
          <p:cNvSpPr/>
          <p:nvPr/>
        </p:nvSpPr>
        <p:spPr>
          <a:xfrm>
            <a:off x="6236208" y="3922776"/>
            <a:ext cx="2377440" cy="182880"/>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AZURE TECHNOLOGY</a:t>
            </a:r>
            <a:endParaRPr lang="en-US" sz="850" dirty="0"/>
          </a:p>
        </p:txBody>
      </p:sp>
      <p:sp>
        <p:nvSpPr>
          <p:cNvPr id="19" name="Text 16"/>
          <p:cNvSpPr/>
          <p:nvPr/>
        </p:nvSpPr>
        <p:spPr>
          <a:xfrm>
            <a:off x="6236208" y="4105656"/>
            <a:ext cx="2395728" cy="402336"/>
          </a:xfrm>
          <a:prstGeom prst="rect">
            <a:avLst/>
          </a:prstGeom>
          <a:noFill/>
          <a:ln/>
        </p:spPr>
        <p:txBody>
          <a:bodyPr wrap="square" lIns="0" tIns="0" rIns="0" bIns="0" rtlCol="0" anchor="ctr"/>
          <a:lstStyle/>
          <a:p>
            <a:pPr marL="0" indent="0">
              <a:lnSpc>
                <a:spcPts val="1200"/>
              </a:lnSpc>
              <a:buNone/>
            </a:pPr>
            <a:r>
              <a:rPr lang="en-US" sz="950" dirty="0">
                <a:solidFill>
                  <a:srgbClr val="3D3E40"/>
                </a:solidFill>
                <a:latin typeface="Calibri" pitchFamily="34" charset="0"/>
                <a:ea typeface="Calibri" pitchFamily="34" charset="-122"/>
                <a:cs typeface="Calibri" pitchFamily="34" charset="-120"/>
              </a:rPr>
              <a:t>Azure AI Speech transcription and translation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DEMONSTRATION — SCENARIO 3</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Inserting a Spoken Notice</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338328" y="1069848"/>
            <a:ext cx="5504688" cy="3483864"/>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pic>
        <p:nvPicPr>
          <p:cNvPr id="7" name="Image 0" descr="Inserting a Spoken Notice. The English notice text is synthesised into 19.9 seconds of natural speech and spliced into the call at 00:20, ending at 00:40. The 42.4 second recording becomes 63.1 seconds. The splice is local, byte for byte. Nothing is uploaded."/>
          <p:cNvPicPr>
            <a:picLocks noChangeAspect="1"/>
          </p:cNvPicPr>
          <p:nvPr/>
        </p:nvPicPr>
        <p:blipFill>
          <a:blip r:embed="rId3"/>
          <a:stretch>
            <a:fillRect/>
          </a:stretch>
        </p:blipFill>
        <p:spPr>
          <a:xfrm>
            <a:off x="393192" y="1124712"/>
            <a:ext cx="5394960" cy="3374136"/>
          </a:xfrm>
          <a:prstGeom prst="rect">
            <a:avLst/>
          </a:prstGeom>
        </p:spPr>
      </p:pic>
      <p:sp>
        <p:nvSpPr>
          <p:cNvPr id="8" name="Shape 5"/>
          <p:cNvSpPr/>
          <p:nvPr/>
        </p:nvSpPr>
        <p:spPr>
          <a:xfrm>
            <a:off x="6035040" y="1069848"/>
            <a:ext cx="2743200" cy="1810512"/>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9" name="Shape 6"/>
          <p:cNvSpPr/>
          <p:nvPr/>
        </p:nvSpPr>
        <p:spPr>
          <a:xfrm>
            <a:off x="6035040" y="1069848"/>
            <a:ext cx="64008" cy="1810512"/>
          </a:xfrm>
          <a:prstGeom prst="rect">
            <a:avLst/>
          </a:prstGeom>
          <a:solidFill>
            <a:srgbClr val="1B365D"/>
          </a:solidFill>
          <a:ln/>
        </p:spPr>
      </p:sp>
      <p:sp>
        <p:nvSpPr>
          <p:cNvPr id="10" name="Text 7"/>
          <p:cNvSpPr/>
          <p:nvPr/>
        </p:nvSpPr>
        <p:spPr>
          <a:xfrm>
            <a:off x="6236208" y="1188720"/>
            <a:ext cx="2377440" cy="201168"/>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WHAT IS HAPPENING</a:t>
            </a:r>
            <a:endParaRPr lang="en-US" sz="850" dirty="0"/>
          </a:p>
        </p:txBody>
      </p:sp>
      <p:sp>
        <p:nvSpPr>
          <p:cNvPr id="11" name="Text 8"/>
          <p:cNvSpPr/>
          <p:nvPr/>
        </p:nvSpPr>
        <p:spPr>
          <a:xfrm>
            <a:off x="6236208" y="1389888"/>
            <a:ext cx="2395728" cy="1426464"/>
          </a:xfrm>
          <a:prstGeom prst="rect">
            <a:avLst/>
          </a:prstGeom>
          <a:noFill/>
          <a:ln/>
        </p:spPr>
        <p:txBody>
          <a:bodyPr wrap="square" lIns="0" tIns="0" rIns="0" bIns="0" rtlCol="0" anchor="t"/>
          <a:lstStyle/>
          <a:p>
            <a:pPr marL="0" indent="0">
              <a:lnSpc>
                <a:spcPts val="1250"/>
              </a:lnSpc>
              <a:spcAft>
                <a:spcPts val="800"/>
              </a:spcAft>
              <a:buNone/>
            </a:pPr>
            <a:r>
              <a:rPr lang="en-US" sz="950" dirty="0">
                <a:solidFill>
                  <a:srgbClr val="3D3E40"/>
                </a:solidFill>
                <a:latin typeface="Calibri" pitchFamily="34" charset="0"/>
                <a:ea typeface="Calibri" pitchFamily="34" charset="-122"/>
                <a:cs typeface="Calibri" pitchFamily="34" charset="-120"/>
              </a:rPr>
              <a:t>The English notice text is synthesised into 19.9 seconds of natural speech and spliced into the call at 00:20, ending at 00:40. The 42.4 second recording becomes 63.1 seconds.</a:t>
            </a:r>
            <a:endParaRPr lang="en-US" sz="950" dirty="0"/>
          </a:p>
          <a:p>
            <a:pPr marL="0" indent="0">
              <a:lnSpc>
                <a:spcPts val="1250"/>
              </a:lnSpc>
              <a:buNone/>
            </a:pPr>
            <a:r>
              <a:rPr lang="en-US" sz="950" b="1" dirty="0">
                <a:solidFill>
                  <a:srgbClr val="1B365D"/>
                </a:solidFill>
                <a:latin typeface="Calibri" pitchFamily="34" charset="0"/>
                <a:ea typeface="Calibri" pitchFamily="34" charset="-122"/>
                <a:cs typeface="Calibri" pitchFamily="34" charset="-120"/>
              </a:rPr>
              <a:t>The splice is local, byte for byte. Nothing is uploaded.</a:t>
            </a:r>
            <a:endParaRPr lang="en-US" sz="950" dirty="0"/>
          </a:p>
        </p:txBody>
      </p:sp>
      <p:sp>
        <p:nvSpPr>
          <p:cNvPr id="12" name="Shape 9"/>
          <p:cNvSpPr/>
          <p:nvPr/>
        </p:nvSpPr>
        <p:spPr>
          <a:xfrm>
            <a:off x="6035040" y="2980944"/>
            <a:ext cx="2743200" cy="74980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3" name="Shape 10"/>
          <p:cNvSpPr/>
          <p:nvPr/>
        </p:nvSpPr>
        <p:spPr>
          <a:xfrm>
            <a:off x="6035040" y="2980944"/>
            <a:ext cx="64008" cy="749808"/>
          </a:xfrm>
          <a:prstGeom prst="rect">
            <a:avLst/>
          </a:prstGeom>
          <a:solidFill>
            <a:srgbClr val="A7190C"/>
          </a:solidFill>
          <a:ln/>
        </p:spPr>
      </p:sp>
      <p:sp>
        <p:nvSpPr>
          <p:cNvPr id="14" name="Text 11"/>
          <p:cNvSpPr/>
          <p:nvPr/>
        </p:nvSpPr>
        <p:spPr>
          <a:xfrm>
            <a:off x="6236208" y="3081528"/>
            <a:ext cx="2377440" cy="182880"/>
          </a:xfrm>
          <a:prstGeom prst="rect">
            <a:avLst/>
          </a:prstGeom>
          <a:noFill/>
          <a:ln/>
        </p:spPr>
        <p:txBody>
          <a:bodyPr wrap="square" lIns="0" tIns="0" rIns="0" bIns="0" rtlCol="0" anchor="ctr"/>
          <a:lstStyle/>
          <a:p>
            <a:pPr marL="0" indent="0">
              <a:buNone/>
            </a:pPr>
            <a:r>
              <a:rPr lang="en-US" sz="850" b="1" kern="0" spc="120" dirty="0">
                <a:solidFill>
                  <a:srgbClr val="A7190C"/>
                </a:solidFill>
                <a:latin typeface="Calibri" pitchFamily="34" charset="0"/>
                <a:ea typeface="Calibri" pitchFamily="34" charset="-122"/>
                <a:cs typeface="Calibri" pitchFamily="34" charset="-120"/>
              </a:rPr>
              <a:t>CUSTOMER ASK</a:t>
            </a:r>
            <a:endParaRPr lang="en-US" sz="850" dirty="0"/>
          </a:p>
        </p:txBody>
      </p:sp>
      <p:sp>
        <p:nvSpPr>
          <p:cNvPr id="15" name="Text 12"/>
          <p:cNvSpPr/>
          <p:nvPr/>
        </p:nvSpPr>
        <p:spPr>
          <a:xfrm>
            <a:off x="6236208" y="3264408"/>
            <a:ext cx="2395728" cy="420624"/>
          </a:xfrm>
          <a:prstGeom prst="rect">
            <a:avLst/>
          </a:prstGeom>
          <a:noFill/>
          <a:ln/>
        </p:spPr>
        <p:txBody>
          <a:bodyPr wrap="square" lIns="0" tIns="0" rIns="0" bIns="0" rtlCol="0" anchor="ctr"/>
          <a:lstStyle/>
          <a:p>
            <a:pPr marL="0" indent="0">
              <a:lnSpc>
                <a:spcPts val="1250"/>
              </a:lnSpc>
              <a:buNone/>
            </a:pPr>
            <a:r>
              <a:rPr lang="en-US" sz="1000" b="1" dirty="0">
                <a:solidFill>
                  <a:srgbClr val="1B365D"/>
                </a:solidFill>
                <a:latin typeface="Calibri" pitchFamily="34" charset="0"/>
                <a:ea typeface="Calibri" pitchFamily="34" charset="-122"/>
                <a:cs typeface="Calibri" pitchFamily="34" charset="-120"/>
              </a:rPr>
              <a:t>A notice (English) placed into an English audio recording</a:t>
            </a:r>
            <a:endParaRPr lang="en-US" sz="1000" dirty="0"/>
          </a:p>
        </p:txBody>
      </p:sp>
      <p:sp>
        <p:nvSpPr>
          <p:cNvPr id="16" name="Shape 13"/>
          <p:cNvSpPr/>
          <p:nvPr/>
        </p:nvSpPr>
        <p:spPr>
          <a:xfrm>
            <a:off x="6035040" y="3831336"/>
            <a:ext cx="2743200" cy="722376"/>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7" name="Shape 14"/>
          <p:cNvSpPr/>
          <p:nvPr/>
        </p:nvSpPr>
        <p:spPr>
          <a:xfrm>
            <a:off x="6035040" y="3831336"/>
            <a:ext cx="64008" cy="722376"/>
          </a:xfrm>
          <a:prstGeom prst="rect">
            <a:avLst/>
          </a:prstGeom>
          <a:solidFill>
            <a:srgbClr val="174A7C"/>
          </a:solidFill>
          <a:ln/>
        </p:spPr>
      </p:sp>
      <p:sp>
        <p:nvSpPr>
          <p:cNvPr id="18" name="Text 15"/>
          <p:cNvSpPr/>
          <p:nvPr/>
        </p:nvSpPr>
        <p:spPr>
          <a:xfrm>
            <a:off x="6236208" y="3922776"/>
            <a:ext cx="2377440" cy="182880"/>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AZURE TECHNOLOGY</a:t>
            </a:r>
            <a:endParaRPr lang="en-US" sz="850" dirty="0"/>
          </a:p>
        </p:txBody>
      </p:sp>
      <p:sp>
        <p:nvSpPr>
          <p:cNvPr id="19" name="Text 16"/>
          <p:cNvSpPr/>
          <p:nvPr/>
        </p:nvSpPr>
        <p:spPr>
          <a:xfrm>
            <a:off x="6236208" y="4105656"/>
            <a:ext cx="2395728" cy="402336"/>
          </a:xfrm>
          <a:prstGeom prst="rect">
            <a:avLst/>
          </a:prstGeom>
          <a:noFill/>
          <a:ln/>
        </p:spPr>
        <p:txBody>
          <a:bodyPr wrap="square" lIns="0" tIns="0" rIns="0" bIns="0" rtlCol="0" anchor="ctr"/>
          <a:lstStyle/>
          <a:p>
            <a:pPr marL="0" indent="0">
              <a:lnSpc>
                <a:spcPts val="1200"/>
              </a:lnSpc>
              <a:buNone/>
            </a:pPr>
            <a:r>
              <a:rPr lang="en-US" sz="950" dirty="0">
                <a:solidFill>
                  <a:srgbClr val="3D3E40"/>
                </a:solidFill>
                <a:latin typeface="Calibri" pitchFamily="34" charset="0"/>
                <a:ea typeface="Calibri" pitchFamily="34" charset="-122"/>
                <a:cs typeface="Calibri" pitchFamily="34" charset="-120"/>
              </a:rPr>
              <a:t>Azure AI Speech synthesis, local audio splicing</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DEMONSTRATION — SCENARIO 3</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Proving the Notice Is Really There</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338328" y="1069848"/>
            <a:ext cx="5504688" cy="3483864"/>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pic>
        <p:nvPicPr>
          <p:cNvPr id="7" name="Image 0" descr="Proving the Notice Is Really There. The edited recording is sent back to Azure AI Speech and transcribed from scratch. It returns three segments, at 00:00, 00:28 and 00:58, and the inserted notice is audible in the middle of the call. The notice is in the audio, not merely in the file length."/>
          <p:cNvPicPr>
            <a:picLocks noChangeAspect="1"/>
          </p:cNvPicPr>
          <p:nvPr/>
        </p:nvPicPr>
        <p:blipFill>
          <a:blip r:embed="rId3"/>
          <a:stretch>
            <a:fillRect/>
          </a:stretch>
        </p:blipFill>
        <p:spPr>
          <a:xfrm>
            <a:off x="393192" y="1124712"/>
            <a:ext cx="5394960" cy="3374136"/>
          </a:xfrm>
          <a:prstGeom prst="rect">
            <a:avLst/>
          </a:prstGeom>
        </p:spPr>
      </p:pic>
      <p:sp>
        <p:nvSpPr>
          <p:cNvPr id="8" name="Shape 5"/>
          <p:cNvSpPr/>
          <p:nvPr/>
        </p:nvSpPr>
        <p:spPr>
          <a:xfrm>
            <a:off x="6035040" y="1069848"/>
            <a:ext cx="2743200" cy="1810512"/>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9" name="Shape 6"/>
          <p:cNvSpPr/>
          <p:nvPr/>
        </p:nvSpPr>
        <p:spPr>
          <a:xfrm>
            <a:off x="6035040" y="1069848"/>
            <a:ext cx="64008" cy="1810512"/>
          </a:xfrm>
          <a:prstGeom prst="rect">
            <a:avLst/>
          </a:prstGeom>
          <a:solidFill>
            <a:srgbClr val="1B365D"/>
          </a:solidFill>
          <a:ln/>
        </p:spPr>
      </p:sp>
      <p:sp>
        <p:nvSpPr>
          <p:cNvPr id="10" name="Text 7"/>
          <p:cNvSpPr/>
          <p:nvPr/>
        </p:nvSpPr>
        <p:spPr>
          <a:xfrm>
            <a:off x="6236208" y="1188720"/>
            <a:ext cx="2377440" cy="201168"/>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WHAT IS HAPPENING</a:t>
            </a:r>
            <a:endParaRPr lang="en-US" sz="850" dirty="0"/>
          </a:p>
        </p:txBody>
      </p:sp>
      <p:sp>
        <p:nvSpPr>
          <p:cNvPr id="11" name="Text 8"/>
          <p:cNvSpPr/>
          <p:nvPr/>
        </p:nvSpPr>
        <p:spPr>
          <a:xfrm>
            <a:off x="6236208" y="1389888"/>
            <a:ext cx="2395728" cy="1426464"/>
          </a:xfrm>
          <a:prstGeom prst="rect">
            <a:avLst/>
          </a:prstGeom>
          <a:noFill/>
          <a:ln/>
        </p:spPr>
        <p:txBody>
          <a:bodyPr wrap="square" lIns="0" tIns="0" rIns="0" bIns="0" rtlCol="0" anchor="t"/>
          <a:lstStyle/>
          <a:p>
            <a:pPr marL="0" indent="0">
              <a:lnSpc>
                <a:spcPts val="1250"/>
              </a:lnSpc>
              <a:spcAft>
                <a:spcPts val="800"/>
              </a:spcAft>
              <a:buNone/>
            </a:pPr>
            <a:r>
              <a:rPr lang="en-US" sz="950" dirty="0">
                <a:solidFill>
                  <a:srgbClr val="3D3E40"/>
                </a:solidFill>
                <a:latin typeface="Calibri" pitchFamily="34" charset="0"/>
                <a:ea typeface="Calibri" pitchFamily="34" charset="-122"/>
                <a:cs typeface="Calibri" pitchFamily="34" charset="-120"/>
              </a:rPr>
              <a:t>The edited recording is sent back to Azure AI Speech and transcribed from scratch. It returns three segments, at 00:00, 00:28 and 00:58, and the inserted notice is audible in the middle of the call.</a:t>
            </a:r>
            <a:endParaRPr lang="en-US" sz="950" dirty="0"/>
          </a:p>
          <a:p>
            <a:pPr marL="0" indent="0">
              <a:lnSpc>
                <a:spcPts val="1250"/>
              </a:lnSpc>
              <a:buNone/>
            </a:pPr>
            <a:r>
              <a:rPr lang="en-US" sz="950" b="1" dirty="0">
                <a:solidFill>
                  <a:srgbClr val="1B365D"/>
                </a:solidFill>
                <a:latin typeface="Calibri" pitchFamily="34" charset="0"/>
                <a:ea typeface="Calibri" pitchFamily="34" charset="-122"/>
                <a:cs typeface="Calibri" pitchFamily="34" charset="-120"/>
              </a:rPr>
              <a:t>The notice is in the audio, not merely in the file length.</a:t>
            </a:r>
            <a:endParaRPr lang="en-US" sz="950" dirty="0"/>
          </a:p>
        </p:txBody>
      </p:sp>
      <p:sp>
        <p:nvSpPr>
          <p:cNvPr id="12" name="Shape 9"/>
          <p:cNvSpPr/>
          <p:nvPr/>
        </p:nvSpPr>
        <p:spPr>
          <a:xfrm>
            <a:off x="6035040" y="2980944"/>
            <a:ext cx="2743200" cy="74980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3" name="Shape 10"/>
          <p:cNvSpPr/>
          <p:nvPr/>
        </p:nvSpPr>
        <p:spPr>
          <a:xfrm>
            <a:off x="6035040" y="2980944"/>
            <a:ext cx="64008" cy="749808"/>
          </a:xfrm>
          <a:prstGeom prst="rect">
            <a:avLst/>
          </a:prstGeom>
          <a:solidFill>
            <a:srgbClr val="A7190C"/>
          </a:solidFill>
          <a:ln/>
        </p:spPr>
      </p:sp>
      <p:sp>
        <p:nvSpPr>
          <p:cNvPr id="14" name="Text 11"/>
          <p:cNvSpPr/>
          <p:nvPr/>
        </p:nvSpPr>
        <p:spPr>
          <a:xfrm>
            <a:off x="6236208" y="3081528"/>
            <a:ext cx="2377440" cy="182880"/>
          </a:xfrm>
          <a:prstGeom prst="rect">
            <a:avLst/>
          </a:prstGeom>
          <a:noFill/>
          <a:ln/>
        </p:spPr>
        <p:txBody>
          <a:bodyPr wrap="square" lIns="0" tIns="0" rIns="0" bIns="0" rtlCol="0" anchor="ctr"/>
          <a:lstStyle/>
          <a:p>
            <a:pPr marL="0" indent="0">
              <a:buNone/>
            </a:pPr>
            <a:r>
              <a:rPr lang="en-US" sz="850" b="1" kern="0" spc="120" dirty="0">
                <a:solidFill>
                  <a:srgbClr val="A7190C"/>
                </a:solidFill>
                <a:latin typeface="Calibri" pitchFamily="34" charset="0"/>
                <a:ea typeface="Calibri" pitchFamily="34" charset="-122"/>
                <a:cs typeface="Calibri" pitchFamily="34" charset="-120"/>
              </a:rPr>
              <a:t>CUSTOMER ASK</a:t>
            </a:r>
            <a:endParaRPr lang="en-US" sz="850" dirty="0"/>
          </a:p>
        </p:txBody>
      </p:sp>
      <p:sp>
        <p:nvSpPr>
          <p:cNvPr id="15" name="Text 12"/>
          <p:cNvSpPr/>
          <p:nvPr/>
        </p:nvSpPr>
        <p:spPr>
          <a:xfrm>
            <a:off x="6236208" y="3264408"/>
            <a:ext cx="2395728" cy="420624"/>
          </a:xfrm>
          <a:prstGeom prst="rect">
            <a:avLst/>
          </a:prstGeom>
          <a:noFill/>
          <a:ln/>
        </p:spPr>
        <p:txBody>
          <a:bodyPr wrap="square" lIns="0" tIns="0" rIns="0" bIns="0" rtlCol="0" anchor="ctr"/>
          <a:lstStyle/>
          <a:p>
            <a:pPr marL="0" indent="0">
              <a:lnSpc>
                <a:spcPts val="1250"/>
              </a:lnSpc>
              <a:buNone/>
            </a:pPr>
            <a:r>
              <a:rPr lang="en-US" sz="1000" b="1" dirty="0">
                <a:solidFill>
                  <a:srgbClr val="1B365D"/>
                </a:solidFill>
                <a:latin typeface="Calibri" pitchFamily="34" charset="0"/>
                <a:ea typeface="Calibri" pitchFamily="34" charset="-122"/>
                <a:cs typeface="Calibri" pitchFamily="34" charset="-120"/>
              </a:rPr>
              <a:t>Verify the inserted audio is genuinely present</a:t>
            </a:r>
            <a:endParaRPr lang="en-US" sz="1000" dirty="0"/>
          </a:p>
        </p:txBody>
      </p:sp>
      <p:sp>
        <p:nvSpPr>
          <p:cNvPr id="16" name="Shape 13"/>
          <p:cNvSpPr/>
          <p:nvPr/>
        </p:nvSpPr>
        <p:spPr>
          <a:xfrm>
            <a:off x="6035040" y="3831336"/>
            <a:ext cx="2743200" cy="722376"/>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7" name="Shape 14"/>
          <p:cNvSpPr/>
          <p:nvPr/>
        </p:nvSpPr>
        <p:spPr>
          <a:xfrm>
            <a:off x="6035040" y="3831336"/>
            <a:ext cx="64008" cy="722376"/>
          </a:xfrm>
          <a:prstGeom prst="rect">
            <a:avLst/>
          </a:prstGeom>
          <a:solidFill>
            <a:srgbClr val="174A7C"/>
          </a:solidFill>
          <a:ln/>
        </p:spPr>
      </p:sp>
      <p:sp>
        <p:nvSpPr>
          <p:cNvPr id="18" name="Text 15"/>
          <p:cNvSpPr/>
          <p:nvPr/>
        </p:nvSpPr>
        <p:spPr>
          <a:xfrm>
            <a:off x="6236208" y="3922776"/>
            <a:ext cx="2377440" cy="182880"/>
          </a:xfrm>
          <a:prstGeom prst="rect">
            <a:avLst/>
          </a:prstGeom>
          <a:noFill/>
          <a:ln/>
        </p:spPr>
        <p:txBody>
          <a:bodyPr wrap="square" lIns="0" tIns="0" rIns="0" bIns="0" rtlCol="0" anchor="ctr"/>
          <a:lstStyle/>
          <a:p>
            <a:pPr marL="0" indent="0">
              <a:buNone/>
            </a:pPr>
            <a:r>
              <a:rPr lang="en-US" sz="850" b="1" kern="0" spc="120" dirty="0">
                <a:solidFill>
                  <a:srgbClr val="174A7C"/>
                </a:solidFill>
                <a:latin typeface="Calibri" pitchFamily="34" charset="0"/>
                <a:ea typeface="Calibri" pitchFamily="34" charset="-122"/>
                <a:cs typeface="Calibri" pitchFamily="34" charset="-120"/>
              </a:rPr>
              <a:t>AZURE TECHNOLOGY</a:t>
            </a:r>
            <a:endParaRPr lang="en-US" sz="850" dirty="0"/>
          </a:p>
        </p:txBody>
      </p:sp>
      <p:sp>
        <p:nvSpPr>
          <p:cNvPr id="19" name="Text 16"/>
          <p:cNvSpPr/>
          <p:nvPr/>
        </p:nvSpPr>
        <p:spPr>
          <a:xfrm>
            <a:off x="6236208" y="4105656"/>
            <a:ext cx="2395728" cy="402336"/>
          </a:xfrm>
          <a:prstGeom prst="rect">
            <a:avLst/>
          </a:prstGeom>
          <a:noFill/>
          <a:ln/>
        </p:spPr>
        <p:txBody>
          <a:bodyPr wrap="square" lIns="0" tIns="0" rIns="0" bIns="0" rtlCol="0" anchor="ctr"/>
          <a:lstStyle/>
          <a:p>
            <a:pPr marL="0" indent="0">
              <a:lnSpc>
                <a:spcPts val="1200"/>
              </a:lnSpc>
              <a:buNone/>
            </a:pPr>
            <a:r>
              <a:rPr lang="en-US" sz="950" dirty="0">
                <a:solidFill>
                  <a:srgbClr val="3D3E40"/>
                </a:solidFill>
                <a:latin typeface="Calibri" pitchFamily="34" charset="0"/>
                <a:ea typeface="Calibri" pitchFamily="34" charset="-122"/>
                <a:cs typeface="Calibri" pitchFamily="34" charset="-120"/>
              </a:rPr>
              <a:t>Azure AI Speech, re-transcribing the edited recording</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B365D"/>
          </a:solidFill>
          <a:ln/>
        </p:spPr>
      </p:sp>
      <p:sp>
        <p:nvSpPr>
          <p:cNvPr id="3" name="Text 1"/>
          <p:cNvSpPr/>
          <p:nvPr/>
        </p:nvSpPr>
        <p:spPr>
          <a:xfrm>
            <a:off x="411480" y="91440"/>
            <a:ext cx="8321040" cy="237744"/>
          </a:xfrm>
          <a:prstGeom prst="rect">
            <a:avLst/>
          </a:prstGeom>
          <a:noFill/>
          <a:ln/>
        </p:spPr>
        <p:txBody>
          <a:bodyPr wrap="square" lIns="0" tIns="0" rIns="0" bIns="0" rtlCol="0" anchor="ctr"/>
          <a:lstStyle/>
          <a:p>
            <a:pPr marL="0" indent="0">
              <a:buNone/>
            </a:pPr>
            <a:r>
              <a:rPr lang="en-US" sz="1000" b="1" kern="0" spc="200" dirty="0">
                <a:solidFill>
                  <a:srgbClr val="9FB3CE"/>
                </a:solidFill>
                <a:latin typeface="Calibri" pitchFamily="34" charset="0"/>
                <a:ea typeface="Calibri" pitchFamily="34" charset="-122"/>
                <a:cs typeface="Calibri" pitchFamily="34" charset="-120"/>
              </a:rPr>
              <a:t>EVIDENCE</a:t>
            </a:r>
            <a:endParaRPr lang="en-US" sz="1000" dirty="0"/>
          </a:p>
        </p:txBody>
      </p:sp>
      <p:sp>
        <p:nvSpPr>
          <p:cNvPr id="4" name="Text 2"/>
          <p:cNvSpPr/>
          <p:nvPr/>
        </p:nvSpPr>
        <p:spPr>
          <a:xfrm>
            <a:off x="411480" y="310896"/>
            <a:ext cx="8321040" cy="438912"/>
          </a:xfrm>
          <a:prstGeom prst="rect">
            <a:avLst/>
          </a:prstGeom>
          <a:noFill/>
          <a:ln/>
        </p:spPr>
        <p:txBody>
          <a:bodyPr wrap="square" lIns="0" tIns="0" rIns="0" bIns="0" rtlCol="0" anchor="ctr"/>
          <a:lstStyle/>
          <a:p>
            <a:pPr marL="0" indent="0">
              <a:buNone/>
            </a:pPr>
            <a:r>
              <a:rPr lang="en-US" sz="2400" b="1" dirty="0">
                <a:solidFill>
                  <a:srgbClr val="FFFFFF"/>
                </a:solidFill>
                <a:latin typeface="Example State" pitchFamily="34" charset="0"/>
                <a:ea typeface="Example State" pitchFamily="34" charset="-122"/>
                <a:cs typeface="Example State" pitchFamily="34" charset="-120"/>
              </a:rPr>
              <a:t>What This Proves</a:t>
            </a:r>
            <a:endParaRPr lang="en-US" sz="2400" dirty="0"/>
          </a:p>
        </p:txBody>
      </p:sp>
      <p:sp>
        <p:nvSpPr>
          <p:cNvPr id="5" name="Shape 3"/>
          <p:cNvSpPr/>
          <p:nvPr/>
        </p:nvSpPr>
        <p:spPr>
          <a:xfrm>
            <a:off x="0" y="841248"/>
            <a:ext cx="9144000" cy="45720"/>
          </a:xfrm>
          <a:prstGeom prst="rect">
            <a:avLst/>
          </a:prstGeom>
          <a:solidFill>
            <a:srgbClr val="A7190C"/>
          </a:solidFill>
          <a:ln/>
        </p:spPr>
      </p:sp>
      <p:sp>
        <p:nvSpPr>
          <p:cNvPr id="6" name="Shape 4"/>
          <p:cNvSpPr/>
          <p:nvPr/>
        </p:nvSpPr>
        <p:spPr>
          <a:xfrm>
            <a:off x="365760" y="1097280"/>
            <a:ext cx="2706624" cy="1371600"/>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7" name="Shape 5"/>
          <p:cNvSpPr/>
          <p:nvPr/>
        </p:nvSpPr>
        <p:spPr>
          <a:xfrm>
            <a:off x="365760" y="1097280"/>
            <a:ext cx="64008" cy="1371600"/>
          </a:xfrm>
          <a:prstGeom prst="rect">
            <a:avLst/>
          </a:prstGeom>
          <a:solidFill>
            <a:srgbClr val="1B365D"/>
          </a:solidFill>
          <a:ln/>
        </p:spPr>
      </p:sp>
      <p:sp>
        <p:nvSpPr>
          <p:cNvPr id="8" name="Text 6"/>
          <p:cNvSpPr/>
          <p:nvPr/>
        </p:nvSpPr>
        <p:spPr>
          <a:xfrm>
            <a:off x="548640" y="1234440"/>
            <a:ext cx="2377440" cy="566928"/>
          </a:xfrm>
          <a:prstGeom prst="rect">
            <a:avLst/>
          </a:prstGeom>
          <a:noFill/>
          <a:ln/>
        </p:spPr>
        <p:txBody>
          <a:bodyPr wrap="square" lIns="0" tIns="0" rIns="0" bIns="0" rtlCol="0" anchor="ctr"/>
          <a:lstStyle/>
          <a:p>
            <a:pPr marL="0" indent="0" algn="ctr">
              <a:buNone/>
            </a:pPr>
            <a:r>
              <a:rPr lang="en-US" sz="3400" b="1" dirty="0">
                <a:solidFill>
                  <a:srgbClr val="1B365D"/>
                </a:solidFill>
                <a:latin typeface="Example State" pitchFamily="34" charset="0"/>
                <a:ea typeface="Example State" pitchFamily="34" charset="-122"/>
                <a:cs typeface="Example State" pitchFamily="34" charset="-120"/>
              </a:rPr>
              <a:t>28 / 28</a:t>
            </a:r>
            <a:endParaRPr lang="en-US" sz="3400" dirty="0"/>
          </a:p>
        </p:txBody>
      </p:sp>
      <p:sp>
        <p:nvSpPr>
          <p:cNvPr id="9" name="Text 7"/>
          <p:cNvSpPr/>
          <p:nvPr/>
        </p:nvSpPr>
        <p:spPr>
          <a:xfrm>
            <a:off x="548640" y="1828800"/>
            <a:ext cx="2395728" cy="512064"/>
          </a:xfrm>
          <a:prstGeom prst="rect">
            <a:avLst/>
          </a:prstGeom>
          <a:noFill/>
          <a:ln/>
        </p:spPr>
        <p:txBody>
          <a:bodyPr wrap="square" lIns="0" tIns="0" rIns="0" bIns="0" rtlCol="0" anchor="ctr"/>
          <a:lstStyle/>
          <a:p>
            <a:pPr marL="0" indent="0" algn="ctr">
              <a:lnSpc>
                <a:spcPts val="1200"/>
              </a:lnSpc>
              <a:buNone/>
            </a:pPr>
            <a:r>
              <a:rPr lang="en-US" sz="1000" dirty="0">
                <a:solidFill>
                  <a:srgbClr val="3D3E40"/>
                </a:solidFill>
                <a:latin typeface="Calibri" pitchFamily="34" charset="0"/>
                <a:ea typeface="Calibri" pitchFamily="34" charset="-122"/>
                <a:cs typeface="Calibri" pitchFamily="34" charset="-120"/>
              </a:rPr>
              <a:t>automated tests passing</a:t>
            </a:r>
            <a:endParaRPr lang="en-US" sz="1000" dirty="0"/>
          </a:p>
          <a:p>
            <a:pPr marL="0" indent="0" algn="ctr">
              <a:lnSpc>
                <a:spcPts val="1200"/>
              </a:lnSpc>
              <a:buNone/>
            </a:pPr>
            <a:r>
              <a:rPr lang="en-US" sz="1000" dirty="0">
                <a:solidFill>
                  <a:srgbClr val="3D3E40"/>
                </a:solidFill>
                <a:latin typeface="Calibri" pitchFamily="34" charset="0"/>
                <a:ea typeface="Calibri" pitchFamily="34" charset="-122"/>
                <a:cs typeface="Calibri" pitchFamily="34" charset="-120"/>
              </a:rPr>
              <a:t>against live Azure services</a:t>
            </a:r>
            <a:endParaRPr lang="en-US" sz="1000" dirty="0"/>
          </a:p>
        </p:txBody>
      </p:sp>
      <p:sp>
        <p:nvSpPr>
          <p:cNvPr id="10" name="Shape 8"/>
          <p:cNvSpPr/>
          <p:nvPr/>
        </p:nvSpPr>
        <p:spPr>
          <a:xfrm>
            <a:off x="3218688" y="1097280"/>
            <a:ext cx="2706624" cy="1371600"/>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1" name="Shape 9"/>
          <p:cNvSpPr/>
          <p:nvPr/>
        </p:nvSpPr>
        <p:spPr>
          <a:xfrm>
            <a:off x="3218688" y="1097280"/>
            <a:ext cx="64008" cy="1371600"/>
          </a:xfrm>
          <a:prstGeom prst="rect">
            <a:avLst/>
          </a:prstGeom>
          <a:solidFill>
            <a:srgbClr val="1B365D"/>
          </a:solidFill>
          <a:ln/>
        </p:spPr>
      </p:sp>
      <p:sp>
        <p:nvSpPr>
          <p:cNvPr id="12" name="Text 10"/>
          <p:cNvSpPr/>
          <p:nvPr/>
        </p:nvSpPr>
        <p:spPr>
          <a:xfrm>
            <a:off x="3401568" y="1234440"/>
            <a:ext cx="2377440" cy="566928"/>
          </a:xfrm>
          <a:prstGeom prst="rect">
            <a:avLst/>
          </a:prstGeom>
          <a:noFill/>
          <a:ln/>
        </p:spPr>
        <p:txBody>
          <a:bodyPr wrap="square" lIns="0" tIns="0" rIns="0" bIns="0" rtlCol="0" anchor="ctr"/>
          <a:lstStyle/>
          <a:p>
            <a:pPr marL="0" indent="0" algn="ctr">
              <a:buNone/>
            </a:pPr>
            <a:r>
              <a:rPr lang="en-US" sz="3400" b="1" dirty="0">
                <a:solidFill>
                  <a:srgbClr val="1B365D"/>
                </a:solidFill>
                <a:latin typeface="Example State" pitchFamily="34" charset="0"/>
                <a:ea typeface="Example State" pitchFamily="34" charset="-122"/>
                <a:cs typeface="Example State" pitchFamily="34" charset="-120"/>
              </a:rPr>
              <a:t>3</a:t>
            </a:r>
            <a:endParaRPr lang="en-US" sz="3400" dirty="0"/>
          </a:p>
        </p:txBody>
      </p:sp>
      <p:sp>
        <p:nvSpPr>
          <p:cNvPr id="13" name="Text 11"/>
          <p:cNvSpPr/>
          <p:nvPr/>
        </p:nvSpPr>
        <p:spPr>
          <a:xfrm>
            <a:off x="3401568" y="1828800"/>
            <a:ext cx="2395728" cy="512064"/>
          </a:xfrm>
          <a:prstGeom prst="rect">
            <a:avLst/>
          </a:prstGeom>
          <a:noFill/>
          <a:ln/>
        </p:spPr>
        <p:txBody>
          <a:bodyPr wrap="square" lIns="0" tIns="0" rIns="0" bIns="0" rtlCol="0" anchor="ctr"/>
          <a:lstStyle/>
          <a:p>
            <a:pPr marL="0" indent="0" algn="ctr">
              <a:lnSpc>
                <a:spcPts val="1200"/>
              </a:lnSpc>
              <a:buNone/>
            </a:pPr>
            <a:r>
              <a:rPr lang="en-US" sz="1000" dirty="0">
                <a:solidFill>
                  <a:srgbClr val="3D3E40"/>
                </a:solidFill>
                <a:latin typeface="Calibri" pitchFamily="34" charset="0"/>
                <a:ea typeface="Calibri" pitchFamily="34" charset="-122"/>
                <a:cs typeface="Calibri" pitchFamily="34" charset="-120"/>
              </a:rPr>
              <a:t>Azure AI services,</a:t>
            </a:r>
            <a:endParaRPr lang="en-US" sz="1000" dirty="0"/>
          </a:p>
          <a:p>
            <a:pPr marL="0" indent="0" algn="ctr">
              <a:lnSpc>
                <a:spcPts val="1200"/>
              </a:lnSpc>
              <a:buNone/>
            </a:pPr>
            <a:r>
              <a:rPr lang="en-US" sz="1000" dirty="0">
                <a:solidFill>
                  <a:srgbClr val="3D3E40"/>
                </a:solidFill>
                <a:latin typeface="Calibri" pitchFamily="34" charset="0"/>
                <a:ea typeface="Calibri" pitchFamily="34" charset="-122"/>
                <a:cs typeface="Calibri" pitchFamily="34" charset="-120"/>
              </a:rPr>
              <a:t>nothing speculative deployed</a:t>
            </a:r>
            <a:endParaRPr lang="en-US" sz="1000" dirty="0"/>
          </a:p>
        </p:txBody>
      </p:sp>
      <p:sp>
        <p:nvSpPr>
          <p:cNvPr id="14" name="Shape 12"/>
          <p:cNvSpPr/>
          <p:nvPr/>
        </p:nvSpPr>
        <p:spPr>
          <a:xfrm>
            <a:off x="6071616" y="1097280"/>
            <a:ext cx="2706624" cy="1371600"/>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5" name="Shape 13"/>
          <p:cNvSpPr/>
          <p:nvPr/>
        </p:nvSpPr>
        <p:spPr>
          <a:xfrm>
            <a:off x="6071616" y="1097280"/>
            <a:ext cx="64008" cy="1371600"/>
          </a:xfrm>
          <a:prstGeom prst="rect">
            <a:avLst/>
          </a:prstGeom>
          <a:solidFill>
            <a:srgbClr val="1B365D"/>
          </a:solidFill>
          <a:ln/>
        </p:spPr>
      </p:sp>
      <p:sp>
        <p:nvSpPr>
          <p:cNvPr id="16" name="Text 14"/>
          <p:cNvSpPr/>
          <p:nvPr/>
        </p:nvSpPr>
        <p:spPr>
          <a:xfrm>
            <a:off x="6254496" y="1234440"/>
            <a:ext cx="2377440" cy="566928"/>
          </a:xfrm>
          <a:prstGeom prst="rect">
            <a:avLst/>
          </a:prstGeom>
          <a:noFill/>
          <a:ln/>
        </p:spPr>
        <p:txBody>
          <a:bodyPr wrap="square" lIns="0" tIns="0" rIns="0" bIns="0" rtlCol="0" anchor="ctr"/>
          <a:lstStyle/>
          <a:p>
            <a:pPr marL="0" indent="0" algn="ctr">
              <a:buNone/>
            </a:pPr>
            <a:r>
              <a:rPr lang="en-US" sz="3400" b="1" dirty="0">
                <a:solidFill>
                  <a:srgbClr val="1B365D"/>
                </a:solidFill>
                <a:latin typeface="Example State" pitchFamily="34" charset="0"/>
                <a:ea typeface="Example State" pitchFamily="34" charset="-122"/>
                <a:cs typeface="Example State" pitchFamily="34" charset="-120"/>
              </a:rPr>
              <a:t>0</a:t>
            </a:r>
            <a:endParaRPr lang="en-US" sz="3400" dirty="0"/>
          </a:p>
        </p:txBody>
      </p:sp>
      <p:sp>
        <p:nvSpPr>
          <p:cNvPr id="17" name="Text 15"/>
          <p:cNvSpPr/>
          <p:nvPr/>
        </p:nvSpPr>
        <p:spPr>
          <a:xfrm>
            <a:off x="6254496" y="1828800"/>
            <a:ext cx="2395728" cy="512064"/>
          </a:xfrm>
          <a:prstGeom prst="rect">
            <a:avLst/>
          </a:prstGeom>
          <a:noFill/>
          <a:ln/>
        </p:spPr>
        <p:txBody>
          <a:bodyPr wrap="square" lIns="0" tIns="0" rIns="0" bIns="0" rtlCol="0" anchor="ctr"/>
          <a:lstStyle/>
          <a:p>
            <a:pPr marL="0" indent="0" algn="ctr">
              <a:lnSpc>
                <a:spcPts val="1200"/>
              </a:lnSpc>
              <a:buNone/>
            </a:pPr>
            <a:r>
              <a:rPr lang="en-US" sz="1000" dirty="0">
                <a:solidFill>
                  <a:srgbClr val="3D3E40"/>
                </a:solidFill>
                <a:latin typeface="Calibri" pitchFamily="34" charset="0"/>
                <a:ea typeface="Calibri" pitchFamily="34" charset="-122"/>
                <a:cs typeface="Calibri" pitchFamily="34" charset="-120"/>
              </a:rPr>
              <a:t>API keys. Local authentication</a:t>
            </a:r>
            <a:endParaRPr lang="en-US" sz="1000" dirty="0"/>
          </a:p>
          <a:p>
            <a:pPr marL="0" indent="0" algn="ctr">
              <a:lnSpc>
                <a:spcPts val="1200"/>
              </a:lnSpc>
              <a:buNone/>
            </a:pPr>
            <a:r>
              <a:rPr lang="en-US" sz="1000" dirty="0">
                <a:solidFill>
                  <a:srgbClr val="3D3E40"/>
                </a:solidFill>
                <a:latin typeface="Calibri" pitchFamily="34" charset="0"/>
                <a:ea typeface="Calibri" pitchFamily="34" charset="-122"/>
                <a:cs typeface="Calibri" pitchFamily="34" charset="-120"/>
              </a:rPr>
              <a:t>is disabled on every account</a:t>
            </a:r>
            <a:endParaRPr lang="en-US" sz="1000" dirty="0"/>
          </a:p>
        </p:txBody>
      </p:sp>
      <p:sp>
        <p:nvSpPr>
          <p:cNvPr id="18" name="Shape 16"/>
          <p:cNvSpPr/>
          <p:nvPr/>
        </p:nvSpPr>
        <p:spPr>
          <a:xfrm>
            <a:off x="365760" y="2633472"/>
            <a:ext cx="8412480" cy="1847088"/>
          </a:xfrm>
          <a:prstGeom prst="rect">
            <a:avLst/>
          </a:prstGeom>
          <a:solidFill>
            <a:srgbClr val="FFFFFF"/>
          </a:solidFill>
          <a:ln w="9525">
            <a:solidFill>
              <a:srgbClr val="D1D3D4"/>
            </a:solidFill>
            <a:prstDash val="solid"/>
          </a:ln>
          <a:effectLst>
            <a:outerShdw blurRad="101600" dist="25400" dir="8100000" algn="bl" rotWithShape="0">
              <a:srgbClr val="000000">
                <a:alpha val="12000"/>
              </a:srgbClr>
            </a:outerShdw>
          </a:effectLst>
        </p:spPr>
      </p:sp>
      <p:sp>
        <p:nvSpPr>
          <p:cNvPr id="19" name="Shape 17"/>
          <p:cNvSpPr/>
          <p:nvPr/>
        </p:nvSpPr>
        <p:spPr>
          <a:xfrm>
            <a:off x="365760" y="2633472"/>
            <a:ext cx="64008" cy="1847088"/>
          </a:xfrm>
          <a:prstGeom prst="rect">
            <a:avLst/>
          </a:prstGeom>
          <a:solidFill>
            <a:srgbClr val="A7190C"/>
          </a:solidFill>
          <a:ln/>
        </p:spPr>
      </p:sp>
      <p:sp>
        <p:nvSpPr>
          <p:cNvPr id="20" name="Text 18"/>
          <p:cNvSpPr/>
          <p:nvPr/>
        </p:nvSpPr>
        <p:spPr>
          <a:xfrm>
            <a:off x="621792" y="2770632"/>
            <a:ext cx="7955280" cy="274320"/>
          </a:xfrm>
          <a:prstGeom prst="rect">
            <a:avLst/>
          </a:prstGeom>
          <a:noFill/>
          <a:ln/>
        </p:spPr>
        <p:txBody>
          <a:bodyPr wrap="square" lIns="0" tIns="0" rIns="0" bIns="0" rtlCol="0" anchor="ctr"/>
          <a:lstStyle/>
          <a:p>
            <a:pPr marL="0" indent="0">
              <a:buNone/>
            </a:pPr>
            <a:r>
              <a:rPr lang="en-US" sz="1500" b="1" dirty="0">
                <a:solidFill>
                  <a:srgbClr val="1B365D"/>
                </a:solidFill>
                <a:latin typeface="Example State" pitchFamily="34" charset="0"/>
                <a:ea typeface="Example State" pitchFamily="34" charset="-122"/>
                <a:cs typeface="Example State" pitchFamily="34" charset="-120"/>
              </a:rPr>
              <a:t>Known limitations, stated plainly</a:t>
            </a:r>
            <a:endParaRPr lang="en-US" sz="1500" dirty="0"/>
          </a:p>
        </p:txBody>
      </p:sp>
      <p:sp>
        <p:nvSpPr>
          <p:cNvPr id="21" name="Text 19"/>
          <p:cNvSpPr/>
          <p:nvPr/>
        </p:nvSpPr>
        <p:spPr>
          <a:xfrm>
            <a:off x="621792" y="3054096"/>
            <a:ext cx="7955280" cy="1335024"/>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3D3E40"/>
                </a:solidFill>
                <a:latin typeface="Calibri" pitchFamily="34" charset="0"/>
                <a:ea typeface="Calibri" pitchFamily="34" charset="-122"/>
                <a:cs typeface="Calibri" pitchFamily="34" charset="-120"/>
              </a:rPr>
              <a:t>Programme names such as Health Plan and Youth Plan are not reliably recognised by speech to text. A phrase list or Custom Speech resolves this.</a:t>
            </a:r>
            <a:endParaRPr lang="en-US" sz="1050" dirty="0"/>
          </a:p>
          <a:p>
            <a:pPr marL="177800" indent="-177800">
              <a:spcAft>
                <a:spcPts val="600"/>
              </a:spcAft>
              <a:buSzPct val="100000"/>
              <a:buChar char="•"/>
            </a:pPr>
            <a:r>
              <a:rPr lang="en-US" sz="1050" dirty="0">
                <a:solidFill>
                  <a:srgbClr val="3D3E40"/>
                </a:solidFill>
                <a:latin typeface="Calibri" pitchFamily="34" charset="0"/>
                <a:ea typeface="Calibri" pitchFamily="34" charset="-122"/>
                <a:cs typeface="Calibri" pitchFamily="34" charset="-120"/>
              </a:rPr>
              <a:t>We have twice seen Azure AI Speech accept a session and return nothing. The application now bounds every file recognition with a timeout and reports it clearly rather than hanging.</a:t>
            </a:r>
            <a:endParaRPr lang="en-US" sz="1050" dirty="0"/>
          </a:p>
          <a:p>
            <a:pPr marL="177800" indent="-177800">
              <a:spcAft>
                <a:spcPts val="600"/>
              </a:spcAft>
              <a:buSzPct val="100000"/>
              <a:buChar char="•"/>
            </a:pPr>
            <a:r>
              <a:rPr lang="en-US" sz="1050" dirty="0">
                <a:solidFill>
                  <a:srgbClr val="3D3E40"/>
                </a:solidFill>
                <a:latin typeface="Calibri" pitchFamily="34" charset="0"/>
                <a:ea typeface="Calibri" pitchFamily="34" charset="-122"/>
                <a:cs typeface="Calibri" pitchFamily="34" charset="-120"/>
              </a:rPr>
              <a:t>OCR latency on scanned documents varied between about three and thirty seconds on identical input. Production should treat this as a background job.</a:t>
            </a:r>
            <a:endParaRPr lang="en-US" sz="1050" dirty="0"/>
          </a:p>
          <a:p>
            <a:pPr marL="177800" indent="-177800">
              <a:buSzPct val="100000"/>
              <a:buChar char="•"/>
            </a:pPr>
            <a:r>
              <a:rPr lang="en-US" sz="1050" dirty="0">
                <a:solidFill>
                  <a:srgbClr val="3D3E40"/>
                </a:solidFill>
                <a:latin typeface="Calibri" pitchFamily="34" charset="0"/>
                <a:ea typeface="Calibri" pitchFamily="34" charset="-122"/>
                <a:cs typeface="Calibri" pitchFamily="34" charset="-120"/>
              </a:rPr>
              <a:t>All content is synthetic. No real member data, PHI or PII was used at any point.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131E29"/>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A7190C"/>
          </a:solidFill>
          <a:ln/>
        </p:spPr>
      </p:sp>
      <p:sp>
        <p:nvSpPr>
          <p:cNvPr id="3" name="Text 1"/>
          <p:cNvSpPr/>
          <p:nvPr/>
        </p:nvSpPr>
        <p:spPr>
          <a:xfrm>
            <a:off x="731520" y="566928"/>
            <a:ext cx="7955280" cy="548640"/>
          </a:xfrm>
          <a:prstGeom prst="rect">
            <a:avLst/>
          </a:prstGeom>
          <a:noFill/>
          <a:ln/>
        </p:spPr>
        <p:txBody>
          <a:bodyPr wrap="square" lIns="0" tIns="0" rIns="0" bIns="0" rtlCol="0" anchor="ctr"/>
          <a:lstStyle/>
          <a:p>
            <a:pPr marL="0" indent="0">
              <a:buNone/>
            </a:pPr>
            <a:r>
              <a:rPr lang="en-US" sz="3200" b="1" dirty="0">
                <a:solidFill>
                  <a:srgbClr val="FFFFFF"/>
                </a:solidFill>
                <a:latin typeface="Example State" pitchFamily="34" charset="0"/>
                <a:ea typeface="Example State" pitchFamily="34" charset="-122"/>
                <a:cs typeface="Example State" pitchFamily="34" charset="-120"/>
              </a:rPr>
              <a:t>Where This Could Go Next</a:t>
            </a:r>
            <a:endParaRPr lang="en-US" sz="3200" dirty="0"/>
          </a:p>
        </p:txBody>
      </p:sp>
      <p:sp>
        <p:nvSpPr>
          <p:cNvPr id="4" name="Shape 2"/>
          <p:cNvSpPr/>
          <p:nvPr/>
        </p:nvSpPr>
        <p:spPr>
          <a:xfrm>
            <a:off x="731520" y="1325880"/>
            <a:ext cx="420624" cy="420624"/>
          </a:xfrm>
          <a:prstGeom prst="ellipse">
            <a:avLst/>
          </a:prstGeom>
          <a:solidFill>
            <a:srgbClr val="A7190C"/>
          </a:solidFill>
          <a:ln/>
        </p:spPr>
      </p:sp>
      <p:sp>
        <p:nvSpPr>
          <p:cNvPr id="5" name="Text 3"/>
          <p:cNvSpPr/>
          <p:nvPr/>
        </p:nvSpPr>
        <p:spPr>
          <a:xfrm>
            <a:off x="731520" y="13258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Example State" pitchFamily="34" charset="0"/>
                <a:ea typeface="Example State" pitchFamily="34" charset="-122"/>
                <a:cs typeface="Example State" pitchFamily="34" charset="-120"/>
              </a:rPr>
              <a:t>1</a:t>
            </a:r>
            <a:endParaRPr lang="en-US" sz="1500" dirty="0"/>
          </a:p>
        </p:txBody>
      </p:sp>
      <p:sp>
        <p:nvSpPr>
          <p:cNvPr id="6" name="Text 4"/>
          <p:cNvSpPr/>
          <p:nvPr/>
        </p:nvSpPr>
        <p:spPr>
          <a:xfrm>
            <a:off x="1325880" y="1298448"/>
            <a:ext cx="7086600" cy="256032"/>
          </a:xfrm>
          <a:prstGeom prst="rect">
            <a:avLst/>
          </a:prstGeom>
          <a:noFill/>
          <a:ln/>
        </p:spPr>
        <p:txBody>
          <a:bodyPr wrap="square" lIns="0" tIns="0" rIns="0" bIns="0" rtlCol="0" anchor="ctr"/>
          <a:lstStyle/>
          <a:p>
            <a:pPr marL="0" indent="0">
              <a:buNone/>
            </a:pPr>
            <a:r>
              <a:rPr lang="en-US" sz="1500" b="1" dirty="0">
                <a:solidFill>
                  <a:srgbClr val="FFFFFF"/>
                </a:solidFill>
                <a:latin typeface="Example State" pitchFamily="34" charset="0"/>
                <a:ea typeface="Example State" pitchFamily="34" charset="-122"/>
                <a:cs typeface="Example State" pitchFamily="34" charset="-120"/>
              </a:rPr>
              <a:t>Pick one notice type</a:t>
            </a:r>
            <a:endParaRPr lang="en-US" sz="1500" dirty="0"/>
          </a:p>
        </p:txBody>
      </p:sp>
      <p:sp>
        <p:nvSpPr>
          <p:cNvPr id="7" name="Text 5"/>
          <p:cNvSpPr/>
          <p:nvPr/>
        </p:nvSpPr>
        <p:spPr>
          <a:xfrm>
            <a:off x="1325880" y="1563624"/>
            <a:ext cx="7086600" cy="420624"/>
          </a:xfrm>
          <a:prstGeom prst="rect">
            <a:avLst/>
          </a:prstGeom>
          <a:noFill/>
          <a:ln/>
        </p:spPr>
        <p:txBody>
          <a:bodyPr wrap="square" lIns="0" tIns="0" rIns="0" bIns="0" rtlCol="0" anchor="ctr"/>
          <a:lstStyle/>
          <a:p>
            <a:pPr marL="0" indent="0">
              <a:lnSpc>
                <a:spcPts val="1300"/>
              </a:lnSpc>
              <a:buNone/>
            </a:pPr>
            <a:r>
              <a:rPr lang="en-US" sz="1100" dirty="0">
                <a:solidFill>
                  <a:srgbClr val="A9BBD2"/>
                </a:solidFill>
                <a:latin typeface="Calibri" pitchFamily="34" charset="0"/>
                <a:ea typeface="Calibri" pitchFamily="34" charset="-122"/>
                <a:cs typeface="Calibri" pitchFamily="34" charset="-120"/>
              </a:rPr>
              <a:t>Choose a single high-volume notice and run a measured pilot against real volumes in a Health Plan subscription.</a:t>
            </a:r>
            <a:endParaRPr lang="en-US" sz="1100" dirty="0"/>
          </a:p>
        </p:txBody>
      </p:sp>
      <p:sp>
        <p:nvSpPr>
          <p:cNvPr id="8" name="Shape 6"/>
          <p:cNvSpPr/>
          <p:nvPr/>
        </p:nvSpPr>
        <p:spPr>
          <a:xfrm>
            <a:off x="731520" y="2148840"/>
            <a:ext cx="420624" cy="420624"/>
          </a:xfrm>
          <a:prstGeom prst="ellipse">
            <a:avLst/>
          </a:prstGeom>
          <a:solidFill>
            <a:srgbClr val="A7190C"/>
          </a:solidFill>
          <a:ln/>
        </p:spPr>
      </p:sp>
      <p:sp>
        <p:nvSpPr>
          <p:cNvPr id="9" name="Text 7"/>
          <p:cNvSpPr/>
          <p:nvPr/>
        </p:nvSpPr>
        <p:spPr>
          <a:xfrm>
            <a:off x="731520" y="214884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Example State" pitchFamily="34" charset="0"/>
                <a:ea typeface="Example State" pitchFamily="34" charset="-122"/>
                <a:cs typeface="Example State" pitchFamily="34" charset="-120"/>
              </a:rPr>
              <a:t>2</a:t>
            </a:r>
            <a:endParaRPr lang="en-US" sz="1500" dirty="0"/>
          </a:p>
        </p:txBody>
      </p:sp>
      <p:sp>
        <p:nvSpPr>
          <p:cNvPr id="10" name="Text 8"/>
          <p:cNvSpPr/>
          <p:nvPr/>
        </p:nvSpPr>
        <p:spPr>
          <a:xfrm>
            <a:off x="1325880" y="2121408"/>
            <a:ext cx="7086600" cy="256032"/>
          </a:xfrm>
          <a:prstGeom prst="rect">
            <a:avLst/>
          </a:prstGeom>
          <a:noFill/>
          <a:ln/>
        </p:spPr>
        <p:txBody>
          <a:bodyPr wrap="square" lIns="0" tIns="0" rIns="0" bIns="0" rtlCol="0" anchor="ctr"/>
          <a:lstStyle/>
          <a:p>
            <a:pPr marL="0" indent="0">
              <a:buNone/>
            </a:pPr>
            <a:r>
              <a:rPr lang="en-US" sz="1500" b="1" dirty="0">
                <a:solidFill>
                  <a:srgbClr val="FFFFFF"/>
                </a:solidFill>
                <a:latin typeface="Example State" pitchFamily="34" charset="0"/>
                <a:ea typeface="Example State" pitchFamily="34" charset="-122"/>
                <a:cs typeface="Example State" pitchFamily="34" charset="-120"/>
              </a:rPr>
              <a:t>Teach it your vocabulary</a:t>
            </a:r>
            <a:endParaRPr lang="en-US" sz="1500" dirty="0"/>
          </a:p>
        </p:txBody>
      </p:sp>
      <p:sp>
        <p:nvSpPr>
          <p:cNvPr id="11" name="Text 9"/>
          <p:cNvSpPr/>
          <p:nvPr/>
        </p:nvSpPr>
        <p:spPr>
          <a:xfrm>
            <a:off x="1325880" y="2386584"/>
            <a:ext cx="7086600" cy="420624"/>
          </a:xfrm>
          <a:prstGeom prst="rect">
            <a:avLst/>
          </a:prstGeom>
          <a:noFill/>
          <a:ln/>
        </p:spPr>
        <p:txBody>
          <a:bodyPr wrap="square" lIns="0" tIns="0" rIns="0" bIns="0" rtlCol="0" anchor="ctr"/>
          <a:lstStyle/>
          <a:p>
            <a:pPr marL="0" indent="0">
              <a:lnSpc>
                <a:spcPts val="1300"/>
              </a:lnSpc>
              <a:buNone/>
            </a:pPr>
            <a:r>
              <a:rPr lang="en-US" sz="1100" dirty="0">
                <a:solidFill>
                  <a:srgbClr val="A9BBD2"/>
                </a:solidFill>
                <a:latin typeface="Calibri" pitchFamily="34" charset="0"/>
                <a:ea typeface="Calibri" pitchFamily="34" charset="-122"/>
                <a:cs typeface="Calibri" pitchFamily="34" charset="-120"/>
              </a:rPr>
              <a:t>Build a glossary of Health Plan terminology and a Custom Speech model so programme names are recognised and translated consistently.</a:t>
            </a:r>
            <a:endParaRPr lang="en-US" sz="1100" dirty="0"/>
          </a:p>
        </p:txBody>
      </p:sp>
      <p:sp>
        <p:nvSpPr>
          <p:cNvPr id="12" name="Shape 10"/>
          <p:cNvSpPr/>
          <p:nvPr/>
        </p:nvSpPr>
        <p:spPr>
          <a:xfrm>
            <a:off x="731520" y="2971800"/>
            <a:ext cx="420624" cy="420624"/>
          </a:xfrm>
          <a:prstGeom prst="ellipse">
            <a:avLst/>
          </a:prstGeom>
          <a:solidFill>
            <a:srgbClr val="A7190C"/>
          </a:solidFill>
          <a:ln/>
        </p:spPr>
      </p:sp>
      <p:sp>
        <p:nvSpPr>
          <p:cNvPr id="13" name="Text 11"/>
          <p:cNvSpPr/>
          <p:nvPr/>
        </p:nvSpPr>
        <p:spPr>
          <a:xfrm>
            <a:off x="731520" y="29718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Example State" pitchFamily="34" charset="0"/>
                <a:ea typeface="Example State" pitchFamily="34" charset="-122"/>
                <a:cs typeface="Example State" pitchFamily="34" charset="-120"/>
              </a:rPr>
              <a:t>3</a:t>
            </a:r>
            <a:endParaRPr lang="en-US" sz="1500" dirty="0"/>
          </a:p>
        </p:txBody>
      </p:sp>
      <p:sp>
        <p:nvSpPr>
          <p:cNvPr id="14" name="Text 12"/>
          <p:cNvSpPr/>
          <p:nvPr/>
        </p:nvSpPr>
        <p:spPr>
          <a:xfrm>
            <a:off x="1325880" y="2944368"/>
            <a:ext cx="7086600" cy="256032"/>
          </a:xfrm>
          <a:prstGeom prst="rect">
            <a:avLst/>
          </a:prstGeom>
          <a:noFill/>
          <a:ln/>
        </p:spPr>
        <p:txBody>
          <a:bodyPr wrap="square" lIns="0" tIns="0" rIns="0" bIns="0" rtlCol="0" anchor="ctr"/>
          <a:lstStyle/>
          <a:p>
            <a:pPr marL="0" indent="0">
              <a:buNone/>
            </a:pPr>
            <a:r>
              <a:rPr lang="en-US" sz="1500" b="1" dirty="0">
                <a:solidFill>
                  <a:srgbClr val="FFFFFF"/>
                </a:solidFill>
                <a:latin typeface="Example State" pitchFamily="34" charset="0"/>
                <a:ea typeface="Example State" pitchFamily="34" charset="-122"/>
                <a:cs typeface="Example State" pitchFamily="34" charset="-120"/>
              </a:rPr>
              <a:t>Design the human review step</a:t>
            </a:r>
            <a:endParaRPr lang="en-US" sz="1500" dirty="0"/>
          </a:p>
        </p:txBody>
      </p:sp>
      <p:sp>
        <p:nvSpPr>
          <p:cNvPr id="15" name="Text 13"/>
          <p:cNvSpPr/>
          <p:nvPr/>
        </p:nvSpPr>
        <p:spPr>
          <a:xfrm>
            <a:off x="1325880" y="3209544"/>
            <a:ext cx="7086600" cy="420624"/>
          </a:xfrm>
          <a:prstGeom prst="rect">
            <a:avLst/>
          </a:prstGeom>
          <a:noFill/>
          <a:ln/>
        </p:spPr>
        <p:txBody>
          <a:bodyPr wrap="square" lIns="0" tIns="0" rIns="0" bIns="0" rtlCol="0" anchor="ctr"/>
          <a:lstStyle/>
          <a:p>
            <a:pPr marL="0" indent="0">
              <a:lnSpc>
                <a:spcPts val="1300"/>
              </a:lnSpc>
              <a:buNone/>
            </a:pPr>
            <a:r>
              <a:rPr lang="en-US" sz="1100" dirty="0">
                <a:solidFill>
                  <a:srgbClr val="A9BBD2"/>
                </a:solidFill>
                <a:latin typeface="Calibri" pitchFamily="34" charset="0"/>
                <a:ea typeface="Calibri" pitchFamily="34" charset="-122"/>
                <a:cs typeface="Calibri" pitchFamily="34" charset="-120"/>
              </a:rPr>
              <a:t>Decide where a person signs off, and what they see. This is the control that makes the rest defensible.</a:t>
            </a:r>
            <a:endParaRPr lang="en-US" sz="1100" dirty="0"/>
          </a:p>
        </p:txBody>
      </p:sp>
      <p:sp>
        <p:nvSpPr>
          <p:cNvPr id="16" name="Shape 14"/>
          <p:cNvSpPr/>
          <p:nvPr/>
        </p:nvSpPr>
        <p:spPr>
          <a:xfrm>
            <a:off x="731520" y="3794760"/>
            <a:ext cx="420624" cy="420624"/>
          </a:xfrm>
          <a:prstGeom prst="ellipse">
            <a:avLst/>
          </a:prstGeom>
          <a:solidFill>
            <a:srgbClr val="A7190C"/>
          </a:solidFill>
          <a:ln/>
        </p:spPr>
      </p:sp>
      <p:sp>
        <p:nvSpPr>
          <p:cNvPr id="17" name="Text 15"/>
          <p:cNvSpPr/>
          <p:nvPr/>
        </p:nvSpPr>
        <p:spPr>
          <a:xfrm>
            <a:off x="731520" y="37947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Example State" pitchFamily="34" charset="0"/>
                <a:ea typeface="Example State" pitchFamily="34" charset="-122"/>
                <a:cs typeface="Example State" pitchFamily="34" charset="-120"/>
              </a:rPr>
              <a:t>4</a:t>
            </a:r>
            <a:endParaRPr lang="en-US" sz="1500" dirty="0"/>
          </a:p>
        </p:txBody>
      </p:sp>
      <p:sp>
        <p:nvSpPr>
          <p:cNvPr id="18" name="Text 16"/>
          <p:cNvSpPr/>
          <p:nvPr/>
        </p:nvSpPr>
        <p:spPr>
          <a:xfrm>
            <a:off x="1325880" y="3767328"/>
            <a:ext cx="7086600" cy="256032"/>
          </a:xfrm>
          <a:prstGeom prst="rect">
            <a:avLst/>
          </a:prstGeom>
          <a:noFill/>
          <a:ln/>
        </p:spPr>
        <p:txBody>
          <a:bodyPr wrap="square" lIns="0" tIns="0" rIns="0" bIns="0" rtlCol="0" anchor="ctr"/>
          <a:lstStyle/>
          <a:p>
            <a:pPr marL="0" indent="0">
              <a:buNone/>
            </a:pPr>
            <a:r>
              <a:rPr lang="en-US" sz="1500" b="1" dirty="0">
                <a:solidFill>
                  <a:srgbClr val="FFFFFF"/>
                </a:solidFill>
                <a:latin typeface="Example State" pitchFamily="34" charset="0"/>
                <a:ea typeface="Example State" pitchFamily="34" charset="-122"/>
                <a:cs typeface="Example State" pitchFamily="34" charset="-120"/>
              </a:rPr>
              <a:t>Take it through security review</a:t>
            </a:r>
            <a:endParaRPr lang="en-US" sz="1500" dirty="0"/>
          </a:p>
        </p:txBody>
      </p:sp>
      <p:sp>
        <p:nvSpPr>
          <p:cNvPr id="19" name="Text 17"/>
          <p:cNvSpPr/>
          <p:nvPr/>
        </p:nvSpPr>
        <p:spPr>
          <a:xfrm>
            <a:off x="1325880" y="4032504"/>
            <a:ext cx="7086600" cy="420624"/>
          </a:xfrm>
          <a:prstGeom prst="rect">
            <a:avLst/>
          </a:prstGeom>
          <a:noFill/>
          <a:ln/>
        </p:spPr>
        <p:txBody>
          <a:bodyPr wrap="square" lIns="0" tIns="0" rIns="0" bIns="0" rtlCol="0" anchor="ctr"/>
          <a:lstStyle/>
          <a:p>
            <a:pPr marL="0" indent="0">
              <a:lnSpc>
                <a:spcPts val="1300"/>
              </a:lnSpc>
              <a:buNone/>
            </a:pPr>
            <a:r>
              <a:rPr lang="en-US" sz="1100" dirty="0">
                <a:solidFill>
                  <a:srgbClr val="A9BBD2"/>
                </a:solidFill>
                <a:latin typeface="Calibri" pitchFamily="34" charset="0"/>
                <a:ea typeface="Calibri" pitchFamily="34" charset="-122"/>
                <a:cs typeface="Calibri" pitchFamily="34" charset="-120"/>
              </a:rPr>
              <a:t>Private networking, retention policy, audit logging and accessibility conformance, using this demonstration as the starting point.</a:t>
            </a:r>
            <a:endParaRPr lang="en-US" sz="1100" dirty="0"/>
          </a:p>
        </p:txBody>
      </p:sp>
      <p:sp>
        <p:nvSpPr>
          <p:cNvPr id="20" name="Text 18"/>
          <p:cNvSpPr/>
          <p:nvPr/>
        </p:nvSpPr>
        <p:spPr>
          <a:xfrm>
            <a:off x="731520" y="4617720"/>
            <a:ext cx="7955280" cy="274320"/>
          </a:xfrm>
          <a:prstGeom prst="rect">
            <a:avLst/>
          </a:prstGeom>
          <a:noFill/>
          <a:ln/>
        </p:spPr>
        <p:txBody>
          <a:bodyPr wrap="square" lIns="0" tIns="0" rIns="0" bIns="0" rtlCol="0" anchor="ctr"/>
          <a:lstStyle/>
          <a:p>
            <a:pPr marL="0" indent="0">
              <a:buNone/>
            </a:pPr>
            <a:r>
              <a:rPr lang="en-US" sz="1100" dirty="0">
                <a:solidFill>
                  <a:srgbClr val="7E92AC"/>
                </a:solidFill>
                <a:latin typeface="Calibri" pitchFamily="34" charset="0"/>
                <a:ea typeface="Calibri" pitchFamily="34" charset="-122"/>
                <a:cs typeface="Calibri" pitchFamily="34" charset="-120"/>
              </a:rPr>
              <a:t>John Straumann  •  Field CAIO Officer, Microsoft South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6246</Words>
  <Application>Microsoft Office PowerPoint</Application>
  <PresentationFormat>On-screen Show (16:9)</PresentationFormat>
  <Paragraphs>308</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Calibri</vt:lpstr>
      <vt:lpstr>Consolas</vt:lpstr>
      <vt:lpstr>Example State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access services</dc:title>
  <dc:subject>Generic solution click-through demonstration</dc:subject>
  <dc:creator>John Straumann, Field CAIO Officer, Microsoft South</dc:creator>
  <cp:keywords>LanguageAccessServices</cp:keywords>
  <dc:description>Customer branding generalized. Edited historical captures; results not rerun.</dc:description>
  <cp:lastModifiedBy>John Straumann</cp:lastModifiedBy>
  <cp:revision>2</cp:revision>
  <dcterms:created xsi:type="dcterms:W3CDTF">2026-10-08T12:47:20Z</dcterms:created>
  <dcterms:modified xsi:type="dcterms:W3CDTF">2026-10-28T13:14:08Z</dcterms:modified>
  <dc:identifier/>
</cp:coreProperties>
</file>