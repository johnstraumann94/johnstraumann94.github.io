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16E178-36C0-4CAD-B4F1-B57925C5997B}"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5452D6-970E-4D70-8319-29B58FBC7BF0}" type="slidenum">
              <a:rPr lang="en-US" smtClean="0"/>
              <a:t>‹#›</a:t>
            </a:fld>
            <a:endParaRPr lang="en-US"/>
          </a:p>
        </p:txBody>
      </p:sp>
    </p:spTree>
    <p:extLst>
      <p:ext uri="{BB962C8B-B14F-4D97-AF65-F5344CB8AC3E}">
        <p14:creationId xmlns:p14="http://schemas.microsoft.com/office/powerpoint/2010/main" val="2930696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challenge: Guest concerns arrive in free text and multiple languages. Staff need booking context, a clear handoff and approved recovery options without promising unavailable rooms or compensation.</a:t>
            </a:r>
          </a:p>
          <a:p>
            <a:r>
              <a:rPr lang="en-US"/>
              <a:t>Business value: Create a service task, manager briefing and courteous draft reply. Measure time to first useful response and policy-consistent routing, not assumed guest satisfaction gains.</a:t>
            </a:r>
          </a:p>
          <a:p>
            <a:r>
              <a:rPr lang="en-US"/>
              <a:t>Measurement targets are hypotheses: no analyst-time baseline or monetary savings was measured. MVP: MVP boundary: One fictional hotel, three issue types and synthetic reservations. Use text intake and staff review; room changes, compensation and property-system writes remain simulated.</a:t>
            </a:r>
          </a:p>
          <a:p>
            <a:r>
              <a:rPr lang="en-US"/>
              <a:t>Boundary: Human boundary: No invented availability, guaranteed refund or accessibility determination. Urgent safety matters route to staff using an approved notice; the app is not an emergency service.</a:t>
            </a:r>
          </a:p>
        </p:txBody>
      </p:sp>
      <p:sp>
        <p:nvSpPr>
          <p:cNvPr id="4" name="Slide Number Placeholder 3"/>
          <p:cNvSpPr>
            <a:spLocks noGrp="1"/>
          </p:cNvSpPr>
          <p:nvPr>
            <p:ph type="sldNum" sz="quarter" idx="5"/>
          </p:nvPr>
        </p:nvSpPr>
        <p:spPr/>
        <p:txBody>
          <a:bodyPr/>
          <a:lstStyle/>
          <a:p>
            <a:fld id="{4C5452D6-970E-4D70-8319-29B58FBC7BF0}" type="slidenum">
              <a:rPr lang="en-US" smtClean="0"/>
              <a:t>1</a:t>
            </a:fld>
            <a:endParaRPr lang="en-US"/>
          </a:p>
        </p:txBody>
      </p:sp>
    </p:spTree>
    <p:extLst>
      <p:ext uri="{BB962C8B-B14F-4D97-AF65-F5344CB8AC3E}">
        <p14:creationId xmlns:p14="http://schemas.microsoft.com/office/powerpoint/2010/main" val="2801365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deployed Azure inventory is in Infrastructure\deployed-resources.json. Each use case has a separate resource group in subscription dfc418e8-191e-453b-ad84-a10e863314ca. A shared private execution network lives in the invoice resource group; SQL private endpoints live with each demo. The temporary container is deleted after execution. Azure CLI operator tokens are supplied as secure container environment values, not embedded credentials. This desktop demo does not claim hosted managed-identity APIs or production app roles. Business benefit: a repeatable, evidence-visible workflow with exact rules outside the model. Screenshots are replay of saved live service output, not fresh calls from PowerPoint. Existing Key Vault is unnecessary because the app has no stored secrets.</a:t>
            </a:r>
          </a:p>
        </p:txBody>
      </p:sp>
      <p:sp>
        <p:nvSpPr>
          <p:cNvPr id="4" name="Slide Number Placeholder 3"/>
          <p:cNvSpPr>
            <a:spLocks noGrp="1"/>
          </p:cNvSpPr>
          <p:nvPr>
            <p:ph type="sldNum" sz="quarter" idx="5"/>
          </p:nvPr>
        </p:nvSpPr>
        <p:spPr/>
        <p:txBody>
          <a:bodyPr/>
          <a:lstStyle/>
          <a:p>
            <a:fld id="{4C5452D6-970E-4D70-8319-29B58FBC7BF0}" type="slidenum">
              <a:rPr lang="en-US" smtClean="0"/>
              <a:t>2</a:t>
            </a:fld>
            <a:endParaRPr lang="en-US"/>
          </a:p>
        </p:txBody>
      </p:sp>
    </p:spTree>
    <p:extLst>
      <p:ext uri="{BB962C8B-B14F-4D97-AF65-F5344CB8AC3E}">
        <p14:creationId xmlns:p14="http://schemas.microsoft.com/office/powerpoint/2010/main" val="4247536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Open a seeded stay and submit a broken-amenity request.</a:t>
            </a:r>
          </a:p>
          <a:p>
            <a:r>
              <a:rPr lang="en-US"/>
              <a:t>Fixture: normal-01. Capture timestamp: 2026-10-28T15:35:45.7462536Z. State: ReviewReady. Rule findings: .</a:t>
            </a:r>
          </a:p>
          <a:p>
            <a:r>
              <a:rPr lang="en-US"/>
              <a:t>Business value and benefits: Create a service task, manager briefing and courteous draft reply. Measure time to first useful response and policy-consistent routing, not assumed guest satisfaction gains. This step makes the evidence, uncertainty or human boundary visible. Human boundary: No invented availability, guaranteed refund or accessibility determination. Urgent safety matters route to staff using an approved notice; the app is not an emergency service.</a:t>
            </a:r>
          </a:p>
          <a:p>
            <a:r>
              <a:rPr lang="en-US"/>
              <a:t>What the user sees: Exact fixture facts and deterministic checks, a source-linked internal AI draft, and explicit human-review limits.</a:t>
            </a:r>
          </a:p>
          <a:p>
            <a:r>
              <a:rPr lang="en-US"/>
              <a:t>Evidence: saved live run 2026-10-28T15:22:00.8999204+00:00,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No invented availability, guaranteed refund or accessibility determination. Urgent safety matters route to staff using an approved notice; the app is not an emergency service.</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4C5452D6-970E-4D70-8319-29B58FBC7BF0}" type="slidenum">
              <a:rPr lang="en-US" smtClean="0"/>
              <a:t>3</a:t>
            </a:fld>
            <a:endParaRPr lang="en-US"/>
          </a:p>
        </p:txBody>
      </p:sp>
    </p:spTree>
    <p:extLst>
      <p:ext uri="{BB962C8B-B14F-4D97-AF65-F5344CB8AC3E}">
        <p14:creationId xmlns:p14="http://schemas.microsoft.com/office/powerpoint/2010/main" val="2735133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View the routed service task and reservation context.</a:t>
            </a:r>
          </a:p>
          <a:p>
            <a:r>
              <a:rPr lang="en-US"/>
              <a:t>Fixture: normal-01. Capture timestamp: 2026-10-28T15:35:46.7410763Z. State: ReviewReady. Rule findings: .</a:t>
            </a:r>
          </a:p>
          <a:p>
            <a:r>
              <a:rPr lang="en-US"/>
              <a:t>Business value and benefits: Create a service task, manager briefing and courteous draft reply. Measure time to first useful response and policy-consistent routing, not assumed guest satisfaction gains. This step makes the evidence, uncertainty or human boundary visible. Human boundary: No invented availability, guaranteed refund or accessibility determination. Urgent safety matters route to staff using an approved notice; the app is not an emergency service.</a:t>
            </a:r>
          </a:p>
          <a:p>
            <a:r>
              <a:rPr lang="en-US"/>
              <a:t>What the user sees: Exact fixture facts and deterministic checks, a source-linked internal AI draft, and explicit human-review limits.</a:t>
            </a:r>
          </a:p>
          <a:p>
            <a:r>
              <a:rPr lang="en-US"/>
              <a:t>Evidence: saved live run 2026-10-28T15:22:00.8999204+00:00,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No invented availability, guaranteed refund or accessibility determination. Urgent safety matters route to staff using an approved notice; the app is not an emergency service.</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4C5452D6-970E-4D70-8319-29B58FBC7BF0}" type="slidenum">
              <a:rPr lang="en-US" smtClean="0"/>
              <a:t>4</a:t>
            </a:fld>
            <a:endParaRPr lang="en-US"/>
          </a:p>
        </p:txBody>
      </p:sp>
    </p:spTree>
    <p:extLst>
      <p:ext uri="{BB962C8B-B14F-4D97-AF65-F5344CB8AC3E}">
        <p14:creationId xmlns:p14="http://schemas.microsoft.com/office/powerpoint/2010/main" val="3345092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Inspect a drafted reply and the source of each allowed recovery option.</a:t>
            </a:r>
          </a:p>
          <a:p>
            <a:r>
              <a:rPr lang="en-US"/>
              <a:t>Fixture: normal-01. Capture timestamp: 2026-10-28T15:35:47.7351085Z. State: ReviewReady. Rule findings: .</a:t>
            </a:r>
          </a:p>
          <a:p>
            <a:r>
              <a:rPr lang="en-US"/>
              <a:t>Business value and benefits: Create a service task, manager briefing and courteous draft reply. Measure time to first useful response and policy-consistent routing, not assumed guest satisfaction gains. This step makes the evidence, uncertainty or human boundary visible. Human boundary: No invented availability, guaranteed refund or accessibility determination. Urgent safety matters route to staff using an approved notice; the app is not an emergency service.</a:t>
            </a:r>
          </a:p>
          <a:p>
            <a:r>
              <a:rPr lang="en-US"/>
              <a:t>What the user sees: Exact fixture facts and deterministic checks, a source-linked internal AI draft, and explicit human-review limits.</a:t>
            </a:r>
          </a:p>
          <a:p>
            <a:r>
              <a:rPr lang="en-US"/>
              <a:t>Evidence: saved live run 2026-10-28T15:22:00.8999204+00:00,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No invented availability, guaranteed refund or accessibility determination. Urgent safety matters route to staff using an approved notice; the app is not an emergency service.</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4C5452D6-970E-4D70-8319-29B58FBC7BF0}" type="slidenum">
              <a:rPr lang="en-US" smtClean="0"/>
              <a:t>5</a:t>
            </a:fld>
            <a:endParaRPr lang="en-US"/>
          </a:p>
        </p:txBody>
      </p:sp>
    </p:spTree>
    <p:extLst>
      <p:ext uri="{BB962C8B-B14F-4D97-AF65-F5344CB8AC3E}">
        <p14:creationId xmlns:p14="http://schemas.microsoft.com/office/powerpoint/2010/main" val="444007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Load the wrong-reservation fixture; show no guest-data disclosure.</a:t>
            </a:r>
          </a:p>
          <a:p>
            <a:r>
              <a:rPr lang="en-US"/>
              <a:t>Fixture: access-01. Capture timestamp: 2026-10-28T15:35:48.7242398Z. State: AccessDenied. Rule findings: .</a:t>
            </a:r>
          </a:p>
          <a:p>
            <a:r>
              <a:rPr lang="en-US"/>
              <a:t>Business value and benefits: Create a service task, manager briefing and courteous draft reply. Measure time to first useful response and policy-consistent routing, not assumed guest satisfaction gains. This step makes the evidence, uncertainty or human boundary visible. Human boundary: No invented availability, guaranteed refund or accessibility determination. Urgent safety matters route to staff using an approved notice; the app is not an emergency service.</a:t>
            </a:r>
          </a:p>
          <a:p>
            <a:r>
              <a:rPr lang="en-US"/>
              <a:t>What the user sees: Ownership denial before private data disclosure or model access.</a:t>
            </a:r>
          </a:p>
          <a:p>
            <a:r>
              <a:rPr lang="en-US"/>
              <a:t>Evidence: saved live run 2026-10-28T15:22:01.4289136+00:00, mode Deterministic guard - no AI call; 0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No invented availability, guaranteed refund or accessibility determination. Urgent safety matters route to staff using an approved notice; the app is not an emergency service.</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4C5452D6-970E-4D70-8319-29B58FBC7BF0}" type="slidenum">
              <a:rPr lang="en-US" smtClean="0"/>
              <a:t>6</a:t>
            </a:fld>
            <a:endParaRPr lang="en-US"/>
          </a:p>
        </p:txBody>
      </p:sp>
    </p:spTree>
    <p:extLst>
      <p:ext uri="{BB962C8B-B14F-4D97-AF65-F5344CB8AC3E}">
        <p14:creationId xmlns:p14="http://schemas.microsoft.com/office/powerpoint/2010/main" val="4267980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Choose an urgent-safety fixture and demonstrate the staff escalation gate.</a:t>
            </a:r>
          </a:p>
          <a:p>
            <a:r>
              <a:rPr lang="en-US"/>
              <a:t>Fixture: contradictory-01. Capture timestamp: 2026-10-28T15:35:49.7676993Z. State: HumanReviewRequired. Rule findings: STAFF_ESCALATION.</a:t>
            </a:r>
          </a:p>
          <a:p>
            <a:r>
              <a:rPr lang="en-US"/>
              <a:t>Business value and benefits: Create a service task, manager briefing and courteous draft reply. Measure time to first useful response and policy-consistent routing, not assumed guest satisfaction gains. This step makes the evidence, uncertainty or human boundary visible. Human boundary: No invented availability, guaranteed refund or accessibility determination. Urgent safety matters route to staff using an approved notice; the app is not an emergency service.</a:t>
            </a:r>
          </a:p>
          <a:p>
            <a:r>
              <a:rPr lang="en-US"/>
              <a:t>What the user sees: HumanReviewRequired: STAFF_ESCALATION. The finding remains visible beside the evidence and approved sources.</a:t>
            </a:r>
          </a:p>
          <a:p>
            <a:r>
              <a:rPr lang="en-US"/>
              <a:t>Evidence: saved live run 2026-10-28T15:22:05.151099+00:00,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No invented availability, guaranteed refund or accessibility determination. Urgent safety matters route to staff using an approved notice; the app is not an emergency service.</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4C5452D6-970E-4D70-8319-29B58FBC7BF0}" type="slidenum">
              <a:rPr lang="en-US" smtClean="0"/>
              <a:t>7</a:t>
            </a:fld>
            <a:endParaRPr lang="en-US"/>
          </a:p>
        </p:txBody>
      </p:sp>
    </p:spTree>
    <p:extLst>
      <p:ext uri="{BB962C8B-B14F-4D97-AF65-F5344CB8AC3E}">
        <p14:creationId xmlns:p14="http://schemas.microsoft.com/office/powerpoint/2010/main" val="35097672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Approve the task/reply and inspect the notification sink.</a:t>
            </a:r>
          </a:p>
          <a:p>
            <a:r>
              <a:rPr lang="en-US"/>
              <a:t>Fixture: normal-01. Capture timestamp: 2026-10-28T15:35:50.7539841Z. State: ReviewReady. Rule findings: .</a:t>
            </a:r>
          </a:p>
          <a:p>
            <a:r>
              <a:rPr lang="en-US"/>
              <a:t>Business value and benefits: Create a service task, manager briefing and courteous draft reply. Measure time to first useful response and policy-consistent routing, not assumed guest satisfaction gains. This step makes the evidence, uncertainty or human boundary visible. Human boundary: No invented availability, guaranteed refund or accessibility determination. Urgent safety matters route to staff using an approved notice; the app is not an emergency service.</a:t>
            </a:r>
          </a:p>
          <a:p>
            <a:r>
              <a:rPr lang="en-US"/>
              <a:t>What the user sees: A persisted internal approval, duplicate-safe operation key, audit timeline and explicitly Simulated handoff.</a:t>
            </a:r>
          </a:p>
          <a:p>
            <a:r>
              <a:rPr lang="en-US"/>
              <a:t>Evidence: saved live run 2026-10-28T15:22:00.8999204+00:00, mode Live Azure captured; 2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No invented availability, guaranteed refund or accessibility determination. Urgent safety matters route to staff using an approved notice; the app is not an emergency service.</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4C5452D6-970E-4D70-8319-29B58FBC7BF0}" type="slidenum">
              <a:rPr lang="en-US" smtClean="0"/>
              <a:t>8</a:t>
            </a:fld>
            <a:endParaRPr lang="en-US"/>
          </a:p>
        </p:txBody>
      </p:sp>
    </p:spTree>
    <p:extLst>
      <p:ext uri="{BB962C8B-B14F-4D97-AF65-F5344CB8AC3E}">
        <p14:creationId xmlns:p14="http://schemas.microsoft.com/office/powerpoint/2010/main" val="35684141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value: staff receive a reproducible internal review packet with source provenance, exact calculations where relevant, visible uncertainty and a traceable human decision. Benefits are demonstrated workflow properties, not measured economic gains. Setup, source, fixtures, raw Azure evidence, screenshots and IaC are retained in the demo folder. The source blueprint contains a larger production backlog; these deliverables intentionally do not claim a public intake service, malware-scanned upload path, durable background worker or operational integration. Azure SQL, Search and shared NAT/private networking have recurring costs until deliberately decommissioned.</a:t>
            </a:r>
          </a:p>
        </p:txBody>
      </p:sp>
      <p:sp>
        <p:nvSpPr>
          <p:cNvPr id="4" name="Slide Number Placeholder 3"/>
          <p:cNvSpPr>
            <a:spLocks noGrp="1"/>
          </p:cNvSpPr>
          <p:nvPr>
            <p:ph type="sldNum" sz="quarter" idx="5"/>
          </p:nvPr>
        </p:nvSpPr>
        <p:spPr/>
        <p:txBody>
          <a:bodyPr/>
          <a:lstStyle/>
          <a:p>
            <a:fld id="{4C5452D6-970E-4D70-8319-29B58FBC7BF0}" type="slidenum">
              <a:rPr lang="en-US" smtClean="0"/>
              <a:t>9</a:t>
            </a:fld>
            <a:endParaRPr lang="en-US"/>
          </a:p>
        </p:txBody>
      </p:sp>
    </p:spTree>
    <p:extLst>
      <p:ext uri="{BB962C8B-B14F-4D97-AF65-F5344CB8AC3E}">
        <p14:creationId xmlns:p14="http://schemas.microsoft.com/office/powerpoint/2010/main" val="3503066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89799-3C0E-FFA6-4E5F-8D7EF9E8B770}"/>
              </a:ext>
            </a:extLst>
          </p:cNvPr>
          <p:cNvSpPr>
            <a:spLocks noGrp="1"/>
          </p:cNvSpPr>
          <p:nvPr>
            <p:ph type="ctrTitle"/>
          </p:nvPr>
        </p:nvSpPr>
        <p:spPr>
          <a:xfrm>
            <a:off x="2286000" y="1683545"/>
            <a:ext cx="13716000" cy="35814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AE8B09-DA39-380A-6E01-6BE34037904F}"/>
              </a:ext>
            </a:extLst>
          </p:cNvPr>
          <p:cNvSpPr>
            <a:spLocks noGrp="1"/>
          </p:cNvSpPr>
          <p:nvPr>
            <p:ph type="subTitle" idx="1"/>
          </p:nvPr>
        </p:nvSpPr>
        <p:spPr>
          <a:xfrm>
            <a:off x="2286000" y="5403057"/>
            <a:ext cx="13716000" cy="248364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E43E4E-3B91-7FA8-C97C-AB64E10683D8}"/>
              </a:ext>
            </a:extLst>
          </p:cNvPr>
          <p:cNvSpPr>
            <a:spLocks noGrp="1"/>
          </p:cNvSpPr>
          <p:nvPr>
            <p:ph type="dt" sz="half" idx="10"/>
          </p:nvPr>
        </p:nvSpPr>
        <p:spPr/>
        <p:txBody>
          <a:bodyPr/>
          <a:lstStyle/>
          <a:p>
            <a:fld id="{2BB9A26D-D0EF-47D5-BFC5-5B3AC743E676}" type="datetimeFigureOut">
              <a:rPr lang="en-US" smtClean="0"/>
              <a:t>10/28/2026</a:t>
            </a:fld>
            <a:endParaRPr lang="en-US"/>
          </a:p>
        </p:txBody>
      </p:sp>
      <p:sp>
        <p:nvSpPr>
          <p:cNvPr id="5" name="Footer Placeholder 4">
            <a:extLst>
              <a:ext uri="{FF2B5EF4-FFF2-40B4-BE49-F238E27FC236}">
                <a16:creationId xmlns:a16="http://schemas.microsoft.com/office/drawing/2014/main" id="{F21C7012-B3FE-461C-2E69-46961B106E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89235F-BC7F-F076-C62D-7EE1282F86E2}"/>
              </a:ext>
            </a:extLst>
          </p:cNvPr>
          <p:cNvSpPr>
            <a:spLocks noGrp="1"/>
          </p:cNvSpPr>
          <p:nvPr>
            <p:ph type="sldNum" sz="quarter" idx="12"/>
          </p:nvPr>
        </p:nvSpPr>
        <p:spPr/>
        <p:txBody>
          <a:bodyPr/>
          <a:lstStyle/>
          <a:p>
            <a:fld id="{7C3FB878-6ED0-4FAA-82BD-15D9CAA3E2BA}" type="slidenum">
              <a:rPr lang="en-US" smtClean="0"/>
              <a:t>‹#›</a:t>
            </a:fld>
            <a:endParaRPr lang="en-US"/>
          </a:p>
        </p:txBody>
      </p:sp>
    </p:spTree>
    <p:extLst>
      <p:ext uri="{BB962C8B-B14F-4D97-AF65-F5344CB8AC3E}">
        <p14:creationId xmlns:p14="http://schemas.microsoft.com/office/powerpoint/2010/main" val="17137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BAC97-30C2-7013-2081-06249618F6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E71FB4-8817-5B4F-24BA-78CA18FB11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E48799-D2DB-E90C-071D-EEEA451AF3F3}"/>
              </a:ext>
            </a:extLst>
          </p:cNvPr>
          <p:cNvSpPr>
            <a:spLocks noGrp="1"/>
          </p:cNvSpPr>
          <p:nvPr>
            <p:ph type="dt" sz="half" idx="10"/>
          </p:nvPr>
        </p:nvSpPr>
        <p:spPr/>
        <p:txBody>
          <a:bodyPr/>
          <a:lstStyle/>
          <a:p>
            <a:fld id="{2BB9A26D-D0EF-47D5-BFC5-5B3AC743E676}" type="datetimeFigureOut">
              <a:rPr lang="en-US" smtClean="0"/>
              <a:t>10/28/2026</a:t>
            </a:fld>
            <a:endParaRPr lang="en-US"/>
          </a:p>
        </p:txBody>
      </p:sp>
      <p:sp>
        <p:nvSpPr>
          <p:cNvPr id="5" name="Footer Placeholder 4">
            <a:extLst>
              <a:ext uri="{FF2B5EF4-FFF2-40B4-BE49-F238E27FC236}">
                <a16:creationId xmlns:a16="http://schemas.microsoft.com/office/drawing/2014/main" id="{431CD38C-D65D-DE0F-7C58-3B55DFBCFC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E7E773-9453-9BFA-5C15-9B7EA54799DD}"/>
              </a:ext>
            </a:extLst>
          </p:cNvPr>
          <p:cNvSpPr>
            <a:spLocks noGrp="1"/>
          </p:cNvSpPr>
          <p:nvPr>
            <p:ph type="sldNum" sz="quarter" idx="12"/>
          </p:nvPr>
        </p:nvSpPr>
        <p:spPr/>
        <p:txBody>
          <a:bodyPr/>
          <a:lstStyle/>
          <a:p>
            <a:fld id="{7C3FB878-6ED0-4FAA-82BD-15D9CAA3E2BA}" type="slidenum">
              <a:rPr lang="en-US" smtClean="0"/>
              <a:t>‹#›</a:t>
            </a:fld>
            <a:endParaRPr lang="en-US"/>
          </a:p>
        </p:txBody>
      </p:sp>
    </p:spTree>
    <p:extLst>
      <p:ext uri="{BB962C8B-B14F-4D97-AF65-F5344CB8AC3E}">
        <p14:creationId xmlns:p14="http://schemas.microsoft.com/office/powerpoint/2010/main" val="2100639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D0436-9C99-4F92-790B-49D167AE1CD4}"/>
              </a:ext>
            </a:extLst>
          </p:cNvPr>
          <p:cNvSpPr>
            <a:spLocks noGrp="1"/>
          </p:cNvSpPr>
          <p:nvPr>
            <p:ph type="title"/>
          </p:nvPr>
        </p:nvSpPr>
        <p:spPr>
          <a:xfrm>
            <a:off x="1247775" y="2564609"/>
            <a:ext cx="15773400" cy="427910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A253B4-8E2D-24F3-47F9-F4B760D7987D}"/>
              </a:ext>
            </a:extLst>
          </p:cNvPr>
          <p:cNvSpPr>
            <a:spLocks noGrp="1"/>
          </p:cNvSpPr>
          <p:nvPr>
            <p:ph type="body" idx="1"/>
          </p:nvPr>
        </p:nvSpPr>
        <p:spPr>
          <a:xfrm>
            <a:off x="1247775" y="6884197"/>
            <a:ext cx="15773400" cy="225028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BC1312-4157-895F-B415-DEDCDF0EE61F}"/>
              </a:ext>
            </a:extLst>
          </p:cNvPr>
          <p:cNvSpPr>
            <a:spLocks noGrp="1"/>
          </p:cNvSpPr>
          <p:nvPr>
            <p:ph type="dt" sz="half" idx="10"/>
          </p:nvPr>
        </p:nvSpPr>
        <p:spPr/>
        <p:txBody>
          <a:bodyPr/>
          <a:lstStyle/>
          <a:p>
            <a:fld id="{2BB9A26D-D0EF-47D5-BFC5-5B3AC743E676}" type="datetimeFigureOut">
              <a:rPr lang="en-US" smtClean="0"/>
              <a:t>10/28/2026</a:t>
            </a:fld>
            <a:endParaRPr lang="en-US"/>
          </a:p>
        </p:txBody>
      </p:sp>
      <p:sp>
        <p:nvSpPr>
          <p:cNvPr id="5" name="Footer Placeholder 4">
            <a:extLst>
              <a:ext uri="{FF2B5EF4-FFF2-40B4-BE49-F238E27FC236}">
                <a16:creationId xmlns:a16="http://schemas.microsoft.com/office/drawing/2014/main" id="{677C6B6D-F0D1-D7C8-977E-F369727C76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5BE4D8-0900-C4C5-0D45-A63B2E72D683}"/>
              </a:ext>
            </a:extLst>
          </p:cNvPr>
          <p:cNvSpPr>
            <a:spLocks noGrp="1"/>
          </p:cNvSpPr>
          <p:nvPr>
            <p:ph type="sldNum" sz="quarter" idx="12"/>
          </p:nvPr>
        </p:nvSpPr>
        <p:spPr/>
        <p:txBody>
          <a:bodyPr/>
          <a:lstStyle/>
          <a:p>
            <a:fld id="{7C3FB878-6ED0-4FAA-82BD-15D9CAA3E2BA}" type="slidenum">
              <a:rPr lang="en-US" smtClean="0"/>
              <a:t>‹#›</a:t>
            </a:fld>
            <a:endParaRPr lang="en-US"/>
          </a:p>
        </p:txBody>
      </p:sp>
    </p:spTree>
    <p:extLst>
      <p:ext uri="{BB962C8B-B14F-4D97-AF65-F5344CB8AC3E}">
        <p14:creationId xmlns:p14="http://schemas.microsoft.com/office/powerpoint/2010/main" val="246083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C15E0-DD1C-25E9-DA92-3DD0C33C3B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57092C-ECB1-299F-F556-3E9761234D86}"/>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0C07D0-1281-BC73-81EA-6B9628DACC58}"/>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BFEA50-94A5-BCB3-83AA-88AC11E80264}"/>
              </a:ext>
            </a:extLst>
          </p:cNvPr>
          <p:cNvSpPr>
            <a:spLocks noGrp="1"/>
          </p:cNvSpPr>
          <p:nvPr>
            <p:ph type="dt" sz="half" idx="10"/>
          </p:nvPr>
        </p:nvSpPr>
        <p:spPr/>
        <p:txBody>
          <a:bodyPr/>
          <a:lstStyle/>
          <a:p>
            <a:fld id="{2BB9A26D-D0EF-47D5-BFC5-5B3AC743E676}" type="datetimeFigureOut">
              <a:rPr lang="en-US" smtClean="0"/>
              <a:t>10/28/2026</a:t>
            </a:fld>
            <a:endParaRPr lang="en-US"/>
          </a:p>
        </p:txBody>
      </p:sp>
      <p:sp>
        <p:nvSpPr>
          <p:cNvPr id="6" name="Footer Placeholder 5">
            <a:extLst>
              <a:ext uri="{FF2B5EF4-FFF2-40B4-BE49-F238E27FC236}">
                <a16:creationId xmlns:a16="http://schemas.microsoft.com/office/drawing/2014/main" id="{CB9A28BB-507C-F7AD-09D1-B76E1994F9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577853-6DB7-F9EC-F361-9BF95532E22B}"/>
              </a:ext>
            </a:extLst>
          </p:cNvPr>
          <p:cNvSpPr>
            <a:spLocks noGrp="1"/>
          </p:cNvSpPr>
          <p:nvPr>
            <p:ph type="sldNum" sz="quarter" idx="12"/>
          </p:nvPr>
        </p:nvSpPr>
        <p:spPr/>
        <p:txBody>
          <a:bodyPr/>
          <a:lstStyle/>
          <a:p>
            <a:fld id="{7C3FB878-6ED0-4FAA-82BD-15D9CAA3E2BA}" type="slidenum">
              <a:rPr lang="en-US" smtClean="0"/>
              <a:t>‹#›</a:t>
            </a:fld>
            <a:endParaRPr lang="en-US"/>
          </a:p>
        </p:txBody>
      </p:sp>
    </p:spTree>
    <p:extLst>
      <p:ext uri="{BB962C8B-B14F-4D97-AF65-F5344CB8AC3E}">
        <p14:creationId xmlns:p14="http://schemas.microsoft.com/office/powerpoint/2010/main" val="1740661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6D849-4743-E257-217A-F4690F6AAD76}"/>
              </a:ext>
            </a:extLst>
          </p:cNvPr>
          <p:cNvSpPr>
            <a:spLocks noGrp="1"/>
          </p:cNvSpPr>
          <p:nvPr>
            <p:ph type="title"/>
          </p:nvPr>
        </p:nvSpPr>
        <p:spPr>
          <a:xfrm>
            <a:off x="1259682" y="547690"/>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870B6F-84A7-7F4C-75A3-1E4EA0DC8B1D}"/>
              </a:ext>
            </a:extLst>
          </p:cNvPr>
          <p:cNvSpPr>
            <a:spLocks noGrp="1"/>
          </p:cNvSpPr>
          <p:nvPr>
            <p:ph type="body" idx="1"/>
          </p:nvPr>
        </p:nvSpPr>
        <p:spPr>
          <a:xfrm>
            <a:off x="1259684" y="2521745"/>
            <a:ext cx="7736681"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913FB5-3B41-1F8E-6D87-EC5A73DB5122}"/>
              </a:ext>
            </a:extLst>
          </p:cNvPr>
          <p:cNvSpPr>
            <a:spLocks noGrp="1"/>
          </p:cNvSpPr>
          <p:nvPr>
            <p:ph sz="half" idx="2"/>
          </p:nvPr>
        </p:nvSpPr>
        <p:spPr>
          <a:xfrm>
            <a:off x="1259684"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1096CF4-BCCA-5456-B0C4-3EA51B9110F0}"/>
              </a:ext>
            </a:extLst>
          </p:cNvPr>
          <p:cNvSpPr>
            <a:spLocks noGrp="1"/>
          </p:cNvSpPr>
          <p:nvPr>
            <p:ph type="body" sz="quarter" idx="3"/>
          </p:nvPr>
        </p:nvSpPr>
        <p:spPr>
          <a:xfrm>
            <a:off x="9258300" y="2521745"/>
            <a:ext cx="7774782"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834D4D-3A33-0FB1-0CF8-91F7E0ED8A22}"/>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709A98-EFFD-3397-226B-23D25AB9C631}"/>
              </a:ext>
            </a:extLst>
          </p:cNvPr>
          <p:cNvSpPr>
            <a:spLocks noGrp="1"/>
          </p:cNvSpPr>
          <p:nvPr>
            <p:ph type="dt" sz="half" idx="10"/>
          </p:nvPr>
        </p:nvSpPr>
        <p:spPr/>
        <p:txBody>
          <a:bodyPr/>
          <a:lstStyle/>
          <a:p>
            <a:fld id="{2BB9A26D-D0EF-47D5-BFC5-5B3AC743E676}" type="datetimeFigureOut">
              <a:rPr lang="en-US" smtClean="0"/>
              <a:t>10/28/2026</a:t>
            </a:fld>
            <a:endParaRPr lang="en-US"/>
          </a:p>
        </p:txBody>
      </p:sp>
      <p:sp>
        <p:nvSpPr>
          <p:cNvPr id="8" name="Footer Placeholder 7">
            <a:extLst>
              <a:ext uri="{FF2B5EF4-FFF2-40B4-BE49-F238E27FC236}">
                <a16:creationId xmlns:a16="http://schemas.microsoft.com/office/drawing/2014/main" id="{57690C29-BEA2-E891-FC2A-098BB434F8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CD6972-27B1-BC2B-9FF6-660612F2D9CB}"/>
              </a:ext>
            </a:extLst>
          </p:cNvPr>
          <p:cNvSpPr>
            <a:spLocks noGrp="1"/>
          </p:cNvSpPr>
          <p:nvPr>
            <p:ph type="sldNum" sz="quarter" idx="12"/>
          </p:nvPr>
        </p:nvSpPr>
        <p:spPr/>
        <p:txBody>
          <a:bodyPr/>
          <a:lstStyle/>
          <a:p>
            <a:fld id="{7C3FB878-6ED0-4FAA-82BD-15D9CAA3E2BA}" type="slidenum">
              <a:rPr lang="en-US" smtClean="0"/>
              <a:t>‹#›</a:t>
            </a:fld>
            <a:endParaRPr lang="en-US"/>
          </a:p>
        </p:txBody>
      </p:sp>
    </p:spTree>
    <p:extLst>
      <p:ext uri="{BB962C8B-B14F-4D97-AF65-F5344CB8AC3E}">
        <p14:creationId xmlns:p14="http://schemas.microsoft.com/office/powerpoint/2010/main" val="2168115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A4DFB-8B35-5377-8017-227E25945B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64473B-D45C-C53B-7A59-D8C7B1E0BACC}"/>
              </a:ext>
            </a:extLst>
          </p:cNvPr>
          <p:cNvSpPr>
            <a:spLocks noGrp="1"/>
          </p:cNvSpPr>
          <p:nvPr>
            <p:ph type="dt" sz="half" idx="10"/>
          </p:nvPr>
        </p:nvSpPr>
        <p:spPr/>
        <p:txBody>
          <a:bodyPr/>
          <a:lstStyle/>
          <a:p>
            <a:fld id="{2BB9A26D-D0EF-47D5-BFC5-5B3AC743E676}" type="datetimeFigureOut">
              <a:rPr lang="en-US" smtClean="0"/>
              <a:t>10/28/2026</a:t>
            </a:fld>
            <a:endParaRPr lang="en-US"/>
          </a:p>
        </p:txBody>
      </p:sp>
      <p:sp>
        <p:nvSpPr>
          <p:cNvPr id="4" name="Footer Placeholder 3">
            <a:extLst>
              <a:ext uri="{FF2B5EF4-FFF2-40B4-BE49-F238E27FC236}">
                <a16:creationId xmlns:a16="http://schemas.microsoft.com/office/drawing/2014/main" id="{91B9E048-4EC8-66BA-0E5A-CAE8AD586C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597E6E-3F37-AD13-9E69-BA3F92EAE98E}"/>
              </a:ext>
            </a:extLst>
          </p:cNvPr>
          <p:cNvSpPr>
            <a:spLocks noGrp="1"/>
          </p:cNvSpPr>
          <p:nvPr>
            <p:ph type="sldNum" sz="quarter" idx="12"/>
          </p:nvPr>
        </p:nvSpPr>
        <p:spPr/>
        <p:txBody>
          <a:bodyPr/>
          <a:lstStyle/>
          <a:p>
            <a:fld id="{7C3FB878-6ED0-4FAA-82BD-15D9CAA3E2BA}" type="slidenum">
              <a:rPr lang="en-US" smtClean="0"/>
              <a:t>‹#›</a:t>
            </a:fld>
            <a:endParaRPr lang="en-US"/>
          </a:p>
        </p:txBody>
      </p:sp>
    </p:spTree>
    <p:extLst>
      <p:ext uri="{BB962C8B-B14F-4D97-AF65-F5344CB8AC3E}">
        <p14:creationId xmlns:p14="http://schemas.microsoft.com/office/powerpoint/2010/main" val="3226738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D23ADF-5065-CC31-F0DE-CFC24484A5B2}"/>
              </a:ext>
            </a:extLst>
          </p:cNvPr>
          <p:cNvSpPr>
            <a:spLocks noGrp="1"/>
          </p:cNvSpPr>
          <p:nvPr>
            <p:ph type="dt" sz="half" idx="10"/>
          </p:nvPr>
        </p:nvSpPr>
        <p:spPr/>
        <p:txBody>
          <a:bodyPr/>
          <a:lstStyle/>
          <a:p>
            <a:fld id="{2BB9A26D-D0EF-47D5-BFC5-5B3AC743E676}" type="datetimeFigureOut">
              <a:rPr lang="en-US" smtClean="0"/>
              <a:t>10/28/2026</a:t>
            </a:fld>
            <a:endParaRPr lang="en-US"/>
          </a:p>
        </p:txBody>
      </p:sp>
      <p:sp>
        <p:nvSpPr>
          <p:cNvPr id="3" name="Footer Placeholder 2">
            <a:extLst>
              <a:ext uri="{FF2B5EF4-FFF2-40B4-BE49-F238E27FC236}">
                <a16:creationId xmlns:a16="http://schemas.microsoft.com/office/drawing/2014/main" id="{5B27FF65-C0A3-1D28-339A-8E6979B236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1AD9BE-6DE1-0D41-DDEA-8E3F79619D50}"/>
              </a:ext>
            </a:extLst>
          </p:cNvPr>
          <p:cNvSpPr>
            <a:spLocks noGrp="1"/>
          </p:cNvSpPr>
          <p:nvPr>
            <p:ph type="sldNum" sz="quarter" idx="12"/>
          </p:nvPr>
        </p:nvSpPr>
        <p:spPr/>
        <p:txBody>
          <a:bodyPr/>
          <a:lstStyle/>
          <a:p>
            <a:fld id="{7C3FB878-6ED0-4FAA-82BD-15D9CAA3E2BA}" type="slidenum">
              <a:rPr lang="en-US" smtClean="0"/>
              <a:t>‹#›</a:t>
            </a:fld>
            <a:endParaRPr lang="en-US"/>
          </a:p>
        </p:txBody>
      </p:sp>
    </p:spTree>
    <p:extLst>
      <p:ext uri="{BB962C8B-B14F-4D97-AF65-F5344CB8AC3E}">
        <p14:creationId xmlns:p14="http://schemas.microsoft.com/office/powerpoint/2010/main" val="350584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8E4E7-5EAC-3B6C-2687-EC66F14AA9B1}"/>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D3A08A-F9A7-C9D0-1610-F5F36FE8EB30}"/>
              </a:ext>
            </a:extLst>
          </p:cNvPr>
          <p:cNvSpPr>
            <a:spLocks noGrp="1"/>
          </p:cNvSpPr>
          <p:nvPr>
            <p:ph idx="1"/>
          </p:nvPr>
        </p:nvSpPr>
        <p:spPr>
          <a:xfrm>
            <a:off x="7774782" y="1481140"/>
            <a:ext cx="9258300" cy="73104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64F53F-54EB-4AC3-F149-A1C9897C3F4A}"/>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07D361-EA22-16F1-4DBF-1E42F4EF06B7}"/>
              </a:ext>
            </a:extLst>
          </p:cNvPr>
          <p:cNvSpPr>
            <a:spLocks noGrp="1"/>
          </p:cNvSpPr>
          <p:nvPr>
            <p:ph type="dt" sz="half" idx="10"/>
          </p:nvPr>
        </p:nvSpPr>
        <p:spPr/>
        <p:txBody>
          <a:bodyPr/>
          <a:lstStyle/>
          <a:p>
            <a:fld id="{2BB9A26D-D0EF-47D5-BFC5-5B3AC743E676}" type="datetimeFigureOut">
              <a:rPr lang="en-US" smtClean="0"/>
              <a:t>10/28/2026</a:t>
            </a:fld>
            <a:endParaRPr lang="en-US"/>
          </a:p>
        </p:txBody>
      </p:sp>
      <p:sp>
        <p:nvSpPr>
          <p:cNvPr id="6" name="Footer Placeholder 5">
            <a:extLst>
              <a:ext uri="{FF2B5EF4-FFF2-40B4-BE49-F238E27FC236}">
                <a16:creationId xmlns:a16="http://schemas.microsoft.com/office/drawing/2014/main" id="{831CDE59-98A9-5CB3-88FB-70EAE0843C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5D5593-8B46-FC4A-6AE7-CC5838C6F158}"/>
              </a:ext>
            </a:extLst>
          </p:cNvPr>
          <p:cNvSpPr>
            <a:spLocks noGrp="1"/>
          </p:cNvSpPr>
          <p:nvPr>
            <p:ph type="sldNum" sz="quarter" idx="12"/>
          </p:nvPr>
        </p:nvSpPr>
        <p:spPr/>
        <p:txBody>
          <a:bodyPr/>
          <a:lstStyle/>
          <a:p>
            <a:fld id="{7C3FB878-6ED0-4FAA-82BD-15D9CAA3E2BA}" type="slidenum">
              <a:rPr lang="en-US" smtClean="0"/>
              <a:t>‹#›</a:t>
            </a:fld>
            <a:endParaRPr lang="en-US"/>
          </a:p>
        </p:txBody>
      </p:sp>
    </p:spTree>
    <p:extLst>
      <p:ext uri="{BB962C8B-B14F-4D97-AF65-F5344CB8AC3E}">
        <p14:creationId xmlns:p14="http://schemas.microsoft.com/office/powerpoint/2010/main" val="3298557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34E94-57EB-F180-0A8E-00EBF408CC2F}"/>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64A1E0-23FB-3645-0421-63E278CCB23F}"/>
              </a:ext>
            </a:extLst>
          </p:cNvPr>
          <p:cNvSpPr>
            <a:spLocks noGrp="1" noChangeAspect="1"/>
          </p:cNvSpPr>
          <p:nvPr>
            <p:ph type="pic" idx="1"/>
          </p:nvPr>
        </p:nvSpPr>
        <p:spPr>
          <a:xfrm>
            <a:off x="7774782" y="1481140"/>
            <a:ext cx="9258300" cy="73104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88D1429-0866-4B8C-BFC7-B0DE6A1EEC53}"/>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80A3F1-2A9C-09FA-D3A0-F77BD53891FC}"/>
              </a:ext>
            </a:extLst>
          </p:cNvPr>
          <p:cNvSpPr>
            <a:spLocks noGrp="1"/>
          </p:cNvSpPr>
          <p:nvPr>
            <p:ph type="dt" sz="half" idx="10"/>
          </p:nvPr>
        </p:nvSpPr>
        <p:spPr/>
        <p:txBody>
          <a:bodyPr/>
          <a:lstStyle/>
          <a:p>
            <a:fld id="{2BB9A26D-D0EF-47D5-BFC5-5B3AC743E676}" type="datetimeFigureOut">
              <a:rPr lang="en-US" smtClean="0"/>
              <a:t>10/28/2026</a:t>
            </a:fld>
            <a:endParaRPr lang="en-US"/>
          </a:p>
        </p:txBody>
      </p:sp>
      <p:sp>
        <p:nvSpPr>
          <p:cNvPr id="6" name="Footer Placeholder 5">
            <a:extLst>
              <a:ext uri="{FF2B5EF4-FFF2-40B4-BE49-F238E27FC236}">
                <a16:creationId xmlns:a16="http://schemas.microsoft.com/office/drawing/2014/main" id="{D0288463-B185-7712-1515-9345592BDB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185CB3-915F-7208-07A0-04DC2F985E4E}"/>
              </a:ext>
            </a:extLst>
          </p:cNvPr>
          <p:cNvSpPr>
            <a:spLocks noGrp="1"/>
          </p:cNvSpPr>
          <p:nvPr>
            <p:ph type="sldNum" sz="quarter" idx="12"/>
          </p:nvPr>
        </p:nvSpPr>
        <p:spPr/>
        <p:txBody>
          <a:bodyPr/>
          <a:lstStyle/>
          <a:p>
            <a:fld id="{7C3FB878-6ED0-4FAA-82BD-15D9CAA3E2BA}" type="slidenum">
              <a:rPr lang="en-US" smtClean="0"/>
              <a:t>‹#›</a:t>
            </a:fld>
            <a:endParaRPr lang="en-US"/>
          </a:p>
        </p:txBody>
      </p:sp>
    </p:spTree>
    <p:extLst>
      <p:ext uri="{BB962C8B-B14F-4D97-AF65-F5344CB8AC3E}">
        <p14:creationId xmlns:p14="http://schemas.microsoft.com/office/powerpoint/2010/main" val="1259072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B1C7A-0505-3DE4-9B00-98A9E823DE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0A1737-4E04-02CD-C9FD-AB35A5B529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F46C8D-EE35-F4FB-4CB2-ADF693172DDF}"/>
              </a:ext>
            </a:extLst>
          </p:cNvPr>
          <p:cNvSpPr>
            <a:spLocks noGrp="1"/>
          </p:cNvSpPr>
          <p:nvPr>
            <p:ph type="dt" sz="half" idx="10"/>
          </p:nvPr>
        </p:nvSpPr>
        <p:spPr/>
        <p:txBody>
          <a:bodyPr/>
          <a:lstStyle/>
          <a:p>
            <a:fld id="{2BB9A26D-D0EF-47D5-BFC5-5B3AC743E676}" type="datetimeFigureOut">
              <a:rPr lang="en-US" smtClean="0"/>
              <a:t>10/28/2026</a:t>
            </a:fld>
            <a:endParaRPr lang="en-US"/>
          </a:p>
        </p:txBody>
      </p:sp>
      <p:sp>
        <p:nvSpPr>
          <p:cNvPr id="5" name="Footer Placeholder 4">
            <a:extLst>
              <a:ext uri="{FF2B5EF4-FFF2-40B4-BE49-F238E27FC236}">
                <a16:creationId xmlns:a16="http://schemas.microsoft.com/office/drawing/2014/main" id="{F41038A5-4260-74DE-2E7F-F230FEBA45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842AEB-1283-4ED0-E267-B03034209CA6}"/>
              </a:ext>
            </a:extLst>
          </p:cNvPr>
          <p:cNvSpPr>
            <a:spLocks noGrp="1"/>
          </p:cNvSpPr>
          <p:nvPr>
            <p:ph type="sldNum" sz="quarter" idx="12"/>
          </p:nvPr>
        </p:nvSpPr>
        <p:spPr/>
        <p:txBody>
          <a:bodyPr/>
          <a:lstStyle/>
          <a:p>
            <a:fld id="{7C3FB878-6ED0-4FAA-82BD-15D9CAA3E2BA}" type="slidenum">
              <a:rPr lang="en-US" smtClean="0"/>
              <a:t>‹#›</a:t>
            </a:fld>
            <a:endParaRPr lang="en-US"/>
          </a:p>
        </p:txBody>
      </p:sp>
    </p:spTree>
    <p:extLst>
      <p:ext uri="{BB962C8B-B14F-4D97-AF65-F5344CB8AC3E}">
        <p14:creationId xmlns:p14="http://schemas.microsoft.com/office/powerpoint/2010/main" val="751789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8A7DD0-34F9-656A-C0D4-42AFFBAF7E0B}"/>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74C23F-D68C-5D4B-1CCF-65F24361E71A}"/>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7A2B4B-1C59-6BFD-FCBC-7F9EC3960615}"/>
              </a:ext>
            </a:extLst>
          </p:cNvPr>
          <p:cNvSpPr>
            <a:spLocks noGrp="1"/>
          </p:cNvSpPr>
          <p:nvPr>
            <p:ph type="dt" sz="half" idx="10"/>
          </p:nvPr>
        </p:nvSpPr>
        <p:spPr/>
        <p:txBody>
          <a:bodyPr/>
          <a:lstStyle/>
          <a:p>
            <a:fld id="{2BB9A26D-D0EF-47D5-BFC5-5B3AC743E676}" type="datetimeFigureOut">
              <a:rPr lang="en-US" smtClean="0"/>
              <a:t>10/28/2026</a:t>
            </a:fld>
            <a:endParaRPr lang="en-US"/>
          </a:p>
        </p:txBody>
      </p:sp>
      <p:sp>
        <p:nvSpPr>
          <p:cNvPr id="5" name="Footer Placeholder 4">
            <a:extLst>
              <a:ext uri="{FF2B5EF4-FFF2-40B4-BE49-F238E27FC236}">
                <a16:creationId xmlns:a16="http://schemas.microsoft.com/office/drawing/2014/main" id="{FA12F1D1-F6C0-CF17-7C4E-89A6F95ABE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D3E626-F3E6-FD4D-59A6-E6C3C1AB1C3C}"/>
              </a:ext>
            </a:extLst>
          </p:cNvPr>
          <p:cNvSpPr>
            <a:spLocks noGrp="1"/>
          </p:cNvSpPr>
          <p:nvPr>
            <p:ph type="sldNum" sz="quarter" idx="12"/>
          </p:nvPr>
        </p:nvSpPr>
        <p:spPr/>
        <p:txBody>
          <a:bodyPr/>
          <a:lstStyle/>
          <a:p>
            <a:fld id="{7C3FB878-6ED0-4FAA-82BD-15D9CAA3E2BA}" type="slidenum">
              <a:rPr lang="en-US" smtClean="0"/>
              <a:t>‹#›</a:t>
            </a:fld>
            <a:endParaRPr lang="en-US"/>
          </a:p>
        </p:txBody>
      </p:sp>
    </p:spTree>
    <p:extLst>
      <p:ext uri="{BB962C8B-B14F-4D97-AF65-F5344CB8AC3E}">
        <p14:creationId xmlns:p14="http://schemas.microsoft.com/office/powerpoint/2010/main" val="1090529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797D51-0282-A722-4CC1-21D429E33416}"/>
              </a:ext>
            </a:extLst>
          </p:cNvPr>
          <p:cNvSpPr>
            <a:spLocks noGrp="1"/>
          </p:cNvSpPr>
          <p:nvPr>
            <p:ph type="title"/>
          </p:nvPr>
        </p:nvSpPr>
        <p:spPr>
          <a:xfrm>
            <a:off x="1257300" y="547690"/>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8D0C45-468D-8E46-3AD1-B34C0624B782}"/>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CFEA57-A466-62A3-B287-04515ED8790D}"/>
              </a:ext>
            </a:extLst>
          </p:cNvPr>
          <p:cNvSpPr>
            <a:spLocks noGrp="1"/>
          </p:cNvSpPr>
          <p:nvPr>
            <p:ph type="dt" sz="half" idx="2"/>
          </p:nvPr>
        </p:nvSpPr>
        <p:spPr>
          <a:xfrm>
            <a:off x="1257300" y="9534527"/>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2BB9A26D-D0EF-47D5-BFC5-5B3AC743E676}" type="datetimeFigureOut">
              <a:rPr lang="en-US" smtClean="0"/>
              <a:t>10/28/2026</a:t>
            </a:fld>
            <a:endParaRPr lang="en-US"/>
          </a:p>
        </p:txBody>
      </p:sp>
      <p:sp>
        <p:nvSpPr>
          <p:cNvPr id="5" name="Footer Placeholder 4">
            <a:extLst>
              <a:ext uri="{FF2B5EF4-FFF2-40B4-BE49-F238E27FC236}">
                <a16:creationId xmlns:a16="http://schemas.microsoft.com/office/drawing/2014/main" id="{67ABABFF-5E38-27A4-4798-2BF75396EAB7}"/>
              </a:ext>
            </a:extLst>
          </p:cNvPr>
          <p:cNvSpPr>
            <a:spLocks noGrp="1"/>
          </p:cNvSpPr>
          <p:nvPr>
            <p:ph type="ftr" sz="quarter" idx="3"/>
          </p:nvPr>
        </p:nvSpPr>
        <p:spPr>
          <a:xfrm>
            <a:off x="6057900" y="9534527"/>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0C11DB0-BF2B-EBC4-B6A8-8A92F0117716}"/>
              </a:ext>
            </a:extLst>
          </p:cNvPr>
          <p:cNvSpPr>
            <a:spLocks noGrp="1"/>
          </p:cNvSpPr>
          <p:nvPr>
            <p:ph type="sldNum" sz="quarter" idx="4"/>
          </p:nvPr>
        </p:nvSpPr>
        <p:spPr>
          <a:xfrm>
            <a:off x="12915900" y="9534527"/>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fld id="{7C3FB878-6ED0-4FAA-82BD-15D9CAA3E2BA}" type="slidenum">
              <a:rPr lang="en-US" smtClean="0"/>
              <a:t>‹#›</a:t>
            </a:fld>
            <a:endParaRPr lang="en-US"/>
          </a:p>
        </p:txBody>
      </p:sp>
    </p:spTree>
    <p:extLst>
      <p:ext uri="{BB962C8B-B14F-4D97-AF65-F5344CB8AC3E}">
        <p14:creationId xmlns:p14="http://schemas.microsoft.com/office/powerpoint/2010/main" val="692571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slide" Target="slide3.xml"/><Relationship Id="rId4" Type="http://schemas.openxmlformats.org/officeDocument/2006/relationships/slide" Target="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slide" Target="slide4.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slide" Target="slide5.xml"/><Relationship Id="rId5" Type="http://schemas.openxmlformats.org/officeDocument/2006/relationships/slide" Target="slide2.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slide" Target="slide6.xml"/><Relationship Id="rId5" Type="http://schemas.openxmlformats.org/officeDocument/2006/relationships/slide" Target="slide2.xml"/><Relationship Id="rId4" Type="http://schemas.openxmlformats.org/officeDocument/2006/relationships/slide" Target="slide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2.xml"/><Relationship Id="rId4" Type="http://schemas.openxmlformats.org/officeDocument/2006/relationships/slide" Target="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2.xml"/><Relationship Id="rId4" Type="http://schemas.openxmlformats.org/officeDocument/2006/relationships/slide" Target="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slide" Target="slide9.xml"/><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DBFA4D-074A-3996-0C73-29833F57CB05}"/>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01 / BUSINESS CONTEXT</a:t>
            </a:r>
          </a:p>
        </p:txBody>
      </p:sp>
      <p:sp>
        <p:nvSpPr>
          <p:cNvPr id="3" name="TextBox 2">
            <a:extLst>
              <a:ext uri="{FF2B5EF4-FFF2-40B4-BE49-F238E27FC236}">
                <a16:creationId xmlns:a16="http://schemas.microsoft.com/office/drawing/2014/main" id="{B131F5C3-B0FD-334D-7D56-783CD0170648}"/>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Hotel Guest Service Recovery Desk</a:t>
            </a:r>
          </a:p>
        </p:txBody>
      </p:sp>
      <p:sp>
        <p:nvSpPr>
          <p:cNvPr id="4" name="TextBox 3">
            <a:extLst>
              <a:ext uri="{FF2B5EF4-FFF2-40B4-BE49-F238E27FC236}">
                <a16:creationId xmlns:a16="http://schemas.microsoft.com/office/drawing/2014/main" id="{8CB1BF4B-E43B-B427-8BF9-D283102F8D2F}"/>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F9B58F4B-CCCE-1099-9662-BA07032B471E}"/>
              </a:ext>
            </a:extLst>
          </p:cNvPr>
          <p:cNvSpPr/>
          <p:nvPr/>
        </p:nvSpPr>
        <p:spPr>
          <a:xfrm>
            <a:off x="406400" y="1651000"/>
            <a:ext cx="11049000" cy="7175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4EADB7E-998B-40C9-6151-A8D3B8CBA15A}"/>
              </a:ext>
            </a:extLst>
          </p:cNvPr>
          <p:cNvSpPr txBox="1"/>
          <p:nvPr/>
        </p:nvSpPr>
        <p:spPr>
          <a:xfrm>
            <a:off x="762000" y="2006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CHALLENGE</a:t>
            </a:r>
          </a:p>
        </p:txBody>
      </p:sp>
      <p:sp>
        <p:nvSpPr>
          <p:cNvPr id="7" name="TextBox 6">
            <a:extLst>
              <a:ext uri="{FF2B5EF4-FFF2-40B4-BE49-F238E27FC236}">
                <a16:creationId xmlns:a16="http://schemas.microsoft.com/office/drawing/2014/main" id="{8ED80FC8-E963-37C1-2873-39801BAAF8B6}"/>
              </a:ext>
            </a:extLst>
          </p:cNvPr>
          <p:cNvSpPr txBox="1"/>
          <p:nvPr/>
        </p:nvSpPr>
        <p:spPr>
          <a:xfrm>
            <a:off x="762000" y="2565400"/>
            <a:ext cx="10287000" cy="1246495"/>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Guest concerns arrive in free text and multiple languages. Staff need booking context, a clear handoff and approved recovery options without promising unavailable rooms or compensation.</a:t>
            </a:r>
          </a:p>
        </p:txBody>
      </p:sp>
      <p:sp>
        <p:nvSpPr>
          <p:cNvPr id="8" name="TextBox 7">
            <a:extLst>
              <a:ext uri="{FF2B5EF4-FFF2-40B4-BE49-F238E27FC236}">
                <a16:creationId xmlns:a16="http://schemas.microsoft.com/office/drawing/2014/main" id="{F850D9C9-DDEB-5D61-3C50-E913899EE50A}"/>
              </a:ext>
            </a:extLst>
          </p:cNvPr>
          <p:cNvSpPr txBox="1"/>
          <p:nvPr/>
        </p:nvSpPr>
        <p:spPr>
          <a:xfrm>
            <a:off x="762000" y="4800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REVIEWABLE OUTCOME</a:t>
            </a:r>
          </a:p>
        </p:txBody>
      </p:sp>
      <p:sp>
        <p:nvSpPr>
          <p:cNvPr id="9" name="TextBox 8">
            <a:extLst>
              <a:ext uri="{FF2B5EF4-FFF2-40B4-BE49-F238E27FC236}">
                <a16:creationId xmlns:a16="http://schemas.microsoft.com/office/drawing/2014/main" id="{BEF926B6-A353-FF68-E4F3-2838FD64489F}"/>
              </a:ext>
            </a:extLst>
          </p:cNvPr>
          <p:cNvSpPr txBox="1"/>
          <p:nvPr/>
        </p:nvSpPr>
        <p:spPr>
          <a:xfrm>
            <a:off x="762000" y="5397500"/>
            <a:ext cx="10287000" cy="1154162"/>
          </a:xfrm>
          <a:prstGeom prst="rect">
            <a:avLst/>
          </a:prstGeom>
          <a:noFill/>
        </p:spPr>
        <p:txBody>
          <a:bodyPr vert="horz" wrap="square" lIns="0" tIns="0" rIns="0" bIns="0" rtlCol="0">
            <a:spAutoFit/>
          </a:bodyPr>
          <a:lstStyle/>
          <a:p>
            <a:r>
              <a:rPr lang="en-US" sz="2500">
                <a:solidFill>
                  <a:srgbClr val="122D46"/>
                </a:solidFill>
                <a:latin typeface="Aptos" panose="020B0004020202020204" pitchFamily="34" charset="0"/>
              </a:rPr>
              <a:t>Create a service task, manager briefing and courteous draft reply. Measure time to first useful response and policy-consistent routing, not assumed guest satisfaction gains.</a:t>
            </a:r>
          </a:p>
        </p:txBody>
      </p:sp>
      <p:sp>
        <p:nvSpPr>
          <p:cNvPr id="10" name="TextBox 9">
            <a:extLst>
              <a:ext uri="{FF2B5EF4-FFF2-40B4-BE49-F238E27FC236}">
                <a16:creationId xmlns:a16="http://schemas.microsoft.com/office/drawing/2014/main" id="{98D8906A-29CC-1309-5978-546E61FDD43F}"/>
              </a:ext>
            </a:extLst>
          </p:cNvPr>
          <p:cNvSpPr txBox="1"/>
          <p:nvPr/>
        </p:nvSpPr>
        <p:spPr>
          <a:xfrm>
            <a:off x="12065000" y="2006600"/>
            <a:ext cx="546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TRUST BOUNDARY</a:t>
            </a:r>
          </a:p>
        </p:txBody>
      </p:sp>
      <p:sp>
        <p:nvSpPr>
          <p:cNvPr id="11" name="TextBox 10">
            <a:extLst>
              <a:ext uri="{FF2B5EF4-FFF2-40B4-BE49-F238E27FC236}">
                <a16:creationId xmlns:a16="http://schemas.microsoft.com/office/drawing/2014/main" id="{7A373CCB-4E2E-6D72-C93D-B4FD9AC2C8B5}"/>
              </a:ext>
            </a:extLst>
          </p:cNvPr>
          <p:cNvSpPr txBox="1"/>
          <p:nvPr/>
        </p:nvSpPr>
        <p:spPr>
          <a:xfrm>
            <a:off x="12065000" y="2628900"/>
            <a:ext cx="5461000" cy="1769715"/>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Human boundary: No invented availability, guaranteed refund or accessibility determination. Urgent safety matters route to staff using an approved notice; the app is not an emergency service.</a:t>
            </a:r>
          </a:p>
        </p:txBody>
      </p:sp>
      <p:sp>
        <p:nvSpPr>
          <p:cNvPr id="12" name="TextBox 11">
            <a:extLst>
              <a:ext uri="{FF2B5EF4-FFF2-40B4-BE49-F238E27FC236}">
                <a16:creationId xmlns:a16="http://schemas.microsoft.com/office/drawing/2014/main" id="{D4D99A2D-A3C6-C0F9-DBA6-7B80F2CC6F70}"/>
              </a:ext>
            </a:extLst>
          </p:cNvPr>
          <p:cNvSpPr txBox="1"/>
          <p:nvPr/>
        </p:nvSpPr>
        <p:spPr>
          <a:xfrm>
            <a:off x="12065000" y="6731000"/>
            <a:ext cx="5461000" cy="1015663"/>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Six-step native .NET MAUI walkthrough. All people, records, policies and evidence are fictional.</a:t>
            </a:r>
          </a:p>
        </p:txBody>
      </p:sp>
      <p:sp>
        <p:nvSpPr>
          <p:cNvPr id="13" name="TextBox 12">
            <a:hlinkClick r:id="rId3" action="ppaction://hlinksldjump"/>
            <a:extLst>
              <a:ext uri="{FF2B5EF4-FFF2-40B4-BE49-F238E27FC236}">
                <a16:creationId xmlns:a16="http://schemas.microsoft.com/office/drawing/2014/main" id="{33DC8241-BF9F-1FB3-75F6-5E2BD96C279A}"/>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4" name="TextBox 13">
            <a:hlinkClick r:id="rId4" action="ppaction://hlinksldjump"/>
            <a:extLst>
              <a:ext uri="{FF2B5EF4-FFF2-40B4-BE49-F238E27FC236}">
                <a16:creationId xmlns:a16="http://schemas.microsoft.com/office/drawing/2014/main" id="{43B41A4F-47DF-C74F-5070-572F4ACA1B7D}"/>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5" name="TextBox 14">
            <a:hlinkClick r:id="rId4" action="ppaction://hlinksldjump"/>
            <a:extLst>
              <a:ext uri="{FF2B5EF4-FFF2-40B4-BE49-F238E27FC236}">
                <a16:creationId xmlns:a16="http://schemas.microsoft.com/office/drawing/2014/main" id="{1A5F2DE1-6277-1CC9-1315-3A0FFDDEA55F}"/>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680716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FB5E5C-267A-26F6-5833-649223A03894}"/>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02 / PRODUCTS, FLOW AND EVIDENCE</a:t>
            </a:r>
          </a:p>
        </p:txBody>
      </p:sp>
      <p:sp>
        <p:nvSpPr>
          <p:cNvPr id="3" name="TextBox 2">
            <a:extLst>
              <a:ext uri="{FF2B5EF4-FFF2-40B4-BE49-F238E27FC236}">
                <a16:creationId xmlns:a16="http://schemas.microsoft.com/office/drawing/2014/main" id="{110A4F2D-87DF-7CCE-D18C-DBE38A04140E}"/>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How this demo is implemented</a:t>
            </a:r>
          </a:p>
        </p:txBody>
      </p:sp>
      <p:sp>
        <p:nvSpPr>
          <p:cNvPr id="4" name="TextBox 3">
            <a:extLst>
              <a:ext uri="{FF2B5EF4-FFF2-40B4-BE49-F238E27FC236}">
                <a16:creationId xmlns:a16="http://schemas.microsoft.com/office/drawing/2014/main" id="{083EBA40-BE41-B0E1-F8E0-6EB0F10C8939}"/>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F110FFB3-0148-6A1F-DE71-AFB7344A9291}"/>
              </a:ext>
            </a:extLst>
          </p:cNvPr>
          <p:cNvSpPr/>
          <p:nvPr/>
        </p:nvSpPr>
        <p:spPr>
          <a:xfrm>
            <a:off x="4064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C62DE36-1B1E-4050-2053-43B0D01F0D9B}"/>
              </a:ext>
            </a:extLst>
          </p:cNvPr>
          <p:cNvSpPr txBox="1"/>
          <p:nvPr/>
        </p:nvSpPr>
        <p:spPr>
          <a:xfrm>
            <a:off x="6604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01</a:t>
            </a:r>
          </a:p>
        </p:txBody>
      </p:sp>
      <p:sp>
        <p:nvSpPr>
          <p:cNvPr id="7" name="TextBox 6">
            <a:extLst>
              <a:ext uri="{FF2B5EF4-FFF2-40B4-BE49-F238E27FC236}">
                <a16:creationId xmlns:a16="http://schemas.microsoft.com/office/drawing/2014/main" id="{2BE1BBA8-8BC6-9E88-2DE4-B286BA576314}"/>
              </a:ext>
            </a:extLst>
          </p:cNvPr>
          <p:cNvSpPr txBox="1"/>
          <p:nvPr/>
        </p:nvSpPr>
        <p:spPr>
          <a:xfrm>
            <a:off x="6604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Windows .NET MAUI</a:t>
            </a:r>
          </a:p>
        </p:txBody>
      </p:sp>
      <p:sp>
        <p:nvSpPr>
          <p:cNvPr id="8" name="TextBox 7">
            <a:extLst>
              <a:ext uri="{FF2B5EF4-FFF2-40B4-BE49-F238E27FC236}">
                <a16:creationId xmlns:a16="http://schemas.microsoft.com/office/drawing/2014/main" id="{7272924E-FFE1-965A-8D93-0439ED38C05F}"/>
              </a:ext>
            </a:extLst>
          </p:cNvPr>
          <p:cNvSpPr txBox="1"/>
          <p:nvPr/>
        </p:nvSpPr>
        <p:spPr>
          <a:xfrm>
            <a:off x="660400" y="3937000"/>
            <a:ext cx="3619500" cy="615553"/>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Synthetic staff workbench; exact C# rules; reviewer control.</a:t>
            </a:r>
          </a:p>
        </p:txBody>
      </p:sp>
      <p:sp>
        <p:nvSpPr>
          <p:cNvPr id="9" name="Rectangle: Rounded Corners 8">
            <a:extLst>
              <a:ext uri="{FF2B5EF4-FFF2-40B4-BE49-F238E27FC236}">
                <a16:creationId xmlns:a16="http://schemas.microsoft.com/office/drawing/2014/main" id="{109E0E33-37F6-DDEC-C362-BB34FF7477B4}"/>
              </a:ext>
            </a:extLst>
          </p:cNvPr>
          <p:cNvSpPr/>
          <p:nvPr/>
        </p:nvSpPr>
        <p:spPr>
          <a:xfrm>
            <a:off x="48768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D2A0D6D-7839-AD71-6C3E-1E86F5FD8E2C}"/>
              </a:ext>
            </a:extLst>
          </p:cNvPr>
          <p:cNvSpPr txBox="1"/>
          <p:nvPr/>
        </p:nvSpPr>
        <p:spPr>
          <a:xfrm>
            <a:off x="51308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02</a:t>
            </a:r>
          </a:p>
        </p:txBody>
      </p:sp>
      <p:sp>
        <p:nvSpPr>
          <p:cNvPr id="11" name="TextBox 10">
            <a:extLst>
              <a:ext uri="{FF2B5EF4-FFF2-40B4-BE49-F238E27FC236}">
                <a16:creationId xmlns:a16="http://schemas.microsoft.com/office/drawing/2014/main" id="{430F99BE-9036-21BB-FC2E-D3A466E7D068}"/>
              </a:ext>
            </a:extLst>
          </p:cNvPr>
          <p:cNvSpPr txBox="1"/>
          <p:nvPr/>
        </p:nvSpPr>
        <p:spPr>
          <a:xfrm>
            <a:off x="51308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SQL - private</a:t>
            </a:r>
          </a:p>
        </p:txBody>
      </p:sp>
      <p:sp>
        <p:nvSpPr>
          <p:cNvPr id="12" name="TextBox 11">
            <a:extLst>
              <a:ext uri="{FF2B5EF4-FFF2-40B4-BE49-F238E27FC236}">
                <a16:creationId xmlns:a16="http://schemas.microsoft.com/office/drawing/2014/main" id="{13F62149-C636-5F9A-2AB2-2DD639550800}"/>
              </a:ext>
            </a:extLst>
          </p:cNvPr>
          <p:cNvSpPr txBox="1"/>
          <p:nvPr/>
        </p:nvSpPr>
        <p:spPr>
          <a:xfrm>
            <a:off x="51308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Fixture snapshots, review versions, audit events and idempotent internal outbox.</a:t>
            </a:r>
          </a:p>
        </p:txBody>
      </p:sp>
      <p:sp>
        <p:nvSpPr>
          <p:cNvPr id="13" name="Rectangle: Rounded Corners 12">
            <a:extLst>
              <a:ext uri="{FF2B5EF4-FFF2-40B4-BE49-F238E27FC236}">
                <a16:creationId xmlns:a16="http://schemas.microsoft.com/office/drawing/2014/main" id="{F1290848-6C5C-BB40-8A99-69A1BEC1A2B4}"/>
              </a:ext>
            </a:extLst>
          </p:cNvPr>
          <p:cNvSpPr/>
          <p:nvPr/>
        </p:nvSpPr>
        <p:spPr>
          <a:xfrm>
            <a:off x="93472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E252A0B-53E9-4EA4-5ADD-165EB2ACB307}"/>
              </a:ext>
            </a:extLst>
          </p:cNvPr>
          <p:cNvSpPr txBox="1"/>
          <p:nvPr/>
        </p:nvSpPr>
        <p:spPr>
          <a:xfrm>
            <a:off x="96012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03</a:t>
            </a:r>
          </a:p>
        </p:txBody>
      </p:sp>
      <p:sp>
        <p:nvSpPr>
          <p:cNvPr id="15" name="TextBox 14">
            <a:extLst>
              <a:ext uri="{FF2B5EF4-FFF2-40B4-BE49-F238E27FC236}">
                <a16:creationId xmlns:a16="http://schemas.microsoft.com/office/drawing/2014/main" id="{75B63ABF-3C58-154E-7467-EE19119A939C}"/>
              </a:ext>
            </a:extLst>
          </p:cNvPr>
          <p:cNvSpPr txBox="1"/>
          <p:nvPr/>
        </p:nvSpPr>
        <p:spPr>
          <a:xfrm>
            <a:off x="96012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AI services</a:t>
            </a:r>
          </a:p>
        </p:txBody>
      </p:sp>
      <p:sp>
        <p:nvSpPr>
          <p:cNvPr id="16" name="TextBox 15">
            <a:extLst>
              <a:ext uri="{FF2B5EF4-FFF2-40B4-BE49-F238E27FC236}">
                <a16:creationId xmlns:a16="http://schemas.microsoft.com/office/drawing/2014/main" id="{4E8103EF-8046-5C5B-BDC4-E277616CAC9E}"/>
              </a:ext>
            </a:extLst>
          </p:cNvPr>
          <p:cNvSpPr txBox="1"/>
          <p:nvPr/>
        </p:nvSpPr>
        <p:spPr>
          <a:xfrm>
            <a:off x="9601200" y="3937000"/>
            <a:ext cx="3619500" cy="615553"/>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OpenAI structured draft + Content Safety</a:t>
            </a:r>
          </a:p>
        </p:txBody>
      </p:sp>
      <p:sp>
        <p:nvSpPr>
          <p:cNvPr id="17" name="Rectangle: Rounded Corners 16">
            <a:extLst>
              <a:ext uri="{FF2B5EF4-FFF2-40B4-BE49-F238E27FC236}">
                <a16:creationId xmlns:a16="http://schemas.microsoft.com/office/drawing/2014/main" id="{EA2C88CC-067F-A422-8285-AACB1A83F83B}"/>
              </a:ext>
            </a:extLst>
          </p:cNvPr>
          <p:cNvSpPr/>
          <p:nvPr/>
        </p:nvSpPr>
        <p:spPr>
          <a:xfrm>
            <a:off x="138176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7050AAF-E567-9527-E389-0D5675E4468B}"/>
              </a:ext>
            </a:extLst>
          </p:cNvPr>
          <p:cNvSpPr txBox="1"/>
          <p:nvPr/>
        </p:nvSpPr>
        <p:spPr>
          <a:xfrm>
            <a:off x="140716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04</a:t>
            </a:r>
          </a:p>
        </p:txBody>
      </p:sp>
      <p:sp>
        <p:nvSpPr>
          <p:cNvPr id="19" name="TextBox 18">
            <a:extLst>
              <a:ext uri="{FF2B5EF4-FFF2-40B4-BE49-F238E27FC236}">
                <a16:creationId xmlns:a16="http://schemas.microsoft.com/office/drawing/2014/main" id="{AD7E2950-670E-4226-A74D-36CA7230549F}"/>
              </a:ext>
            </a:extLst>
          </p:cNvPr>
          <p:cNvSpPr txBox="1"/>
          <p:nvPr/>
        </p:nvSpPr>
        <p:spPr>
          <a:xfrm>
            <a:off x="140716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Internal review / demo sink</a:t>
            </a:r>
          </a:p>
        </p:txBody>
      </p:sp>
      <p:sp>
        <p:nvSpPr>
          <p:cNvPr id="20" name="TextBox 19">
            <a:extLst>
              <a:ext uri="{FF2B5EF4-FFF2-40B4-BE49-F238E27FC236}">
                <a16:creationId xmlns:a16="http://schemas.microsoft.com/office/drawing/2014/main" id="{40B06044-317B-7FC3-12A5-EDFB72C24CEC}"/>
              </a:ext>
            </a:extLst>
          </p:cNvPr>
          <p:cNvSpPr txBox="1"/>
          <p:nvPr/>
        </p:nvSpPr>
        <p:spPr>
          <a:xfrm>
            <a:off x="140716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Recorded approval; Simulated notification. External connectors disabled.</a:t>
            </a:r>
          </a:p>
        </p:txBody>
      </p:sp>
      <p:sp>
        <p:nvSpPr>
          <p:cNvPr id="21" name="TextBox 20">
            <a:extLst>
              <a:ext uri="{FF2B5EF4-FFF2-40B4-BE49-F238E27FC236}">
                <a16:creationId xmlns:a16="http://schemas.microsoft.com/office/drawing/2014/main" id="{5A21F128-EA76-6CDB-727D-EFD3286B418D}"/>
              </a:ext>
            </a:extLst>
          </p:cNvPr>
          <p:cNvSpPr txBox="1"/>
          <p:nvPr/>
        </p:nvSpPr>
        <p:spPr>
          <a:xfrm>
            <a:off x="508000" y="6032500"/>
            <a:ext cx="16764000" cy="1061829"/>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Live validation: 2026-10-28T15:22:08.3162913+00:00
Resource group: rg-demo-hotel
Model deployment: brief / gpt-4.1-mini | Tokens: 1880 in / 587 out</a:t>
            </a:r>
          </a:p>
        </p:txBody>
      </p:sp>
      <p:sp>
        <p:nvSpPr>
          <p:cNvPr id="22" name="TextBox 21">
            <a:extLst>
              <a:ext uri="{FF2B5EF4-FFF2-40B4-BE49-F238E27FC236}">
                <a16:creationId xmlns:a16="http://schemas.microsoft.com/office/drawing/2014/main" id="{4DA9CCAB-21EA-C0D1-B0AD-93D4537E8B0A}"/>
              </a:ext>
            </a:extLst>
          </p:cNvPr>
          <p:cNvSpPr txBox="1"/>
          <p:nvPr/>
        </p:nvSpPr>
        <p:spPr>
          <a:xfrm>
            <a:off x="508000" y="7493000"/>
            <a:ext cx="16764000" cy="707886"/>
          </a:xfrm>
          <a:prstGeom prst="rect">
            <a:avLst/>
          </a:prstGeom>
          <a:noFill/>
        </p:spPr>
        <p:txBody>
          <a:bodyPr vert="horz" wrap="square" lIns="0" tIns="0" rIns="0" bIns="0" rtlCol="0">
            <a:spAutoFit/>
          </a:bodyPr>
          <a:lstStyle/>
          <a:p>
            <a:r>
              <a:rPr lang="en-US" sz="2300">
                <a:solidFill>
                  <a:srgbClr val="007F85"/>
                </a:solidFill>
                <a:latin typeface="Aptos" panose="020B0004020202020204" pitchFamily="34" charset="0"/>
              </a:rPr>
              <a:t>SQL public access stays disabled. An ephemeral Azure container executes inside the private VNet; desktop screens replay its recorded outputs.</a:t>
            </a:r>
          </a:p>
        </p:txBody>
      </p:sp>
      <p:sp>
        <p:nvSpPr>
          <p:cNvPr id="23" name="TextBox 22">
            <a:extLst>
              <a:ext uri="{FF2B5EF4-FFF2-40B4-BE49-F238E27FC236}">
                <a16:creationId xmlns:a16="http://schemas.microsoft.com/office/drawing/2014/main" id="{7F3FA18E-3BC8-6851-CCCC-5CB9131DEF54}"/>
              </a:ext>
            </a:extLst>
          </p:cNvPr>
          <p:cNvSpPr txBox="1"/>
          <p:nvPr/>
        </p:nvSpPr>
        <p:spPr>
          <a:xfrm>
            <a:off x="508000" y="8572500"/>
            <a:ext cx="16764000" cy="307777"/>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Limits: curated documents only; no arbitrary upload/scanning claim; no public production API; Search is filtered keyword retrieval.</a:t>
            </a:r>
          </a:p>
        </p:txBody>
      </p:sp>
      <p:sp>
        <p:nvSpPr>
          <p:cNvPr id="24" name="TextBox 23">
            <a:hlinkClick r:id="rId3" action="ppaction://hlinksldjump"/>
            <a:extLst>
              <a:ext uri="{FF2B5EF4-FFF2-40B4-BE49-F238E27FC236}">
                <a16:creationId xmlns:a16="http://schemas.microsoft.com/office/drawing/2014/main" id="{3DBDC052-E3F8-9C21-F134-D30084D2AE30}"/>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25" name="TextBox 24">
            <a:hlinkClick r:id="rId4" action="ppaction://hlinksldjump"/>
            <a:extLst>
              <a:ext uri="{FF2B5EF4-FFF2-40B4-BE49-F238E27FC236}">
                <a16:creationId xmlns:a16="http://schemas.microsoft.com/office/drawing/2014/main" id="{53E05B2A-B9C5-60F4-FE1B-F2763195DC77}"/>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26" name="TextBox 25">
            <a:hlinkClick r:id="rId5" action="ppaction://hlinksldjump"/>
            <a:extLst>
              <a:ext uri="{FF2B5EF4-FFF2-40B4-BE49-F238E27FC236}">
                <a16:creationId xmlns:a16="http://schemas.microsoft.com/office/drawing/2014/main" id="{B2F8EF04-B923-F9CB-EE3E-D68800BD2E46}"/>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699109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7380A9-BDD6-DAC2-ECD5-4363C378BB54}"/>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2D2729A6-9FBA-F99B-1D9E-911861CF424B}"/>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01: Guest request</a:t>
            </a:r>
          </a:p>
        </p:txBody>
      </p:sp>
      <p:sp>
        <p:nvSpPr>
          <p:cNvPr id="4" name="TextBox 3">
            <a:extLst>
              <a:ext uri="{FF2B5EF4-FFF2-40B4-BE49-F238E27FC236}">
                <a16:creationId xmlns:a16="http://schemas.microsoft.com/office/drawing/2014/main" id="{A0A86CE5-769A-1EA4-DA3D-00CE8E6133FA}"/>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F7CB8168-FA7A-94D8-211E-D51FA4004A1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EBC923AC-26F2-2B40-13A8-4A74187872F2}"/>
              </a:ext>
            </a:extLst>
          </p:cNvPr>
          <p:cNvSpPr/>
          <p:nvPr/>
        </p:nvSpPr>
        <p:spPr>
          <a:xfrm>
            <a:off x="611815" y="355135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3D05876-8D5D-47F1-3ED7-99D2929D1479}"/>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AF85BDD0-A619-AD71-D80E-2380A024C3B0}"/>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01 in the left-hand flow.</a:t>
            </a:r>
          </a:p>
        </p:txBody>
      </p:sp>
      <p:sp>
        <p:nvSpPr>
          <p:cNvPr id="10" name="TextBox 9">
            <a:extLst>
              <a:ext uri="{FF2B5EF4-FFF2-40B4-BE49-F238E27FC236}">
                <a16:creationId xmlns:a16="http://schemas.microsoft.com/office/drawing/2014/main" id="{05872C0B-00E2-EAE5-9C9E-4CA10251E0CE}"/>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64886B73-C15D-60D8-AC85-163CD084E201}"/>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809CC9C9-AF5C-197C-7126-BE6A1470028F}"/>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EB01CDB1-E500-4C4F-5AD9-D6B1F452F745}"/>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DFF6A585-AD0B-7E88-9300-5863DCA6215D}"/>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4" action="ppaction://hlinksldjump"/>
            <a:extLst>
              <a:ext uri="{FF2B5EF4-FFF2-40B4-BE49-F238E27FC236}">
                <a16:creationId xmlns:a16="http://schemas.microsoft.com/office/drawing/2014/main" id="{D46B5D9A-A92D-ECB0-3DB2-34F97E3981F3}"/>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5" action="ppaction://hlinksldjump"/>
            <a:extLst>
              <a:ext uri="{FF2B5EF4-FFF2-40B4-BE49-F238E27FC236}">
                <a16:creationId xmlns:a16="http://schemas.microsoft.com/office/drawing/2014/main" id="{AFC9F2F9-4429-438D-6069-599C4E82AD22}"/>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94490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DBA0EE-661B-003F-30AC-8425DF547BAE}"/>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342EC24A-FF3D-1E02-E844-126ACDD33760}"/>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02: Routed staff task</a:t>
            </a:r>
          </a:p>
        </p:txBody>
      </p:sp>
      <p:sp>
        <p:nvSpPr>
          <p:cNvPr id="4" name="TextBox 3">
            <a:extLst>
              <a:ext uri="{FF2B5EF4-FFF2-40B4-BE49-F238E27FC236}">
                <a16:creationId xmlns:a16="http://schemas.microsoft.com/office/drawing/2014/main" id="{48C7A030-B64F-6522-902D-E4C403DA4625}"/>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6EBEAB53-FD62-CAC0-7E17-10154EB15B4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EB08E9A5-7FB0-012B-30CD-E7CF467408B8}"/>
              </a:ext>
            </a:extLst>
          </p:cNvPr>
          <p:cNvSpPr/>
          <p:nvPr/>
        </p:nvSpPr>
        <p:spPr>
          <a:xfrm>
            <a:off x="611815" y="429263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B3A5A2D-9C83-BDF4-D839-6342278AD187}"/>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3F3F6842-6C4A-6C38-7BCF-FB051B0E936B}"/>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02 in the left-hand flow.</a:t>
            </a:r>
          </a:p>
        </p:txBody>
      </p:sp>
      <p:sp>
        <p:nvSpPr>
          <p:cNvPr id="10" name="TextBox 9">
            <a:extLst>
              <a:ext uri="{FF2B5EF4-FFF2-40B4-BE49-F238E27FC236}">
                <a16:creationId xmlns:a16="http://schemas.microsoft.com/office/drawing/2014/main" id="{5B4431FF-7D65-BBB8-FFAA-9E16D4985823}"/>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E9F72AD2-E85A-E907-BB22-79FA150690AA}"/>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390E386D-A429-ED16-EE52-8B7D3E7082D3}"/>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3ABC8CEB-E67B-B56B-2C0B-1E32A10384B5}"/>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D7BD8E02-768D-1894-DF59-4008A9ADA221}"/>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23649DA1-2AD9-D62A-24A3-D40999C9C24A}"/>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4AA2F25E-751F-80FA-CD75-FC23AA8002E4}"/>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258708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CDD6D6-8B0E-216A-AA1F-1747B9119AAD}"/>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6D9B3A94-3161-519D-0E4D-9AF61D322C06}"/>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03: Allowed recovery</a:t>
            </a:r>
          </a:p>
        </p:txBody>
      </p:sp>
      <p:sp>
        <p:nvSpPr>
          <p:cNvPr id="4" name="TextBox 3">
            <a:extLst>
              <a:ext uri="{FF2B5EF4-FFF2-40B4-BE49-F238E27FC236}">
                <a16:creationId xmlns:a16="http://schemas.microsoft.com/office/drawing/2014/main" id="{AA43CFB6-14E3-6D1B-4DA2-0C69CAE1568C}"/>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A36D23E9-7F36-DD4B-B853-C4FAB2CCACE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71067444-29A9-0F47-457A-FE1BF2A34066}"/>
              </a:ext>
            </a:extLst>
          </p:cNvPr>
          <p:cNvSpPr/>
          <p:nvPr/>
        </p:nvSpPr>
        <p:spPr>
          <a:xfrm>
            <a:off x="611815" y="503391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D7A9CBB-1908-67B0-BCBF-D46E56A560D3}"/>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358A0AF3-A82A-4EC6-DE12-D94DF203F68B}"/>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03 in the left-hand flow.</a:t>
            </a:r>
          </a:p>
        </p:txBody>
      </p:sp>
      <p:sp>
        <p:nvSpPr>
          <p:cNvPr id="10" name="TextBox 9">
            <a:extLst>
              <a:ext uri="{FF2B5EF4-FFF2-40B4-BE49-F238E27FC236}">
                <a16:creationId xmlns:a16="http://schemas.microsoft.com/office/drawing/2014/main" id="{8B4CFAD7-62B4-C517-C87E-A2129AA05610}"/>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1E6301B2-9CB1-754E-DEF7-C92144731479}"/>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4CF00105-5E87-6AAE-0DCB-6AFC7DEFA243}"/>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843F79C2-C7A4-760E-6F64-6F8A78FF7A91}"/>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BA24DABE-9F34-8074-DE34-CFF8B98870EA}"/>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F36FB60C-4BF4-F88C-07A6-B9D99BD512CC}"/>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A68B0551-9D20-E9D7-310B-CC3568588818}"/>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094764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C331F8-4FCC-9A98-E6FA-A8145161C311}"/>
              </a:ext>
            </a:extLst>
          </p:cNvPr>
          <p:cNvSpPr txBox="1"/>
          <p:nvPr/>
        </p:nvSpPr>
        <p:spPr>
          <a:xfrm>
            <a:off x="406400" y="279400"/>
            <a:ext cx="16891000" cy="200055"/>
          </a:xfrm>
          <a:prstGeom prst="rect">
            <a:avLst/>
          </a:prstGeom>
          <a:noFill/>
        </p:spPr>
        <p:txBody>
          <a:bodyPr vert="horz" wrap="square" lIns="0" tIns="0" rIns="0" bIns="0" rtlCol="0">
            <a:spAutoFit/>
          </a:bodyPr>
          <a:lstStyle/>
          <a:p>
            <a:r>
              <a:rPr lang="it-IT" sz="1300" b="1">
                <a:solidFill>
                  <a:srgbClr val="007F85"/>
                </a:solidFill>
                <a:latin typeface="Aptos" panose="020B0004020202020204" pitchFamily="34" charset="0"/>
              </a:rPr>
              <a:t>NATIVE MAUI / DETERMINISTIC GUARD - NO AI REQUEST</a:t>
            </a:r>
            <a:endParaRPr lang="en-US" sz="1300" b="1">
              <a:solidFill>
                <a:srgbClr val="007F85"/>
              </a:solidFill>
              <a:latin typeface="Aptos" panose="020B0004020202020204" pitchFamily="34" charset="0"/>
            </a:endParaRPr>
          </a:p>
        </p:txBody>
      </p:sp>
      <p:sp>
        <p:nvSpPr>
          <p:cNvPr id="3" name="TextBox 2">
            <a:extLst>
              <a:ext uri="{FF2B5EF4-FFF2-40B4-BE49-F238E27FC236}">
                <a16:creationId xmlns:a16="http://schemas.microsoft.com/office/drawing/2014/main" id="{ABBC4ACD-50E3-F424-DFE9-51F34029F4B4}"/>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04: Wrong stay denied</a:t>
            </a:r>
          </a:p>
        </p:txBody>
      </p:sp>
      <p:sp>
        <p:nvSpPr>
          <p:cNvPr id="4" name="TextBox 3">
            <a:extLst>
              <a:ext uri="{FF2B5EF4-FFF2-40B4-BE49-F238E27FC236}">
                <a16:creationId xmlns:a16="http://schemas.microsoft.com/office/drawing/2014/main" id="{B3411AC0-A139-AAA2-6AEA-19206127BCFC}"/>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97137DC3-8FA3-3A96-BB02-EEDFAE18B9A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251994A4-FCD2-B24F-6530-486D93550A9B}"/>
              </a:ext>
            </a:extLst>
          </p:cNvPr>
          <p:cNvSpPr/>
          <p:nvPr/>
        </p:nvSpPr>
        <p:spPr>
          <a:xfrm>
            <a:off x="611815" y="577519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6D35CCF-9C2C-7960-F5CF-1B24EB80EC4D}"/>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B72A8BED-C581-0A94-1928-F93C7C8B3586}"/>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04 in the left-hand flow.</a:t>
            </a:r>
          </a:p>
        </p:txBody>
      </p:sp>
      <p:sp>
        <p:nvSpPr>
          <p:cNvPr id="10" name="TextBox 9">
            <a:extLst>
              <a:ext uri="{FF2B5EF4-FFF2-40B4-BE49-F238E27FC236}">
                <a16:creationId xmlns:a16="http://schemas.microsoft.com/office/drawing/2014/main" id="{2482F9A3-A5BF-1A1B-2903-60AE5E386A1E}"/>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C76730DC-B070-6571-0ADE-B718CB72512F}"/>
              </a:ext>
            </a:extLst>
          </p:cNvPr>
          <p:cNvSpPr txBox="1"/>
          <p:nvPr/>
        </p:nvSpPr>
        <p:spPr>
          <a:xfrm>
            <a:off x="13462000" y="4089400"/>
            <a:ext cx="4254500" cy="677108"/>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Ownership denial before private data disclosure or model access.</a:t>
            </a:r>
          </a:p>
        </p:txBody>
      </p:sp>
      <p:sp>
        <p:nvSpPr>
          <p:cNvPr id="12" name="TextBox 11">
            <a:extLst>
              <a:ext uri="{FF2B5EF4-FFF2-40B4-BE49-F238E27FC236}">
                <a16:creationId xmlns:a16="http://schemas.microsoft.com/office/drawing/2014/main" id="{0053657B-91A0-9393-9D62-268A818797FA}"/>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01ACE430-393C-A76E-1A96-178AA29D9BF5}"/>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06174783-E1ED-F5AD-B395-05BAFF09E289}"/>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04FB5493-6417-0273-2347-2170514E7BEB}"/>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EDC5C6B9-F258-AD50-44A6-FCA2C3F5ECF4}"/>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961879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9D762F-D9AF-3EA0-4784-DFCB780A4616}"/>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5D8CEDFB-6B89-DF0D-C3E9-4FF0BFC09CCE}"/>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05: Urgent staff gate</a:t>
            </a:r>
          </a:p>
        </p:txBody>
      </p:sp>
      <p:sp>
        <p:nvSpPr>
          <p:cNvPr id="4" name="TextBox 3">
            <a:extLst>
              <a:ext uri="{FF2B5EF4-FFF2-40B4-BE49-F238E27FC236}">
                <a16:creationId xmlns:a16="http://schemas.microsoft.com/office/drawing/2014/main" id="{1CA8FA77-D576-B102-CD42-F6658BC9DC7E}"/>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30ABF86D-E62D-3347-BB9F-BC7FE228999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3960B718-68CB-5035-74E3-F82B4F9F41C4}"/>
              </a:ext>
            </a:extLst>
          </p:cNvPr>
          <p:cNvSpPr/>
          <p:nvPr/>
        </p:nvSpPr>
        <p:spPr>
          <a:xfrm>
            <a:off x="611815" y="651647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2A8D012-5EB5-D3BD-2C3E-F826A153707D}"/>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74B8B878-3E61-194F-D103-5C2D21570521}"/>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05 in the left-hand flow.</a:t>
            </a:r>
          </a:p>
        </p:txBody>
      </p:sp>
      <p:sp>
        <p:nvSpPr>
          <p:cNvPr id="10" name="TextBox 9">
            <a:extLst>
              <a:ext uri="{FF2B5EF4-FFF2-40B4-BE49-F238E27FC236}">
                <a16:creationId xmlns:a16="http://schemas.microsoft.com/office/drawing/2014/main" id="{475B0FBD-293E-B517-0257-552196BB02D2}"/>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953450A5-5EEB-D366-FB2E-5283138AA363}"/>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HumanReviewRequired: STAFF_ESCALATION. The finding remains visible beside the evidence and approved sources.</a:t>
            </a:r>
          </a:p>
        </p:txBody>
      </p:sp>
      <p:sp>
        <p:nvSpPr>
          <p:cNvPr id="12" name="TextBox 11">
            <a:extLst>
              <a:ext uri="{FF2B5EF4-FFF2-40B4-BE49-F238E27FC236}">
                <a16:creationId xmlns:a16="http://schemas.microsoft.com/office/drawing/2014/main" id="{2EB92158-D0A3-EB54-0214-5A9466C9B11C}"/>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A049BBC8-9798-E797-46ED-33879D61A53B}"/>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B15C6070-8259-DCF2-BAB6-434C6DB87F95}"/>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C02FD5EB-42B9-8504-A0A5-CE6D019B6A4D}"/>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B6F6A600-4F55-CCD9-73BA-5231BC58EA3E}"/>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108761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096DB3-F5BE-5D6F-92D0-95F999CC84FF}"/>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9A9DA649-6918-0734-66CB-4D5D286E6FBF}"/>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06: Approve / demo sink</a:t>
            </a:r>
          </a:p>
        </p:txBody>
      </p:sp>
      <p:sp>
        <p:nvSpPr>
          <p:cNvPr id="4" name="TextBox 3">
            <a:extLst>
              <a:ext uri="{FF2B5EF4-FFF2-40B4-BE49-F238E27FC236}">
                <a16:creationId xmlns:a16="http://schemas.microsoft.com/office/drawing/2014/main" id="{4E12B6CE-D9AA-774A-9251-F95F7458702C}"/>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E83FF29F-0547-A6EA-A451-888680D6497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1BD591E3-8CE6-E0C3-63D8-DD0B83C2254D}"/>
              </a:ext>
            </a:extLst>
          </p:cNvPr>
          <p:cNvSpPr/>
          <p:nvPr/>
        </p:nvSpPr>
        <p:spPr>
          <a:xfrm>
            <a:off x="611815" y="725775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FF7DD61-3999-ED68-FA2C-811106296D1A}"/>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E1BE5918-CB59-11E8-7DFD-AF258D14B909}"/>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06 in the left-hand flow.</a:t>
            </a:r>
          </a:p>
        </p:txBody>
      </p:sp>
      <p:sp>
        <p:nvSpPr>
          <p:cNvPr id="10" name="TextBox 9">
            <a:extLst>
              <a:ext uri="{FF2B5EF4-FFF2-40B4-BE49-F238E27FC236}">
                <a16:creationId xmlns:a16="http://schemas.microsoft.com/office/drawing/2014/main" id="{1BE6FAAB-8FD8-6A63-DA2E-960FB621FCEF}"/>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882E9E22-A746-C9D4-57C8-0D8575A392DF}"/>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A persisted internal approval, duplicate-safe operation key, audit timeline and explicitly Simulated handoff.</a:t>
            </a:r>
          </a:p>
        </p:txBody>
      </p:sp>
      <p:sp>
        <p:nvSpPr>
          <p:cNvPr id="12" name="TextBox 11">
            <a:extLst>
              <a:ext uri="{FF2B5EF4-FFF2-40B4-BE49-F238E27FC236}">
                <a16:creationId xmlns:a16="http://schemas.microsoft.com/office/drawing/2014/main" id="{7BD15FB4-E604-0251-979D-D68DB379DE01}"/>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62970AD7-05DF-9C21-1221-78D6449FFF33}"/>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Traceable handoff without silently executing a consequential business action.</a:t>
            </a:r>
          </a:p>
        </p:txBody>
      </p:sp>
      <p:sp>
        <p:nvSpPr>
          <p:cNvPr id="14" name="TextBox 13">
            <a:hlinkClick r:id="rId4" action="ppaction://hlinksldjump"/>
            <a:extLst>
              <a:ext uri="{FF2B5EF4-FFF2-40B4-BE49-F238E27FC236}">
                <a16:creationId xmlns:a16="http://schemas.microsoft.com/office/drawing/2014/main" id="{8E364A59-F80F-01C6-8EF7-5A16E45B756D}"/>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B640EAD3-A00E-BE2C-F0ED-C837D5CE9823}"/>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C448A054-67AD-D64A-3BF1-AF4E263578B1}"/>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732077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3C65F3-10AC-EC9C-D6AA-8971366B6B4F}"/>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09 / DEMO HANDOFF</a:t>
            </a:r>
          </a:p>
        </p:txBody>
      </p:sp>
      <p:sp>
        <p:nvSpPr>
          <p:cNvPr id="3" name="TextBox 2">
            <a:extLst>
              <a:ext uri="{FF2B5EF4-FFF2-40B4-BE49-F238E27FC236}">
                <a16:creationId xmlns:a16="http://schemas.microsoft.com/office/drawing/2014/main" id="{2C428CD6-A8FB-3D0F-CE72-EA1877FC9AF8}"/>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Verified outcome and honest operating limits</a:t>
            </a:r>
          </a:p>
        </p:txBody>
      </p:sp>
      <p:sp>
        <p:nvSpPr>
          <p:cNvPr id="4" name="TextBox 3">
            <a:extLst>
              <a:ext uri="{FF2B5EF4-FFF2-40B4-BE49-F238E27FC236}">
                <a16:creationId xmlns:a16="http://schemas.microsoft.com/office/drawing/2014/main" id="{D717B2EB-D115-FA33-76F8-DA4FD862C9E6}"/>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TextBox 4">
            <a:extLst>
              <a:ext uri="{FF2B5EF4-FFF2-40B4-BE49-F238E27FC236}">
                <a16:creationId xmlns:a16="http://schemas.microsoft.com/office/drawing/2014/main" id="{3B4B0FB4-1339-83C1-703F-6D34FF1F8426}"/>
              </a:ext>
            </a:extLst>
          </p:cNvPr>
          <p:cNvSpPr txBox="1"/>
          <p:nvPr/>
        </p:nvSpPr>
        <p:spPr>
          <a:xfrm>
            <a:off x="635000" y="1968500"/>
            <a:ext cx="10287000" cy="2077492"/>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LIVE EVIDENCE
6 recorded service requests
1880 input / 587 output tokens
0 extracted document pages
SQL approval + duplicate, owner, stale-input and expiry guards</a:t>
            </a:r>
          </a:p>
        </p:txBody>
      </p:sp>
      <p:sp>
        <p:nvSpPr>
          <p:cNvPr id="6" name="TextBox 5">
            <a:extLst>
              <a:ext uri="{FF2B5EF4-FFF2-40B4-BE49-F238E27FC236}">
                <a16:creationId xmlns:a16="http://schemas.microsoft.com/office/drawing/2014/main" id="{27089C50-43F2-6DC1-AEAD-D141B1DCFDE0}"/>
              </a:ext>
            </a:extLst>
          </p:cNvPr>
          <p:cNvSpPr txBox="1"/>
          <p:nvPr/>
        </p:nvSpPr>
        <p:spPr>
          <a:xfrm>
            <a:off x="12065000" y="1968500"/>
            <a:ext cx="5397500" cy="1600438"/>
          </a:xfrm>
          <a:prstGeom prst="rect">
            <a:avLst/>
          </a:prstGeom>
          <a:noFill/>
        </p:spPr>
        <p:txBody>
          <a:bodyPr vert="horz" wrap="square" lIns="0" tIns="0" rIns="0" bIns="0" rtlCol="0">
            <a:spAutoFit/>
          </a:bodyPr>
          <a:lstStyle/>
          <a:p>
            <a:r>
              <a:rPr lang="en-US" sz="2600" b="1">
                <a:solidFill>
                  <a:srgbClr val="007F85"/>
                </a:solidFill>
                <a:latin typeface="Aptos" panose="020B0004020202020204" pitchFamily="34" charset="0"/>
              </a:rPr>
              <a:t>VISIBLE DEMO OUTCOME
InternalBriefOnly
Notification sink: Simulated
External notifications: 0</a:t>
            </a:r>
          </a:p>
        </p:txBody>
      </p:sp>
      <p:sp>
        <p:nvSpPr>
          <p:cNvPr id="7" name="TextBox 6">
            <a:extLst>
              <a:ext uri="{FF2B5EF4-FFF2-40B4-BE49-F238E27FC236}">
                <a16:creationId xmlns:a16="http://schemas.microsoft.com/office/drawing/2014/main" id="{CEE5D712-3FCA-316D-99EA-FBB94DDB6E92}"/>
              </a:ext>
            </a:extLst>
          </p:cNvPr>
          <p:cNvSpPr txBox="1"/>
          <p:nvPr/>
        </p:nvSpPr>
        <p:spPr>
          <a:xfrm>
            <a:off x="635000" y="5905500"/>
            <a:ext cx="16764000" cy="2031325"/>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Synthetic single-operator desktop demonstration, not production public intake.
No malware-scanned arbitrary upload pipeline; only curated local fixtures.
No hosted API, unattended durable worker or external operational connector.
No measured business-time baseline or current-price cost estimate.
Search is filtered keyword retrieval, not hybrid/vector retrieval.
Screenshots are replay of these saved live results; slide advance never calls Azure.</a:t>
            </a:r>
          </a:p>
        </p:txBody>
      </p:sp>
      <p:sp>
        <p:nvSpPr>
          <p:cNvPr id="8" name="TextBox 7">
            <a:hlinkClick r:id="rId3" action="ppaction://hlinksldjump"/>
            <a:extLst>
              <a:ext uri="{FF2B5EF4-FFF2-40B4-BE49-F238E27FC236}">
                <a16:creationId xmlns:a16="http://schemas.microsoft.com/office/drawing/2014/main" id="{100DCE7B-D465-C3D4-030F-30727ACA5064}"/>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9" name="TextBox 8">
            <a:hlinkClick r:id="rId4" action="ppaction://hlinksldjump"/>
            <a:extLst>
              <a:ext uri="{FF2B5EF4-FFF2-40B4-BE49-F238E27FC236}">
                <a16:creationId xmlns:a16="http://schemas.microsoft.com/office/drawing/2014/main" id="{B0E2D9A2-398B-94E5-0D84-5E18E2A664CF}"/>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0" name="TextBox 9">
            <a:hlinkClick r:id="rId5" action="ppaction://hlinksldjump"/>
            <a:extLst>
              <a:ext uri="{FF2B5EF4-FFF2-40B4-BE49-F238E27FC236}">
                <a16:creationId xmlns:a16="http://schemas.microsoft.com/office/drawing/2014/main" id="{04FF6531-68E4-73CD-DD6E-E4DF50738D12}"/>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9949258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2723</Words>
  <Application>Microsoft Office PowerPoint</Application>
  <PresentationFormat>Custom</PresentationFormat>
  <Paragraphs>172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MOD Administrator</dc:creator>
  <cp:lastModifiedBy>MOD Administrator</cp:lastModifiedBy>
  <cp:revision>1</cp:revision>
  <dcterms:created xsi:type="dcterms:W3CDTF">2026-10-28T15:37:10Z</dcterms:created>
  <dcterms:modified xsi:type="dcterms:W3CDTF">2026-10-28T15:37:10Z</dcterms:modified>
</cp:coreProperties>
</file>