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78" r:id="rId2"/>
    <p:sldId id="279" r:id="rId3"/>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7558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Problem: Teams need a clear route from project access to model selection, agent configuration and operational review.</a:t>
            </a:r>
          </a:p>
          <a:p>
            <a:r>
              <a:t>Solution: Follow a portal-oriented guide to discover models, build or code an agent, inspect endpoints and find project controls.</a:t>
            </a:r>
          </a:p>
          <a:p>
            <a:r>
              <a:t>Products: Microsoft Foundry | Model catalog and deployments | Foundry Agent Service | Microsoft Entra ID</a:t>
            </a:r>
          </a:p>
          <a:p>
            <a:r>
              <a:t>Evidence status: A guided platform tour using saved portal views and presenter instructions. Most clicks and end-to-end execution are not captured.</a:t>
            </a:r>
          </a:p>
          <a:p>
            <a:r>
              <a:t>Customer branding, organization labels and resource identifiers have been generalized. Screenshots are edited historical captures; no service results were rerun.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Architecture: [['Identity + project', 'Authorized project access'], ['Model catalog', 'Choose / deploy a model'], ['Agent development', 'Configure or write code'], ['Operate', 'Endpoints + governance']]</a:t>
            </a:r>
          </a:p>
          <a:p>
            <a:r>
              <a:t>Boundary: This is a conceptual platform path, not evidence that a specific agent, evaluation, tracing pipeline or hosted application was deployed.</a:t>
            </a:r>
          </a:p>
          <a:p>
            <a:r>
              <a:t>This is a logical diagram, not a verified deployment inventory. Arrows show the conceptual information flow.</a:t>
            </a:r>
          </a:p>
          <a:p>
            <a:r>
              <a:t>Customer names, logos and resource identifiers in subsequent captured screens have been generalized. Service brands and the solution's core workflow remain.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STEPS
1. Open the Foundry portal at ai.azure.com.
2. Select the email-triage-demo project.
3. Confirm the New Foundry toggle is on.
SPEAKER NOTES
Set the expectation that this is a broad platform tour, not a deep technical build. Microsoft Foundry brings models, agents, tools, evaluations, tracing, monitoring, security, and governance into one lifecycle. The sales message is speed with control: teams can prototype quickly and retain an enterprise path to production.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STEPS
1. Point across the top navigation from Discover to Manage.
2. Explain that Home is the launchpad and Docs is contextual help.
3. Return to Home to begin the detailed tour.
SPEAKER NOTES
Frame the portal around the customer lifecycle rather than a list of features. Discover reduces selection risk, Build shortens development, Operate makes AI behavior measurable, and Manage applies enterprise controls. This structure helps technical and business stakeholders see how experimentation can mature into an operational service without switching platforms.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STEPS
1. Pause on Home without clicking.
2. Scan from the top banner to the start-action cards.
3. Scroll slightly to show Model selection and Recent work.
SPEAKER NOTES
Home is a role-friendly launchpad. It exposes the fastest paths for common jobs: use a model, build an agent without code, code an agent with full control, copy endpoints, compare models, and reopen recent assets. The page lowers time-to-first-value while keeping the current project and enterprise context visible.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STEPS
1. Select the project name email-triage-demo.
2. Show recent projects and the options to view all or create a project.
3. Close the selector without changing context.
SPEAKER NOTES
Explain that a project is the working container for an AI use case. Home, Discover, Build, and Manage are shown in the selected project context, while Operate can aggregate across projects. The selector is the first place to confirm before deploying or modifying an asset.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STEPS
1. Select Search with AI or press Ctrl+K.
2. Enter a capability, model name, or task such as compare models.
3. Open a result, then use the browser Back command to return.
SPEAKER NOTES
Position search as the fastest path when a user knows the outcome but not the portal location. It is especially useful during a live demo: search can recover quickly if menu labels differ slightly by tenant or release wave.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STEPS
1. Point to New Foundry and keep it enabled.
2. Select the notification bell to show recent notices.
3. Point to the feedback/settings icon and profile menu; close each panel.
SPEAKER NOTES
Do not toggle experiences during the main demo unless a classic-only workflow is required. Explain that the new portal is the focus of ongoing investment, while classic remains available for unsupported resource types or migration scenarios. Notification labels can vary by release.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STEPS
1. Select Home in the top navigation.
2. Point to the three primary cards: Use a model, Build an agent, and Code an agent.
3. Scroll to show endpoints, model selection, featured models, and recent work.
SPEAKER NOTES
Use Home as the hub between demo segments. It demonstrates that Foundry supports multiple maturity levels: business technologists can configure agents, developers can bring code, and app teams can consume model endpoints directly.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STEPS
1. On Home, select View deployments.
2. Review the deployed-model list.
3. Open one deployment to show its playground, endpoint, and code access; return Home.
SPEAKER NOTES
Clarify the distinction between a model and an agent. A model responds to prompts. An agent combines a model with instructions, tools, knowledge, and potentially memory to complete work. Start model-only when the workload does not require tool use or orchestration.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STEPS
1. On Home, select Start building.
2. Create or select a prompt agent.
3. Show model, instructions, tools/knowledge, test chat, and version/publish controls.
SPEAKER NOTES
Describe a prompt agent as the managed, declarative option. Foundry hosts the agent runtime, while the maker focuses on instructions and capabilities. Business value comes from compressing the prototype-feedback cycle and providing a governed path to deployment.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STEPS
1. On Home, select Start coding.
2. Review the available code-first guidance or scaffold path.
3. Explain where source code, containers, deployment, and traces fit in the lifecycle.
SPEAKER NOTES
Contrast this with Build an agent. The code-first route is appropriate when custom dependencies, orchestration, or open-source frameworks are essential. The customer retains code flexibility while Foundry provides the managed service boundary around deployment and operations.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STEPS
1. Point to API key status.
2. Use the copy icon beside Project endpoint.
3. Point to the Azure OpenAI endpoint and explain compatibility; do not expose or copy secrets during a public demo.
SPEAKER NOTES
Emphasize that endpoints are the bridge from portal experimentation to production applications. In this project, API key authentication is disabled, which is a useful governance talking point: identity-based access supports role-based controls and avoids distributing long-lived secrets.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STEPS
1. Select Test in playground.
2. Choose a deployed model if prompted.
3. Enter a representative prompt, review the response, then show setup and Code tabs.
SPEAKER NOTES
Use a realistic customer prompt rather than a generic joke or poem. Explain that the playground is a controlled test bench, not the production user experience. It helps teams tune prompts and understand behavior before implementation.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STEPS
1. Select Explore models.
2. Filter by task, provider, modality, or deployment option.
3. Open a model card and point out capabilities, benchmarks, region availability, and Deploy.
SPEAKER NOTES
Model choice is a business decision as well as a technical one. The best model balances task quality, safety, latency, cost, data requirements, and regional availability. Encourage customers to evaluate with their own prompts and data rather than choosing by brand alone.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STEPS
1. Select Compare models.
2. Choose models or a leaderboard scenario.
3. Run the same representative prompt across selected models and discuss response quality, latency, and cost tradeoffs.
SPEAKER NOTES
Explain the difference between published benchmarks and workload-specific evaluation. Benchmarks narrow the field; customer prompts and evaluation datasets establish whether a model is suitable for the actual scenario.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STEPS
1. Point to the provider and model names.
2. Use the right carousel arrow to reveal more models.
3. Open one model card, then return Home.
SPEAKER NOTES
Use the carousel to reinforce model choice and avoid implying that every workload should use the same flagship model. Availability and featured selections change over time, which is why a live model card is the authoritative place for current details.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STEPS
1. Select the Agents filter, then Models, then All.
2. Point to Name, Version, Type, Last viewed, and Endpoint.
3. Open EmailTriageAgent or select View endpoint; return Home.
SPEAKER NOTES
The Recent work table is a practical productivity feature. It also illustrates asset versioning and the distinction between agents and models. During a demo, it provides a reliable way to return to a prepared asset without recreating it.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STEPS
1. Select Discover in the top navigation.
2. Walk through Models, Tools, Solution templates, Playgrounds, and leaderboards if visible.
3. Open a model card and show the deploy or playground action.
SPEAKER NOTES
Discover reduces selection risk. It centralizes models, tools, templates, and experimentation so teams can compare options before writing code. The business value is faster architecture decisions with fewer disconnected vendor evaluations. Point out preview labels and verify regional availability for production planning.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STEPS
1. Select Build.
2. Open Agents and show a prepared agent.
3. Open Models, Evaluation, Tools, Data/Knowledge, and tracing or guardrail items that are enabled.
SPEAKER NOTES
Build is the primary maker workspace. It connects prototyping with engineering disciplines: versioning, evaluation, safety, grounding, and deployment. The value is not merely creating a demo; it is creating an asset that can be measured, governed, integrated, and operated.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STEPS
1. Select Operate.
2. Set the project and date filters in Overview.
3. Open Assets, then show a prepared agent's monitoring dashboard and one trace if data exists.
SPEAKER NOTES
Operate is where AI becomes accountable. Traditional uptime is not enough; teams need quality, safety, cost, latency, and tool-use visibility. Foundry combines evaluation, monitoring, and tracing so operators can understand both whether an agent succeeded and why it behaved as it did.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STEPS
1. Select Manage.
2. Open Project details and Resource details.
3. Show Quota, then point out identity, access, networking, policy, or AI Gateway items available in the tenant.
SPEAKER NOTES
Manage is the enterprise foundation beneath the developer experience. The sales value is centralized control: projects can move quickly while platform teams retain visibility over identity, capacity, network boundaries, and policy. Mention that some controls are completed in Azure portal and some capabilities remain in preview.</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STEPS
1. Select Docs in the top navigation.
2. Search for the feature currently being demonstrated.
3. Open a quickstart or API reference in a new tab, then return to the portal.
SPEAKER NOTES
Docs is part of the product journey, not an afterthought. It gives developers and architects current implementation details, prerequisites, regional notes, and preview status. Because portal labels and capabilities evolve, documentation is the authoritative source for production planning.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STEPS
1. Return to Home.
2. Recap Discover, Build, Operate, and Manage in one sentence each.
3. Open the prepared EmailTriageAgent only if time remains for a scenario-specific follow-up.
SPEAKER NOTES
End on the customer outcome: Foundry reduces the handoffs between experimentation, engineering, operations, and governance. It supports a progressive path from a single model call to a tool-using agent, with the controls required to operate responsibly at enterprise scale. Avoid ending with a long feature list; connect the platform to faster time-to-value and lower operational risk.</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02A56"/>
        </a:solidFill>
        <a:effectLst/>
      </p:bgPr>
    </p:bg>
    <p:spTree>
      <p:nvGrpSpPr>
        <p:cNvPr id="1" name=""/>
        <p:cNvGrpSpPr/>
        <p:nvPr/>
      </p:nvGrpSpPr>
      <p:grpSpPr>
        <a:xfrm>
          <a:off x="0" y="0"/>
          <a:ext cx="0" cy="0"/>
          <a:chOff x="0" y="0"/>
          <a:chExt cx="0" cy="0"/>
        </a:xfrm>
      </p:grpSpPr>
      <p:sp>
        <p:nvSpPr>
          <p:cNvPr id="2" name="TextBox 1"/>
          <p:cNvSpPr txBox="1"/>
          <p:nvPr/>
        </p:nvSpPr>
        <p:spPr>
          <a:xfrm>
            <a:off x="457188" y="320032"/>
            <a:ext cx="11246838" cy="274313"/>
          </a:xfrm>
          <a:prstGeom prst="rect">
            <a:avLst/>
          </a:prstGeom>
          <a:noFill/>
        </p:spPr>
        <p:txBody>
          <a:bodyPr wrap="square" lIns="0" tIns="0" rIns="0" bIns="0">
            <a:spAutoFit/>
          </a:bodyPr>
          <a:lstStyle/>
          <a:p>
            <a:pPr>
              <a:spcAft>
                <a:spcPts val="600"/>
              </a:spcAft>
              <a:defRPr sz="1199" b="1">
                <a:solidFill>
                  <a:srgbClr val="D99A22"/>
                </a:solidFill>
                <a:latin typeface="Calibri"/>
              </a:defRPr>
            </a:pPr>
            <a:r>
              <a:t>GENERIC SOLUTION DEMONSTRATION</a:t>
            </a:r>
          </a:p>
        </p:txBody>
      </p:sp>
      <p:sp>
        <p:nvSpPr>
          <p:cNvPr id="3" name="TextBox 2"/>
          <p:cNvSpPr txBox="1"/>
          <p:nvPr/>
        </p:nvSpPr>
        <p:spPr>
          <a:xfrm>
            <a:off x="457188" y="868658"/>
            <a:ext cx="11246838" cy="731501"/>
          </a:xfrm>
          <a:prstGeom prst="rect">
            <a:avLst/>
          </a:prstGeom>
          <a:noFill/>
        </p:spPr>
        <p:txBody>
          <a:bodyPr wrap="square" lIns="0" tIns="0" rIns="0" bIns="0">
            <a:spAutoFit/>
          </a:bodyPr>
          <a:lstStyle/>
          <a:p>
            <a:pPr>
              <a:spcAft>
                <a:spcPts val="600"/>
              </a:spcAft>
              <a:defRPr sz="3399" b="1">
                <a:solidFill>
                  <a:srgbClr val="FFFFFF"/>
                </a:solidFill>
                <a:latin typeface="Calibri"/>
              </a:defRPr>
            </a:pPr>
            <a:r>
              <a:t>Microsoft Foundry platform tour</a:t>
            </a:r>
          </a:p>
        </p:txBody>
      </p:sp>
      <p:sp>
        <p:nvSpPr>
          <p:cNvPr id="4" name="Rounded Rectangle 3"/>
          <p:cNvSpPr/>
          <p:nvPr/>
        </p:nvSpPr>
        <p:spPr>
          <a:xfrm>
            <a:off x="457188" y="1828754"/>
            <a:ext cx="5486262" cy="1828754"/>
          </a:xfrm>
          <a:prstGeom prst="roundRect">
            <a:avLst>
              <a:gd name="adj" fmla="val 5000"/>
            </a:avLst>
          </a:prstGeom>
          <a:solidFill>
            <a:srgbClr val="2D39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64" y="2011629"/>
            <a:ext cx="5120512" cy="274313"/>
          </a:xfrm>
          <a:prstGeom prst="rect">
            <a:avLst/>
          </a:prstGeom>
          <a:noFill/>
        </p:spPr>
        <p:txBody>
          <a:bodyPr wrap="square" lIns="0" tIns="0" rIns="0" bIns="0">
            <a:spAutoFit/>
          </a:bodyPr>
          <a:lstStyle/>
          <a:p>
            <a:pPr>
              <a:spcAft>
                <a:spcPts val="600"/>
              </a:spcAft>
              <a:defRPr sz="1299" b="1">
                <a:solidFill>
                  <a:srgbClr val="D99A22"/>
                </a:solidFill>
                <a:latin typeface="Calibri"/>
              </a:defRPr>
            </a:pPr>
            <a:r>
              <a:t>THE PROBLEM</a:t>
            </a:r>
          </a:p>
        </p:txBody>
      </p:sp>
      <p:sp>
        <p:nvSpPr>
          <p:cNvPr id="6" name="TextBox 5"/>
          <p:cNvSpPr txBox="1"/>
          <p:nvPr/>
        </p:nvSpPr>
        <p:spPr>
          <a:xfrm>
            <a:off x="640064" y="2514537"/>
            <a:ext cx="5074793" cy="960096"/>
          </a:xfrm>
          <a:prstGeom prst="rect">
            <a:avLst/>
          </a:prstGeom>
          <a:noFill/>
        </p:spPr>
        <p:txBody>
          <a:bodyPr wrap="square" lIns="0" tIns="0" rIns="0" bIns="0">
            <a:spAutoFit/>
          </a:bodyPr>
          <a:lstStyle/>
          <a:p>
            <a:pPr>
              <a:spcAft>
                <a:spcPts val="600"/>
              </a:spcAft>
              <a:defRPr sz="1999" b="0">
                <a:solidFill>
                  <a:srgbClr val="FFFFFF"/>
                </a:solidFill>
                <a:latin typeface="Calibri"/>
              </a:defRPr>
            </a:pPr>
            <a:r>
              <a:t>Teams need a clear route from project access to model selection, agent configuration and operational review.</a:t>
            </a:r>
          </a:p>
        </p:txBody>
      </p:sp>
      <p:sp>
        <p:nvSpPr>
          <p:cNvPr id="7" name="Rounded Rectangle 6"/>
          <p:cNvSpPr/>
          <p:nvPr/>
        </p:nvSpPr>
        <p:spPr>
          <a:xfrm>
            <a:off x="6245195" y="1828754"/>
            <a:ext cx="5486262" cy="1828754"/>
          </a:xfrm>
          <a:prstGeom prst="roundRect">
            <a:avLst>
              <a:gd name="adj" fmla="val 5000"/>
            </a:avLst>
          </a:prstGeom>
          <a:solidFill>
            <a:srgbClr val="2D39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28071" y="2011629"/>
            <a:ext cx="5120512" cy="274313"/>
          </a:xfrm>
          <a:prstGeom prst="rect">
            <a:avLst/>
          </a:prstGeom>
          <a:noFill/>
        </p:spPr>
        <p:txBody>
          <a:bodyPr wrap="square" lIns="0" tIns="0" rIns="0" bIns="0">
            <a:spAutoFit/>
          </a:bodyPr>
          <a:lstStyle/>
          <a:p>
            <a:pPr>
              <a:spcAft>
                <a:spcPts val="600"/>
              </a:spcAft>
              <a:defRPr sz="1299" b="1">
                <a:solidFill>
                  <a:srgbClr val="D99A22"/>
                </a:solidFill>
                <a:latin typeface="Calibri"/>
              </a:defRPr>
            </a:pPr>
            <a:r>
              <a:t>THE SOLUTION</a:t>
            </a:r>
          </a:p>
        </p:txBody>
      </p:sp>
      <p:sp>
        <p:nvSpPr>
          <p:cNvPr id="9" name="TextBox 8"/>
          <p:cNvSpPr txBox="1"/>
          <p:nvPr/>
        </p:nvSpPr>
        <p:spPr>
          <a:xfrm>
            <a:off x="6428071" y="2514537"/>
            <a:ext cx="5074793" cy="960096"/>
          </a:xfrm>
          <a:prstGeom prst="rect">
            <a:avLst/>
          </a:prstGeom>
          <a:noFill/>
        </p:spPr>
        <p:txBody>
          <a:bodyPr wrap="square" lIns="0" tIns="0" rIns="0" bIns="0">
            <a:spAutoFit/>
          </a:bodyPr>
          <a:lstStyle/>
          <a:p>
            <a:pPr>
              <a:spcAft>
                <a:spcPts val="600"/>
              </a:spcAft>
              <a:defRPr sz="1999" b="0">
                <a:solidFill>
                  <a:srgbClr val="FFFFFF"/>
                </a:solidFill>
                <a:latin typeface="Calibri"/>
              </a:defRPr>
            </a:pPr>
            <a:r>
              <a:t>Follow a portal-oriented guide to discover models, build or code an agent, inspect endpoints and find project controls.</a:t>
            </a:r>
          </a:p>
        </p:txBody>
      </p:sp>
      <p:sp>
        <p:nvSpPr>
          <p:cNvPr id="10" name="TextBox 9"/>
          <p:cNvSpPr txBox="1"/>
          <p:nvPr/>
        </p:nvSpPr>
        <p:spPr>
          <a:xfrm>
            <a:off x="457188" y="3977540"/>
            <a:ext cx="10972525" cy="274313"/>
          </a:xfrm>
          <a:prstGeom prst="rect">
            <a:avLst/>
          </a:prstGeom>
          <a:noFill/>
        </p:spPr>
        <p:txBody>
          <a:bodyPr wrap="square" lIns="0" tIns="0" rIns="0" bIns="0">
            <a:spAutoFit/>
          </a:bodyPr>
          <a:lstStyle/>
          <a:p>
            <a:pPr>
              <a:spcAft>
                <a:spcPts val="600"/>
              </a:spcAft>
              <a:defRPr sz="1299" b="1">
                <a:solidFill>
                  <a:srgbClr val="D99A22"/>
                </a:solidFill>
                <a:latin typeface="Calibri"/>
              </a:defRPr>
            </a:pPr>
            <a:r>
              <a:t>PRODUCTS AND PLATFORM</a:t>
            </a:r>
          </a:p>
        </p:txBody>
      </p:sp>
      <p:sp>
        <p:nvSpPr>
          <p:cNvPr id="11" name="TextBox 10"/>
          <p:cNvSpPr txBox="1"/>
          <p:nvPr/>
        </p:nvSpPr>
        <p:spPr>
          <a:xfrm>
            <a:off x="457188" y="4462160"/>
            <a:ext cx="11155401" cy="822939"/>
          </a:xfrm>
          <a:prstGeom prst="rect">
            <a:avLst/>
          </a:prstGeom>
          <a:noFill/>
        </p:spPr>
        <p:txBody>
          <a:bodyPr wrap="square" lIns="0" tIns="0" rIns="0" bIns="0">
            <a:spAutoFit/>
          </a:bodyPr>
          <a:lstStyle/>
          <a:p>
            <a:pPr>
              <a:spcAft>
                <a:spcPts val="600"/>
              </a:spcAft>
              <a:defRPr sz="2099" b="0">
                <a:solidFill>
                  <a:srgbClr val="FFFFFF"/>
                </a:solidFill>
                <a:latin typeface="Calibri"/>
              </a:defRPr>
            </a:pPr>
            <a:r>
              <a:t>Microsoft Foundry | Model catalog and deployments | Foundry Agent Service | Microsoft Entra ID</a:t>
            </a:r>
          </a:p>
        </p:txBody>
      </p:sp>
      <p:sp>
        <p:nvSpPr>
          <p:cNvPr id="12" name="TextBox 11"/>
          <p:cNvSpPr txBox="1"/>
          <p:nvPr/>
        </p:nvSpPr>
        <p:spPr>
          <a:xfrm>
            <a:off x="457188" y="5595988"/>
            <a:ext cx="11155401" cy="640064"/>
          </a:xfrm>
          <a:prstGeom prst="rect">
            <a:avLst/>
          </a:prstGeom>
          <a:noFill/>
        </p:spPr>
        <p:txBody>
          <a:bodyPr wrap="square" lIns="0" tIns="0" rIns="0" bIns="0">
            <a:spAutoFit/>
          </a:bodyPr>
          <a:lstStyle/>
          <a:p>
            <a:pPr>
              <a:spcAft>
                <a:spcPts val="600"/>
              </a:spcAft>
              <a:defRPr sz="1599" b="0">
                <a:solidFill>
                  <a:srgbClr val="D4DAE8"/>
                </a:solidFill>
                <a:latin typeface="Calibri"/>
              </a:defRPr>
            </a:pPr>
            <a:r>
              <a:t>A guided platform tour using saved portal views and presenter instructions. Most clicks and end-to-end execution are not captured.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188" y="320032"/>
            <a:ext cx="11246838" cy="274313"/>
          </a:xfrm>
          <a:prstGeom prst="rect">
            <a:avLst/>
          </a:prstGeom>
          <a:noFill/>
        </p:spPr>
        <p:txBody>
          <a:bodyPr wrap="square" lIns="0" tIns="0" rIns="0" bIns="0">
            <a:spAutoFit/>
          </a:bodyPr>
          <a:lstStyle/>
          <a:p>
            <a:pPr>
              <a:spcAft>
                <a:spcPts val="600"/>
              </a:spcAft>
              <a:defRPr sz="1199" b="1">
                <a:solidFill>
                  <a:srgbClr val="006B65"/>
                </a:solidFill>
                <a:latin typeface="Calibri"/>
              </a:defRPr>
            </a:pPr>
            <a:r>
              <a:t>SOLUTION ARCHITECTURE</a:t>
            </a:r>
          </a:p>
        </p:txBody>
      </p:sp>
      <p:sp>
        <p:nvSpPr>
          <p:cNvPr id="3" name="TextBox 2"/>
          <p:cNvSpPr txBox="1"/>
          <p:nvPr/>
        </p:nvSpPr>
        <p:spPr>
          <a:xfrm>
            <a:off x="457188" y="868658"/>
            <a:ext cx="11246838" cy="640064"/>
          </a:xfrm>
          <a:prstGeom prst="rect">
            <a:avLst/>
          </a:prstGeom>
          <a:noFill/>
        </p:spPr>
        <p:txBody>
          <a:bodyPr wrap="square" lIns="0" tIns="0" rIns="0" bIns="0">
            <a:spAutoFit/>
          </a:bodyPr>
          <a:lstStyle/>
          <a:p>
            <a:pPr>
              <a:spcAft>
                <a:spcPts val="600"/>
              </a:spcAft>
              <a:defRPr sz="3399" b="1">
                <a:solidFill>
                  <a:srgbClr val="182337"/>
                </a:solidFill>
                <a:latin typeface="Calibri"/>
              </a:defRPr>
            </a:pPr>
            <a:r>
              <a:t>How the solution fits together</a:t>
            </a:r>
          </a:p>
        </p:txBody>
      </p:sp>
      <p:sp>
        <p:nvSpPr>
          <p:cNvPr id="4" name="TextBox 3"/>
          <p:cNvSpPr txBox="1"/>
          <p:nvPr/>
        </p:nvSpPr>
        <p:spPr>
          <a:xfrm>
            <a:off x="457188" y="1709885"/>
            <a:ext cx="11246838" cy="274313"/>
          </a:xfrm>
          <a:prstGeom prst="rect">
            <a:avLst/>
          </a:prstGeom>
          <a:noFill/>
        </p:spPr>
        <p:txBody>
          <a:bodyPr wrap="square" lIns="0" tIns="0" rIns="0" bIns="0">
            <a:spAutoFit/>
          </a:bodyPr>
          <a:lstStyle/>
          <a:p>
            <a:pPr>
              <a:spcAft>
                <a:spcPts val="600"/>
              </a:spcAft>
              <a:defRPr sz="1299" b="1">
                <a:solidFill>
                  <a:srgbClr val="006B65"/>
                </a:solidFill>
                <a:latin typeface="Calibri"/>
              </a:defRPr>
            </a:pPr>
            <a:r>
              <a:t>LOGICAL FLOW / REFERENCE VIEW</a:t>
            </a:r>
          </a:p>
        </p:txBody>
      </p:sp>
      <p:sp>
        <p:nvSpPr>
          <p:cNvPr id="5" name="Rounded Rectangle 4"/>
          <p:cNvSpPr/>
          <p:nvPr/>
        </p:nvSpPr>
        <p:spPr>
          <a:xfrm>
            <a:off x="457188" y="2285942"/>
            <a:ext cx="2688268" cy="2377380"/>
          </a:xfrm>
          <a:prstGeom prst="roundRect">
            <a:avLst>
              <a:gd name="adj" fmla="val 5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64" y="2468818"/>
            <a:ext cx="2285942" cy="502907"/>
          </a:xfrm>
          <a:prstGeom prst="rect">
            <a:avLst/>
          </a:prstGeom>
          <a:noFill/>
        </p:spPr>
        <p:txBody>
          <a:bodyPr wrap="square" lIns="0" tIns="0" rIns="0" bIns="0">
            <a:spAutoFit/>
          </a:bodyPr>
          <a:lstStyle/>
          <a:p>
            <a:pPr>
              <a:spcAft>
                <a:spcPts val="600"/>
              </a:spcAft>
              <a:defRPr sz="2999" b="1">
                <a:solidFill>
                  <a:srgbClr val="D99A22"/>
                </a:solidFill>
                <a:latin typeface="Calibri"/>
              </a:defRPr>
            </a:pPr>
            <a:r>
              <a:t>01</a:t>
            </a:r>
          </a:p>
        </p:txBody>
      </p:sp>
      <p:sp>
        <p:nvSpPr>
          <p:cNvPr id="7" name="TextBox 6"/>
          <p:cNvSpPr txBox="1"/>
          <p:nvPr/>
        </p:nvSpPr>
        <p:spPr>
          <a:xfrm>
            <a:off x="640064" y="3136313"/>
            <a:ext cx="2285942" cy="502907"/>
          </a:xfrm>
          <a:prstGeom prst="rect">
            <a:avLst/>
          </a:prstGeom>
          <a:noFill/>
        </p:spPr>
        <p:txBody>
          <a:bodyPr wrap="square" lIns="0" tIns="0" rIns="0" bIns="0">
            <a:spAutoFit/>
          </a:bodyPr>
          <a:lstStyle/>
          <a:p>
            <a:pPr>
              <a:spcAft>
                <a:spcPts val="600"/>
              </a:spcAft>
              <a:defRPr sz="2099" b="1">
                <a:solidFill>
                  <a:srgbClr val="182337"/>
                </a:solidFill>
                <a:latin typeface="Calibri"/>
              </a:defRPr>
            </a:pPr>
            <a:r>
              <a:t>Identity + project</a:t>
            </a:r>
          </a:p>
        </p:txBody>
      </p:sp>
      <p:sp>
        <p:nvSpPr>
          <p:cNvPr id="8" name="TextBox 7"/>
          <p:cNvSpPr txBox="1"/>
          <p:nvPr/>
        </p:nvSpPr>
        <p:spPr>
          <a:xfrm>
            <a:off x="640064" y="3840384"/>
            <a:ext cx="2285942" cy="640064"/>
          </a:xfrm>
          <a:prstGeom prst="rect">
            <a:avLst/>
          </a:prstGeom>
          <a:noFill/>
        </p:spPr>
        <p:txBody>
          <a:bodyPr wrap="square" lIns="0" tIns="0" rIns="0" bIns="0">
            <a:spAutoFit/>
          </a:bodyPr>
          <a:lstStyle/>
          <a:p>
            <a:pPr>
              <a:spcAft>
                <a:spcPts val="600"/>
              </a:spcAft>
              <a:defRPr sz="1699" b="0">
                <a:solidFill>
                  <a:srgbClr val="182337"/>
                </a:solidFill>
                <a:latin typeface="Calibri"/>
              </a:defRPr>
            </a:pPr>
            <a:r>
              <a:t>Authorized project access</a:t>
            </a:r>
          </a:p>
        </p:txBody>
      </p:sp>
      <p:sp>
        <p:nvSpPr>
          <p:cNvPr id="9" name="Chevron 8"/>
          <p:cNvSpPr/>
          <p:nvPr/>
        </p:nvSpPr>
        <p:spPr>
          <a:xfrm>
            <a:off x="3163744" y="3264326"/>
            <a:ext cx="137156" cy="320032"/>
          </a:xfrm>
          <a:prstGeom prst="chevron">
            <a:avLst/>
          </a:prstGeom>
          <a:solidFill>
            <a:srgbClr val="006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319189" y="2285942"/>
            <a:ext cx="2688268" cy="2377380"/>
          </a:xfrm>
          <a:prstGeom prst="roundRect">
            <a:avLst>
              <a:gd name="adj" fmla="val 5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502064" y="2468818"/>
            <a:ext cx="2285942" cy="502907"/>
          </a:xfrm>
          <a:prstGeom prst="rect">
            <a:avLst/>
          </a:prstGeom>
          <a:noFill/>
        </p:spPr>
        <p:txBody>
          <a:bodyPr wrap="square" lIns="0" tIns="0" rIns="0" bIns="0">
            <a:spAutoFit/>
          </a:bodyPr>
          <a:lstStyle/>
          <a:p>
            <a:pPr>
              <a:spcAft>
                <a:spcPts val="600"/>
              </a:spcAft>
              <a:defRPr sz="2999" b="1">
                <a:solidFill>
                  <a:srgbClr val="D99A22"/>
                </a:solidFill>
                <a:latin typeface="Calibri"/>
              </a:defRPr>
            </a:pPr>
            <a:r>
              <a:t>02</a:t>
            </a:r>
          </a:p>
        </p:txBody>
      </p:sp>
      <p:sp>
        <p:nvSpPr>
          <p:cNvPr id="12" name="TextBox 11"/>
          <p:cNvSpPr txBox="1"/>
          <p:nvPr/>
        </p:nvSpPr>
        <p:spPr>
          <a:xfrm>
            <a:off x="3502064" y="3136313"/>
            <a:ext cx="2285942" cy="502907"/>
          </a:xfrm>
          <a:prstGeom prst="rect">
            <a:avLst/>
          </a:prstGeom>
          <a:noFill/>
        </p:spPr>
        <p:txBody>
          <a:bodyPr wrap="square" lIns="0" tIns="0" rIns="0" bIns="0">
            <a:spAutoFit/>
          </a:bodyPr>
          <a:lstStyle/>
          <a:p>
            <a:pPr>
              <a:spcAft>
                <a:spcPts val="600"/>
              </a:spcAft>
              <a:defRPr sz="2099" b="1">
                <a:solidFill>
                  <a:srgbClr val="182337"/>
                </a:solidFill>
                <a:latin typeface="Calibri"/>
              </a:defRPr>
            </a:pPr>
            <a:r>
              <a:t>Model catalog</a:t>
            </a:r>
          </a:p>
        </p:txBody>
      </p:sp>
      <p:sp>
        <p:nvSpPr>
          <p:cNvPr id="13" name="TextBox 12"/>
          <p:cNvSpPr txBox="1"/>
          <p:nvPr/>
        </p:nvSpPr>
        <p:spPr>
          <a:xfrm>
            <a:off x="3502064" y="3840384"/>
            <a:ext cx="2285942" cy="640064"/>
          </a:xfrm>
          <a:prstGeom prst="rect">
            <a:avLst/>
          </a:prstGeom>
          <a:noFill/>
        </p:spPr>
        <p:txBody>
          <a:bodyPr wrap="square" lIns="0" tIns="0" rIns="0" bIns="0">
            <a:spAutoFit/>
          </a:bodyPr>
          <a:lstStyle/>
          <a:p>
            <a:pPr>
              <a:spcAft>
                <a:spcPts val="600"/>
              </a:spcAft>
              <a:defRPr sz="1699" b="0">
                <a:solidFill>
                  <a:srgbClr val="182337"/>
                </a:solidFill>
                <a:latin typeface="Calibri"/>
              </a:defRPr>
            </a:pPr>
            <a:r>
              <a:t>Choose / deploy a model</a:t>
            </a:r>
          </a:p>
        </p:txBody>
      </p:sp>
      <p:sp>
        <p:nvSpPr>
          <p:cNvPr id="14" name="Chevron 13"/>
          <p:cNvSpPr/>
          <p:nvPr/>
        </p:nvSpPr>
        <p:spPr>
          <a:xfrm>
            <a:off x="6025745" y="3264326"/>
            <a:ext cx="137156" cy="320032"/>
          </a:xfrm>
          <a:prstGeom prst="chevron">
            <a:avLst/>
          </a:prstGeom>
          <a:solidFill>
            <a:srgbClr val="006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181189" y="2285942"/>
            <a:ext cx="2688268" cy="2377380"/>
          </a:xfrm>
          <a:prstGeom prst="roundRect">
            <a:avLst>
              <a:gd name="adj" fmla="val 5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64064" y="2468818"/>
            <a:ext cx="2285942" cy="502907"/>
          </a:xfrm>
          <a:prstGeom prst="rect">
            <a:avLst/>
          </a:prstGeom>
          <a:noFill/>
        </p:spPr>
        <p:txBody>
          <a:bodyPr wrap="square" lIns="0" tIns="0" rIns="0" bIns="0">
            <a:spAutoFit/>
          </a:bodyPr>
          <a:lstStyle/>
          <a:p>
            <a:pPr>
              <a:spcAft>
                <a:spcPts val="600"/>
              </a:spcAft>
              <a:defRPr sz="2999" b="1">
                <a:solidFill>
                  <a:srgbClr val="D99A22"/>
                </a:solidFill>
                <a:latin typeface="Calibri"/>
              </a:defRPr>
            </a:pPr>
            <a:r>
              <a:t>03</a:t>
            </a:r>
          </a:p>
        </p:txBody>
      </p:sp>
      <p:sp>
        <p:nvSpPr>
          <p:cNvPr id="17" name="TextBox 16"/>
          <p:cNvSpPr txBox="1"/>
          <p:nvPr/>
        </p:nvSpPr>
        <p:spPr>
          <a:xfrm>
            <a:off x="6364064" y="3136313"/>
            <a:ext cx="2285942" cy="502907"/>
          </a:xfrm>
          <a:prstGeom prst="rect">
            <a:avLst/>
          </a:prstGeom>
          <a:noFill/>
        </p:spPr>
        <p:txBody>
          <a:bodyPr wrap="square" lIns="0" tIns="0" rIns="0" bIns="0">
            <a:spAutoFit/>
          </a:bodyPr>
          <a:lstStyle/>
          <a:p>
            <a:pPr>
              <a:spcAft>
                <a:spcPts val="600"/>
              </a:spcAft>
              <a:defRPr sz="2099" b="1">
                <a:solidFill>
                  <a:srgbClr val="182337"/>
                </a:solidFill>
                <a:latin typeface="Calibri"/>
              </a:defRPr>
            </a:pPr>
            <a:r>
              <a:t>Agent development</a:t>
            </a:r>
          </a:p>
        </p:txBody>
      </p:sp>
      <p:sp>
        <p:nvSpPr>
          <p:cNvPr id="18" name="TextBox 17"/>
          <p:cNvSpPr txBox="1"/>
          <p:nvPr/>
        </p:nvSpPr>
        <p:spPr>
          <a:xfrm>
            <a:off x="6364064" y="3840384"/>
            <a:ext cx="2285942" cy="640064"/>
          </a:xfrm>
          <a:prstGeom prst="rect">
            <a:avLst/>
          </a:prstGeom>
          <a:noFill/>
        </p:spPr>
        <p:txBody>
          <a:bodyPr wrap="square" lIns="0" tIns="0" rIns="0" bIns="0">
            <a:spAutoFit/>
          </a:bodyPr>
          <a:lstStyle/>
          <a:p>
            <a:pPr>
              <a:spcAft>
                <a:spcPts val="600"/>
              </a:spcAft>
              <a:defRPr sz="1699" b="0">
                <a:solidFill>
                  <a:srgbClr val="182337"/>
                </a:solidFill>
                <a:latin typeface="Calibri"/>
              </a:defRPr>
            </a:pPr>
            <a:r>
              <a:t>Configure or write code</a:t>
            </a:r>
          </a:p>
        </p:txBody>
      </p:sp>
      <p:sp>
        <p:nvSpPr>
          <p:cNvPr id="19" name="Chevron 18"/>
          <p:cNvSpPr/>
          <p:nvPr/>
        </p:nvSpPr>
        <p:spPr>
          <a:xfrm>
            <a:off x="8887745" y="3264326"/>
            <a:ext cx="137156" cy="320032"/>
          </a:xfrm>
          <a:prstGeom prst="chevron">
            <a:avLst/>
          </a:prstGeom>
          <a:solidFill>
            <a:srgbClr val="006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9043189" y="2285942"/>
            <a:ext cx="2688268" cy="2377380"/>
          </a:xfrm>
          <a:prstGeom prst="roundRect">
            <a:avLst>
              <a:gd name="adj" fmla="val 5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26065" y="2468818"/>
            <a:ext cx="2285942" cy="502907"/>
          </a:xfrm>
          <a:prstGeom prst="rect">
            <a:avLst/>
          </a:prstGeom>
          <a:noFill/>
        </p:spPr>
        <p:txBody>
          <a:bodyPr wrap="square" lIns="0" tIns="0" rIns="0" bIns="0">
            <a:spAutoFit/>
          </a:bodyPr>
          <a:lstStyle/>
          <a:p>
            <a:pPr>
              <a:spcAft>
                <a:spcPts val="600"/>
              </a:spcAft>
              <a:defRPr sz="2999" b="1">
                <a:solidFill>
                  <a:srgbClr val="D99A22"/>
                </a:solidFill>
                <a:latin typeface="Calibri"/>
              </a:defRPr>
            </a:pPr>
            <a:r>
              <a:t>04</a:t>
            </a:r>
          </a:p>
        </p:txBody>
      </p:sp>
      <p:sp>
        <p:nvSpPr>
          <p:cNvPr id="22" name="TextBox 21"/>
          <p:cNvSpPr txBox="1"/>
          <p:nvPr/>
        </p:nvSpPr>
        <p:spPr>
          <a:xfrm>
            <a:off x="9226065" y="3136313"/>
            <a:ext cx="2285942" cy="502907"/>
          </a:xfrm>
          <a:prstGeom prst="rect">
            <a:avLst/>
          </a:prstGeom>
          <a:noFill/>
        </p:spPr>
        <p:txBody>
          <a:bodyPr wrap="square" lIns="0" tIns="0" rIns="0" bIns="0">
            <a:spAutoFit/>
          </a:bodyPr>
          <a:lstStyle/>
          <a:p>
            <a:pPr>
              <a:spcAft>
                <a:spcPts val="600"/>
              </a:spcAft>
              <a:defRPr sz="2099" b="1">
                <a:solidFill>
                  <a:srgbClr val="182337"/>
                </a:solidFill>
                <a:latin typeface="Calibri"/>
              </a:defRPr>
            </a:pPr>
            <a:r>
              <a:t>Operate</a:t>
            </a:r>
          </a:p>
        </p:txBody>
      </p:sp>
      <p:sp>
        <p:nvSpPr>
          <p:cNvPr id="23" name="TextBox 22"/>
          <p:cNvSpPr txBox="1"/>
          <p:nvPr/>
        </p:nvSpPr>
        <p:spPr>
          <a:xfrm>
            <a:off x="9226065" y="3840384"/>
            <a:ext cx="2285942" cy="640064"/>
          </a:xfrm>
          <a:prstGeom prst="rect">
            <a:avLst/>
          </a:prstGeom>
          <a:noFill/>
        </p:spPr>
        <p:txBody>
          <a:bodyPr wrap="square" lIns="0" tIns="0" rIns="0" bIns="0">
            <a:spAutoFit/>
          </a:bodyPr>
          <a:lstStyle/>
          <a:p>
            <a:pPr>
              <a:spcAft>
                <a:spcPts val="600"/>
              </a:spcAft>
              <a:defRPr sz="1699" b="0">
                <a:solidFill>
                  <a:srgbClr val="182337"/>
                </a:solidFill>
                <a:latin typeface="Calibri"/>
              </a:defRPr>
            </a:pPr>
            <a:r>
              <a:t>Endpoints + governance</a:t>
            </a:r>
          </a:p>
        </p:txBody>
      </p:sp>
      <p:sp>
        <p:nvSpPr>
          <p:cNvPr id="24" name="TextBox 23"/>
          <p:cNvSpPr txBox="1"/>
          <p:nvPr/>
        </p:nvSpPr>
        <p:spPr>
          <a:xfrm>
            <a:off x="457188" y="5074793"/>
            <a:ext cx="11155401" cy="731501"/>
          </a:xfrm>
          <a:prstGeom prst="rect">
            <a:avLst/>
          </a:prstGeom>
          <a:noFill/>
        </p:spPr>
        <p:txBody>
          <a:bodyPr wrap="square" lIns="0" tIns="0" rIns="0" bIns="0">
            <a:spAutoFit/>
          </a:bodyPr>
          <a:lstStyle/>
          <a:p>
            <a:pPr>
              <a:spcAft>
                <a:spcPts val="600"/>
              </a:spcAft>
              <a:defRPr sz="1799" b="0">
                <a:solidFill>
                  <a:srgbClr val="182337"/>
                </a:solidFill>
                <a:latin typeface="Calibri"/>
              </a:defRPr>
            </a:pPr>
            <a:r>
              <a:t>This is a conceptual platform path, not evidence that a specific agent, evaluation, tracing pipeline or hosted application was deployed.</a:t>
            </a:r>
          </a:p>
        </p:txBody>
      </p:sp>
      <p:sp>
        <p:nvSpPr>
          <p:cNvPr id="25" name="TextBox 24"/>
          <p:cNvSpPr txBox="1"/>
          <p:nvPr/>
        </p:nvSpPr>
        <p:spPr>
          <a:xfrm>
            <a:off x="457188" y="6272627"/>
            <a:ext cx="9692397" cy="274313"/>
          </a:xfrm>
          <a:prstGeom prst="rect">
            <a:avLst/>
          </a:prstGeom>
          <a:noFill/>
        </p:spPr>
        <p:txBody>
          <a:bodyPr wrap="square" lIns="0" tIns="0" rIns="0" bIns="0">
            <a:spAutoFit/>
          </a:bodyPr>
          <a:lstStyle/>
          <a:p>
            <a:pPr>
              <a:spcAft>
                <a:spcPts val="600"/>
              </a:spcAft>
              <a:defRPr sz="1099" b="0">
                <a:solidFill>
                  <a:srgbClr val="526176"/>
                </a:solidFill>
                <a:latin typeface="Calibri"/>
              </a:defRPr>
            </a:pPr>
            <a:r>
              <a:t>Generic labels and edited screenshots | Historical results are illustrative, not rerun</a:t>
            </a:r>
          </a:p>
        </p:txBody>
      </p:sp>
      <p:sp>
        <p:nvSpPr>
          <p:cNvPr id="26" name="TextBox 25">
            <a:hlinkClick r:id="rId3" action="ppaction://hlinksldjump"/>
          </p:cNvPr>
          <p:cNvSpPr txBox="1"/>
          <p:nvPr/>
        </p:nvSpPr>
        <p:spPr>
          <a:xfrm>
            <a:off x="10378180" y="6236052"/>
            <a:ext cx="1371565" cy="320032"/>
          </a:xfrm>
          <a:prstGeom prst="rect">
            <a:avLst/>
          </a:prstGeom>
          <a:noFill/>
        </p:spPr>
        <p:txBody>
          <a:bodyPr wrap="square" lIns="0" tIns="0" rIns="0" bIns="0">
            <a:spAutoFit/>
          </a:bodyPr>
          <a:lstStyle/>
          <a:p>
            <a:pPr>
              <a:spcAft>
                <a:spcPts val="600"/>
              </a:spcAft>
              <a:defRPr sz="1299" b="1">
                <a:solidFill>
                  <a:srgbClr val="006B65"/>
                </a:solidFill>
                <a:latin typeface="Calibri"/>
              </a:defRPr>
            </a:pPr>
            <a:r>
              <a:t>START TOUR &gt;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bg>
      <p:bgPr>
        <a:solidFill>
          <a:srgbClr val="0E0D12"/>
        </a:solidFill>
        <a:effectLst/>
      </p:bgPr>
    </p:bg>
    <p:spTree>
      <p:nvGrpSpPr>
        <p:cNvPr id="1" name=""/>
        <p:cNvGrpSpPr/>
        <p:nvPr/>
      </p:nvGrpSpPr>
      <p:grpSpPr>
        <a:xfrm>
          <a:off x="0" y="0"/>
          <a:ext cx="0" cy="0"/>
          <a:chOff x="0" y="0"/>
          <a:chExt cx="0" cy="0"/>
        </a:xfrm>
      </p:grpSpPr>
      <p:pic>
        <p:nvPicPr>
          <p:cNvPr id="2" name="Image 0" descr="Microsoft Foundry portal screenshot"/>
          <p:cNvPicPr>
            <a:picLocks noChangeAspect="1"/>
          </p:cNvPicPr>
          <p:nvPr/>
        </p:nvPicPr>
        <p:blipFill>
          <a:blip r:embed="rId3">
            <a:alphaModFix amt="88000"/>
          </a:blip>
          <a:stretch>
            <a:fillRect/>
          </a:stretch>
        </p:blipFill>
        <p:spPr>
          <a:xfrm>
            <a:off x="763284" y="0"/>
            <a:ext cx="10665127" cy="6858000"/>
          </a:xfrm>
          <a:prstGeom prst="rect">
            <a:avLst/>
          </a:prstGeom>
        </p:spPr>
      </p:pic>
      <p:sp>
        <p:nvSpPr>
          <p:cNvPr id="3" name="Shape 0"/>
          <p:cNvSpPr/>
          <p:nvPr/>
        </p:nvSpPr>
        <p:spPr>
          <a:xfrm>
            <a:off x="0" y="0"/>
            <a:ext cx="12191695" cy="6858000"/>
          </a:xfrm>
          <a:prstGeom prst="rect">
            <a:avLst/>
          </a:prstGeom>
          <a:solidFill>
            <a:srgbClr val="0E0D12">
              <a:alpha val="82000"/>
            </a:srgbClr>
          </a:solidFill>
          <a:ln w="12700">
            <a:solidFill>
              <a:srgbClr val="0E0D12">
                <a:alpha val="0"/>
              </a:srgbClr>
            </a:solidFill>
            <a:prstDash val="solid"/>
          </a:ln>
        </p:spPr>
      </p:sp>
      <p:sp>
        <p:nvSpPr>
          <p:cNvPr id="4" name="Shape 1"/>
          <p:cNvSpPr/>
          <p:nvPr/>
        </p:nvSpPr>
        <p:spPr>
          <a:xfrm>
            <a:off x="658368" y="1170432"/>
            <a:ext cx="6629400" cy="4297680"/>
          </a:xfrm>
          <a:prstGeom prst="roundRect">
            <a:avLst>
              <a:gd name="adj" fmla="val 1702"/>
            </a:avLst>
          </a:prstGeom>
          <a:solidFill>
            <a:srgbClr val="121018">
              <a:alpha val="92000"/>
            </a:srgbClr>
          </a:solidFill>
          <a:ln w="15240">
            <a:solidFill>
              <a:srgbClr val="514568"/>
            </a:solidFill>
            <a:prstDash val="solid"/>
          </a:ln>
          <a:effectLst>
            <a:outerShdw blurRad="38100" dist="50800" dir="2700000" algn="bl" rotWithShape="0">
              <a:srgbClr val="000000">
                <a:alpha val="24000"/>
              </a:srgbClr>
            </a:outerShdw>
          </a:effectLst>
        </p:spPr>
      </p:sp>
      <p:sp>
        <p:nvSpPr>
          <p:cNvPr id="5" name="Text 2"/>
          <p:cNvSpPr/>
          <p:nvPr/>
        </p:nvSpPr>
        <p:spPr>
          <a:xfrm>
            <a:off x="987552" y="1536192"/>
            <a:ext cx="5212080" cy="274320"/>
          </a:xfrm>
          <a:prstGeom prst="rect">
            <a:avLst/>
          </a:prstGeom>
          <a:noFill/>
          <a:ln/>
        </p:spPr>
        <p:txBody>
          <a:bodyPr wrap="square" lIns="0" tIns="0" rIns="0" bIns="0" rtlCol="0" anchor="ctr"/>
          <a:lstStyle/>
          <a:p>
            <a:pPr marL="0" indent="0">
              <a:buNone/>
            </a:pPr>
            <a:r>
              <a:rPr lang="en-US" sz="1300" b="1" kern="0" spc="240" dirty="0">
                <a:solidFill>
                  <a:srgbClr val="22D3EE"/>
                </a:solidFill>
              </a:rPr>
              <a:t>MICROSOFT FOUNDRY</a:t>
            </a:r>
            <a:endParaRPr lang="en-US" sz="1300" dirty="0"/>
          </a:p>
        </p:txBody>
      </p:sp>
      <p:sp>
        <p:nvSpPr>
          <p:cNvPr id="6" name="Text 3"/>
          <p:cNvSpPr/>
          <p:nvPr/>
        </p:nvSpPr>
        <p:spPr>
          <a:xfrm>
            <a:off x="960120" y="1947672"/>
            <a:ext cx="5669280" cy="1417320"/>
          </a:xfrm>
          <a:prstGeom prst="rect">
            <a:avLst/>
          </a:prstGeom>
          <a:noFill/>
          <a:ln/>
        </p:spPr>
        <p:txBody>
          <a:bodyPr wrap="square" lIns="0" tIns="0" rIns="0" bIns="0" rtlCol="0" anchor="ctr">
            <a:normAutofit/>
          </a:bodyPr>
          <a:lstStyle/>
          <a:p>
            <a:pPr marL="0" indent="0">
              <a:buNone/>
            </a:pPr>
            <a:r>
              <a:rPr lang="en-US" sz="4100" b="1" dirty="0">
                <a:solidFill>
                  <a:srgbClr val="FFFFFF"/>
                </a:solidFill>
              </a:rPr>
              <a:t>General Overview</a:t>
            </a:r>
            <a:endParaRPr lang="en-US" sz="4100" dirty="0"/>
          </a:p>
          <a:p>
            <a:pPr marL="0" indent="0">
              <a:buNone/>
            </a:pPr>
            <a:r>
              <a:rPr lang="en-US" sz="4100" b="1" dirty="0">
                <a:solidFill>
                  <a:srgbClr val="FFFFFF"/>
                </a:solidFill>
              </a:rPr>
              <a:t>Demo Guide</a:t>
            </a:r>
            <a:endParaRPr lang="en-US" sz="4100" dirty="0"/>
          </a:p>
        </p:txBody>
      </p:sp>
      <p:sp>
        <p:nvSpPr>
          <p:cNvPr id="7" name="Text 4"/>
          <p:cNvSpPr/>
          <p:nvPr/>
        </p:nvSpPr>
        <p:spPr>
          <a:xfrm>
            <a:off x="987552" y="3703320"/>
            <a:ext cx="5394960" cy="685800"/>
          </a:xfrm>
          <a:prstGeom prst="rect">
            <a:avLst/>
          </a:prstGeom>
          <a:noFill/>
          <a:ln/>
        </p:spPr>
        <p:txBody>
          <a:bodyPr wrap="square" lIns="0" tIns="0" rIns="0" bIns="0" rtlCol="0" anchor="ctr">
            <a:normAutofit/>
          </a:bodyPr>
          <a:lstStyle/>
          <a:p>
            <a:pPr marL="0" indent="0">
              <a:buNone/>
            </a:pPr>
            <a:r>
              <a:rPr lang="en-US" sz="1900" dirty="0">
                <a:solidFill>
                  <a:srgbClr val="C4B5FD"/>
                </a:solidFill>
              </a:rPr>
              <a:t>A presenter-ready tour from model discovery to enterprise operations</a:t>
            </a:r>
            <a:endParaRPr lang="en-US" sz="1900" dirty="0"/>
          </a:p>
        </p:txBody>
      </p:sp>
      <p:sp>
        <p:nvSpPr>
          <p:cNvPr id="8" name="Text 5"/>
          <p:cNvSpPr/>
          <p:nvPr/>
        </p:nvSpPr>
        <p:spPr>
          <a:xfrm>
            <a:off x="987552" y="4818888"/>
            <a:ext cx="4114800" cy="228600"/>
          </a:xfrm>
          <a:prstGeom prst="rect">
            <a:avLst/>
          </a:prstGeom>
          <a:noFill/>
          <a:ln/>
        </p:spPr>
        <p:txBody>
          <a:bodyPr wrap="square" lIns="0" tIns="0" rIns="0" bIns="0" rtlCol="0" anchor="ctr"/>
          <a:lstStyle/>
          <a:p>
            <a:pPr marL="0" indent="0">
              <a:buNone/>
            </a:pPr>
            <a:r>
              <a:rPr lang="en-US" sz="1050" dirty="0">
                <a:solidFill>
                  <a:srgbClr val="B8B5C5"/>
                </a:solidFill>
              </a:rPr>
              <a:t>Prepared September 2, 2026</a:t>
            </a:r>
            <a:endParaRPr lang="en-US" sz="1050" dirty="0"/>
          </a:p>
        </p:txBody>
      </p:sp>
      <p:sp>
        <p:nvSpPr>
          <p:cNvPr id="9" name="Text 6"/>
          <p:cNvSpPr/>
          <p:nvPr/>
        </p:nvSpPr>
        <p:spPr>
          <a:xfrm>
            <a:off x="502920" y="6528816"/>
            <a:ext cx="10789920" cy="164592"/>
          </a:xfrm>
          <a:prstGeom prst="rect">
            <a:avLst/>
          </a:prstGeom>
          <a:noFill/>
          <a:ln/>
        </p:spPr>
        <p:txBody>
          <a:bodyPr wrap="square" lIns="0" tIns="0" rIns="0" bIns="0" rtlCol="0" anchor="ctr"/>
          <a:lstStyle/>
          <a:p>
            <a:pPr marL="0" indent="0">
              <a:buNone/>
            </a:pPr>
            <a:r>
              <a:rPr lang="en-US" sz="850" dirty="0">
                <a:solidFill>
                  <a:srgbClr val="837E92"/>
                </a:solidFill>
                <a:latin typeface="Aptos" pitchFamily="34" charset="0"/>
                <a:ea typeface="Aptos" pitchFamily="34" charset="-122"/>
                <a:cs typeface="Aptos" pitchFamily="34" charset="-120"/>
              </a:rPr>
              <a:t>Microsoft Foundry | General overview demo</a:t>
            </a:r>
            <a:endParaRPr lang="en-US" sz="850" dirty="0"/>
          </a:p>
        </p:txBody>
      </p:sp>
      <p:sp>
        <p:nvSpPr>
          <p:cNvPr id="10" name="Text 7"/>
          <p:cNvSpPr/>
          <p:nvPr/>
        </p:nvSpPr>
        <p:spPr>
          <a:xfrm>
            <a:off x="11292840" y="6473952"/>
            <a:ext cx="384048" cy="228600"/>
          </a:xfrm>
          <a:prstGeom prst="rect">
            <a:avLst/>
          </a:prstGeom>
          <a:noFill/>
          <a:ln/>
        </p:spPr>
        <p:txBody>
          <a:bodyPr wrap="square" lIns="0" tIns="0" rIns="0" bIns="0" rtlCol="0" anchor="ctr"/>
          <a:lstStyle/>
          <a:p>
            <a:pPr marL="0" indent="0" algn="r">
              <a:buNone/>
            </a:pPr>
            <a:r>
              <a:rPr lang="en-US" sz="900" b="1" dirty="0">
                <a:solidFill>
                  <a:srgbClr val="C4B5FD"/>
                </a:solidFill>
                <a:latin typeface="Aptos" pitchFamily="34" charset="0"/>
                <a:ea typeface="Aptos" pitchFamily="34" charset="-122"/>
                <a:cs typeface="Aptos" pitchFamily="34" charset="-120"/>
              </a:rPr>
              <a:t>01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0E0D12"/>
        </a:solidFill>
        <a:effectLst/>
      </p:bgPr>
    </p:bg>
    <p:spTree>
      <p:nvGrpSpPr>
        <p:cNvPr id="1" name=""/>
        <p:cNvGrpSpPr/>
        <p:nvPr/>
      </p:nvGrpSpPr>
      <p:grpSpPr>
        <a:xfrm>
          <a:off x="0" y="0"/>
          <a:ext cx="0" cy="0"/>
          <a:chOff x="0" y="0"/>
          <a:chExt cx="0" cy="0"/>
        </a:xfrm>
      </p:grpSpPr>
      <p:sp>
        <p:nvSpPr>
          <p:cNvPr id="2" name="Text 0"/>
          <p:cNvSpPr/>
          <p:nvPr/>
        </p:nvSpPr>
        <p:spPr>
          <a:xfrm>
            <a:off x="566928" y="384048"/>
            <a:ext cx="4389120" cy="256032"/>
          </a:xfrm>
          <a:prstGeom prst="rect">
            <a:avLst/>
          </a:prstGeom>
          <a:noFill/>
          <a:ln/>
        </p:spPr>
        <p:txBody>
          <a:bodyPr wrap="square" lIns="0" tIns="0" rIns="0" bIns="0" rtlCol="0" anchor="ctr"/>
          <a:lstStyle/>
          <a:p>
            <a:pPr marL="0" indent="0">
              <a:buNone/>
            </a:pPr>
            <a:r>
              <a:rPr lang="en-US" sz="1100" b="1" kern="0" spc="160" dirty="0">
                <a:solidFill>
                  <a:srgbClr val="22D3EE"/>
                </a:solidFill>
                <a:latin typeface="Aptos" pitchFamily="34" charset="0"/>
                <a:ea typeface="Aptos" pitchFamily="34" charset="-122"/>
                <a:cs typeface="Aptos" pitchFamily="34" charset="-120"/>
              </a:rPr>
              <a:t>DEMO FRAMING</a:t>
            </a:r>
            <a:endParaRPr lang="en-US" sz="1100" dirty="0"/>
          </a:p>
        </p:txBody>
      </p:sp>
      <p:sp>
        <p:nvSpPr>
          <p:cNvPr id="3" name="Text 1"/>
          <p:cNvSpPr/>
          <p:nvPr/>
        </p:nvSpPr>
        <p:spPr>
          <a:xfrm>
            <a:off x="548640" y="713232"/>
            <a:ext cx="11018520" cy="566928"/>
          </a:xfrm>
          <a:prstGeom prst="rect">
            <a:avLst/>
          </a:prstGeom>
          <a:noFill/>
          <a:ln/>
        </p:spPr>
        <p:txBody>
          <a:bodyPr wrap="square" lIns="0" tIns="0" rIns="0" bIns="0" rtlCol="0" anchor="ctr">
            <a:normAutofit/>
          </a:bodyPr>
          <a:lstStyle/>
          <a:p>
            <a:pPr marL="0" indent="0">
              <a:buNone/>
            </a:pPr>
            <a:r>
              <a:rPr lang="en-US" sz="3000" b="1" dirty="0">
                <a:solidFill>
                  <a:srgbClr val="F7F7FB"/>
                </a:solidFill>
                <a:latin typeface="Aptos Display" pitchFamily="34" charset="0"/>
                <a:ea typeface="Aptos Display" pitchFamily="34" charset="-122"/>
                <a:cs typeface="Aptos Display" pitchFamily="34" charset="-120"/>
              </a:rPr>
              <a:t>The story: one governed AI lifecycle</a:t>
            </a:r>
            <a:endParaRPr lang="en-US" sz="3000" dirty="0"/>
          </a:p>
        </p:txBody>
      </p:sp>
      <p:sp>
        <p:nvSpPr>
          <p:cNvPr id="4" name="Text 2"/>
          <p:cNvSpPr/>
          <p:nvPr/>
        </p:nvSpPr>
        <p:spPr>
          <a:xfrm>
            <a:off x="502920" y="6528816"/>
            <a:ext cx="10789920" cy="164592"/>
          </a:xfrm>
          <a:prstGeom prst="rect">
            <a:avLst/>
          </a:prstGeom>
          <a:noFill/>
          <a:ln/>
        </p:spPr>
        <p:txBody>
          <a:bodyPr wrap="square" lIns="0" tIns="0" rIns="0" bIns="0" rtlCol="0" anchor="ctr"/>
          <a:lstStyle/>
          <a:p>
            <a:pPr marL="0" indent="0">
              <a:buNone/>
            </a:pPr>
            <a:r>
              <a:rPr lang="en-US" sz="850" dirty="0">
                <a:solidFill>
                  <a:srgbClr val="837E92"/>
                </a:solidFill>
                <a:latin typeface="Aptos" pitchFamily="34" charset="0"/>
                <a:ea typeface="Aptos" pitchFamily="34" charset="-122"/>
                <a:cs typeface="Aptos" pitchFamily="34" charset="-120"/>
              </a:rPr>
              <a:t>Microsoft Foundry | General overview demo</a:t>
            </a:r>
            <a:endParaRPr lang="en-US" sz="850" dirty="0"/>
          </a:p>
        </p:txBody>
      </p:sp>
      <p:sp>
        <p:nvSpPr>
          <p:cNvPr id="5" name="Text 3"/>
          <p:cNvSpPr/>
          <p:nvPr/>
        </p:nvSpPr>
        <p:spPr>
          <a:xfrm>
            <a:off x="11292840" y="6473952"/>
            <a:ext cx="384048" cy="228600"/>
          </a:xfrm>
          <a:prstGeom prst="rect">
            <a:avLst/>
          </a:prstGeom>
          <a:noFill/>
          <a:ln/>
        </p:spPr>
        <p:txBody>
          <a:bodyPr wrap="square" lIns="0" tIns="0" rIns="0" bIns="0" rtlCol="0" anchor="ctr"/>
          <a:lstStyle/>
          <a:p>
            <a:pPr marL="0" indent="0" algn="r">
              <a:buNone/>
            </a:pPr>
            <a:r>
              <a:rPr lang="en-US" sz="900" b="1" dirty="0">
                <a:solidFill>
                  <a:srgbClr val="C4B5FD"/>
                </a:solidFill>
                <a:latin typeface="Aptos" pitchFamily="34" charset="0"/>
                <a:ea typeface="Aptos" pitchFamily="34" charset="-122"/>
                <a:cs typeface="Aptos" pitchFamily="34" charset="-120"/>
              </a:rPr>
              <a:t>02</a:t>
            </a:r>
            <a:endParaRPr lang="en-US" sz="900" dirty="0"/>
          </a:p>
        </p:txBody>
      </p:sp>
      <p:sp>
        <p:nvSpPr>
          <p:cNvPr id="6" name="Shape 4"/>
          <p:cNvSpPr/>
          <p:nvPr/>
        </p:nvSpPr>
        <p:spPr>
          <a:xfrm>
            <a:off x="640080" y="1828800"/>
            <a:ext cx="2487168" cy="3154680"/>
          </a:xfrm>
          <a:prstGeom prst="roundRect">
            <a:avLst>
              <a:gd name="adj" fmla="val 2941"/>
            </a:avLst>
          </a:prstGeom>
          <a:solidFill>
            <a:srgbClr val="1A1820"/>
          </a:solidFill>
          <a:ln w="19050">
            <a:solidFill>
              <a:srgbClr val="22D3EE"/>
            </a:solidFill>
            <a:prstDash val="solid"/>
          </a:ln>
          <a:effectLst>
            <a:outerShdw blurRad="38100" dist="50800" dir="2700000" algn="bl" rotWithShape="0">
              <a:srgbClr val="000000">
                <a:alpha val="24000"/>
              </a:srgbClr>
            </a:outerShdw>
          </a:effectLst>
        </p:spPr>
      </p:sp>
      <p:sp>
        <p:nvSpPr>
          <p:cNvPr id="7" name="Shape 5"/>
          <p:cNvSpPr/>
          <p:nvPr/>
        </p:nvSpPr>
        <p:spPr>
          <a:xfrm>
            <a:off x="868680" y="2103120"/>
            <a:ext cx="566928" cy="566928"/>
          </a:xfrm>
          <a:prstGeom prst="ellipse">
            <a:avLst/>
          </a:prstGeom>
          <a:solidFill>
            <a:srgbClr val="22D3EE"/>
          </a:solidFill>
          <a:ln w="12700">
            <a:solidFill>
              <a:srgbClr val="22D3EE">
                <a:alpha val="0"/>
              </a:srgbClr>
            </a:solidFill>
            <a:prstDash val="solid"/>
          </a:ln>
        </p:spPr>
      </p:sp>
      <p:sp>
        <p:nvSpPr>
          <p:cNvPr id="8" name="Text 6"/>
          <p:cNvSpPr/>
          <p:nvPr/>
        </p:nvSpPr>
        <p:spPr>
          <a:xfrm>
            <a:off x="868680" y="2185416"/>
            <a:ext cx="566928" cy="292608"/>
          </a:xfrm>
          <a:prstGeom prst="rect">
            <a:avLst/>
          </a:prstGeom>
          <a:noFill/>
          <a:ln/>
        </p:spPr>
        <p:txBody>
          <a:bodyPr wrap="square" lIns="0" tIns="0" rIns="0" bIns="0" rtlCol="0" anchor="ctr"/>
          <a:lstStyle/>
          <a:p>
            <a:pPr marL="0" indent="0" algn="ctr">
              <a:buNone/>
            </a:pPr>
            <a:r>
              <a:rPr lang="en-US" sz="1600" b="1" dirty="0">
                <a:solidFill>
                  <a:srgbClr val="0E0D12"/>
                </a:solidFill>
              </a:rPr>
              <a:t>1</a:t>
            </a:r>
            <a:endParaRPr lang="en-US" sz="1600" dirty="0"/>
          </a:p>
        </p:txBody>
      </p:sp>
      <p:sp>
        <p:nvSpPr>
          <p:cNvPr id="9" name="Text 7"/>
          <p:cNvSpPr/>
          <p:nvPr/>
        </p:nvSpPr>
        <p:spPr>
          <a:xfrm>
            <a:off x="868680" y="2880360"/>
            <a:ext cx="1993392" cy="365760"/>
          </a:xfrm>
          <a:prstGeom prst="rect">
            <a:avLst/>
          </a:prstGeom>
          <a:noFill/>
          <a:ln/>
        </p:spPr>
        <p:txBody>
          <a:bodyPr wrap="square" lIns="0" tIns="0" rIns="0" bIns="0" rtlCol="0" anchor="ctr"/>
          <a:lstStyle/>
          <a:p>
            <a:pPr marL="0" indent="0">
              <a:buNone/>
            </a:pPr>
            <a:r>
              <a:rPr lang="en-US" sz="2400" b="1" dirty="0">
                <a:solidFill>
                  <a:srgbClr val="FFFFFF"/>
                </a:solidFill>
              </a:rPr>
              <a:t>Discover</a:t>
            </a:r>
            <a:endParaRPr lang="en-US" sz="2400" dirty="0"/>
          </a:p>
        </p:txBody>
      </p:sp>
      <p:sp>
        <p:nvSpPr>
          <p:cNvPr id="10" name="Text 8"/>
          <p:cNvSpPr/>
          <p:nvPr/>
        </p:nvSpPr>
        <p:spPr>
          <a:xfrm>
            <a:off x="868680" y="3520440"/>
            <a:ext cx="2011680" cy="914400"/>
          </a:xfrm>
          <a:prstGeom prst="rect">
            <a:avLst/>
          </a:prstGeom>
          <a:noFill/>
          <a:ln/>
        </p:spPr>
        <p:txBody>
          <a:bodyPr wrap="square" lIns="0" tIns="0" rIns="0" bIns="0" rtlCol="0" anchor="t">
            <a:normAutofit/>
          </a:bodyPr>
          <a:lstStyle/>
          <a:p>
            <a:pPr marL="0" indent="0">
              <a:buNone/>
            </a:pPr>
            <a:r>
              <a:rPr lang="en-US" sz="1500" dirty="0">
                <a:solidFill>
                  <a:srgbClr val="B8B5C5"/>
                </a:solidFill>
              </a:rPr>
              <a:t>Find models, tools, templates, and playgrounds.</a:t>
            </a:r>
            <a:endParaRPr lang="en-US" sz="1500" dirty="0"/>
          </a:p>
        </p:txBody>
      </p:sp>
      <p:sp>
        <p:nvSpPr>
          <p:cNvPr id="11" name="Shape 9"/>
          <p:cNvSpPr/>
          <p:nvPr/>
        </p:nvSpPr>
        <p:spPr>
          <a:xfrm>
            <a:off x="3172968" y="3035808"/>
            <a:ext cx="320040" cy="640080"/>
          </a:xfrm>
          <a:prstGeom prst="chevron">
            <a:avLst/>
          </a:prstGeom>
          <a:solidFill>
            <a:srgbClr val="837E92"/>
          </a:solidFill>
          <a:ln w="12700">
            <a:solidFill>
              <a:srgbClr val="837E92">
                <a:alpha val="0"/>
              </a:srgbClr>
            </a:solidFill>
            <a:prstDash val="solid"/>
          </a:ln>
        </p:spPr>
      </p:sp>
      <p:sp>
        <p:nvSpPr>
          <p:cNvPr id="12" name="Shape 10"/>
          <p:cNvSpPr/>
          <p:nvPr/>
        </p:nvSpPr>
        <p:spPr>
          <a:xfrm>
            <a:off x="3511296" y="1828800"/>
            <a:ext cx="2487168" cy="3154680"/>
          </a:xfrm>
          <a:prstGeom prst="roundRect">
            <a:avLst>
              <a:gd name="adj" fmla="val 2941"/>
            </a:avLst>
          </a:prstGeom>
          <a:solidFill>
            <a:srgbClr val="1A1820"/>
          </a:solidFill>
          <a:ln w="19050">
            <a:solidFill>
              <a:srgbClr val="8B5CF6"/>
            </a:solidFill>
            <a:prstDash val="solid"/>
          </a:ln>
          <a:effectLst>
            <a:outerShdw blurRad="38100" dist="50800" dir="2700000" algn="bl" rotWithShape="0">
              <a:srgbClr val="000000">
                <a:alpha val="24000"/>
              </a:srgbClr>
            </a:outerShdw>
          </a:effectLst>
        </p:spPr>
      </p:sp>
      <p:sp>
        <p:nvSpPr>
          <p:cNvPr id="13" name="Shape 11"/>
          <p:cNvSpPr/>
          <p:nvPr/>
        </p:nvSpPr>
        <p:spPr>
          <a:xfrm>
            <a:off x="3739896" y="2103120"/>
            <a:ext cx="566928" cy="566928"/>
          </a:xfrm>
          <a:prstGeom prst="ellipse">
            <a:avLst/>
          </a:prstGeom>
          <a:solidFill>
            <a:srgbClr val="8B5CF6"/>
          </a:solidFill>
          <a:ln w="12700">
            <a:solidFill>
              <a:srgbClr val="8B5CF6">
                <a:alpha val="0"/>
              </a:srgbClr>
            </a:solidFill>
            <a:prstDash val="solid"/>
          </a:ln>
        </p:spPr>
      </p:sp>
      <p:sp>
        <p:nvSpPr>
          <p:cNvPr id="14" name="Text 12"/>
          <p:cNvSpPr/>
          <p:nvPr/>
        </p:nvSpPr>
        <p:spPr>
          <a:xfrm>
            <a:off x="3739896" y="2185416"/>
            <a:ext cx="566928" cy="292608"/>
          </a:xfrm>
          <a:prstGeom prst="rect">
            <a:avLst/>
          </a:prstGeom>
          <a:noFill/>
          <a:ln/>
        </p:spPr>
        <p:txBody>
          <a:bodyPr wrap="square" lIns="0" tIns="0" rIns="0" bIns="0" rtlCol="0" anchor="ctr"/>
          <a:lstStyle/>
          <a:p>
            <a:pPr marL="0" indent="0" algn="ctr">
              <a:buNone/>
            </a:pPr>
            <a:r>
              <a:rPr lang="en-US" sz="1600" b="1" dirty="0">
                <a:solidFill>
                  <a:srgbClr val="0E0D12"/>
                </a:solidFill>
              </a:rPr>
              <a:t>2</a:t>
            </a:r>
            <a:endParaRPr lang="en-US" sz="1600" dirty="0"/>
          </a:p>
        </p:txBody>
      </p:sp>
      <p:sp>
        <p:nvSpPr>
          <p:cNvPr id="15" name="Text 13"/>
          <p:cNvSpPr/>
          <p:nvPr/>
        </p:nvSpPr>
        <p:spPr>
          <a:xfrm>
            <a:off x="3739896" y="2880360"/>
            <a:ext cx="1993392" cy="365760"/>
          </a:xfrm>
          <a:prstGeom prst="rect">
            <a:avLst/>
          </a:prstGeom>
          <a:noFill/>
          <a:ln/>
        </p:spPr>
        <p:txBody>
          <a:bodyPr wrap="square" lIns="0" tIns="0" rIns="0" bIns="0" rtlCol="0" anchor="ctr"/>
          <a:lstStyle/>
          <a:p>
            <a:pPr marL="0" indent="0">
              <a:buNone/>
            </a:pPr>
            <a:r>
              <a:rPr lang="en-US" sz="2400" b="1" dirty="0">
                <a:solidFill>
                  <a:srgbClr val="FFFFFF"/>
                </a:solidFill>
              </a:rPr>
              <a:t>Build</a:t>
            </a:r>
            <a:endParaRPr lang="en-US" sz="2400" dirty="0"/>
          </a:p>
        </p:txBody>
      </p:sp>
      <p:sp>
        <p:nvSpPr>
          <p:cNvPr id="16" name="Text 14"/>
          <p:cNvSpPr/>
          <p:nvPr/>
        </p:nvSpPr>
        <p:spPr>
          <a:xfrm>
            <a:off x="3739896" y="3520440"/>
            <a:ext cx="2011680" cy="914400"/>
          </a:xfrm>
          <a:prstGeom prst="rect">
            <a:avLst/>
          </a:prstGeom>
          <a:noFill/>
          <a:ln/>
        </p:spPr>
        <p:txBody>
          <a:bodyPr wrap="square" lIns="0" tIns="0" rIns="0" bIns="0" rtlCol="0" anchor="t">
            <a:normAutofit/>
          </a:bodyPr>
          <a:lstStyle/>
          <a:p>
            <a:pPr marL="0" indent="0">
              <a:buNone/>
            </a:pPr>
            <a:r>
              <a:rPr lang="en-US" sz="1500" dirty="0">
                <a:solidFill>
                  <a:srgbClr val="B8B5C5"/>
                </a:solidFill>
              </a:rPr>
              <a:t>Create agents, deploy models, add knowledge, and evaluate.</a:t>
            </a:r>
            <a:endParaRPr lang="en-US" sz="1500" dirty="0"/>
          </a:p>
        </p:txBody>
      </p:sp>
      <p:sp>
        <p:nvSpPr>
          <p:cNvPr id="17" name="Shape 15"/>
          <p:cNvSpPr/>
          <p:nvPr/>
        </p:nvSpPr>
        <p:spPr>
          <a:xfrm>
            <a:off x="6044184" y="3035808"/>
            <a:ext cx="320040" cy="640080"/>
          </a:xfrm>
          <a:prstGeom prst="chevron">
            <a:avLst/>
          </a:prstGeom>
          <a:solidFill>
            <a:srgbClr val="837E92"/>
          </a:solidFill>
          <a:ln w="12700">
            <a:solidFill>
              <a:srgbClr val="837E92">
                <a:alpha val="0"/>
              </a:srgbClr>
            </a:solidFill>
            <a:prstDash val="solid"/>
          </a:ln>
        </p:spPr>
      </p:sp>
      <p:sp>
        <p:nvSpPr>
          <p:cNvPr id="18" name="Shape 16"/>
          <p:cNvSpPr/>
          <p:nvPr/>
        </p:nvSpPr>
        <p:spPr>
          <a:xfrm>
            <a:off x="6382512" y="1828800"/>
            <a:ext cx="2487168" cy="3154680"/>
          </a:xfrm>
          <a:prstGeom prst="roundRect">
            <a:avLst>
              <a:gd name="adj" fmla="val 2941"/>
            </a:avLst>
          </a:prstGeom>
          <a:solidFill>
            <a:srgbClr val="1A1820"/>
          </a:solidFill>
          <a:ln w="19050">
            <a:solidFill>
              <a:srgbClr val="34D399"/>
            </a:solidFill>
            <a:prstDash val="solid"/>
          </a:ln>
          <a:effectLst>
            <a:outerShdw blurRad="38100" dist="50800" dir="2700000" algn="bl" rotWithShape="0">
              <a:srgbClr val="000000">
                <a:alpha val="24000"/>
              </a:srgbClr>
            </a:outerShdw>
          </a:effectLst>
        </p:spPr>
      </p:sp>
      <p:sp>
        <p:nvSpPr>
          <p:cNvPr id="19" name="Shape 17"/>
          <p:cNvSpPr/>
          <p:nvPr/>
        </p:nvSpPr>
        <p:spPr>
          <a:xfrm>
            <a:off x="6611112" y="2103120"/>
            <a:ext cx="566928" cy="566928"/>
          </a:xfrm>
          <a:prstGeom prst="ellipse">
            <a:avLst/>
          </a:prstGeom>
          <a:solidFill>
            <a:srgbClr val="34D399"/>
          </a:solidFill>
          <a:ln w="12700">
            <a:solidFill>
              <a:srgbClr val="34D399">
                <a:alpha val="0"/>
              </a:srgbClr>
            </a:solidFill>
            <a:prstDash val="solid"/>
          </a:ln>
        </p:spPr>
      </p:sp>
      <p:sp>
        <p:nvSpPr>
          <p:cNvPr id="20" name="Text 18"/>
          <p:cNvSpPr/>
          <p:nvPr/>
        </p:nvSpPr>
        <p:spPr>
          <a:xfrm>
            <a:off x="6611112" y="2185416"/>
            <a:ext cx="566928" cy="292608"/>
          </a:xfrm>
          <a:prstGeom prst="rect">
            <a:avLst/>
          </a:prstGeom>
          <a:noFill/>
          <a:ln/>
        </p:spPr>
        <p:txBody>
          <a:bodyPr wrap="square" lIns="0" tIns="0" rIns="0" bIns="0" rtlCol="0" anchor="ctr"/>
          <a:lstStyle/>
          <a:p>
            <a:pPr marL="0" indent="0" algn="ctr">
              <a:buNone/>
            </a:pPr>
            <a:r>
              <a:rPr lang="en-US" sz="1600" b="1" dirty="0">
                <a:solidFill>
                  <a:srgbClr val="0E0D12"/>
                </a:solidFill>
              </a:rPr>
              <a:t>3</a:t>
            </a:r>
            <a:endParaRPr lang="en-US" sz="1600" dirty="0"/>
          </a:p>
        </p:txBody>
      </p:sp>
      <p:sp>
        <p:nvSpPr>
          <p:cNvPr id="21" name="Text 19"/>
          <p:cNvSpPr/>
          <p:nvPr/>
        </p:nvSpPr>
        <p:spPr>
          <a:xfrm>
            <a:off x="6611112" y="2880360"/>
            <a:ext cx="1993392" cy="365760"/>
          </a:xfrm>
          <a:prstGeom prst="rect">
            <a:avLst/>
          </a:prstGeom>
          <a:noFill/>
          <a:ln/>
        </p:spPr>
        <p:txBody>
          <a:bodyPr wrap="square" lIns="0" tIns="0" rIns="0" bIns="0" rtlCol="0" anchor="ctr"/>
          <a:lstStyle/>
          <a:p>
            <a:pPr marL="0" indent="0">
              <a:buNone/>
            </a:pPr>
            <a:r>
              <a:rPr lang="en-US" sz="2400" b="1" dirty="0">
                <a:solidFill>
                  <a:srgbClr val="FFFFFF"/>
                </a:solidFill>
              </a:rPr>
              <a:t>Operate</a:t>
            </a:r>
            <a:endParaRPr lang="en-US" sz="2400" dirty="0"/>
          </a:p>
        </p:txBody>
      </p:sp>
      <p:sp>
        <p:nvSpPr>
          <p:cNvPr id="22" name="Text 20"/>
          <p:cNvSpPr/>
          <p:nvPr/>
        </p:nvSpPr>
        <p:spPr>
          <a:xfrm>
            <a:off x="6611112" y="3520440"/>
            <a:ext cx="2011680" cy="914400"/>
          </a:xfrm>
          <a:prstGeom prst="rect">
            <a:avLst/>
          </a:prstGeom>
          <a:noFill/>
          <a:ln/>
        </p:spPr>
        <p:txBody>
          <a:bodyPr wrap="square" lIns="0" tIns="0" rIns="0" bIns="0" rtlCol="0" anchor="t">
            <a:normAutofit/>
          </a:bodyPr>
          <a:lstStyle/>
          <a:p>
            <a:pPr marL="0" indent="0">
              <a:buNone/>
            </a:pPr>
            <a:r>
              <a:rPr lang="en-US" sz="1500" dirty="0">
                <a:solidFill>
                  <a:srgbClr val="B8B5C5"/>
                </a:solidFill>
              </a:rPr>
              <a:t>Observe quality, usage, health, cost, and compliance.</a:t>
            </a:r>
            <a:endParaRPr lang="en-US" sz="1500" dirty="0"/>
          </a:p>
        </p:txBody>
      </p:sp>
      <p:sp>
        <p:nvSpPr>
          <p:cNvPr id="23" name="Shape 21"/>
          <p:cNvSpPr/>
          <p:nvPr/>
        </p:nvSpPr>
        <p:spPr>
          <a:xfrm>
            <a:off x="8915400" y="3035808"/>
            <a:ext cx="320040" cy="640080"/>
          </a:xfrm>
          <a:prstGeom prst="chevron">
            <a:avLst/>
          </a:prstGeom>
          <a:solidFill>
            <a:srgbClr val="837E92"/>
          </a:solidFill>
          <a:ln w="12700">
            <a:solidFill>
              <a:srgbClr val="837E92">
                <a:alpha val="0"/>
              </a:srgbClr>
            </a:solidFill>
            <a:prstDash val="solid"/>
          </a:ln>
        </p:spPr>
      </p:sp>
      <p:sp>
        <p:nvSpPr>
          <p:cNvPr id="24" name="Shape 22"/>
          <p:cNvSpPr/>
          <p:nvPr/>
        </p:nvSpPr>
        <p:spPr>
          <a:xfrm>
            <a:off x="9253728" y="1828800"/>
            <a:ext cx="2487168" cy="3154680"/>
          </a:xfrm>
          <a:prstGeom prst="roundRect">
            <a:avLst>
              <a:gd name="adj" fmla="val 2941"/>
            </a:avLst>
          </a:prstGeom>
          <a:solidFill>
            <a:srgbClr val="1A1820"/>
          </a:solidFill>
          <a:ln w="19050">
            <a:solidFill>
              <a:srgbClr val="FBBF24"/>
            </a:solidFill>
            <a:prstDash val="solid"/>
          </a:ln>
          <a:effectLst>
            <a:outerShdw blurRad="38100" dist="50800" dir="2700000" algn="bl" rotWithShape="0">
              <a:srgbClr val="000000">
                <a:alpha val="24000"/>
              </a:srgbClr>
            </a:outerShdw>
          </a:effectLst>
        </p:spPr>
      </p:sp>
      <p:sp>
        <p:nvSpPr>
          <p:cNvPr id="25" name="Shape 23"/>
          <p:cNvSpPr/>
          <p:nvPr/>
        </p:nvSpPr>
        <p:spPr>
          <a:xfrm>
            <a:off x="9482328" y="2103120"/>
            <a:ext cx="566928" cy="566928"/>
          </a:xfrm>
          <a:prstGeom prst="ellipse">
            <a:avLst/>
          </a:prstGeom>
          <a:solidFill>
            <a:srgbClr val="FBBF24"/>
          </a:solidFill>
          <a:ln w="12700">
            <a:solidFill>
              <a:srgbClr val="FBBF24">
                <a:alpha val="0"/>
              </a:srgbClr>
            </a:solidFill>
            <a:prstDash val="solid"/>
          </a:ln>
        </p:spPr>
      </p:sp>
      <p:sp>
        <p:nvSpPr>
          <p:cNvPr id="26" name="Text 24"/>
          <p:cNvSpPr/>
          <p:nvPr/>
        </p:nvSpPr>
        <p:spPr>
          <a:xfrm>
            <a:off x="9482328" y="2185416"/>
            <a:ext cx="566928" cy="292608"/>
          </a:xfrm>
          <a:prstGeom prst="rect">
            <a:avLst/>
          </a:prstGeom>
          <a:noFill/>
          <a:ln/>
        </p:spPr>
        <p:txBody>
          <a:bodyPr wrap="square" lIns="0" tIns="0" rIns="0" bIns="0" rtlCol="0" anchor="ctr"/>
          <a:lstStyle/>
          <a:p>
            <a:pPr marL="0" indent="0" algn="ctr">
              <a:buNone/>
            </a:pPr>
            <a:r>
              <a:rPr lang="en-US" sz="1600" b="1" dirty="0">
                <a:solidFill>
                  <a:srgbClr val="0E0D12"/>
                </a:solidFill>
              </a:rPr>
              <a:t>4</a:t>
            </a:r>
            <a:endParaRPr lang="en-US" sz="1600" dirty="0"/>
          </a:p>
        </p:txBody>
      </p:sp>
      <p:sp>
        <p:nvSpPr>
          <p:cNvPr id="27" name="Text 25"/>
          <p:cNvSpPr/>
          <p:nvPr/>
        </p:nvSpPr>
        <p:spPr>
          <a:xfrm>
            <a:off x="9482328" y="2880360"/>
            <a:ext cx="1993392" cy="365760"/>
          </a:xfrm>
          <a:prstGeom prst="rect">
            <a:avLst/>
          </a:prstGeom>
          <a:noFill/>
          <a:ln/>
        </p:spPr>
        <p:txBody>
          <a:bodyPr wrap="square" lIns="0" tIns="0" rIns="0" bIns="0" rtlCol="0" anchor="ctr"/>
          <a:lstStyle/>
          <a:p>
            <a:pPr marL="0" indent="0">
              <a:buNone/>
            </a:pPr>
            <a:r>
              <a:rPr lang="en-US" sz="2400" b="1" dirty="0">
                <a:solidFill>
                  <a:srgbClr val="FFFFFF"/>
                </a:solidFill>
              </a:rPr>
              <a:t>Manage</a:t>
            </a:r>
            <a:endParaRPr lang="en-US" sz="2400" dirty="0"/>
          </a:p>
        </p:txBody>
      </p:sp>
      <p:sp>
        <p:nvSpPr>
          <p:cNvPr id="28" name="Text 26"/>
          <p:cNvSpPr/>
          <p:nvPr/>
        </p:nvSpPr>
        <p:spPr>
          <a:xfrm>
            <a:off x="9482328" y="3520440"/>
            <a:ext cx="2011680" cy="914400"/>
          </a:xfrm>
          <a:prstGeom prst="rect">
            <a:avLst/>
          </a:prstGeom>
          <a:noFill/>
          <a:ln/>
        </p:spPr>
        <p:txBody>
          <a:bodyPr wrap="square" lIns="0" tIns="0" rIns="0" bIns="0" rtlCol="0" anchor="t">
            <a:normAutofit/>
          </a:bodyPr>
          <a:lstStyle/>
          <a:p>
            <a:pPr marL="0" indent="0">
              <a:buNone/>
            </a:pPr>
            <a:r>
              <a:rPr lang="en-US" sz="1500" dirty="0">
                <a:solidFill>
                  <a:srgbClr val="B8B5C5"/>
                </a:solidFill>
              </a:rPr>
              <a:t>Control project resources, quota, access, and connectivity.</a:t>
            </a:r>
            <a:endParaRPr lang="en-US" sz="1500" dirty="0"/>
          </a:p>
        </p:txBody>
      </p:sp>
      <p:sp>
        <p:nvSpPr>
          <p:cNvPr id="29" name="Text 27"/>
          <p:cNvSpPr/>
          <p:nvPr/>
        </p:nvSpPr>
        <p:spPr>
          <a:xfrm>
            <a:off x="1005840" y="5532120"/>
            <a:ext cx="10149840" cy="411480"/>
          </a:xfrm>
          <a:prstGeom prst="rect">
            <a:avLst/>
          </a:prstGeom>
          <a:noFill/>
          <a:ln/>
        </p:spPr>
        <p:txBody>
          <a:bodyPr wrap="square" lIns="0" tIns="0" rIns="0" bIns="0" rtlCol="0" anchor="ctr"/>
          <a:lstStyle/>
          <a:p>
            <a:pPr marL="0" indent="0" algn="ctr">
              <a:buNone/>
            </a:pPr>
            <a:r>
              <a:rPr lang="en-US" sz="1700" b="1" dirty="0">
                <a:solidFill>
                  <a:srgbClr val="C4B5FD"/>
                </a:solidFill>
              </a:rPr>
              <a:t>HOME accelerates the first action. DOCS keeps guidance one click away.</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0E0D12"/>
        </a:solidFill>
        <a:effectLst/>
      </p:bgPr>
    </p:bg>
    <p:spTree>
      <p:nvGrpSpPr>
        <p:cNvPr id="1" name=""/>
        <p:cNvGrpSpPr/>
        <p:nvPr/>
      </p:nvGrpSpPr>
      <p:grpSpPr>
        <a:xfrm>
          <a:off x="0" y="0"/>
          <a:ext cx="0" cy="0"/>
          <a:chOff x="0" y="0"/>
          <a:chExt cx="0" cy="0"/>
        </a:xfrm>
      </p:grpSpPr>
      <p:sp>
        <p:nvSpPr>
          <p:cNvPr id="2" name="Text 0"/>
          <p:cNvSpPr/>
          <p:nvPr/>
        </p:nvSpPr>
        <p:spPr>
          <a:xfrm>
            <a:off x="566928" y="384048"/>
            <a:ext cx="4389120" cy="256032"/>
          </a:xfrm>
          <a:prstGeom prst="rect">
            <a:avLst/>
          </a:prstGeom>
          <a:noFill/>
          <a:ln/>
        </p:spPr>
        <p:txBody>
          <a:bodyPr wrap="square" lIns="0" tIns="0" rIns="0" bIns="0" rtlCol="0" anchor="ctr"/>
          <a:lstStyle/>
          <a:p>
            <a:pPr marL="0" indent="0">
              <a:buNone/>
            </a:pPr>
            <a:r>
              <a:rPr lang="en-US" sz="1100" b="1" kern="0" spc="160" dirty="0">
                <a:solidFill>
                  <a:srgbClr val="22D3EE"/>
                </a:solidFill>
                <a:latin typeface="Aptos" pitchFamily="34" charset="0"/>
                <a:ea typeface="Aptos" pitchFamily="34" charset="-122"/>
                <a:cs typeface="Aptos" pitchFamily="34" charset="-120"/>
              </a:rPr>
              <a:t>ORIENTATION</a:t>
            </a:r>
            <a:endParaRPr lang="en-US" sz="1100" dirty="0"/>
          </a:p>
        </p:txBody>
      </p:sp>
      <p:sp>
        <p:nvSpPr>
          <p:cNvPr id="3" name="Text 1"/>
          <p:cNvSpPr/>
          <p:nvPr/>
        </p:nvSpPr>
        <p:spPr>
          <a:xfrm>
            <a:off x="548640" y="713232"/>
            <a:ext cx="11018520" cy="566928"/>
          </a:xfrm>
          <a:prstGeom prst="rect">
            <a:avLst/>
          </a:prstGeom>
          <a:noFill/>
          <a:ln/>
        </p:spPr>
        <p:txBody>
          <a:bodyPr wrap="square" lIns="0" tIns="0" rIns="0" bIns="0" rtlCol="0" anchor="ctr">
            <a:normAutofit/>
          </a:bodyPr>
          <a:lstStyle/>
          <a:p>
            <a:pPr marL="0" indent="0">
              <a:buNone/>
            </a:pPr>
            <a:r>
              <a:rPr lang="en-US" sz="3000" b="1" dirty="0">
                <a:solidFill>
                  <a:srgbClr val="F7F7FB"/>
                </a:solidFill>
                <a:latin typeface="Aptos Display" pitchFamily="34" charset="0"/>
                <a:ea typeface="Aptos Display" pitchFamily="34" charset="-122"/>
                <a:cs typeface="Aptos Display" pitchFamily="34" charset="-120"/>
              </a:rPr>
              <a:t>Home screen at a glance</a:t>
            </a:r>
            <a:endParaRPr lang="en-US" sz="3000" dirty="0"/>
          </a:p>
        </p:txBody>
      </p:sp>
      <p:sp>
        <p:nvSpPr>
          <p:cNvPr id="4" name="Text 2"/>
          <p:cNvSpPr/>
          <p:nvPr/>
        </p:nvSpPr>
        <p:spPr>
          <a:xfrm>
            <a:off x="502920" y="6528816"/>
            <a:ext cx="10789920" cy="164592"/>
          </a:xfrm>
          <a:prstGeom prst="rect">
            <a:avLst/>
          </a:prstGeom>
          <a:noFill/>
          <a:ln/>
        </p:spPr>
        <p:txBody>
          <a:bodyPr wrap="square" lIns="0" tIns="0" rIns="0" bIns="0" rtlCol="0" anchor="ctr"/>
          <a:lstStyle/>
          <a:p>
            <a:pPr marL="0" indent="0">
              <a:buNone/>
            </a:pPr>
            <a:r>
              <a:rPr lang="en-US" sz="850" dirty="0">
                <a:solidFill>
                  <a:srgbClr val="837E92"/>
                </a:solidFill>
                <a:latin typeface="Aptos" pitchFamily="34" charset="0"/>
                <a:ea typeface="Aptos" pitchFamily="34" charset="-122"/>
                <a:cs typeface="Aptos" pitchFamily="34" charset="-120"/>
              </a:rPr>
              <a:t>Microsoft Foundry | General overview demo</a:t>
            </a:r>
            <a:endParaRPr lang="en-US" sz="850" dirty="0"/>
          </a:p>
        </p:txBody>
      </p:sp>
      <p:sp>
        <p:nvSpPr>
          <p:cNvPr id="5" name="Text 3"/>
          <p:cNvSpPr/>
          <p:nvPr/>
        </p:nvSpPr>
        <p:spPr>
          <a:xfrm>
            <a:off x="11292840" y="6473952"/>
            <a:ext cx="384048" cy="228600"/>
          </a:xfrm>
          <a:prstGeom prst="rect">
            <a:avLst/>
          </a:prstGeom>
          <a:noFill/>
          <a:ln/>
        </p:spPr>
        <p:txBody>
          <a:bodyPr wrap="square" lIns="0" tIns="0" rIns="0" bIns="0" rtlCol="0" anchor="ctr"/>
          <a:lstStyle/>
          <a:p>
            <a:pPr marL="0" indent="0" algn="r">
              <a:buNone/>
            </a:pPr>
            <a:r>
              <a:rPr lang="en-US" sz="900" b="1" dirty="0">
                <a:solidFill>
                  <a:srgbClr val="C4B5FD"/>
                </a:solidFill>
                <a:latin typeface="Aptos" pitchFamily="34" charset="0"/>
                <a:ea typeface="Aptos" pitchFamily="34" charset="-122"/>
                <a:cs typeface="Aptos" pitchFamily="34" charset="-120"/>
              </a:rPr>
              <a:t>03</a:t>
            </a:r>
            <a:endParaRPr lang="en-US" sz="900" dirty="0"/>
          </a:p>
        </p:txBody>
      </p:sp>
      <p:sp>
        <p:nvSpPr>
          <p:cNvPr id="6" name="Shape 4"/>
          <p:cNvSpPr/>
          <p:nvPr/>
        </p:nvSpPr>
        <p:spPr>
          <a:xfrm>
            <a:off x="502920" y="1371600"/>
            <a:ext cx="8458200" cy="4846320"/>
          </a:xfrm>
          <a:prstGeom prst="roundRect">
            <a:avLst>
              <a:gd name="adj" fmla="val 1509"/>
            </a:avLst>
          </a:prstGeom>
          <a:solidFill>
            <a:srgbClr val="111016"/>
          </a:solidFill>
          <a:ln w="12700">
            <a:solidFill>
              <a:srgbClr val="3C3747"/>
            </a:solidFill>
            <a:prstDash val="solid"/>
          </a:ln>
          <a:effectLst>
            <a:outerShdw blurRad="38100" dist="50800" dir="2700000" algn="bl" rotWithShape="0">
              <a:srgbClr val="000000">
                <a:alpha val="24000"/>
              </a:srgbClr>
            </a:outerShdw>
          </a:effectLst>
        </p:spPr>
      </p:sp>
      <p:pic>
        <p:nvPicPr>
          <p:cNvPr id="7" name="Image 0" descr="Microsoft Foundry portal screenshot"/>
          <p:cNvPicPr>
            <a:picLocks noChangeAspect="1"/>
          </p:cNvPicPr>
          <p:nvPr/>
        </p:nvPicPr>
        <p:blipFill>
          <a:blip r:embed="rId3"/>
          <a:stretch>
            <a:fillRect/>
          </a:stretch>
        </p:blipFill>
        <p:spPr>
          <a:xfrm>
            <a:off x="1262299" y="1453896"/>
            <a:ext cx="6939443" cy="4462272"/>
          </a:xfrm>
          <a:prstGeom prst="rect">
            <a:avLst/>
          </a:prstGeom>
        </p:spPr>
      </p:pic>
      <p:sp>
        <p:nvSpPr>
          <p:cNvPr id="8" name="Text 5"/>
          <p:cNvSpPr/>
          <p:nvPr/>
        </p:nvSpPr>
        <p:spPr>
          <a:xfrm>
            <a:off x="649224" y="5971032"/>
            <a:ext cx="8165592" cy="146304"/>
          </a:xfrm>
          <a:prstGeom prst="rect">
            <a:avLst/>
          </a:prstGeom>
          <a:noFill/>
          <a:ln/>
        </p:spPr>
        <p:txBody>
          <a:bodyPr wrap="square" lIns="0" tIns="0" rIns="0" bIns="0" rtlCol="0" anchor="ctr"/>
          <a:lstStyle/>
          <a:p>
            <a:pPr marL="0" indent="0" algn="ctr">
              <a:buNone/>
            </a:pPr>
            <a:r>
              <a:rPr lang="en-US" sz="850" i="1" dirty="0">
                <a:solidFill>
                  <a:srgbClr val="837E92"/>
                </a:solidFill>
              </a:rPr>
              <a:t>Supplied Foundry Home screen</a:t>
            </a:r>
            <a:endParaRPr lang="en-US" sz="850" dirty="0"/>
          </a:p>
        </p:txBody>
      </p:sp>
      <p:sp>
        <p:nvSpPr>
          <p:cNvPr id="9" name="Shape 6"/>
          <p:cNvSpPr/>
          <p:nvPr/>
        </p:nvSpPr>
        <p:spPr>
          <a:xfrm>
            <a:off x="1325880" y="1444752"/>
            <a:ext cx="320040" cy="320040"/>
          </a:xfrm>
          <a:prstGeom prst="ellipse">
            <a:avLst/>
          </a:prstGeom>
          <a:solidFill>
            <a:srgbClr val="22D3EE"/>
          </a:solidFill>
          <a:ln w="15240">
            <a:solidFill>
              <a:srgbClr val="FFFFFF"/>
            </a:solidFill>
            <a:prstDash val="solid"/>
          </a:ln>
        </p:spPr>
      </p:sp>
      <p:sp>
        <p:nvSpPr>
          <p:cNvPr id="10" name="Text 7"/>
          <p:cNvSpPr/>
          <p:nvPr/>
        </p:nvSpPr>
        <p:spPr>
          <a:xfrm>
            <a:off x="1325880" y="1453896"/>
            <a:ext cx="320040" cy="256032"/>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11" name="Shape 8"/>
          <p:cNvSpPr/>
          <p:nvPr/>
        </p:nvSpPr>
        <p:spPr>
          <a:xfrm>
            <a:off x="4251960" y="1444752"/>
            <a:ext cx="320040" cy="320040"/>
          </a:xfrm>
          <a:prstGeom prst="ellipse">
            <a:avLst/>
          </a:prstGeom>
          <a:solidFill>
            <a:srgbClr val="22D3EE"/>
          </a:solidFill>
          <a:ln w="15240">
            <a:solidFill>
              <a:srgbClr val="FFFFFF"/>
            </a:solidFill>
            <a:prstDash val="solid"/>
          </a:ln>
        </p:spPr>
      </p:sp>
      <p:sp>
        <p:nvSpPr>
          <p:cNvPr id="12" name="Text 9"/>
          <p:cNvSpPr/>
          <p:nvPr/>
        </p:nvSpPr>
        <p:spPr>
          <a:xfrm>
            <a:off x="4251960" y="1453896"/>
            <a:ext cx="320040" cy="256032"/>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3" name="Shape 10"/>
          <p:cNvSpPr/>
          <p:nvPr/>
        </p:nvSpPr>
        <p:spPr>
          <a:xfrm>
            <a:off x="6675120" y="1444752"/>
            <a:ext cx="320040" cy="320040"/>
          </a:xfrm>
          <a:prstGeom prst="ellipse">
            <a:avLst/>
          </a:prstGeom>
          <a:solidFill>
            <a:srgbClr val="8B5CF6"/>
          </a:solidFill>
          <a:ln w="15240">
            <a:solidFill>
              <a:srgbClr val="FFFFFF"/>
            </a:solidFill>
            <a:prstDash val="solid"/>
          </a:ln>
        </p:spPr>
      </p:sp>
      <p:sp>
        <p:nvSpPr>
          <p:cNvPr id="14" name="Text 11"/>
          <p:cNvSpPr/>
          <p:nvPr/>
        </p:nvSpPr>
        <p:spPr>
          <a:xfrm>
            <a:off x="6675120" y="1453896"/>
            <a:ext cx="320040" cy="256032"/>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15" name="Shape 12"/>
          <p:cNvSpPr/>
          <p:nvPr/>
        </p:nvSpPr>
        <p:spPr>
          <a:xfrm>
            <a:off x="3977640" y="2240280"/>
            <a:ext cx="320040" cy="320040"/>
          </a:xfrm>
          <a:prstGeom prst="ellipse">
            <a:avLst/>
          </a:prstGeom>
          <a:solidFill>
            <a:srgbClr val="8B5CF6"/>
          </a:solidFill>
          <a:ln w="15240">
            <a:solidFill>
              <a:srgbClr val="FFFFFF"/>
            </a:solidFill>
            <a:prstDash val="solid"/>
          </a:ln>
        </p:spPr>
      </p:sp>
      <p:sp>
        <p:nvSpPr>
          <p:cNvPr id="16" name="Text 13"/>
          <p:cNvSpPr/>
          <p:nvPr/>
        </p:nvSpPr>
        <p:spPr>
          <a:xfrm>
            <a:off x="3977640" y="2249424"/>
            <a:ext cx="320040" cy="256032"/>
          </a:xfrm>
          <a:prstGeom prst="rect">
            <a:avLst/>
          </a:prstGeom>
          <a:noFill/>
          <a:ln/>
        </p:spPr>
        <p:txBody>
          <a:bodyPr wrap="square" lIns="0" tIns="0" rIns="0" bIns="0" rtlCol="0" anchor="ctr"/>
          <a:lstStyle/>
          <a:p>
            <a:pPr marL="0" indent="0" algn="ctr">
              <a:buNone/>
            </a:pPr>
            <a:r>
              <a:rPr lang="en-US" sz="1100" b="1" dirty="0">
                <a:solidFill>
                  <a:srgbClr val="FFFFFF"/>
                </a:solidFill>
              </a:rPr>
              <a:t>4</a:t>
            </a:r>
            <a:endParaRPr lang="en-US" sz="1100" dirty="0"/>
          </a:p>
        </p:txBody>
      </p:sp>
      <p:sp>
        <p:nvSpPr>
          <p:cNvPr id="17" name="Shape 14"/>
          <p:cNvSpPr/>
          <p:nvPr/>
        </p:nvSpPr>
        <p:spPr>
          <a:xfrm>
            <a:off x="3977640" y="3300984"/>
            <a:ext cx="320040" cy="320040"/>
          </a:xfrm>
          <a:prstGeom prst="ellipse">
            <a:avLst/>
          </a:prstGeom>
          <a:solidFill>
            <a:srgbClr val="FBBF24"/>
          </a:solidFill>
          <a:ln w="15240">
            <a:solidFill>
              <a:srgbClr val="FFFFFF"/>
            </a:solidFill>
            <a:prstDash val="solid"/>
          </a:ln>
        </p:spPr>
      </p:sp>
      <p:sp>
        <p:nvSpPr>
          <p:cNvPr id="18" name="Text 15"/>
          <p:cNvSpPr/>
          <p:nvPr/>
        </p:nvSpPr>
        <p:spPr>
          <a:xfrm>
            <a:off x="3977640" y="3310128"/>
            <a:ext cx="320040" cy="256032"/>
          </a:xfrm>
          <a:prstGeom prst="rect">
            <a:avLst/>
          </a:prstGeom>
          <a:noFill/>
          <a:ln/>
        </p:spPr>
        <p:txBody>
          <a:bodyPr wrap="square" lIns="0" tIns="0" rIns="0" bIns="0" rtlCol="0" anchor="ctr"/>
          <a:lstStyle/>
          <a:p>
            <a:pPr marL="0" indent="0" algn="ctr">
              <a:buNone/>
            </a:pPr>
            <a:r>
              <a:rPr lang="en-US" sz="1100" b="1" dirty="0">
                <a:solidFill>
                  <a:srgbClr val="FFFFFF"/>
                </a:solidFill>
              </a:rPr>
              <a:t>5</a:t>
            </a:r>
            <a:endParaRPr lang="en-US" sz="1100" dirty="0"/>
          </a:p>
        </p:txBody>
      </p:sp>
      <p:sp>
        <p:nvSpPr>
          <p:cNvPr id="19" name="Shape 16"/>
          <p:cNvSpPr/>
          <p:nvPr/>
        </p:nvSpPr>
        <p:spPr>
          <a:xfrm>
            <a:off x="3977640" y="3995928"/>
            <a:ext cx="320040" cy="320040"/>
          </a:xfrm>
          <a:prstGeom prst="ellipse">
            <a:avLst/>
          </a:prstGeom>
          <a:solidFill>
            <a:srgbClr val="22D3EE"/>
          </a:solidFill>
          <a:ln w="15240">
            <a:solidFill>
              <a:srgbClr val="FFFFFF"/>
            </a:solidFill>
            <a:prstDash val="solid"/>
          </a:ln>
        </p:spPr>
      </p:sp>
      <p:sp>
        <p:nvSpPr>
          <p:cNvPr id="20" name="Text 17"/>
          <p:cNvSpPr/>
          <p:nvPr/>
        </p:nvSpPr>
        <p:spPr>
          <a:xfrm>
            <a:off x="3977640" y="4005072"/>
            <a:ext cx="320040" cy="256032"/>
          </a:xfrm>
          <a:prstGeom prst="rect">
            <a:avLst/>
          </a:prstGeom>
          <a:noFill/>
          <a:ln/>
        </p:spPr>
        <p:txBody>
          <a:bodyPr wrap="square" lIns="0" tIns="0" rIns="0" bIns="0" rtlCol="0" anchor="ctr"/>
          <a:lstStyle/>
          <a:p>
            <a:pPr marL="0" indent="0" algn="ctr">
              <a:buNone/>
            </a:pPr>
            <a:r>
              <a:rPr lang="en-US" sz="1100" b="1" dirty="0">
                <a:solidFill>
                  <a:srgbClr val="FFFFFF"/>
                </a:solidFill>
              </a:rPr>
              <a:t>6</a:t>
            </a:r>
            <a:endParaRPr lang="en-US" sz="1100" dirty="0"/>
          </a:p>
        </p:txBody>
      </p:sp>
      <p:sp>
        <p:nvSpPr>
          <p:cNvPr id="21" name="Shape 18"/>
          <p:cNvSpPr/>
          <p:nvPr/>
        </p:nvSpPr>
        <p:spPr>
          <a:xfrm>
            <a:off x="3977640" y="4645152"/>
            <a:ext cx="320040" cy="320040"/>
          </a:xfrm>
          <a:prstGeom prst="ellipse">
            <a:avLst/>
          </a:prstGeom>
          <a:solidFill>
            <a:srgbClr val="34D399"/>
          </a:solidFill>
          <a:ln w="15240">
            <a:solidFill>
              <a:srgbClr val="FFFFFF"/>
            </a:solidFill>
            <a:prstDash val="solid"/>
          </a:ln>
        </p:spPr>
      </p:sp>
      <p:sp>
        <p:nvSpPr>
          <p:cNvPr id="22" name="Text 19"/>
          <p:cNvSpPr/>
          <p:nvPr/>
        </p:nvSpPr>
        <p:spPr>
          <a:xfrm>
            <a:off x="3977640" y="4654296"/>
            <a:ext cx="320040" cy="256032"/>
          </a:xfrm>
          <a:prstGeom prst="rect">
            <a:avLst/>
          </a:prstGeom>
          <a:noFill/>
          <a:ln/>
        </p:spPr>
        <p:txBody>
          <a:bodyPr wrap="square" lIns="0" tIns="0" rIns="0" bIns="0" rtlCol="0" anchor="ctr"/>
          <a:lstStyle/>
          <a:p>
            <a:pPr marL="0" indent="0" algn="ctr">
              <a:buNone/>
            </a:pPr>
            <a:r>
              <a:rPr lang="en-US" sz="1100" b="1" dirty="0">
                <a:solidFill>
                  <a:srgbClr val="FFFFFF"/>
                </a:solidFill>
              </a:rPr>
              <a:t>7</a:t>
            </a:r>
            <a:endParaRPr lang="en-US" sz="1100" dirty="0"/>
          </a:p>
        </p:txBody>
      </p:sp>
      <p:sp>
        <p:nvSpPr>
          <p:cNvPr id="23" name="Shape 20"/>
          <p:cNvSpPr/>
          <p:nvPr/>
        </p:nvSpPr>
        <p:spPr>
          <a:xfrm>
            <a:off x="3977640" y="5321808"/>
            <a:ext cx="320040" cy="320040"/>
          </a:xfrm>
          <a:prstGeom prst="ellipse">
            <a:avLst/>
          </a:prstGeom>
          <a:solidFill>
            <a:srgbClr val="34D399"/>
          </a:solidFill>
          <a:ln w="15240">
            <a:solidFill>
              <a:srgbClr val="FFFFFF"/>
            </a:solidFill>
            <a:prstDash val="solid"/>
          </a:ln>
        </p:spPr>
      </p:sp>
      <p:sp>
        <p:nvSpPr>
          <p:cNvPr id="24" name="Text 21"/>
          <p:cNvSpPr/>
          <p:nvPr/>
        </p:nvSpPr>
        <p:spPr>
          <a:xfrm>
            <a:off x="3977640" y="5330952"/>
            <a:ext cx="320040" cy="256032"/>
          </a:xfrm>
          <a:prstGeom prst="rect">
            <a:avLst/>
          </a:prstGeom>
          <a:noFill/>
          <a:ln/>
        </p:spPr>
        <p:txBody>
          <a:bodyPr wrap="square" lIns="0" tIns="0" rIns="0" bIns="0" rtlCol="0" anchor="ctr"/>
          <a:lstStyle/>
          <a:p>
            <a:pPr marL="0" indent="0" algn="ctr">
              <a:buNone/>
            </a:pPr>
            <a:r>
              <a:rPr lang="en-US" sz="1100" b="1" dirty="0">
                <a:solidFill>
                  <a:srgbClr val="FFFFFF"/>
                </a:solidFill>
              </a:rPr>
              <a:t>8</a:t>
            </a:r>
            <a:endParaRPr lang="en-US" sz="1100" dirty="0"/>
          </a:p>
        </p:txBody>
      </p:sp>
      <p:sp>
        <p:nvSpPr>
          <p:cNvPr id="25" name="Shape 22"/>
          <p:cNvSpPr/>
          <p:nvPr/>
        </p:nvSpPr>
        <p:spPr>
          <a:xfrm>
            <a:off x="7818120" y="1444752"/>
            <a:ext cx="320040" cy="320040"/>
          </a:xfrm>
          <a:prstGeom prst="ellipse">
            <a:avLst/>
          </a:prstGeom>
          <a:solidFill>
            <a:srgbClr val="C4B5FD"/>
          </a:solidFill>
          <a:ln w="15240">
            <a:solidFill>
              <a:srgbClr val="FFFFFF"/>
            </a:solidFill>
            <a:prstDash val="solid"/>
          </a:ln>
        </p:spPr>
      </p:sp>
      <p:sp>
        <p:nvSpPr>
          <p:cNvPr id="26" name="Text 23"/>
          <p:cNvSpPr/>
          <p:nvPr/>
        </p:nvSpPr>
        <p:spPr>
          <a:xfrm>
            <a:off x="7818120" y="1453896"/>
            <a:ext cx="320040" cy="256032"/>
          </a:xfrm>
          <a:prstGeom prst="rect">
            <a:avLst/>
          </a:prstGeom>
          <a:noFill/>
          <a:ln/>
        </p:spPr>
        <p:txBody>
          <a:bodyPr wrap="square" lIns="0" tIns="0" rIns="0" bIns="0" rtlCol="0" anchor="ctr"/>
          <a:lstStyle/>
          <a:p>
            <a:pPr marL="0" indent="0" algn="ctr">
              <a:buNone/>
            </a:pPr>
            <a:r>
              <a:rPr lang="en-US" sz="1100" b="1" dirty="0">
                <a:solidFill>
                  <a:srgbClr val="FFFFFF"/>
                </a:solidFill>
              </a:rPr>
              <a:t>9</a:t>
            </a:r>
            <a:endParaRPr lang="en-US" sz="1100" dirty="0"/>
          </a:p>
        </p:txBody>
      </p:sp>
      <p:sp>
        <p:nvSpPr>
          <p:cNvPr id="27" name="Shape 24"/>
          <p:cNvSpPr/>
          <p:nvPr/>
        </p:nvSpPr>
        <p:spPr>
          <a:xfrm>
            <a:off x="9217152" y="1417320"/>
            <a:ext cx="320040" cy="320040"/>
          </a:xfrm>
          <a:prstGeom prst="ellipse">
            <a:avLst/>
          </a:prstGeom>
          <a:solidFill>
            <a:srgbClr val="22D3EE"/>
          </a:solidFill>
          <a:ln w="15240">
            <a:solidFill>
              <a:srgbClr val="FFFFFF"/>
            </a:solidFill>
            <a:prstDash val="solid"/>
          </a:ln>
        </p:spPr>
      </p:sp>
      <p:sp>
        <p:nvSpPr>
          <p:cNvPr id="28" name="Text 25"/>
          <p:cNvSpPr/>
          <p:nvPr/>
        </p:nvSpPr>
        <p:spPr>
          <a:xfrm>
            <a:off x="9217152" y="1426464"/>
            <a:ext cx="320040" cy="256032"/>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29" name="Text 26"/>
          <p:cNvSpPr/>
          <p:nvPr/>
        </p:nvSpPr>
        <p:spPr>
          <a:xfrm>
            <a:off x="9674352" y="1453896"/>
            <a:ext cx="1920240" cy="219456"/>
          </a:xfrm>
          <a:prstGeom prst="rect">
            <a:avLst/>
          </a:prstGeom>
          <a:noFill/>
          <a:ln/>
        </p:spPr>
        <p:txBody>
          <a:bodyPr wrap="square" lIns="0" tIns="0" rIns="0" bIns="0" rtlCol="0" anchor="ctr"/>
          <a:lstStyle/>
          <a:p>
            <a:pPr marL="0" indent="0">
              <a:buNone/>
            </a:pPr>
            <a:r>
              <a:rPr lang="en-US" sz="1200" b="1" dirty="0">
                <a:solidFill>
                  <a:srgbClr val="F7F7FB"/>
                </a:solidFill>
              </a:rPr>
              <a:t>Project context</a:t>
            </a:r>
            <a:endParaRPr lang="en-US" sz="1200" dirty="0"/>
          </a:p>
        </p:txBody>
      </p:sp>
      <p:sp>
        <p:nvSpPr>
          <p:cNvPr id="30" name="Shape 27"/>
          <p:cNvSpPr/>
          <p:nvPr/>
        </p:nvSpPr>
        <p:spPr>
          <a:xfrm>
            <a:off x="9217152" y="1874520"/>
            <a:ext cx="320040" cy="320040"/>
          </a:xfrm>
          <a:prstGeom prst="ellipse">
            <a:avLst/>
          </a:prstGeom>
          <a:solidFill>
            <a:srgbClr val="22D3EE"/>
          </a:solidFill>
          <a:ln w="15240">
            <a:solidFill>
              <a:srgbClr val="FFFFFF"/>
            </a:solidFill>
            <a:prstDash val="solid"/>
          </a:ln>
        </p:spPr>
      </p:sp>
      <p:sp>
        <p:nvSpPr>
          <p:cNvPr id="31" name="Text 28"/>
          <p:cNvSpPr/>
          <p:nvPr/>
        </p:nvSpPr>
        <p:spPr>
          <a:xfrm>
            <a:off x="9217152" y="1883664"/>
            <a:ext cx="320040" cy="256032"/>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32" name="Text 29"/>
          <p:cNvSpPr/>
          <p:nvPr/>
        </p:nvSpPr>
        <p:spPr>
          <a:xfrm>
            <a:off x="9674352" y="1911096"/>
            <a:ext cx="1920240" cy="219456"/>
          </a:xfrm>
          <a:prstGeom prst="rect">
            <a:avLst/>
          </a:prstGeom>
          <a:noFill/>
          <a:ln/>
        </p:spPr>
        <p:txBody>
          <a:bodyPr wrap="square" lIns="0" tIns="0" rIns="0" bIns="0" rtlCol="0" anchor="ctr"/>
          <a:lstStyle/>
          <a:p>
            <a:pPr marL="0" indent="0">
              <a:buNone/>
            </a:pPr>
            <a:r>
              <a:rPr lang="en-US" sz="1200" b="1" dirty="0">
                <a:solidFill>
                  <a:srgbClr val="F7F7FB"/>
                </a:solidFill>
              </a:rPr>
              <a:t>AI search</a:t>
            </a:r>
            <a:endParaRPr lang="en-US" sz="1200" dirty="0"/>
          </a:p>
        </p:txBody>
      </p:sp>
      <p:sp>
        <p:nvSpPr>
          <p:cNvPr id="33" name="Shape 30"/>
          <p:cNvSpPr/>
          <p:nvPr/>
        </p:nvSpPr>
        <p:spPr>
          <a:xfrm>
            <a:off x="9217152" y="2331720"/>
            <a:ext cx="320040" cy="320040"/>
          </a:xfrm>
          <a:prstGeom prst="ellipse">
            <a:avLst/>
          </a:prstGeom>
          <a:solidFill>
            <a:srgbClr val="8B5CF6"/>
          </a:solidFill>
          <a:ln w="15240">
            <a:solidFill>
              <a:srgbClr val="FFFFFF"/>
            </a:solidFill>
            <a:prstDash val="solid"/>
          </a:ln>
        </p:spPr>
      </p:sp>
      <p:sp>
        <p:nvSpPr>
          <p:cNvPr id="34" name="Text 31"/>
          <p:cNvSpPr/>
          <p:nvPr/>
        </p:nvSpPr>
        <p:spPr>
          <a:xfrm>
            <a:off x="9217152" y="2340864"/>
            <a:ext cx="320040" cy="256032"/>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35" name="Text 32"/>
          <p:cNvSpPr/>
          <p:nvPr/>
        </p:nvSpPr>
        <p:spPr>
          <a:xfrm>
            <a:off x="9674352" y="2368296"/>
            <a:ext cx="1920240" cy="219456"/>
          </a:xfrm>
          <a:prstGeom prst="rect">
            <a:avLst/>
          </a:prstGeom>
          <a:noFill/>
          <a:ln/>
        </p:spPr>
        <p:txBody>
          <a:bodyPr wrap="square" lIns="0" tIns="0" rIns="0" bIns="0" rtlCol="0" anchor="ctr"/>
          <a:lstStyle/>
          <a:p>
            <a:pPr marL="0" indent="0">
              <a:buNone/>
            </a:pPr>
            <a:r>
              <a:rPr lang="en-US" sz="1200" b="1" dirty="0">
                <a:solidFill>
                  <a:srgbClr val="F7F7FB"/>
                </a:solidFill>
              </a:rPr>
              <a:t>Global navigation</a:t>
            </a:r>
            <a:endParaRPr lang="en-US" sz="1200" dirty="0"/>
          </a:p>
        </p:txBody>
      </p:sp>
      <p:sp>
        <p:nvSpPr>
          <p:cNvPr id="36" name="Shape 33"/>
          <p:cNvSpPr/>
          <p:nvPr/>
        </p:nvSpPr>
        <p:spPr>
          <a:xfrm>
            <a:off x="9217152" y="2788920"/>
            <a:ext cx="320040" cy="320040"/>
          </a:xfrm>
          <a:prstGeom prst="ellipse">
            <a:avLst/>
          </a:prstGeom>
          <a:solidFill>
            <a:srgbClr val="8B5CF6"/>
          </a:solidFill>
          <a:ln w="15240">
            <a:solidFill>
              <a:srgbClr val="FFFFFF"/>
            </a:solidFill>
            <a:prstDash val="solid"/>
          </a:ln>
        </p:spPr>
      </p:sp>
      <p:sp>
        <p:nvSpPr>
          <p:cNvPr id="37" name="Text 34"/>
          <p:cNvSpPr/>
          <p:nvPr/>
        </p:nvSpPr>
        <p:spPr>
          <a:xfrm>
            <a:off x="9217152" y="2798064"/>
            <a:ext cx="320040" cy="256032"/>
          </a:xfrm>
          <a:prstGeom prst="rect">
            <a:avLst/>
          </a:prstGeom>
          <a:noFill/>
          <a:ln/>
        </p:spPr>
        <p:txBody>
          <a:bodyPr wrap="square" lIns="0" tIns="0" rIns="0" bIns="0" rtlCol="0" anchor="ctr"/>
          <a:lstStyle/>
          <a:p>
            <a:pPr marL="0" indent="0" algn="ctr">
              <a:buNone/>
            </a:pPr>
            <a:r>
              <a:rPr lang="en-US" sz="1100" b="1" dirty="0">
                <a:solidFill>
                  <a:srgbClr val="FFFFFF"/>
                </a:solidFill>
              </a:rPr>
              <a:t>4</a:t>
            </a:r>
            <a:endParaRPr lang="en-US" sz="1100" dirty="0"/>
          </a:p>
        </p:txBody>
      </p:sp>
      <p:sp>
        <p:nvSpPr>
          <p:cNvPr id="38" name="Text 35"/>
          <p:cNvSpPr/>
          <p:nvPr/>
        </p:nvSpPr>
        <p:spPr>
          <a:xfrm>
            <a:off x="9674352" y="2825496"/>
            <a:ext cx="1920240" cy="219456"/>
          </a:xfrm>
          <a:prstGeom prst="rect">
            <a:avLst/>
          </a:prstGeom>
          <a:noFill/>
          <a:ln/>
        </p:spPr>
        <p:txBody>
          <a:bodyPr wrap="square" lIns="0" tIns="0" rIns="0" bIns="0" rtlCol="0" anchor="ctr"/>
          <a:lstStyle/>
          <a:p>
            <a:pPr marL="0" indent="0">
              <a:buNone/>
            </a:pPr>
            <a:r>
              <a:rPr lang="en-US" sz="1200" b="1" dirty="0">
                <a:solidFill>
                  <a:srgbClr val="F7F7FB"/>
                </a:solidFill>
              </a:rPr>
              <a:t>Start actions</a:t>
            </a:r>
            <a:endParaRPr lang="en-US" sz="1200" dirty="0"/>
          </a:p>
        </p:txBody>
      </p:sp>
      <p:sp>
        <p:nvSpPr>
          <p:cNvPr id="39" name="Shape 36"/>
          <p:cNvSpPr/>
          <p:nvPr/>
        </p:nvSpPr>
        <p:spPr>
          <a:xfrm>
            <a:off x="9217152" y="3246120"/>
            <a:ext cx="320040" cy="320040"/>
          </a:xfrm>
          <a:prstGeom prst="ellipse">
            <a:avLst/>
          </a:prstGeom>
          <a:solidFill>
            <a:srgbClr val="FBBF24"/>
          </a:solidFill>
          <a:ln w="15240">
            <a:solidFill>
              <a:srgbClr val="FFFFFF"/>
            </a:solidFill>
            <a:prstDash val="solid"/>
          </a:ln>
        </p:spPr>
      </p:sp>
      <p:sp>
        <p:nvSpPr>
          <p:cNvPr id="40" name="Text 37"/>
          <p:cNvSpPr/>
          <p:nvPr/>
        </p:nvSpPr>
        <p:spPr>
          <a:xfrm>
            <a:off x="9217152" y="3255264"/>
            <a:ext cx="320040" cy="256032"/>
          </a:xfrm>
          <a:prstGeom prst="rect">
            <a:avLst/>
          </a:prstGeom>
          <a:noFill/>
          <a:ln/>
        </p:spPr>
        <p:txBody>
          <a:bodyPr wrap="square" lIns="0" tIns="0" rIns="0" bIns="0" rtlCol="0" anchor="ctr"/>
          <a:lstStyle/>
          <a:p>
            <a:pPr marL="0" indent="0" algn="ctr">
              <a:buNone/>
            </a:pPr>
            <a:r>
              <a:rPr lang="en-US" sz="1100" b="1" dirty="0">
                <a:solidFill>
                  <a:srgbClr val="FFFFFF"/>
                </a:solidFill>
              </a:rPr>
              <a:t>5</a:t>
            </a:r>
            <a:endParaRPr lang="en-US" sz="1100" dirty="0"/>
          </a:p>
        </p:txBody>
      </p:sp>
      <p:sp>
        <p:nvSpPr>
          <p:cNvPr id="41" name="Text 38"/>
          <p:cNvSpPr/>
          <p:nvPr/>
        </p:nvSpPr>
        <p:spPr>
          <a:xfrm>
            <a:off x="9674352" y="3282696"/>
            <a:ext cx="1920240" cy="219456"/>
          </a:xfrm>
          <a:prstGeom prst="rect">
            <a:avLst/>
          </a:prstGeom>
          <a:noFill/>
          <a:ln/>
        </p:spPr>
        <p:txBody>
          <a:bodyPr wrap="square" lIns="0" tIns="0" rIns="0" bIns="0" rtlCol="0" anchor="ctr"/>
          <a:lstStyle/>
          <a:p>
            <a:pPr marL="0" indent="0">
              <a:buNone/>
            </a:pPr>
            <a:r>
              <a:rPr lang="en-US" sz="1200" b="1" dirty="0">
                <a:solidFill>
                  <a:srgbClr val="F7F7FB"/>
                </a:solidFill>
              </a:rPr>
              <a:t>Endpoints</a:t>
            </a:r>
            <a:endParaRPr lang="en-US" sz="1200" dirty="0"/>
          </a:p>
        </p:txBody>
      </p:sp>
      <p:sp>
        <p:nvSpPr>
          <p:cNvPr id="42" name="Shape 39"/>
          <p:cNvSpPr/>
          <p:nvPr/>
        </p:nvSpPr>
        <p:spPr>
          <a:xfrm>
            <a:off x="9217152" y="3703320"/>
            <a:ext cx="320040" cy="320040"/>
          </a:xfrm>
          <a:prstGeom prst="ellipse">
            <a:avLst/>
          </a:prstGeom>
          <a:solidFill>
            <a:srgbClr val="22D3EE"/>
          </a:solidFill>
          <a:ln w="15240">
            <a:solidFill>
              <a:srgbClr val="FFFFFF"/>
            </a:solidFill>
            <a:prstDash val="solid"/>
          </a:ln>
        </p:spPr>
      </p:sp>
      <p:sp>
        <p:nvSpPr>
          <p:cNvPr id="43" name="Text 40"/>
          <p:cNvSpPr/>
          <p:nvPr/>
        </p:nvSpPr>
        <p:spPr>
          <a:xfrm>
            <a:off x="9217152" y="3712464"/>
            <a:ext cx="320040" cy="256032"/>
          </a:xfrm>
          <a:prstGeom prst="rect">
            <a:avLst/>
          </a:prstGeom>
          <a:noFill/>
          <a:ln/>
        </p:spPr>
        <p:txBody>
          <a:bodyPr wrap="square" lIns="0" tIns="0" rIns="0" bIns="0" rtlCol="0" anchor="ctr"/>
          <a:lstStyle/>
          <a:p>
            <a:pPr marL="0" indent="0" algn="ctr">
              <a:buNone/>
            </a:pPr>
            <a:r>
              <a:rPr lang="en-US" sz="1100" b="1" dirty="0">
                <a:solidFill>
                  <a:srgbClr val="FFFFFF"/>
                </a:solidFill>
              </a:rPr>
              <a:t>6</a:t>
            </a:r>
            <a:endParaRPr lang="en-US" sz="1100" dirty="0"/>
          </a:p>
        </p:txBody>
      </p:sp>
      <p:sp>
        <p:nvSpPr>
          <p:cNvPr id="44" name="Text 41"/>
          <p:cNvSpPr/>
          <p:nvPr/>
        </p:nvSpPr>
        <p:spPr>
          <a:xfrm>
            <a:off x="9674352" y="3739896"/>
            <a:ext cx="1920240" cy="219456"/>
          </a:xfrm>
          <a:prstGeom prst="rect">
            <a:avLst/>
          </a:prstGeom>
          <a:noFill/>
          <a:ln/>
        </p:spPr>
        <p:txBody>
          <a:bodyPr wrap="square" lIns="0" tIns="0" rIns="0" bIns="0" rtlCol="0" anchor="ctr"/>
          <a:lstStyle/>
          <a:p>
            <a:pPr marL="0" indent="0">
              <a:buNone/>
            </a:pPr>
            <a:r>
              <a:rPr lang="en-US" sz="1200" b="1" dirty="0">
                <a:solidFill>
                  <a:srgbClr val="F7F7FB"/>
                </a:solidFill>
              </a:rPr>
              <a:t>Model selection</a:t>
            </a:r>
            <a:endParaRPr lang="en-US" sz="1200" dirty="0"/>
          </a:p>
        </p:txBody>
      </p:sp>
      <p:sp>
        <p:nvSpPr>
          <p:cNvPr id="45" name="Shape 42"/>
          <p:cNvSpPr/>
          <p:nvPr/>
        </p:nvSpPr>
        <p:spPr>
          <a:xfrm>
            <a:off x="9217152" y="4160520"/>
            <a:ext cx="320040" cy="320040"/>
          </a:xfrm>
          <a:prstGeom prst="ellipse">
            <a:avLst/>
          </a:prstGeom>
          <a:solidFill>
            <a:srgbClr val="34D399"/>
          </a:solidFill>
          <a:ln w="15240">
            <a:solidFill>
              <a:srgbClr val="FFFFFF"/>
            </a:solidFill>
            <a:prstDash val="solid"/>
          </a:ln>
        </p:spPr>
      </p:sp>
      <p:sp>
        <p:nvSpPr>
          <p:cNvPr id="46" name="Text 43"/>
          <p:cNvSpPr/>
          <p:nvPr/>
        </p:nvSpPr>
        <p:spPr>
          <a:xfrm>
            <a:off x="9217152" y="4169664"/>
            <a:ext cx="320040" cy="256032"/>
          </a:xfrm>
          <a:prstGeom prst="rect">
            <a:avLst/>
          </a:prstGeom>
          <a:noFill/>
          <a:ln/>
        </p:spPr>
        <p:txBody>
          <a:bodyPr wrap="square" lIns="0" tIns="0" rIns="0" bIns="0" rtlCol="0" anchor="ctr"/>
          <a:lstStyle/>
          <a:p>
            <a:pPr marL="0" indent="0" algn="ctr">
              <a:buNone/>
            </a:pPr>
            <a:r>
              <a:rPr lang="en-US" sz="1100" b="1" dirty="0">
                <a:solidFill>
                  <a:srgbClr val="FFFFFF"/>
                </a:solidFill>
              </a:rPr>
              <a:t>7</a:t>
            </a:r>
            <a:endParaRPr lang="en-US" sz="1100" dirty="0"/>
          </a:p>
        </p:txBody>
      </p:sp>
      <p:sp>
        <p:nvSpPr>
          <p:cNvPr id="47" name="Text 44"/>
          <p:cNvSpPr/>
          <p:nvPr/>
        </p:nvSpPr>
        <p:spPr>
          <a:xfrm>
            <a:off x="9674352" y="4197096"/>
            <a:ext cx="1920240" cy="219456"/>
          </a:xfrm>
          <a:prstGeom prst="rect">
            <a:avLst/>
          </a:prstGeom>
          <a:noFill/>
          <a:ln/>
        </p:spPr>
        <p:txBody>
          <a:bodyPr wrap="square" lIns="0" tIns="0" rIns="0" bIns="0" rtlCol="0" anchor="ctr"/>
          <a:lstStyle/>
          <a:p>
            <a:pPr marL="0" indent="0">
              <a:buNone/>
            </a:pPr>
            <a:r>
              <a:rPr lang="en-US" sz="1200" b="1" dirty="0">
                <a:solidFill>
                  <a:srgbClr val="F7F7FB"/>
                </a:solidFill>
              </a:rPr>
              <a:t>Featured models</a:t>
            </a:r>
            <a:endParaRPr lang="en-US" sz="1200" dirty="0"/>
          </a:p>
        </p:txBody>
      </p:sp>
      <p:sp>
        <p:nvSpPr>
          <p:cNvPr id="48" name="Shape 45"/>
          <p:cNvSpPr/>
          <p:nvPr/>
        </p:nvSpPr>
        <p:spPr>
          <a:xfrm>
            <a:off x="9217152" y="4617720"/>
            <a:ext cx="320040" cy="320040"/>
          </a:xfrm>
          <a:prstGeom prst="ellipse">
            <a:avLst/>
          </a:prstGeom>
          <a:solidFill>
            <a:srgbClr val="34D399"/>
          </a:solidFill>
          <a:ln w="15240">
            <a:solidFill>
              <a:srgbClr val="FFFFFF"/>
            </a:solidFill>
            <a:prstDash val="solid"/>
          </a:ln>
        </p:spPr>
      </p:sp>
      <p:sp>
        <p:nvSpPr>
          <p:cNvPr id="49" name="Text 46"/>
          <p:cNvSpPr/>
          <p:nvPr/>
        </p:nvSpPr>
        <p:spPr>
          <a:xfrm>
            <a:off x="9217152" y="4626864"/>
            <a:ext cx="320040" cy="256032"/>
          </a:xfrm>
          <a:prstGeom prst="rect">
            <a:avLst/>
          </a:prstGeom>
          <a:noFill/>
          <a:ln/>
        </p:spPr>
        <p:txBody>
          <a:bodyPr wrap="square" lIns="0" tIns="0" rIns="0" bIns="0" rtlCol="0" anchor="ctr"/>
          <a:lstStyle/>
          <a:p>
            <a:pPr marL="0" indent="0" algn="ctr">
              <a:buNone/>
            </a:pPr>
            <a:r>
              <a:rPr lang="en-US" sz="1100" b="1" dirty="0">
                <a:solidFill>
                  <a:srgbClr val="FFFFFF"/>
                </a:solidFill>
              </a:rPr>
              <a:t>8</a:t>
            </a:r>
            <a:endParaRPr lang="en-US" sz="1100" dirty="0"/>
          </a:p>
        </p:txBody>
      </p:sp>
      <p:sp>
        <p:nvSpPr>
          <p:cNvPr id="50" name="Text 47"/>
          <p:cNvSpPr/>
          <p:nvPr/>
        </p:nvSpPr>
        <p:spPr>
          <a:xfrm>
            <a:off x="9674352" y="4654296"/>
            <a:ext cx="1920240" cy="219456"/>
          </a:xfrm>
          <a:prstGeom prst="rect">
            <a:avLst/>
          </a:prstGeom>
          <a:noFill/>
          <a:ln/>
        </p:spPr>
        <p:txBody>
          <a:bodyPr wrap="square" lIns="0" tIns="0" rIns="0" bIns="0" rtlCol="0" anchor="ctr"/>
          <a:lstStyle/>
          <a:p>
            <a:pPr marL="0" indent="0">
              <a:buNone/>
            </a:pPr>
            <a:r>
              <a:rPr lang="en-US" sz="1200" b="1" dirty="0">
                <a:solidFill>
                  <a:srgbClr val="F7F7FB"/>
                </a:solidFill>
              </a:rPr>
              <a:t>Recent work</a:t>
            </a:r>
            <a:endParaRPr lang="en-US" sz="1200" dirty="0"/>
          </a:p>
        </p:txBody>
      </p:sp>
      <p:sp>
        <p:nvSpPr>
          <p:cNvPr id="51" name="Shape 48"/>
          <p:cNvSpPr/>
          <p:nvPr/>
        </p:nvSpPr>
        <p:spPr>
          <a:xfrm>
            <a:off x="9217152" y="5074920"/>
            <a:ext cx="320040" cy="320040"/>
          </a:xfrm>
          <a:prstGeom prst="ellipse">
            <a:avLst/>
          </a:prstGeom>
          <a:solidFill>
            <a:srgbClr val="C4B5FD"/>
          </a:solidFill>
          <a:ln w="15240">
            <a:solidFill>
              <a:srgbClr val="FFFFFF"/>
            </a:solidFill>
            <a:prstDash val="solid"/>
          </a:ln>
        </p:spPr>
      </p:sp>
      <p:sp>
        <p:nvSpPr>
          <p:cNvPr id="52" name="Text 49"/>
          <p:cNvSpPr/>
          <p:nvPr/>
        </p:nvSpPr>
        <p:spPr>
          <a:xfrm>
            <a:off x="9217152" y="5084064"/>
            <a:ext cx="320040" cy="256032"/>
          </a:xfrm>
          <a:prstGeom prst="rect">
            <a:avLst/>
          </a:prstGeom>
          <a:noFill/>
          <a:ln/>
        </p:spPr>
        <p:txBody>
          <a:bodyPr wrap="square" lIns="0" tIns="0" rIns="0" bIns="0" rtlCol="0" anchor="ctr"/>
          <a:lstStyle/>
          <a:p>
            <a:pPr marL="0" indent="0" algn="ctr">
              <a:buNone/>
            </a:pPr>
            <a:r>
              <a:rPr lang="en-US" sz="1100" b="1" dirty="0">
                <a:solidFill>
                  <a:srgbClr val="FFFFFF"/>
                </a:solidFill>
              </a:rPr>
              <a:t>9</a:t>
            </a:r>
            <a:endParaRPr lang="en-US" sz="1100" dirty="0"/>
          </a:p>
        </p:txBody>
      </p:sp>
      <p:sp>
        <p:nvSpPr>
          <p:cNvPr id="53" name="Text 50"/>
          <p:cNvSpPr/>
          <p:nvPr/>
        </p:nvSpPr>
        <p:spPr>
          <a:xfrm>
            <a:off x="9674352" y="5111496"/>
            <a:ext cx="1920240" cy="219456"/>
          </a:xfrm>
          <a:prstGeom prst="rect">
            <a:avLst/>
          </a:prstGeom>
          <a:noFill/>
          <a:ln/>
        </p:spPr>
        <p:txBody>
          <a:bodyPr wrap="square" lIns="0" tIns="0" rIns="0" bIns="0" rtlCol="0" anchor="ctr"/>
          <a:lstStyle/>
          <a:p>
            <a:pPr marL="0" indent="0">
              <a:buNone/>
            </a:pPr>
            <a:r>
              <a:rPr lang="en-US" sz="1200" b="1" dirty="0">
                <a:solidFill>
                  <a:srgbClr val="F7F7FB"/>
                </a:solidFill>
              </a:rPr>
              <a:t>Notifications &amp; profile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0E0D12"/>
        </a:solidFill>
        <a:effectLst/>
      </p:bgPr>
    </p:bg>
    <p:spTree>
      <p:nvGrpSpPr>
        <p:cNvPr id="1" name=""/>
        <p:cNvGrpSpPr/>
        <p:nvPr/>
      </p:nvGrpSpPr>
      <p:grpSpPr>
        <a:xfrm>
          <a:off x="0" y="0"/>
          <a:ext cx="0" cy="0"/>
          <a:chOff x="0" y="0"/>
          <a:chExt cx="0" cy="0"/>
        </a:xfrm>
      </p:grpSpPr>
      <p:sp>
        <p:nvSpPr>
          <p:cNvPr id="2" name="Text 0"/>
          <p:cNvSpPr/>
          <p:nvPr/>
        </p:nvSpPr>
        <p:spPr>
          <a:xfrm>
            <a:off x="566928" y="384048"/>
            <a:ext cx="4389120" cy="256032"/>
          </a:xfrm>
          <a:prstGeom prst="rect">
            <a:avLst/>
          </a:prstGeom>
          <a:noFill/>
          <a:ln/>
        </p:spPr>
        <p:txBody>
          <a:bodyPr wrap="square" lIns="0" tIns="0" rIns="0" bIns="0" rtlCol="0" anchor="ctr"/>
          <a:lstStyle/>
          <a:p>
            <a:pPr marL="0" indent="0">
              <a:buNone/>
            </a:pPr>
            <a:r>
              <a:rPr lang="en-US" sz="1100" b="1" kern="0" spc="160" dirty="0">
                <a:solidFill>
                  <a:srgbClr val="22D3EE"/>
                </a:solidFill>
                <a:latin typeface="Aptos" pitchFamily="34" charset="0"/>
                <a:ea typeface="Aptos" pitchFamily="34" charset="-122"/>
                <a:cs typeface="Aptos" pitchFamily="34" charset="-120"/>
              </a:rPr>
              <a:t>GLOBAL CONTROL</a:t>
            </a:r>
            <a:endParaRPr lang="en-US" sz="1100" dirty="0"/>
          </a:p>
        </p:txBody>
      </p:sp>
      <p:sp>
        <p:nvSpPr>
          <p:cNvPr id="3" name="Text 1"/>
          <p:cNvSpPr/>
          <p:nvPr/>
        </p:nvSpPr>
        <p:spPr>
          <a:xfrm>
            <a:off x="548640" y="713232"/>
            <a:ext cx="11018520" cy="566928"/>
          </a:xfrm>
          <a:prstGeom prst="rect">
            <a:avLst/>
          </a:prstGeom>
          <a:noFill/>
          <a:ln/>
        </p:spPr>
        <p:txBody>
          <a:bodyPr wrap="square" lIns="0" tIns="0" rIns="0" bIns="0" rtlCol="0" anchor="ctr">
            <a:normAutofit/>
          </a:bodyPr>
          <a:lstStyle/>
          <a:p>
            <a:pPr marL="0" indent="0">
              <a:buNone/>
            </a:pPr>
            <a:r>
              <a:rPr lang="en-US" sz="3000" b="1" dirty="0">
                <a:solidFill>
                  <a:srgbClr val="F7F7FB"/>
                </a:solidFill>
                <a:latin typeface="Aptos Display" pitchFamily="34" charset="0"/>
                <a:ea typeface="Aptos Display" pitchFamily="34" charset="-122"/>
                <a:cs typeface="Aptos Display" pitchFamily="34" charset="-120"/>
              </a:rPr>
              <a:t>Foundry and project selector</a:t>
            </a:r>
            <a:endParaRPr lang="en-US" sz="3000" dirty="0"/>
          </a:p>
        </p:txBody>
      </p:sp>
      <p:sp>
        <p:nvSpPr>
          <p:cNvPr id="4" name="Text 2"/>
          <p:cNvSpPr/>
          <p:nvPr/>
        </p:nvSpPr>
        <p:spPr>
          <a:xfrm>
            <a:off x="502920" y="6528816"/>
            <a:ext cx="10789920" cy="164592"/>
          </a:xfrm>
          <a:prstGeom prst="rect">
            <a:avLst/>
          </a:prstGeom>
          <a:noFill/>
          <a:ln/>
        </p:spPr>
        <p:txBody>
          <a:bodyPr wrap="square" lIns="0" tIns="0" rIns="0" bIns="0" rtlCol="0" anchor="ctr"/>
          <a:lstStyle/>
          <a:p>
            <a:pPr marL="0" indent="0">
              <a:buNone/>
            </a:pPr>
            <a:r>
              <a:rPr lang="en-US" sz="850" dirty="0">
                <a:solidFill>
                  <a:srgbClr val="837E92"/>
                </a:solidFill>
                <a:latin typeface="Aptos" pitchFamily="34" charset="0"/>
                <a:ea typeface="Aptos" pitchFamily="34" charset="-122"/>
                <a:cs typeface="Aptos" pitchFamily="34" charset="-120"/>
              </a:rPr>
              <a:t>Microsoft Foundry | General overview demo</a:t>
            </a:r>
            <a:endParaRPr lang="en-US" sz="850" dirty="0"/>
          </a:p>
        </p:txBody>
      </p:sp>
      <p:sp>
        <p:nvSpPr>
          <p:cNvPr id="5" name="Text 3"/>
          <p:cNvSpPr/>
          <p:nvPr/>
        </p:nvSpPr>
        <p:spPr>
          <a:xfrm>
            <a:off x="11292840" y="6473952"/>
            <a:ext cx="384048" cy="228600"/>
          </a:xfrm>
          <a:prstGeom prst="rect">
            <a:avLst/>
          </a:prstGeom>
          <a:noFill/>
          <a:ln/>
        </p:spPr>
        <p:txBody>
          <a:bodyPr wrap="square" lIns="0" tIns="0" rIns="0" bIns="0" rtlCol="0" anchor="ctr"/>
          <a:lstStyle/>
          <a:p>
            <a:pPr marL="0" indent="0" algn="r">
              <a:buNone/>
            </a:pPr>
            <a:r>
              <a:rPr lang="en-US" sz="900" b="1" dirty="0">
                <a:solidFill>
                  <a:srgbClr val="C4B5FD"/>
                </a:solidFill>
                <a:latin typeface="Aptos" pitchFamily="34" charset="0"/>
                <a:ea typeface="Aptos" pitchFamily="34" charset="-122"/>
                <a:cs typeface="Aptos" pitchFamily="34" charset="-120"/>
              </a:rPr>
              <a:t>04</a:t>
            </a:r>
            <a:endParaRPr lang="en-US" sz="900" dirty="0"/>
          </a:p>
        </p:txBody>
      </p:sp>
      <p:sp>
        <p:nvSpPr>
          <p:cNvPr id="6" name="Shape 4"/>
          <p:cNvSpPr/>
          <p:nvPr/>
        </p:nvSpPr>
        <p:spPr>
          <a:xfrm>
            <a:off x="566928" y="1444752"/>
            <a:ext cx="11045952" cy="1353312"/>
          </a:xfrm>
          <a:prstGeom prst="roundRect">
            <a:avLst>
              <a:gd name="adj" fmla="val 5405"/>
            </a:avLst>
          </a:prstGeom>
          <a:solidFill>
            <a:srgbClr val="111016"/>
          </a:solidFill>
          <a:ln w="12700">
            <a:solidFill>
              <a:srgbClr val="3C3747"/>
            </a:solidFill>
            <a:prstDash val="solid"/>
          </a:ln>
          <a:effectLst>
            <a:outerShdw blurRad="38100" dist="50800" dir="2700000" algn="bl" rotWithShape="0">
              <a:srgbClr val="000000">
                <a:alpha val="24000"/>
              </a:srgbClr>
            </a:outerShdw>
          </a:effectLst>
        </p:spPr>
      </p:sp>
      <p:pic>
        <p:nvPicPr>
          <p:cNvPr id="7" name="Image 0" descr="Microsoft Foundry portal screenshot"/>
          <p:cNvPicPr>
            <a:picLocks noChangeAspect="1"/>
          </p:cNvPicPr>
          <p:nvPr/>
        </p:nvPicPr>
        <p:blipFill>
          <a:blip r:embed="rId3"/>
          <a:stretch>
            <a:fillRect/>
          </a:stretch>
        </p:blipFill>
        <p:spPr>
          <a:xfrm>
            <a:off x="2345020" y="1527048"/>
            <a:ext cx="7489767" cy="969264"/>
          </a:xfrm>
          <a:prstGeom prst="rect">
            <a:avLst/>
          </a:prstGeom>
        </p:spPr>
      </p:pic>
      <p:sp>
        <p:nvSpPr>
          <p:cNvPr id="8" name="Text 5"/>
          <p:cNvSpPr/>
          <p:nvPr/>
        </p:nvSpPr>
        <p:spPr>
          <a:xfrm>
            <a:off x="713232" y="2551176"/>
            <a:ext cx="10753344" cy="146304"/>
          </a:xfrm>
          <a:prstGeom prst="rect">
            <a:avLst/>
          </a:prstGeom>
          <a:noFill/>
          <a:ln/>
        </p:spPr>
        <p:txBody>
          <a:bodyPr wrap="square" lIns="0" tIns="0" rIns="0" bIns="0" rtlCol="0" anchor="ctr"/>
          <a:lstStyle/>
          <a:p>
            <a:pPr marL="0" indent="0" algn="ctr">
              <a:buNone/>
            </a:pPr>
            <a:r>
              <a:rPr lang="en-US" sz="850" i="1" dirty="0">
                <a:solidFill>
                  <a:srgbClr val="837E92"/>
                </a:solidFill>
              </a:rPr>
              <a:t>Top-left project context</a:t>
            </a:r>
            <a:endParaRPr lang="en-US" sz="850" dirty="0"/>
          </a:p>
        </p:txBody>
      </p:sp>
      <p:sp>
        <p:nvSpPr>
          <p:cNvPr id="9" name="Shape 6"/>
          <p:cNvSpPr/>
          <p:nvPr/>
        </p:nvSpPr>
        <p:spPr>
          <a:xfrm>
            <a:off x="566928" y="2999232"/>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0" name="Shape 7"/>
          <p:cNvSpPr/>
          <p:nvPr/>
        </p:nvSpPr>
        <p:spPr>
          <a:xfrm>
            <a:off x="566928" y="2999232"/>
            <a:ext cx="64008" cy="2788920"/>
          </a:xfrm>
          <a:prstGeom prst="rect">
            <a:avLst/>
          </a:prstGeom>
          <a:solidFill>
            <a:srgbClr val="8B5CF6"/>
          </a:solidFill>
          <a:ln w="12700">
            <a:solidFill>
              <a:srgbClr val="8B5CF6">
                <a:alpha val="0"/>
              </a:srgbClr>
            </a:solidFill>
            <a:prstDash val="solid"/>
          </a:ln>
        </p:spPr>
      </p:sp>
      <p:sp>
        <p:nvSpPr>
          <p:cNvPr id="11" name="Text 8"/>
          <p:cNvSpPr/>
          <p:nvPr/>
        </p:nvSpPr>
        <p:spPr>
          <a:xfrm>
            <a:off x="822960" y="3218688"/>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What it is</a:t>
            </a:r>
            <a:endParaRPr lang="en-US" sz="1800" dirty="0"/>
          </a:p>
        </p:txBody>
      </p:sp>
      <p:sp>
        <p:nvSpPr>
          <p:cNvPr id="12" name="Text 9"/>
          <p:cNvSpPr/>
          <p:nvPr/>
        </p:nvSpPr>
        <p:spPr>
          <a:xfrm>
            <a:off x="822960" y="3657600"/>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The Foundry application title and currently selected project establish the working scope.</a:t>
            </a:r>
            <a:endParaRPr lang="en-US" sz="1150" dirty="0"/>
          </a:p>
        </p:txBody>
      </p:sp>
      <p:sp>
        <p:nvSpPr>
          <p:cNvPr id="13" name="Shape 10"/>
          <p:cNvSpPr/>
          <p:nvPr/>
        </p:nvSpPr>
        <p:spPr>
          <a:xfrm>
            <a:off x="4334256" y="2999232"/>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4" name="Shape 11"/>
          <p:cNvSpPr/>
          <p:nvPr/>
        </p:nvSpPr>
        <p:spPr>
          <a:xfrm>
            <a:off x="4334256" y="2999232"/>
            <a:ext cx="64008" cy="2788920"/>
          </a:xfrm>
          <a:prstGeom prst="rect">
            <a:avLst/>
          </a:prstGeom>
          <a:solidFill>
            <a:srgbClr val="22D3EE"/>
          </a:solidFill>
          <a:ln w="12700">
            <a:solidFill>
              <a:srgbClr val="22D3EE">
                <a:alpha val="0"/>
              </a:srgbClr>
            </a:solidFill>
            <a:prstDash val="solid"/>
          </a:ln>
        </p:spPr>
      </p:sp>
      <p:sp>
        <p:nvSpPr>
          <p:cNvPr id="15" name="Text 12"/>
          <p:cNvSpPr/>
          <p:nvPr/>
        </p:nvSpPr>
        <p:spPr>
          <a:xfrm>
            <a:off x="4590288" y="3218688"/>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What it does</a:t>
            </a:r>
            <a:endParaRPr lang="en-US" sz="1800" dirty="0"/>
          </a:p>
        </p:txBody>
      </p:sp>
      <p:sp>
        <p:nvSpPr>
          <p:cNvPr id="16" name="Text 13"/>
          <p:cNvSpPr/>
          <p:nvPr/>
        </p:nvSpPr>
        <p:spPr>
          <a:xfrm>
            <a:off x="4590288" y="3657600"/>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Switch among recent projects, view all projects, create a project, or access legacy resources. Project-scoped pages update when the selection changes.</a:t>
            </a:r>
            <a:endParaRPr lang="en-US" sz="1150" dirty="0"/>
          </a:p>
        </p:txBody>
      </p:sp>
      <p:sp>
        <p:nvSpPr>
          <p:cNvPr id="17" name="Shape 14"/>
          <p:cNvSpPr/>
          <p:nvPr/>
        </p:nvSpPr>
        <p:spPr>
          <a:xfrm>
            <a:off x="8083296" y="2999232"/>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8" name="Shape 15"/>
          <p:cNvSpPr/>
          <p:nvPr/>
        </p:nvSpPr>
        <p:spPr>
          <a:xfrm>
            <a:off x="8083296" y="2999232"/>
            <a:ext cx="64008" cy="2788920"/>
          </a:xfrm>
          <a:prstGeom prst="rect">
            <a:avLst/>
          </a:prstGeom>
          <a:solidFill>
            <a:srgbClr val="34D399"/>
          </a:solidFill>
          <a:ln w="12700">
            <a:solidFill>
              <a:srgbClr val="34D399">
                <a:alpha val="0"/>
              </a:srgbClr>
            </a:solidFill>
            <a:prstDash val="solid"/>
          </a:ln>
        </p:spPr>
      </p:sp>
      <p:sp>
        <p:nvSpPr>
          <p:cNvPr id="19" name="Text 16"/>
          <p:cNvSpPr/>
          <p:nvPr/>
        </p:nvSpPr>
        <p:spPr>
          <a:xfrm>
            <a:off x="8339328" y="3218688"/>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Business value</a:t>
            </a:r>
            <a:endParaRPr lang="en-US" sz="1800" dirty="0"/>
          </a:p>
        </p:txBody>
      </p:sp>
      <p:sp>
        <p:nvSpPr>
          <p:cNvPr id="20" name="Text 17"/>
          <p:cNvSpPr/>
          <p:nvPr/>
        </p:nvSpPr>
        <p:spPr>
          <a:xfrm>
            <a:off x="8339328" y="3657600"/>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Projects isolate use cases, assets, endpoints, and access. A clear scope reduces accidental cross-project changes and supports environment or business-unit separation.</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0E0D12"/>
        </a:solidFill>
        <a:effectLst/>
      </p:bgPr>
    </p:bg>
    <p:spTree>
      <p:nvGrpSpPr>
        <p:cNvPr id="1" name=""/>
        <p:cNvGrpSpPr/>
        <p:nvPr/>
      </p:nvGrpSpPr>
      <p:grpSpPr>
        <a:xfrm>
          <a:off x="0" y="0"/>
          <a:ext cx="0" cy="0"/>
          <a:chOff x="0" y="0"/>
          <a:chExt cx="0" cy="0"/>
        </a:xfrm>
      </p:grpSpPr>
      <p:sp>
        <p:nvSpPr>
          <p:cNvPr id="2" name="Text 0"/>
          <p:cNvSpPr/>
          <p:nvPr/>
        </p:nvSpPr>
        <p:spPr>
          <a:xfrm>
            <a:off x="566928" y="384048"/>
            <a:ext cx="4389120" cy="256032"/>
          </a:xfrm>
          <a:prstGeom prst="rect">
            <a:avLst/>
          </a:prstGeom>
          <a:noFill/>
          <a:ln/>
        </p:spPr>
        <p:txBody>
          <a:bodyPr wrap="square" lIns="0" tIns="0" rIns="0" bIns="0" rtlCol="0" anchor="ctr"/>
          <a:lstStyle/>
          <a:p>
            <a:pPr marL="0" indent="0">
              <a:buNone/>
            </a:pPr>
            <a:r>
              <a:rPr lang="en-US" sz="1100" b="1" kern="0" spc="160" dirty="0">
                <a:solidFill>
                  <a:srgbClr val="22D3EE"/>
                </a:solidFill>
                <a:latin typeface="Aptos" pitchFamily="34" charset="0"/>
                <a:ea typeface="Aptos" pitchFamily="34" charset="-122"/>
                <a:cs typeface="Aptos" pitchFamily="34" charset="-120"/>
              </a:rPr>
              <a:t>GLOBAL CONTROL</a:t>
            </a:r>
            <a:endParaRPr lang="en-US" sz="1100" dirty="0"/>
          </a:p>
        </p:txBody>
      </p:sp>
      <p:sp>
        <p:nvSpPr>
          <p:cNvPr id="3" name="Text 1"/>
          <p:cNvSpPr/>
          <p:nvPr/>
        </p:nvSpPr>
        <p:spPr>
          <a:xfrm>
            <a:off x="548640" y="713232"/>
            <a:ext cx="11018520" cy="566928"/>
          </a:xfrm>
          <a:prstGeom prst="rect">
            <a:avLst/>
          </a:prstGeom>
          <a:noFill/>
          <a:ln/>
        </p:spPr>
        <p:txBody>
          <a:bodyPr wrap="square" lIns="0" tIns="0" rIns="0" bIns="0" rtlCol="0" anchor="ctr">
            <a:normAutofit/>
          </a:bodyPr>
          <a:lstStyle/>
          <a:p>
            <a:pPr marL="0" indent="0">
              <a:buNone/>
            </a:pPr>
            <a:r>
              <a:rPr lang="en-US" sz="3000" b="1" dirty="0">
                <a:solidFill>
                  <a:srgbClr val="F7F7FB"/>
                </a:solidFill>
                <a:latin typeface="Aptos Display" pitchFamily="34" charset="0"/>
                <a:ea typeface="Aptos Display" pitchFamily="34" charset="-122"/>
                <a:cs typeface="Aptos Display" pitchFamily="34" charset="-120"/>
              </a:rPr>
              <a:t>Search with AI</a:t>
            </a:r>
            <a:endParaRPr lang="en-US" sz="3000" dirty="0"/>
          </a:p>
        </p:txBody>
      </p:sp>
      <p:sp>
        <p:nvSpPr>
          <p:cNvPr id="4" name="Text 2"/>
          <p:cNvSpPr/>
          <p:nvPr/>
        </p:nvSpPr>
        <p:spPr>
          <a:xfrm>
            <a:off x="502920" y="6528816"/>
            <a:ext cx="10789920" cy="164592"/>
          </a:xfrm>
          <a:prstGeom prst="rect">
            <a:avLst/>
          </a:prstGeom>
          <a:noFill/>
          <a:ln/>
        </p:spPr>
        <p:txBody>
          <a:bodyPr wrap="square" lIns="0" tIns="0" rIns="0" bIns="0" rtlCol="0" anchor="ctr"/>
          <a:lstStyle/>
          <a:p>
            <a:pPr marL="0" indent="0">
              <a:buNone/>
            </a:pPr>
            <a:r>
              <a:rPr lang="en-US" sz="850" dirty="0">
                <a:solidFill>
                  <a:srgbClr val="837E92"/>
                </a:solidFill>
                <a:latin typeface="Aptos" pitchFamily="34" charset="0"/>
                <a:ea typeface="Aptos" pitchFamily="34" charset="-122"/>
                <a:cs typeface="Aptos" pitchFamily="34" charset="-120"/>
              </a:rPr>
              <a:t>Microsoft Foundry | General overview demo</a:t>
            </a:r>
            <a:endParaRPr lang="en-US" sz="850" dirty="0"/>
          </a:p>
        </p:txBody>
      </p:sp>
      <p:sp>
        <p:nvSpPr>
          <p:cNvPr id="5" name="Text 3"/>
          <p:cNvSpPr/>
          <p:nvPr/>
        </p:nvSpPr>
        <p:spPr>
          <a:xfrm>
            <a:off x="11292840" y="6473952"/>
            <a:ext cx="384048" cy="228600"/>
          </a:xfrm>
          <a:prstGeom prst="rect">
            <a:avLst/>
          </a:prstGeom>
          <a:noFill/>
          <a:ln/>
        </p:spPr>
        <p:txBody>
          <a:bodyPr wrap="square" lIns="0" tIns="0" rIns="0" bIns="0" rtlCol="0" anchor="ctr"/>
          <a:lstStyle/>
          <a:p>
            <a:pPr marL="0" indent="0" algn="r">
              <a:buNone/>
            </a:pPr>
            <a:r>
              <a:rPr lang="en-US" sz="900" b="1" dirty="0">
                <a:solidFill>
                  <a:srgbClr val="C4B5FD"/>
                </a:solidFill>
                <a:latin typeface="Aptos" pitchFamily="34" charset="0"/>
                <a:ea typeface="Aptos" pitchFamily="34" charset="-122"/>
                <a:cs typeface="Aptos" pitchFamily="34" charset="-120"/>
              </a:rPr>
              <a:t>05</a:t>
            </a:r>
            <a:endParaRPr lang="en-US" sz="900" dirty="0"/>
          </a:p>
        </p:txBody>
      </p:sp>
      <p:sp>
        <p:nvSpPr>
          <p:cNvPr id="6" name="Shape 4"/>
          <p:cNvSpPr/>
          <p:nvPr/>
        </p:nvSpPr>
        <p:spPr>
          <a:xfrm>
            <a:off x="566928" y="4608576"/>
            <a:ext cx="11045952" cy="1353312"/>
          </a:xfrm>
          <a:prstGeom prst="roundRect">
            <a:avLst>
              <a:gd name="adj" fmla="val 5405"/>
            </a:avLst>
          </a:prstGeom>
          <a:solidFill>
            <a:srgbClr val="111016"/>
          </a:solidFill>
          <a:ln w="12700">
            <a:solidFill>
              <a:srgbClr val="3C3747"/>
            </a:solidFill>
            <a:prstDash val="solid"/>
          </a:ln>
          <a:effectLst>
            <a:outerShdw blurRad="38100" dist="50800" dir="2700000" algn="bl" rotWithShape="0">
              <a:srgbClr val="000000">
                <a:alpha val="24000"/>
              </a:srgbClr>
            </a:outerShdw>
          </a:effectLst>
        </p:spPr>
      </p:sp>
      <p:pic>
        <p:nvPicPr>
          <p:cNvPr id="7" name="Image 0" descr="Microsoft Foundry portal screenshot"/>
          <p:cNvPicPr>
            <a:picLocks noChangeAspect="1"/>
          </p:cNvPicPr>
          <p:nvPr/>
        </p:nvPicPr>
        <p:blipFill>
          <a:blip r:embed="rId3"/>
          <a:stretch>
            <a:fillRect/>
          </a:stretch>
        </p:blipFill>
        <p:spPr>
          <a:xfrm>
            <a:off x="3887031" y="4690872"/>
            <a:ext cx="4405745" cy="969264"/>
          </a:xfrm>
          <a:prstGeom prst="rect">
            <a:avLst/>
          </a:prstGeom>
        </p:spPr>
      </p:pic>
      <p:sp>
        <p:nvSpPr>
          <p:cNvPr id="8" name="Text 5"/>
          <p:cNvSpPr/>
          <p:nvPr/>
        </p:nvSpPr>
        <p:spPr>
          <a:xfrm>
            <a:off x="713232" y="5715000"/>
            <a:ext cx="10753344" cy="146304"/>
          </a:xfrm>
          <a:prstGeom prst="rect">
            <a:avLst/>
          </a:prstGeom>
          <a:noFill/>
          <a:ln/>
        </p:spPr>
        <p:txBody>
          <a:bodyPr wrap="square" lIns="0" tIns="0" rIns="0" bIns="0" rtlCol="0" anchor="ctr"/>
          <a:lstStyle/>
          <a:p>
            <a:pPr marL="0" indent="0" algn="ctr">
              <a:buNone/>
            </a:pPr>
            <a:r>
              <a:rPr lang="en-US" sz="850" i="1" dirty="0">
                <a:solidFill>
                  <a:srgbClr val="837E92"/>
                </a:solidFill>
              </a:rPr>
              <a:t>Search with AI (Ctrl+K)</a:t>
            </a:r>
            <a:endParaRPr lang="en-US" sz="850" dirty="0"/>
          </a:p>
        </p:txBody>
      </p:sp>
      <p:sp>
        <p:nvSpPr>
          <p:cNvPr id="9" name="Shape 6"/>
          <p:cNvSpPr/>
          <p:nvPr/>
        </p:nvSpPr>
        <p:spPr>
          <a:xfrm>
            <a:off x="566928" y="1481328"/>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0" name="Shape 7"/>
          <p:cNvSpPr/>
          <p:nvPr/>
        </p:nvSpPr>
        <p:spPr>
          <a:xfrm>
            <a:off x="566928" y="1481328"/>
            <a:ext cx="64008" cy="2788920"/>
          </a:xfrm>
          <a:prstGeom prst="rect">
            <a:avLst/>
          </a:prstGeom>
          <a:solidFill>
            <a:srgbClr val="8B5CF6"/>
          </a:solidFill>
          <a:ln w="12700">
            <a:solidFill>
              <a:srgbClr val="8B5CF6">
                <a:alpha val="0"/>
              </a:srgbClr>
            </a:solidFill>
            <a:prstDash val="solid"/>
          </a:ln>
        </p:spPr>
      </p:sp>
      <p:sp>
        <p:nvSpPr>
          <p:cNvPr id="11" name="Text 8"/>
          <p:cNvSpPr/>
          <p:nvPr/>
        </p:nvSpPr>
        <p:spPr>
          <a:xfrm>
            <a:off x="822960" y="1700784"/>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What it is</a:t>
            </a:r>
            <a:endParaRPr lang="en-US" sz="1800" dirty="0"/>
          </a:p>
        </p:txBody>
      </p:sp>
      <p:sp>
        <p:nvSpPr>
          <p:cNvPr id="12" name="Text 9"/>
          <p:cNvSpPr/>
          <p:nvPr/>
        </p:nvSpPr>
        <p:spPr>
          <a:xfrm>
            <a:off x="822960" y="2139696"/>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A keyboard-accessible global search entry point. The shortcut shown is Ctrl+K.</a:t>
            </a:r>
            <a:endParaRPr lang="en-US" sz="1150" dirty="0"/>
          </a:p>
        </p:txBody>
      </p:sp>
      <p:sp>
        <p:nvSpPr>
          <p:cNvPr id="13" name="Shape 10"/>
          <p:cNvSpPr/>
          <p:nvPr/>
        </p:nvSpPr>
        <p:spPr>
          <a:xfrm>
            <a:off x="4334256" y="1481328"/>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4" name="Shape 11"/>
          <p:cNvSpPr/>
          <p:nvPr/>
        </p:nvSpPr>
        <p:spPr>
          <a:xfrm>
            <a:off x="4334256" y="1481328"/>
            <a:ext cx="64008" cy="2788920"/>
          </a:xfrm>
          <a:prstGeom prst="rect">
            <a:avLst/>
          </a:prstGeom>
          <a:solidFill>
            <a:srgbClr val="22D3EE"/>
          </a:solidFill>
          <a:ln w="12700">
            <a:solidFill>
              <a:srgbClr val="22D3EE">
                <a:alpha val="0"/>
              </a:srgbClr>
            </a:solidFill>
            <a:prstDash val="solid"/>
          </a:ln>
        </p:spPr>
      </p:sp>
      <p:sp>
        <p:nvSpPr>
          <p:cNvPr id="15" name="Text 12"/>
          <p:cNvSpPr/>
          <p:nvPr/>
        </p:nvSpPr>
        <p:spPr>
          <a:xfrm>
            <a:off x="4590288" y="1700784"/>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What it does</a:t>
            </a:r>
            <a:endParaRPr lang="en-US" sz="1800" dirty="0"/>
          </a:p>
        </p:txBody>
      </p:sp>
      <p:sp>
        <p:nvSpPr>
          <p:cNvPr id="16" name="Text 13"/>
          <p:cNvSpPr/>
          <p:nvPr/>
        </p:nvSpPr>
        <p:spPr>
          <a:xfrm>
            <a:off x="4590288" y="2139696"/>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Helps locate models, tools, portal destinations, and relevant experiences without navigating every menu manually.</a:t>
            </a:r>
            <a:endParaRPr lang="en-US" sz="1150" dirty="0"/>
          </a:p>
        </p:txBody>
      </p:sp>
      <p:sp>
        <p:nvSpPr>
          <p:cNvPr id="17" name="Shape 14"/>
          <p:cNvSpPr/>
          <p:nvPr/>
        </p:nvSpPr>
        <p:spPr>
          <a:xfrm>
            <a:off x="8083296" y="1481328"/>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8" name="Shape 15"/>
          <p:cNvSpPr/>
          <p:nvPr/>
        </p:nvSpPr>
        <p:spPr>
          <a:xfrm>
            <a:off x="8083296" y="1481328"/>
            <a:ext cx="64008" cy="2788920"/>
          </a:xfrm>
          <a:prstGeom prst="rect">
            <a:avLst/>
          </a:prstGeom>
          <a:solidFill>
            <a:srgbClr val="34D399"/>
          </a:solidFill>
          <a:ln w="12700">
            <a:solidFill>
              <a:srgbClr val="34D399">
                <a:alpha val="0"/>
              </a:srgbClr>
            </a:solidFill>
            <a:prstDash val="solid"/>
          </a:ln>
        </p:spPr>
      </p:sp>
      <p:sp>
        <p:nvSpPr>
          <p:cNvPr id="19" name="Text 16"/>
          <p:cNvSpPr/>
          <p:nvPr/>
        </p:nvSpPr>
        <p:spPr>
          <a:xfrm>
            <a:off x="8339328" y="1700784"/>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Business value</a:t>
            </a:r>
            <a:endParaRPr lang="en-US" sz="1800" dirty="0"/>
          </a:p>
        </p:txBody>
      </p:sp>
      <p:sp>
        <p:nvSpPr>
          <p:cNvPr id="20" name="Text 17"/>
          <p:cNvSpPr/>
          <p:nvPr/>
        </p:nvSpPr>
        <p:spPr>
          <a:xfrm>
            <a:off x="8339328" y="2139696"/>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Improves discoverability and reduces training overhead, especially as the catalog and platform capabilities expand.</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0E0D12"/>
        </a:solidFill>
        <a:effectLst/>
      </p:bgPr>
    </p:bg>
    <p:spTree>
      <p:nvGrpSpPr>
        <p:cNvPr id="1" name=""/>
        <p:cNvGrpSpPr/>
        <p:nvPr/>
      </p:nvGrpSpPr>
      <p:grpSpPr>
        <a:xfrm>
          <a:off x="0" y="0"/>
          <a:ext cx="0" cy="0"/>
          <a:chOff x="0" y="0"/>
          <a:chExt cx="0" cy="0"/>
        </a:xfrm>
      </p:grpSpPr>
      <p:sp>
        <p:nvSpPr>
          <p:cNvPr id="2" name="Text 0"/>
          <p:cNvSpPr/>
          <p:nvPr/>
        </p:nvSpPr>
        <p:spPr>
          <a:xfrm>
            <a:off x="566928" y="384048"/>
            <a:ext cx="4389120" cy="256032"/>
          </a:xfrm>
          <a:prstGeom prst="rect">
            <a:avLst/>
          </a:prstGeom>
          <a:noFill/>
          <a:ln/>
        </p:spPr>
        <p:txBody>
          <a:bodyPr wrap="square" lIns="0" tIns="0" rIns="0" bIns="0" rtlCol="0" anchor="ctr"/>
          <a:lstStyle/>
          <a:p>
            <a:pPr marL="0" indent="0">
              <a:buNone/>
            </a:pPr>
            <a:r>
              <a:rPr lang="en-US" sz="1100" b="1" kern="0" spc="160" dirty="0">
                <a:solidFill>
                  <a:srgbClr val="22D3EE"/>
                </a:solidFill>
                <a:latin typeface="Aptos" pitchFamily="34" charset="0"/>
                <a:ea typeface="Aptos" pitchFamily="34" charset="-122"/>
                <a:cs typeface="Aptos" pitchFamily="34" charset="-120"/>
              </a:rPr>
              <a:t>GLOBAL CONTROL</a:t>
            </a:r>
            <a:endParaRPr lang="en-US" sz="1100" dirty="0"/>
          </a:p>
        </p:txBody>
      </p:sp>
      <p:sp>
        <p:nvSpPr>
          <p:cNvPr id="3" name="Text 1"/>
          <p:cNvSpPr/>
          <p:nvPr/>
        </p:nvSpPr>
        <p:spPr>
          <a:xfrm>
            <a:off x="548640" y="713232"/>
            <a:ext cx="11018520" cy="566928"/>
          </a:xfrm>
          <a:prstGeom prst="rect">
            <a:avLst/>
          </a:prstGeom>
          <a:noFill/>
          <a:ln/>
        </p:spPr>
        <p:txBody>
          <a:bodyPr wrap="square" lIns="0" tIns="0" rIns="0" bIns="0" rtlCol="0" anchor="ctr">
            <a:normAutofit/>
          </a:bodyPr>
          <a:lstStyle/>
          <a:p>
            <a:pPr marL="0" indent="0">
              <a:buNone/>
            </a:pPr>
            <a:r>
              <a:rPr lang="en-US" sz="3000" b="1" dirty="0">
                <a:solidFill>
                  <a:srgbClr val="F7F7FB"/>
                </a:solidFill>
                <a:latin typeface="Aptos Display" pitchFamily="34" charset="0"/>
                <a:ea typeface="Aptos Display" pitchFamily="34" charset="-122"/>
                <a:cs typeface="Aptos Display" pitchFamily="34" charset="-120"/>
              </a:rPr>
              <a:t>Experience switch and global actions</a:t>
            </a:r>
            <a:endParaRPr lang="en-US" sz="3000" dirty="0"/>
          </a:p>
        </p:txBody>
      </p:sp>
      <p:sp>
        <p:nvSpPr>
          <p:cNvPr id="4" name="Text 2"/>
          <p:cNvSpPr/>
          <p:nvPr/>
        </p:nvSpPr>
        <p:spPr>
          <a:xfrm>
            <a:off x="502920" y="6528816"/>
            <a:ext cx="10789920" cy="164592"/>
          </a:xfrm>
          <a:prstGeom prst="rect">
            <a:avLst/>
          </a:prstGeom>
          <a:noFill/>
          <a:ln/>
        </p:spPr>
        <p:txBody>
          <a:bodyPr wrap="square" lIns="0" tIns="0" rIns="0" bIns="0" rtlCol="0" anchor="ctr"/>
          <a:lstStyle/>
          <a:p>
            <a:pPr marL="0" indent="0">
              <a:buNone/>
            </a:pPr>
            <a:r>
              <a:rPr lang="en-US" sz="850" dirty="0">
                <a:solidFill>
                  <a:srgbClr val="837E92"/>
                </a:solidFill>
                <a:latin typeface="Aptos" pitchFamily="34" charset="0"/>
                <a:ea typeface="Aptos" pitchFamily="34" charset="-122"/>
                <a:cs typeface="Aptos" pitchFamily="34" charset="-120"/>
              </a:rPr>
              <a:t>Microsoft Foundry | General overview demo</a:t>
            </a:r>
            <a:endParaRPr lang="en-US" sz="850" dirty="0"/>
          </a:p>
        </p:txBody>
      </p:sp>
      <p:sp>
        <p:nvSpPr>
          <p:cNvPr id="5" name="Text 3"/>
          <p:cNvSpPr/>
          <p:nvPr/>
        </p:nvSpPr>
        <p:spPr>
          <a:xfrm>
            <a:off x="11292840" y="6473952"/>
            <a:ext cx="384048" cy="228600"/>
          </a:xfrm>
          <a:prstGeom prst="rect">
            <a:avLst/>
          </a:prstGeom>
          <a:noFill/>
          <a:ln/>
        </p:spPr>
        <p:txBody>
          <a:bodyPr wrap="square" lIns="0" tIns="0" rIns="0" bIns="0" rtlCol="0" anchor="ctr"/>
          <a:lstStyle/>
          <a:p>
            <a:pPr marL="0" indent="0" algn="r">
              <a:buNone/>
            </a:pPr>
            <a:r>
              <a:rPr lang="en-US" sz="900" b="1" dirty="0">
                <a:solidFill>
                  <a:srgbClr val="C4B5FD"/>
                </a:solidFill>
                <a:latin typeface="Aptos" pitchFamily="34" charset="0"/>
                <a:ea typeface="Aptos" pitchFamily="34" charset="-122"/>
                <a:cs typeface="Aptos" pitchFamily="34" charset="-120"/>
              </a:rPr>
              <a:t>06</a:t>
            </a:r>
            <a:endParaRPr lang="en-US" sz="900" dirty="0"/>
          </a:p>
        </p:txBody>
      </p:sp>
      <p:sp>
        <p:nvSpPr>
          <p:cNvPr id="6" name="Shape 4"/>
          <p:cNvSpPr/>
          <p:nvPr/>
        </p:nvSpPr>
        <p:spPr>
          <a:xfrm>
            <a:off x="566928" y="1444752"/>
            <a:ext cx="11045952" cy="841248"/>
          </a:xfrm>
          <a:prstGeom prst="roundRect">
            <a:avLst>
              <a:gd name="adj" fmla="val 8696"/>
            </a:avLst>
          </a:prstGeom>
          <a:solidFill>
            <a:srgbClr val="111016"/>
          </a:solidFill>
          <a:ln w="12700">
            <a:solidFill>
              <a:srgbClr val="3C3747"/>
            </a:solidFill>
            <a:prstDash val="solid"/>
          </a:ln>
          <a:effectLst>
            <a:outerShdw blurRad="38100" dist="50800" dir="2700000" algn="bl" rotWithShape="0">
              <a:srgbClr val="000000">
                <a:alpha val="24000"/>
              </a:srgbClr>
            </a:outerShdw>
          </a:effectLst>
        </p:spPr>
      </p:sp>
      <p:pic>
        <p:nvPicPr>
          <p:cNvPr id="7" name="Image 0" descr="Microsoft Foundry portal screenshot"/>
          <p:cNvPicPr>
            <a:picLocks noChangeAspect="1"/>
          </p:cNvPicPr>
          <p:nvPr/>
        </p:nvPicPr>
        <p:blipFill>
          <a:blip r:embed="rId3"/>
          <a:stretch>
            <a:fillRect/>
          </a:stretch>
        </p:blipFill>
        <p:spPr>
          <a:xfrm>
            <a:off x="649224" y="1538021"/>
            <a:ext cx="10881360" cy="435254"/>
          </a:xfrm>
          <a:prstGeom prst="rect">
            <a:avLst/>
          </a:prstGeom>
        </p:spPr>
      </p:pic>
      <p:sp>
        <p:nvSpPr>
          <p:cNvPr id="8" name="Text 5"/>
          <p:cNvSpPr/>
          <p:nvPr/>
        </p:nvSpPr>
        <p:spPr>
          <a:xfrm>
            <a:off x="713232" y="2039112"/>
            <a:ext cx="10753344" cy="146304"/>
          </a:xfrm>
          <a:prstGeom prst="rect">
            <a:avLst/>
          </a:prstGeom>
          <a:noFill/>
          <a:ln/>
        </p:spPr>
        <p:txBody>
          <a:bodyPr wrap="square" lIns="0" tIns="0" rIns="0" bIns="0" rtlCol="0" anchor="ctr"/>
          <a:lstStyle/>
          <a:p>
            <a:pPr marL="0" indent="0" algn="ctr">
              <a:buNone/>
            </a:pPr>
            <a:r>
              <a:rPr lang="en-US" sz="850" i="1" dirty="0">
                <a:solidFill>
                  <a:srgbClr val="837E92"/>
                </a:solidFill>
              </a:rPr>
              <a:t>New Foundry, navigation, notifications, feedback, and profile</a:t>
            </a:r>
            <a:endParaRPr lang="en-US" sz="850" dirty="0"/>
          </a:p>
        </p:txBody>
      </p:sp>
      <p:sp>
        <p:nvSpPr>
          <p:cNvPr id="9" name="Shape 6"/>
          <p:cNvSpPr/>
          <p:nvPr/>
        </p:nvSpPr>
        <p:spPr>
          <a:xfrm>
            <a:off x="566928" y="2999232"/>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0" name="Shape 7"/>
          <p:cNvSpPr/>
          <p:nvPr/>
        </p:nvSpPr>
        <p:spPr>
          <a:xfrm>
            <a:off x="566928" y="2999232"/>
            <a:ext cx="64008" cy="2788920"/>
          </a:xfrm>
          <a:prstGeom prst="rect">
            <a:avLst/>
          </a:prstGeom>
          <a:solidFill>
            <a:srgbClr val="8B5CF6"/>
          </a:solidFill>
          <a:ln w="12700">
            <a:solidFill>
              <a:srgbClr val="8B5CF6">
                <a:alpha val="0"/>
              </a:srgbClr>
            </a:solidFill>
            <a:prstDash val="solid"/>
          </a:ln>
        </p:spPr>
      </p:sp>
      <p:sp>
        <p:nvSpPr>
          <p:cNvPr id="11" name="Text 8"/>
          <p:cNvSpPr/>
          <p:nvPr/>
        </p:nvSpPr>
        <p:spPr>
          <a:xfrm>
            <a:off x="822960" y="3218688"/>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What it is</a:t>
            </a:r>
            <a:endParaRPr lang="en-US" sz="1800" dirty="0"/>
          </a:p>
        </p:txBody>
      </p:sp>
      <p:sp>
        <p:nvSpPr>
          <p:cNvPr id="12" name="Text 9"/>
          <p:cNvSpPr/>
          <p:nvPr/>
        </p:nvSpPr>
        <p:spPr>
          <a:xfrm>
            <a:off x="822960" y="3657600"/>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The New Foundry toggle changes between new and classic portal experiences. Global icons provide notifications, feedback/settings surfaces, and profile access.</a:t>
            </a:r>
            <a:endParaRPr lang="en-US" sz="1150" dirty="0"/>
          </a:p>
        </p:txBody>
      </p:sp>
      <p:sp>
        <p:nvSpPr>
          <p:cNvPr id="13" name="Shape 10"/>
          <p:cNvSpPr/>
          <p:nvPr/>
        </p:nvSpPr>
        <p:spPr>
          <a:xfrm>
            <a:off x="4334256" y="2999232"/>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4" name="Shape 11"/>
          <p:cNvSpPr/>
          <p:nvPr/>
        </p:nvSpPr>
        <p:spPr>
          <a:xfrm>
            <a:off x="4334256" y="2999232"/>
            <a:ext cx="64008" cy="2788920"/>
          </a:xfrm>
          <a:prstGeom prst="rect">
            <a:avLst/>
          </a:prstGeom>
          <a:solidFill>
            <a:srgbClr val="22D3EE"/>
          </a:solidFill>
          <a:ln w="12700">
            <a:solidFill>
              <a:srgbClr val="22D3EE">
                <a:alpha val="0"/>
              </a:srgbClr>
            </a:solidFill>
            <a:prstDash val="solid"/>
          </a:ln>
        </p:spPr>
      </p:sp>
      <p:sp>
        <p:nvSpPr>
          <p:cNvPr id="15" name="Text 12"/>
          <p:cNvSpPr/>
          <p:nvPr/>
        </p:nvSpPr>
        <p:spPr>
          <a:xfrm>
            <a:off x="4590288" y="3218688"/>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What it does</a:t>
            </a:r>
            <a:endParaRPr lang="en-US" sz="1800" dirty="0"/>
          </a:p>
        </p:txBody>
      </p:sp>
      <p:sp>
        <p:nvSpPr>
          <p:cNvPr id="16" name="Text 13"/>
          <p:cNvSpPr/>
          <p:nvPr/>
        </p:nvSpPr>
        <p:spPr>
          <a:xfrm>
            <a:off x="4590288" y="3657600"/>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The experience switch preserves current context when possible. Notifications surface service or resource events; profile controls identity and sign-out.</a:t>
            </a:r>
            <a:endParaRPr lang="en-US" sz="1150" dirty="0"/>
          </a:p>
        </p:txBody>
      </p:sp>
      <p:sp>
        <p:nvSpPr>
          <p:cNvPr id="17" name="Shape 14"/>
          <p:cNvSpPr/>
          <p:nvPr/>
        </p:nvSpPr>
        <p:spPr>
          <a:xfrm>
            <a:off x="8083296" y="2999232"/>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8" name="Shape 15"/>
          <p:cNvSpPr/>
          <p:nvPr/>
        </p:nvSpPr>
        <p:spPr>
          <a:xfrm>
            <a:off x="8083296" y="2999232"/>
            <a:ext cx="64008" cy="2788920"/>
          </a:xfrm>
          <a:prstGeom prst="rect">
            <a:avLst/>
          </a:prstGeom>
          <a:solidFill>
            <a:srgbClr val="34D399"/>
          </a:solidFill>
          <a:ln w="12700">
            <a:solidFill>
              <a:srgbClr val="34D399">
                <a:alpha val="0"/>
              </a:srgbClr>
            </a:solidFill>
            <a:prstDash val="solid"/>
          </a:ln>
        </p:spPr>
      </p:sp>
      <p:sp>
        <p:nvSpPr>
          <p:cNvPr id="19" name="Text 16"/>
          <p:cNvSpPr/>
          <p:nvPr/>
        </p:nvSpPr>
        <p:spPr>
          <a:xfrm>
            <a:off x="8339328" y="3218688"/>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Business value</a:t>
            </a:r>
            <a:endParaRPr lang="en-US" sz="1800" dirty="0"/>
          </a:p>
        </p:txBody>
      </p:sp>
      <p:sp>
        <p:nvSpPr>
          <p:cNvPr id="20" name="Text 17"/>
          <p:cNvSpPr/>
          <p:nvPr/>
        </p:nvSpPr>
        <p:spPr>
          <a:xfrm>
            <a:off x="8339328" y="3657600"/>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Supports transition from legacy workflows while keeping operators informed and identity-aware. Customers can adopt new capabilities without losing continuity for classic-only scenarios.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E0D12"/>
        </a:solidFill>
        <a:effectLst/>
      </p:bgPr>
    </p:bg>
    <p:spTree>
      <p:nvGrpSpPr>
        <p:cNvPr id="1" name=""/>
        <p:cNvGrpSpPr/>
        <p:nvPr/>
      </p:nvGrpSpPr>
      <p:grpSpPr>
        <a:xfrm>
          <a:off x="0" y="0"/>
          <a:ext cx="0" cy="0"/>
          <a:chOff x="0" y="0"/>
          <a:chExt cx="0" cy="0"/>
        </a:xfrm>
      </p:grpSpPr>
      <p:sp>
        <p:nvSpPr>
          <p:cNvPr id="2" name="Text 0"/>
          <p:cNvSpPr/>
          <p:nvPr/>
        </p:nvSpPr>
        <p:spPr>
          <a:xfrm>
            <a:off x="566928" y="384048"/>
            <a:ext cx="4389120" cy="256032"/>
          </a:xfrm>
          <a:prstGeom prst="rect">
            <a:avLst/>
          </a:prstGeom>
          <a:noFill/>
          <a:ln/>
        </p:spPr>
        <p:txBody>
          <a:bodyPr wrap="square" lIns="0" tIns="0" rIns="0" bIns="0" rtlCol="0" anchor="ctr"/>
          <a:lstStyle/>
          <a:p>
            <a:pPr marL="0" indent="0">
              <a:buNone/>
            </a:pPr>
            <a:r>
              <a:rPr lang="en-US" sz="1100" b="1" kern="0" spc="160" dirty="0">
                <a:solidFill>
                  <a:srgbClr val="22D3EE"/>
                </a:solidFill>
                <a:latin typeface="Aptos" pitchFamily="34" charset="0"/>
                <a:ea typeface="Aptos" pitchFamily="34" charset="-122"/>
                <a:cs typeface="Aptos" pitchFamily="34" charset="-120"/>
              </a:rPr>
              <a:t>TOP-LEVEL NAVIGATION</a:t>
            </a:r>
            <a:endParaRPr lang="en-US" sz="1100" dirty="0"/>
          </a:p>
        </p:txBody>
      </p:sp>
      <p:sp>
        <p:nvSpPr>
          <p:cNvPr id="3" name="Text 1"/>
          <p:cNvSpPr/>
          <p:nvPr/>
        </p:nvSpPr>
        <p:spPr>
          <a:xfrm>
            <a:off x="548640" y="713232"/>
            <a:ext cx="11018520" cy="566928"/>
          </a:xfrm>
          <a:prstGeom prst="rect">
            <a:avLst/>
          </a:prstGeom>
          <a:noFill/>
          <a:ln/>
        </p:spPr>
        <p:txBody>
          <a:bodyPr wrap="square" lIns="0" tIns="0" rIns="0" bIns="0" rtlCol="0" anchor="ctr">
            <a:normAutofit/>
          </a:bodyPr>
          <a:lstStyle/>
          <a:p>
            <a:pPr marL="0" indent="0">
              <a:buNone/>
            </a:pPr>
            <a:r>
              <a:rPr lang="en-US" sz="3000" b="1" dirty="0">
                <a:solidFill>
                  <a:srgbClr val="F7F7FB"/>
                </a:solidFill>
                <a:latin typeface="Aptos Display" pitchFamily="34" charset="0"/>
                <a:ea typeface="Aptos Display" pitchFamily="34" charset="-122"/>
                <a:cs typeface="Aptos Display" pitchFamily="34" charset="-120"/>
              </a:rPr>
              <a:t>Home</a:t>
            </a:r>
            <a:endParaRPr lang="en-US" sz="3000" dirty="0"/>
          </a:p>
        </p:txBody>
      </p:sp>
      <p:sp>
        <p:nvSpPr>
          <p:cNvPr id="4" name="Text 2"/>
          <p:cNvSpPr/>
          <p:nvPr/>
        </p:nvSpPr>
        <p:spPr>
          <a:xfrm>
            <a:off x="502920" y="6528816"/>
            <a:ext cx="10789920" cy="164592"/>
          </a:xfrm>
          <a:prstGeom prst="rect">
            <a:avLst/>
          </a:prstGeom>
          <a:noFill/>
          <a:ln/>
        </p:spPr>
        <p:txBody>
          <a:bodyPr wrap="square" lIns="0" tIns="0" rIns="0" bIns="0" rtlCol="0" anchor="ctr"/>
          <a:lstStyle/>
          <a:p>
            <a:pPr marL="0" indent="0">
              <a:buNone/>
            </a:pPr>
            <a:r>
              <a:rPr lang="en-US" sz="850" dirty="0">
                <a:solidFill>
                  <a:srgbClr val="837E92"/>
                </a:solidFill>
                <a:latin typeface="Aptos" pitchFamily="34" charset="0"/>
                <a:ea typeface="Aptos" pitchFamily="34" charset="-122"/>
                <a:cs typeface="Aptos" pitchFamily="34" charset="-120"/>
              </a:rPr>
              <a:t>Microsoft Foundry | General overview demo</a:t>
            </a:r>
            <a:endParaRPr lang="en-US" sz="850" dirty="0"/>
          </a:p>
        </p:txBody>
      </p:sp>
      <p:sp>
        <p:nvSpPr>
          <p:cNvPr id="5" name="Text 3"/>
          <p:cNvSpPr/>
          <p:nvPr/>
        </p:nvSpPr>
        <p:spPr>
          <a:xfrm>
            <a:off x="11292840" y="6473952"/>
            <a:ext cx="384048" cy="228600"/>
          </a:xfrm>
          <a:prstGeom prst="rect">
            <a:avLst/>
          </a:prstGeom>
          <a:noFill/>
          <a:ln/>
        </p:spPr>
        <p:txBody>
          <a:bodyPr wrap="square" lIns="0" tIns="0" rIns="0" bIns="0" rtlCol="0" anchor="ctr"/>
          <a:lstStyle/>
          <a:p>
            <a:pPr marL="0" indent="0" algn="r">
              <a:buNone/>
            </a:pPr>
            <a:r>
              <a:rPr lang="en-US" sz="900" b="1" dirty="0">
                <a:solidFill>
                  <a:srgbClr val="C4B5FD"/>
                </a:solidFill>
                <a:latin typeface="Aptos" pitchFamily="34" charset="0"/>
                <a:ea typeface="Aptos" pitchFamily="34" charset="-122"/>
                <a:cs typeface="Aptos" pitchFamily="34" charset="-120"/>
              </a:rPr>
              <a:t>07</a:t>
            </a:r>
            <a:endParaRPr lang="en-US" sz="900" dirty="0"/>
          </a:p>
        </p:txBody>
      </p:sp>
      <p:sp>
        <p:nvSpPr>
          <p:cNvPr id="6" name="Shape 4"/>
          <p:cNvSpPr/>
          <p:nvPr/>
        </p:nvSpPr>
        <p:spPr>
          <a:xfrm>
            <a:off x="566928" y="1444752"/>
            <a:ext cx="11045952" cy="2487168"/>
          </a:xfrm>
          <a:prstGeom prst="roundRect">
            <a:avLst>
              <a:gd name="adj" fmla="val 2941"/>
            </a:avLst>
          </a:prstGeom>
          <a:solidFill>
            <a:srgbClr val="111016"/>
          </a:solidFill>
          <a:ln w="12700">
            <a:solidFill>
              <a:srgbClr val="3C3747"/>
            </a:solidFill>
            <a:prstDash val="solid"/>
          </a:ln>
          <a:effectLst>
            <a:outerShdw blurRad="38100" dist="50800" dir="2700000" algn="bl" rotWithShape="0">
              <a:srgbClr val="000000">
                <a:alpha val="24000"/>
              </a:srgbClr>
            </a:outerShdw>
          </a:effectLst>
        </p:spPr>
      </p:sp>
      <p:pic>
        <p:nvPicPr>
          <p:cNvPr id="7" name="Image 0" descr="Microsoft Foundry portal screenshot"/>
          <p:cNvPicPr>
            <a:picLocks noChangeAspect="1"/>
          </p:cNvPicPr>
          <p:nvPr/>
        </p:nvPicPr>
        <p:blipFill>
          <a:blip r:embed="rId3"/>
          <a:stretch>
            <a:fillRect/>
          </a:stretch>
        </p:blipFill>
        <p:spPr>
          <a:xfrm>
            <a:off x="2058924" y="1527048"/>
            <a:ext cx="8061960" cy="2103120"/>
          </a:xfrm>
          <a:prstGeom prst="rect">
            <a:avLst/>
          </a:prstGeom>
        </p:spPr>
      </p:pic>
      <p:sp>
        <p:nvSpPr>
          <p:cNvPr id="8" name="Text 5"/>
          <p:cNvSpPr/>
          <p:nvPr/>
        </p:nvSpPr>
        <p:spPr>
          <a:xfrm>
            <a:off x="713232" y="3685032"/>
            <a:ext cx="10753344" cy="146304"/>
          </a:xfrm>
          <a:prstGeom prst="rect">
            <a:avLst/>
          </a:prstGeom>
          <a:noFill/>
          <a:ln/>
        </p:spPr>
        <p:txBody>
          <a:bodyPr wrap="square" lIns="0" tIns="0" rIns="0" bIns="0" rtlCol="0" anchor="ctr"/>
          <a:lstStyle/>
          <a:p>
            <a:pPr marL="0" indent="0" algn="ctr">
              <a:buNone/>
            </a:pPr>
            <a:r>
              <a:rPr lang="en-US" sz="850" i="1" dirty="0">
                <a:solidFill>
                  <a:srgbClr val="837E92"/>
                </a:solidFill>
              </a:rPr>
              <a:t>The Home launchpad</a:t>
            </a:r>
            <a:endParaRPr lang="en-US" sz="850" dirty="0"/>
          </a:p>
        </p:txBody>
      </p:sp>
      <p:sp>
        <p:nvSpPr>
          <p:cNvPr id="9" name="Shape 6"/>
          <p:cNvSpPr/>
          <p:nvPr/>
        </p:nvSpPr>
        <p:spPr>
          <a:xfrm>
            <a:off x="566928" y="4160520"/>
            <a:ext cx="3529584" cy="1901952"/>
          </a:xfrm>
          <a:prstGeom prst="roundRect">
            <a:avLst>
              <a:gd name="adj" fmla="val 3846"/>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0" name="Shape 7"/>
          <p:cNvSpPr/>
          <p:nvPr/>
        </p:nvSpPr>
        <p:spPr>
          <a:xfrm>
            <a:off x="566928" y="4160520"/>
            <a:ext cx="64008" cy="1901952"/>
          </a:xfrm>
          <a:prstGeom prst="rect">
            <a:avLst/>
          </a:prstGeom>
          <a:solidFill>
            <a:srgbClr val="8B5CF6"/>
          </a:solidFill>
          <a:ln w="12700">
            <a:solidFill>
              <a:srgbClr val="8B5CF6">
                <a:alpha val="0"/>
              </a:srgbClr>
            </a:solidFill>
            <a:prstDash val="solid"/>
          </a:ln>
        </p:spPr>
      </p:sp>
      <p:sp>
        <p:nvSpPr>
          <p:cNvPr id="11" name="Text 8"/>
          <p:cNvSpPr/>
          <p:nvPr/>
        </p:nvSpPr>
        <p:spPr>
          <a:xfrm>
            <a:off x="822960" y="4379976"/>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What it is</a:t>
            </a:r>
            <a:endParaRPr lang="en-US" sz="1800" dirty="0"/>
          </a:p>
        </p:txBody>
      </p:sp>
      <p:sp>
        <p:nvSpPr>
          <p:cNvPr id="12" name="Text 9"/>
          <p:cNvSpPr/>
          <p:nvPr/>
        </p:nvSpPr>
        <p:spPr>
          <a:xfrm>
            <a:off x="822960" y="4818888"/>
            <a:ext cx="3026664" cy="1097280"/>
          </a:xfrm>
          <a:prstGeom prst="rect">
            <a:avLst/>
          </a:prstGeom>
          <a:noFill/>
          <a:ln/>
        </p:spPr>
        <p:txBody>
          <a:bodyPr wrap="square" lIns="0" tIns="0" rIns="0" bIns="0" rtlCol="0" anchor="t">
            <a:normAutofit/>
          </a:bodyPr>
          <a:lstStyle/>
          <a:p>
            <a:pPr marL="0" indent="0">
              <a:buNone/>
            </a:pPr>
            <a:r>
              <a:rPr lang="en-US" sz="1150" dirty="0">
                <a:solidFill>
                  <a:srgbClr val="B8B5C5"/>
                </a:solidFill>
              </a:rPr>
              <a:t>The project launchpad for the most common model and agent actions.</a:t>
            </a:r>
            <a:endParaRPr lang="en-US" sz="1150" dirty="0"/>
          </a:p>
        </p:txBody>
      </p:sp>
      <p:sp>
        <p:nvSpPr>
          <p:cNvPr id="13" name="Shape 10"/>
          <p:cNvSpPr/>
          <p:nvPr/>
        </p:nvSpPr>
        <p:spPr>
          <a:xfrm>
            <a:off x="4334256" y="4160520"/>
            <a:ext cx="3529584" cy="1901952"/>
          </a:xfrm>
          <a:prstGeom prst="roundRect">
            <a:avLst>
              <a:gd name="adj" fmla="val 3846"/>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4" name="Shape 11"/>
          <p:cNvSpPr/>
          <p:nvPr/>
        </p:nvSpPr>
        <p:spPr>
          <a:xfrm>
            <a:off x="4334256" y="4160520"/>
            <a:ext cx="64008" cy="1901952"/>
          </a:xfrm>
          <a:prstGeom prst="rect">
            <a:avLst/>
          </a:prstGeom>
          <a:solidFill>
            <a:srgbClr val="22D3EE"/>
          </a:solidFill>
          <a:ln w="12700">
            <a:solidFill>
              <a:srgbClr val="22D3EE">
                <a:alpha val="0"/>
              </a:srgbClr>
            </a:solidFill>
            <a:prstDash val="solid"/>
          </a:ln>
        </p:spPr>
      </p:sp>
      <p:sp>
        <p:nvSpPr>
          <p:cNvPr id="15" name="Text 12"/>
          <p:cNvSpPr/>
          <p:nvPr/>
        </p:nvSpPr>
        <p:spPr>
          <a:xfrm>
            <a:off x="4590288" y="4379976"/>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What it does</a:t>
            </a:r>
            <a:endParaRPr lang="en-US" sz="1800" dirty="0"/>
          </a:p>
        </p:txBody>
      </p:sp>
      <p:sp>
        <p:nvSpPr>
          <p:cNvPr id="16" name="Text 13"/>
          <p:cNvSpPr/>
          <p:nvPr/>
        </p:nvSpPr>
        <p:spPr>
          <a:xfrm>
            <a:off x="4590288" y="4818888"/>
            <a:ext cx="3026664" cy="1097280"/>
          </a:xfrm>
          <a:prstGeom prst="rect">
            <a:avLst/>
          </a:prstGeom>
          <a:noFill/>
          <a:ln/>
        </p:spPr>
        <p:txBody>
          <a:bodyPr wrap="square" lIns="0" tIns="0" rIns="0" bIns="0" rtlCol="0" anchor="t">
            <a:normAutofit/>
          </a:bodyPr>
          <a:lstStyle/>
          <a:p>
            <a:pPr marL="0" indent="0">
              <a:buNone/>
            </a:pPr>
            <a:r>
              <a:rPr lang="en-US" sz="1150" dirty="0">
                <a:solidFill>
                  <a:srgbClr val="B8B5C5"/>
                </a:solidFill>
              </a:rPr>
              <a:t>Provides direct starts for deployments, no-code agent creation, code-first agent development, endpoint access, model exploration, and recent assets.</a:t>
            </a:r>
            <a:endParaRPr lang="en-US" sz="1150" dirty="0"/>
          </a:p>
        </p:txBody>
      </p:sp>
      <p:sp>
        <p:nvSpPr>
          <p:cNvPr id="17" name="Shape 14"/>
          <p:cNvSpPr/>
          <p:nvPr/>
        </p:nvSpPr>
        <p:spPr>
          <a:xfrm>
            <a:off x="8083296" y="4160520"/>
            <a:ext cx="3529584" cy="1901952"/>
          </a:xfrm>
          <a:prstGeom prst="roundRect">
            <a:avLst>
              <a:gd name="adj" fmla="val 3846"/>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8" name="Shape 15"/>
          <p:cNvSpPr/>
          <p:nvPr/>
        </p:nvSpPr>
        <p:spPr>
          <a:xfrm>
            <a:off x="8083296" y="4160520"/>
            <a:ext cx="64008" cy="1901952"/>
          </a:xfrm>
          <a:prstGeom prst="rect">
            <a:avLst/>
          </a:prstGeom>
          <a:solidFill>
            <a:srgbClr val="34D399"/>
          </a:solidFill>
          <a:ln w="12700">
            <a:solidFill>
              <a:srgbClr val="34D399">
                <a:alpha val="0"/>
              </a:srgbClr>
            </a:solidFill>
            <a:prstDash val="solid"/>
          </a:ln>
        </p:spPr>
      </p:sp>
      <p:sp>
        <p:nvSpPr>
          <p:cNvPr id="19" name="Text 16"/>
          <p:cNvSpPr/>
          <p:nvPr/>
        </p:nvSpPr>
        <p:spPr>
          <a:xfrm>
            <a:off x="8339328" y="4379976"/>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Business value</a:t>
            </a:r>
            <a:endParaRPr lang="en-US" sz="1800" dirty="0"/>
          </a:p>
        </p:txBody>
      </p:sp>
      <p:sp>
        <p:nvSpPr>
          <p:cNvPr id="20" name="Text 17"/>
          <p:cNvSpPr/>
          <p:nvPr/>
        </p:nvSpPr>
        <p:spPr>
          <a:xfrm>
            <a:off x="8339328" y="4818888"/>
            <a:ext cx="3026664" cy="1097280"/>
          </a:xfrm>
          <a:prstGeom prst="rect">
            <a:avLst/>
          </a:prstGeom>
          <a:noFill/>
          <a:ln/>
        </p:spPr>
        <p:txBody>
          <a:bodyPr wrap="square" lIns="0" tIns="0" rIns="0" bIns="0" rtlCol="0" anchor="t">
            <a:normAutofit/>
          </a:bodyPr>
          <a:lstStyle/>
          <a:p>
            <a:pPr marL="0" indent="0">
              <a:buNone/>
            </a:pPr>
            <a:r>
              <a:rPr lang="en-US" sz="1150" dirty="0">
                <a:solidFill>
                  <a:srgbClr val="B8B5C5"/>
                </a:solidFill>
              </a:rPr>
              <a:t>Shortens onboarding and keeps users focused on outcomes rather than portal structure. Different personas can choose a no-code, code-first, or model-only path.</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0E0D12"/>
        </a:solidFill>
        <a:effectLst/>
      </p:bgPr>
    </p:bg>
    <p:spTree>
      <p:nvGrpSpPr>
        <p:cNvPr id="1" name=""/>
        <p:cNvGrpSpPr/>
        <p:nvPr/>
      </p:nvGrpSpPr>
      <p:grpSpPr>
        <a:xfrm>
          <a:off x="0" y="0"/>
          <a:ext cx="0" cy="0"/>
          <a:chOff x="0" y="0"/>
          <a:chExt cx="0" cy="0"/>
        </a:xfrm>
      </p:grpSpPr>
      <p:sp>
        <p:nvSpPr>
          <p:cNvPr id="2" name="Text 0"/>
          <p:cNvSpPr/>
          <p:nvPr/>
        </p:nvSpPr>
        <p:spPr>
          <a:xfrm>
            <a:off x="566928" y="384048"/>
            <a:ext cx="4389120" cy="256032"/>
          </a:xfrm>
          <a:prstGeom prst="rect">
            <a:avLst/>
          </a:prstGeom>
          <a:noFill/>
          <a:ln/>
        </p:spPr>
        <p:txBody>
          <a:bodyPr wrap="square" lIns="0" tIns="0" rIns="0" bIns="0" rtlCol="0" anchor="ctr"/>
          <a:lstStyle/>
          <a:p>
            <a:pPr marL="0" indent="0">
              <a:buNone/>
            </a:pPr>
            <a:r>
              <a:rPr lang="en-US" sz="1100" b="1" kern="0" spc="160" dirty="0">
                <a:solidFill>
                  <a:srgbClr val="22D3EE"/>
                </a:solidFill>
                <a:latin typeface="Aptos" pitchFamily="34" charset="0"/>
                <a:ea typeface="Aptos" pitchFamily="34" charset="-122"/>
                <a:cs typeface="Aptos" pitchFamily="34" charset="-120"/>
              </a:rPr>
              <a:t>HOME COMPONENT</a:t>
            </a:r>
            <a:endParaRPr lang="en-US" sz="1100" dirty="0"/>
          </a:p>
        </p:txBody>
      </p:sp>
      <p:sp>
        <p:nvSpPr>
          <p:cNvPr id="3" name="Text 1"/>
          <p:cNvSpPr/>
          <p:nvPr/>
        </p:nvSpPr>
        <p:spPr>
          <a:xfrm>
            <a:off x="548640" y="713232"/>
            <a:ext cx="11018520" cy="566928"/>
          </a:xfrm>
          <a:prstGeom prst="rect">
            <a:avLst/>
          </a:prstGeom>
          <a:noFill/>
          <a:ln/>
        </p:spPr>
        <p:txBody>
          <a:bodyPr wrap="square" lIns="0" tIns="0" rIns="0" bIns="0" rtlCol="0" anchor="ctr">
            <a:normAutofit/>
          </a:bodyPr>
          <a:lstStyle/>
          <a:p>
            <a:pPr marL="0" indent="0">
              <a:buNone/>
            </a:pPr>
            <a:r>
              <a:rPr lang="en-US" sz="3000" b="1" dirty="0">
                <a:solidFill>
                  <a:srgbClr val="F7F7FB"/>
                </a:solidFill>
                <a:latin typeface="Aptos Display" pitchFamily="34" charset="0"/>
                <a:ea typeface="Aptos Display" pitchFamily="34" charset="-122"/>
                <a:cs typeface="Aptos Display" pitchFamily="34" charset="-120"/>
              </a:rPr>
              <a:t>Use a model</a:t>
            </a:r>
            <a:endParaRPr lang="en-US" sz="3000" dirty="0"/>
          </a:p>
        </p:txBody>
      </p:sp>
      <p:sp>
        <p:nvSpPr>
          <p:cNvPr id="4" name="Text 2"/>
          <p:cNvSpPr/>
          <p:nvPr/>
        </p:nvSpPr>
        <p:spPr>
          <a:xfrm>
            <a:off x="502920" y="6528816"/>
            <a:ext cx="10789920" cy="164592"/>
          </a:xfrm>
          <a:prstGeom prst="rect">
            <a:avLst/>
          </a:prstGeom>
          <a:noFill/>
          <a:ln/>
        </p:spPr>
        <p:txBody>
          <a:bodyPr wrap="square" lIns="0" tIns="0" rIns="0" bIns="0" rtlCol="0" anchor="ctr"/>
          <a:lstStyle/>
          <a:p>
            <a:pPr marL="0" indent="0">
              <a:buNone/>
            </a:pPr>
            <a:r>
              <a:rPr lang="en-US" sz="850" dirty="0">
                <a:solidFill>
                  <a:srgbClr val="837E92"/>
                </a:solidFill>
                <a:latin typeface="Aptos" pitchFamily="34" charset="0"/>
                <a:ea typeface="Aptos" pitchFamily="34" charset="-122"/>
                <a:cs typeface="Aptos" pitchFamily="34" charset="-120"/>
              </a:rPr>
              <a:t>Microsoft Foundry | General overview demo</a:t>
            </a:r>
            <a:endParaRPr lang="en-US" sz="850" dirty="0"/>
          </a:p>
        </p:txBody>
      </p:sp>
      <p:sp>
        <p:nvSpPr>
          <p:cNvPr id="5" name="Text 3"/>
          <p:cNvSpPr/>
          <p:nvPr/>
        </p:nvSpPr>
        <p:spPr>
          <a:xfrm>
            <a:off x="11292840" y="6473952"/>
            <a:ext cx="384048" cy="228600"/>
          </a:xfrm>
          <a:prstGeom prst="rect">
            <a:avLst/>
          </a:prstGeom>
          <a:noFill/>
          <a:ln/>
        </p:spPr>
        <p:txBody>
          <a:bodyPr wrap="square" lIns="0" tIns="0" rIns="0" bIns="0" rtlCol="0" anchor="ctr"/>
          <a:lstStyle/>
          <a:p>
            <a:pPr marL="0" indent="0" algn="r">
              <a:buNone/>
            </a:pPr>
            <a:r>
              <a:rPr lang="en-US" sz="900" b="1" dirty="0">
                <a:solidFill>
                  <a:srgbClr val="C4B5FD"/>
                </a:solidFill>
                <a:latin typeface="Aptos" pitchFamily="34" charset="0"/>
                <a:ea typeface="Aptos" pitchFamily="34" charset="-122"/>
                <a:cs typeface="Aptos" pitchFamily="34" charset="-120"/>
              </a:rPr>
              <a:t>08</a:t>
            </a:r>
            <a:endParaRPr lang="en-US" sz="900" dirty="0"/>
          </a:p>
        </p:txBody>
      </p:sp>
      <p:sp>
        <p:nvSpPr>
          <p:cNvPr id="6" name="Shape 4"/>
          <p:cNvSpPr/>
          <p:nvPr/>
        </p:nvSpPr>
        <p:spPr>
          <a:xfrm>
            <a:off x="566928" y="1481328"/>
            <a:ext cx="5669280" cy="4498848"/>
          </a:xfrm>
          <a:prstGeom prst="roundRect">
            <a:avLst>
              <a:gd name="adj" fmla="val 1626"/>
            </a:avLst>
          </a:prstGeom>
          <a:solidFill>
            <a:srgbClr val="111016"/>
          </a:solidFill>
          <a:ln w="12700">
            <a:solidFill>
              <a:srgbClr val="3C3747"/>
            </a:solidFill>
            <a:prstDash val="solid"/>
          </a:ln>
          <a:effectLst>
            <a:outerShdw blurRad="38100" dist="50800" dir="2700000" algn="bl" rotWithShape="0">
              <a:srgbClr val="000000">
                <a:alpha val="24000"/>
              </a:srgbClr>
            </a:outerShdw>
          </a:effectLst>
        </p:spPr>
      </p:sp>
      <p:pic>
        <p:nvPicPr>
          <p:cNvPr id="7" name="Image 0" descr="Microsoft Foundry portal screenshot"/>
          <p:cNvPicPr>
            <a:picLocks noChangeAspect="1"/>
          </p:cNvPicPr>
          <p:nvPr/>
        </p:nvPicPr>
        <p:blipFill>
          <a:blip r:embed="rId3"/>
          <a:stretch>
            <a:fillRect/>
          </a:stretch>
        </p:blipFill>
        <p:spPr>
          <a:xfrm>
            <a:off x="649224" y="2400226"/>
            <a:ext cx="5504688" cy="2441595"/>
          </a:xfrm>
          <a:prstGeom prst="rect">
            <a:avLst/>
          </a:prstGeom>
        </p:spPr>
      </p:pic>
      <p:sp>
        <p:nvSpPr>
          <p:cNvPr id="8" name="Text 5"/>
          <p:cNvSpPr/>
          <p:nvPr/>
        </p:nvSpPr>
        <p:spPr>
          <a:xfrm>
            <a:off x="713232" y="5733288"/>
            <a:ext cx="5376672" cy="146304"/>
          </a:xfrm>
          <a:prstGeom prst="rect">
            <a:avLst/>
          </a:prstGeom>
          <a:noFill/>
          <a:ln/>
        </p:spPr>
        <p:txBody>
          <a:bodyPr wrap="square" lIns="0" tIns="0" rIns="0" bIns="0" rtlCol="0" anchor="ctr"/>
          <a:lstStyle/>
          <a:p>
            <a:pPr marL="0" indent="0" algn="ctr">
              <a:buNone/>
            </a:pPr>
            <a:r>
              <a:rPr lang="en-US" sz="850" i="1" dirty="0">
                <a:solidFill>
                  <a:srgbClr val="837E92"/>
                </a:solidFill>
              </a:rPr>
              <a:t>Use a model and View deployments</a:t>
            </a:r>
            <a:endParaRPr lang="en-US" sz="850" dirty="0"/>
          </a:p>
        </p:txBody>
      </p:sp>
      <p:sp>
        <p:nvSpPr>
          <p:cNvPr id="9" name="Shape 6"/>
          <p:cNvSpPr/>
          <p:nvPr/>
        </p:nvSpPr>
        <p:spPr>
          <a:xfrm>
            <a:off x="6510528" y="1481328"/>
            <a:ext cx="5102352" cy="1298448"/>
          </a:xfrm>
          <a:prstGeom prst="roundRect">
            <a:avLst>
              <a:gd name="adj" fmla="val 5634"/>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0" name="Shape 7"/>
          <p:cNvSpPr/>
          <p:nvPr/>
        </p:nvSpPr>
        <p:spPr>
          <a:xfrm>
            <a:off x="6510528" y="1481328"/>
            <a:ext cx="64008" cy="1298448"/>
          </a:xfrm>
          <a:prstGeom prst="rect">
            <a:avLst/>
          </a:prstGeom>
          <a:solidFill>
            <a:srgbClr val="8B5CF6"/>
          </a:solidFill>
          <a:ln w="12700">
            <a:solidFill>
              <a:srgbClr val="8B5CF6">
                <a:alpha val="0"/>
              </a:srgbClr>
            </a:solidFill>
            <a:prstDash val="solid"/>
          </a:ln>
        </p:spPr>
      </p:sp>
      <p:sp>
        <p:nvSpPr>
          <p:cNvPr id="11" name="Text 8"/>
          <p:cNvSpPr/>
          <p:nvPr/>
        </p:nvSpPr>
        <p:spPr>
          <a:xfrm>
            <a:off x="6766560" y="1700784"/>
            <a:ext cx="4599432"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What it is</a:t>
            </a:r>
            <a:endParaRPr lang="en-US" sz="1800" dirty="0"/>
          </a:p>
        </p:txBody>
      </p:sp>
      <p:sp>
        <p:nvSpPr>
          <p:cNvPr id="12" name="Text 9"/>
          <p:cNvSpPr/>
          <p:nvPr/>
        </p:nvSpPr>
        <p:spPr>
          <a:xfrm>
            <a:off x="6766560" y="2139696"/>
            <a:ext cx="4599432" cy="493776"/>
          </a:xfrm>
          <a:prstGeom prst="rect">
            <a:avLst/>
          </a:prstGeom>
          <a:noFill/>
          <a:ln/>
        </p:spPr>
        <p:txBody>
          <a:bodyPr wrap="square" lIns="0" tIns="0" rIns="0" bIns="0" rtlCol="0" anchor="t">
            <a:normAutofit/>
          </a:bodyPr>
          <a:lstStyle/>
          <a:p>
            <a:pPr marL="0" indent="0">
              <a:buNone/>
            </a:pPr>
            <a:r>
              <a:rPr lang="en-US" sz="1150" dirty="0">
                <a:solidFill>
                  <a:srgbClr val="B8B5C5"/>
                </a:solidFill>
              </a:rPr>
              <a:t>A direct path to existing model deployments and new model deployment.</a:t>
            </a:r>
            <a:endParaRPr lang="en-US" sz="1150" dirty="0"/>
          </a:p>
        </p:txBody>
      </p:sp>
      <p:sp>
        <p:nvSpPr>
          <p:cNvPr id="13" name="Shape 10"/>
          <p:cNvSpPr/>
          <p:nvPr/>
        </p:nvSpPr>
        <p:spPr>
          <a:xfrm>
            <a:off x="6510528" y="2962656"/>
            <a:ext cx="5102352" cy="1389888"/>
          </a:xfrm>
          <a:prstGeom prst="roundRect">
            <a:avLst>
              <a:gd name="adj" fmla="val 526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4" name="Shape 11"/>
          <p:cNvSpPr/>
          <p:nvPr/>
        </p:nvSpPr>
        <p:spPr>
          <a:xfrm>
            <a:off x="6510528" y="2962656"/>
            <a:ext cx="64008" cy="1389888"/>
          </a:xfrm>
          <a:prstGeom prst="rect">
            <a:avLst/>
          </a:prstGeom>
          <a:solidFill>
            <a:srgbClr val="22D3EE"/>
          </a:solidFill>
          <a:ln w="12700">
            <a:solidFill>
              <a:srgbClr val="22D3EE">
                <a:alpha val="0"/>
              </a:srgbClr>
            </a:solidFill>
            <a:prstDash val="solid"/>
          </a:ln>
        </p:spPr>
      </p:sp>
      <p:sp>
        <p:nvSpPr>
          <p:cNvPr id="15" name="Text 12"/>
          <p:cNvSpPr/>
          <p:nvPr/>
        </p:nvSpPr>
        <p:spPr>
          <a:xfrm>
            <a:off x="6766560" y="3182112"/>
            <a:ext cx="4599432"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What it does</a:t>
            </a:r>
            <a:endParaRPr lang="en-US" sz="1800" dirty="0"/>
          </a:p>
        </p:txBody>
      </p:sp>
      <p:sp>
        <p:nvSpPr>
          <p:cNvPr id="16" name="Text 13"/>
          <p:cNvSpPr/>
          <p:nvPr/>
        </p:nvSpPr>
        <p:spPr>
          <a:xfrm>
            <a:off x="6766560" y="3621024"/>
            <a:ext cx="4599432" cy="585216"/>
          </a:xfrm>
          <a:prstGeom prst="rect">
            <a:avLst/>
          </a:prstGeom>
          <a:noFill/>
          <a:ln/>
        </p:spPr>
        <p:txBody>
          <a:bodyPr wrap="square" lIns="0" tIns="0" rIns="0" bIns="0" rtlCol="0" anchor="t">
            <a:normAutofit/>
          </a:bodyPr>
          <a:lstStyle/>
          <a:p>
            <a:pPr marL="0" indent="0">
              <a:buNone/>
            </a:pPr>
            <a:r>
              <a:rPr lang="en-US" sz="1150" dirty="0">
                <a:solidFill>
                  <a:srgbClr val="B8B5C5"/>
                </a:solidFill>
              </a:rPr>
              <a:t>View deployments, open endpoint details, test deployed models, or begin selecting and deploying a new model.</a:t>
            </a:r>
            <a:endParaRPr lang="en-US" sz="1150" dirty="0"/>
          </a:p>
        </p:txBody>
      </p:sp>
      <p:sp>
        <p:nvSpPr>
          <p:cNvPr id="17" name="Shape 14"/>
          <p:cNvSpPr/>
          <p:nvPr/>
        </p:nvSpPr>
        <p:spPr>
          <a:xfrm>
            <a:off x="6510528" y="4535424"/>
            <a:ext cx="5102352" cy="1444752"/>
          </a:xfrm>
          <a:prstGeom prst="roundRect">
            <a:avLst>
              <a:gd name="adj" fmla="val 506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8" name="Shape 15"/>
          <p:cNvSpPr/>
          <p:nvPr/>
        </p:nvSpPr>
        <p:spPr>
          <a:xfrm>
            <a:off x="6510528" y="4535424"/>
            <a:ext cx="64008" cy="1444752"/>
          </a:xfrm>
          <a:prstGeom prst="rect">
            <a:avLst/>
          </a:prstGeom>
          <a:solidFill>
            <a:srgbClr val="34D399"/>
          </a:solidFill>
          <a:ln w="12700">
            <a:solidFill>
              <a:srgbClr val="34D399">
                <a:alpha val="0"/>
              </a:srgbClr>
            </a:solidFill>
            <a:prstDash val="solid"/>
          </a:ln>
        </p:spPr>
      </p:sp>
      <p:sp>
        <p:nvSpPr>
          <p:cNvPr id="19" name="Text 16"/>
          <p:cNvSpPr/>
          <p:nvPr/>
        </p:nvSpPr>
        <p:spPr>
          <a:xfrm>
            <a:off x="6766560" y="4754880"/>
            <a:ext cx="4599432"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Business value</a:t>
            </a:r>
            <a:endParaRPr lang="en-US" sz="1800" dirty="0"/>
          </a:p>
        </p:txBody>
      </p:sp>
      <p:sp>
        <p:nvSpPr>
          <p:cNvPr id="20" name="Text 17"/>
          <p:cNvSpPr/>
          <p:nvPr/>
        </p:nvSpPr>
        <p:spPr>
          <a:xfrm>
            <a:off x="6766560" y="5193792"/>
            <a:ext cx="4599432" cy="640080"/>
          </a:xfrm>
          <a:prstGeom prst="rect">
            <a:avLst/>
          </a:prstGeom>
          <a:noFill/>
          <a:ln/>
        </p:spPr>
        <p:txBody>
          <a:bodyPr wrap="square" lIns="0" tIns="0" rIns="0" bIns="0" rtlCol="0" anchor="t">
            <a:normAutofit/>
          </a:bodyPr>
          <a:lstStyle/>
          <a:p>
            <a:pPr marL="0" indent="0">
              <a:buNone/>
            </a:pPr>
            <a:r>
              <a:rPr lang="en-US" sz="1150" dirty="0">
                <a:solidFill>
                  <a:srgbClr val="B8B5C5"/>
                </a:solidFill>
              </a:rPr>
              <a:t>Lets application teams consume AI without building an agent when a direct inference call is sufficient. This avoids unnecessary orchestration and accelerates simple scenarios.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0E0D12"/>
        </a:solidFill>
        <a:effectLst/>
      </p:bgPr>
    </p:bg>
    <p:spTree>
      <p:nvGrpSpPr>
        <p:cNvPr id="1" name=""/>
        <p:cNvGrpSpPr/>
        <p:nvPr/>
      </p:nvGrpSpPr>
      <p:grpSpPr>
        <a:xfrm>
          <a:off x="0" y="0"/>
          <a:ext cx="0" cy="0"/>
          <a:chOff x="0" y="0"/>
          <a:chExt cx="0" cy="0"/>
        </a:xfrm>
      </p:grpSpPr>
      <p:sp>
        <p:nvSpPr>
          <p:cNvPr id="2" name="Text 0"/>
          <p:cNvSpPr/>
          <p:nvPr/>
        </p:nvSpPr>
        <p:spPr>
          <a:xfrm>
            <a:off x="566928" y="384048"/>
            <a:ext cx="4389120" cy="256032"/>
          </a:xfrm>
          <a:prstGeom prst="rect">
            <a:avLst/>
          </a:prstGeom>
          <a:noFill/>
          <a:ln/>
        </p:spPr>
        <p:txBody>
          <a:bodyPr wrap="square" lIns="0" tIns="0" rIns="0" bIns="0" rtlCol="0" anchor="ctr"/>
          <a:lstStyle/>
          <a:p>
            <a:pPr marL="0" indent="0">
              <a:buNone/>
            </a:pPr>
            <a:r>
              <a:rPr lang="en-US" sz="1100" b="1" kern="0" spc="160" dirty="0">
                <a:solidFill>
                  <a:srgbClr val="22D3EE"/>
                </a:solidFill>
                <a:latin typeface="Aptos" pitchFamily="34" charset="0"/>
                <a:ea typeface="Aptos" pitchFamily="34" charset="-122"/>
                <a:cs typeface="Aptos" pitchFamily="34" charset="-120"/>
              </a:rPr>
              <a:t>HOME COMPONENT</a:t>
            </a:r>
            <a:endParaRPr lang="en-US" sz="1100" dirty="0"/>
          </a:p>
        </p:txBody>
      </p:sp>
      <p:sp>
        <p:nvSpPr>
          <p:cNvPr id="3" name="Text 1"/>
          <p:cNvSpPr/>
          <p:nvPr/>
        </p:nvSpPr>
        <p:spPr>
          <a:xfrm>
            <a:off x="548640" y="713232"/>
            <a:ext cx="11018520" cy="566928"/>
          </a:xfrm>
          <a:prstGeom prst="rect">
            <a:avLst/>
          </a:prstGeom>
          <a:noFill/>
          <a:ln/>
        </p:spPr>
        <p:txBody>
          <a:bodyPr wrap="square" lIns="0" tIns="0" rIns="0" bIns="0" rtlCol="0" anchor="ctr">
            <a:normAutofit/>
          </a:bodyPr>
          <a:lstStyle/>
          <a:p>
            <a:pPr marL="0" indent="0">
              <a:buNone/>
            </a:pPr>
            <a:r>
              <a:rPr lang="en-US" sz="3000" b="1" dirty="0">
                <a:solidFill>
                  <a:srgbClr val="F7F7FB"/>
                </a:solidFill>
                <a:latin typeface="Aptos Display" pitchFamily="34" charset="0"/>
                <a:ea typeface="Aptos Display" pitchFamily="34" charset="-122"/>
                <a:cs typeface="Aptos Display" pitchFamily="34" charset="-120"/>
              </a:rPr>
              <a:t>Build an agent</a:t>
            </a:r>
            <a:endParaRPr lang="en-US" sz="3000" dirty="0"/>
          </a:p>
        </p:txBody>
      </p:sp>
      <p:sp>
        <p:nvSpPr>
          <p:cNvPr id="4" name="Text 2"/>
          <p:cNvSpPr/>
          <p:nvPr/>
        </p:nvSpPr>
        <p:spPr>
          <a:xfrm>
            <a:off x="502920" y="6528816"/>
            <a:ext cx="10789920" cy="164592"/>
          </a:xfrm>
          <a:prstGeom prst="rect">
            <a:avLst/>
          </a:prstGeom>
          <a:noFill/>
          <a:ln/>
        </p:spPr>
        <p:txBody>
          <a:bodyPr wrap="square" lIns="0" tIns="0" rIns="0" bIns="0" rtlCol="0" anchor="ctr"/>
          <a:lstStyle/>
          <a:p>
            <a:pPr marL="0" indent="0">
              <a:buNone/>
            </a:pPr>
            <a:r>
              <a:rPr lang="en-US" sz="850" dirty="0">
                <a:solidFill>
                  <a:srgbClr val="837E92"/>
                </a:solidFill>
                <a:latin typeface="Aptos" pitchFamily="34" charset="0"/>
                <a:ea typeface="Aptos" pitchFamily="34" charset="-122"/>
                <a:cs typeface="Aptos" pitchFamily="34" charset="-120"/>
              </a:rPr>
              <a:t>Microsoft Foundry | General overview demo</a:t>
            </a:r>
            <a:endParaRPr lang="en-US" sz="850" dirty="0"/>
          </a:p>
        </p:txBody>
      </p:sp>
      <p:sp>
        <p:nvSpPr>
          <p:cNvPr id="5" name="Text 3"/>
          <p:cNvSpPr/>
          <p:nvPr/>
        </p:nvSpPr>
        <p:spPr>
          <a:xfrm>
            <a:off x="11292840" y="6473952"/>
            <a:ext cx="384048" cy="228600"/>
          </a:xfrm>
          <a:prstGeom prst="rect">
            <a:avLst/>
          </a:prstGeom>
          <a:noFill/>
          <a:ln/>
        </p:spPr>
        <p:txBody>
          <a:bodyPr wrap="square" lIns="0" tIns="0" rIns="0" bIns="0" rtlCol="0" anchor="ctr"/>
          <a:lstStyle/>
          <a:p>
            <a:pPr marL="0" indent="0" algn="r">
              <a:buNone/>
            </a:pPr>
            <a:r>
              <a:rPr lang="en-US" sz="900" b="1" dirty="0">
                <a:solidFill>
                  <a:srgbClr val="C4B5FD"/>
                </a:solidFill>
                <a:latin typeface="Aptos" pitchFamily="34" charset="0"/>
                <a:ea typeface="Aptos" pitchFamily="34" charset="-122"/>
                <a:cs typeface="Aptos" pitchFamily="34" charset="-120"/>
              </a:rPr>
              <a:t>09</a:t>
            </a:r>
            <a:endParaRPr lang="en-US" sz="900" dirty="0"/>
          </a:p>
        </p:txBody>
      </p:sp>
      <p:sp>
        <p:nvSpPr>
          <p:cNvPr id="6" name="Shape 4"/>
          <p:cNvSpPr/>
          <p:nvPr/>
        </p:nvSpPr>
        <p:spPr>
          <a:xfrm>
            <a:off x="566928" y="4608576"/>
            <a:ext cx="11045952" cy="1353312"/>
          </a:xfrm>
          <a:prstGeom prst="roundRect">
            <a:avLst>
              <a:gd name="adj" fmla="val 5405"/>
            </a:avLst>
          </a:prstGeom>
          <a:solidFill>
            <a:srgbClr val="111016"/>
          </a:solidFill>
          <a:ln w="12700">
            <a:solidFill>
              <a:srgbClr val="3C3747"/>
            </a:solidFill>
            <a:prstDash val="solid"/>
          </a:ln>
          <a:effectLst>
            <a:outerShdw blurRad="38100" dist="50800" dir="2700000" algn="bl" rotWithShape="0">
              <a:srgbClr val="000000">
                <a:alpha val="24000"/>
              </a:srgbClr>
            </a:outerShdw>
          </a:effectLst>
        </p:spPr>
      </p:sp>
      <p:pic>
        <p:nvPicPr>
          <p:cNvPr id="7" name="Image 0" descr="Microsoft Foundry portal screenshot"/>
          <p:cNvPicPr>
            <a:picLocks noChangeAspect="1"/>
          </p:cNvPicPr>
          <p:nvPr/>
        </p:nvPicPr>
        <p:blipFill>
          <a:blip r:embed="rId3"/>
          <a:stretch>
            <a:fillRect/>
          </a:stretch>
        </p:blipFill>
        <p:spPr>
          <a:xfrm>
            <a:off x="3895013" y="4690872"/>
            <a:ext cx="4389783" cy="969264"/>
          </a:xfrm>
          <a:prstGeom prst="rect">
            <a:avLst/>
          </a:prstGeom>
        </p:spPr>
      </p:pic>
      <p:sp>
        <p:nvSpPr>
          <p:cNvPr id="8" name="Text 5"/>
          <p:cNvSpPr/>
          <p:nvPr/>
        </p:nvSpPr>
        <p:spPr>
          <a:xfrm>
            <a:off x="713232" y="5715000"/>
            <a:ext cx="10753344" cy="146304"/>
          </a:xfrm>
          <a:prstGeom prst="rect">
            <a:avLst/>
          </a:prstGeom>
          <a:noFill/>
          <a:ln/>
        </p:spPr>
        <p:txBody>
          <a:bodyPr wrap="square" lIns="0" tIns="0" rIns="0" bIns="0" rtlCol="0" anchor="ctr"/>
          <a:lstStyle/>
          <a:p>
            <a:pPr marL="0" indent="0" algn="ctr">
              <a:buNone/>
            </a:pPr>
            <a:r>
              <a:rPr lang="en-US" sz="850" i="1" dirty="0">
                <a:solidFill>
                  <a:srgbClr val="837E92"/>
                </a:solidFill>
              </a:rPr>
              <a:t>No-code / low-code agent entry point</a:t>
            </a:r>
            <a:endParaRPr lang="en-US" sz="850" dirty="0"/>
          </a:p>
        </p:txBody>
      </p:sp>
      <p:sp>
        <p:nvSpPr>
          <p:cNvPr id="9" name="Shape 6"/>
          <p:cNvSpPr/>
          <p:nvPr/>
        </p:nvSpPr>
        <p:spPr>
          <a:xfrm>
            <a:off x="566928" y="1481328"/>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0" name="Shape 7"/>
          <p:cNvSpPr/>
          <p:nvPr/>
        </p:nvSpPr>
        <p:spPr>
          <a:xfrm>
            <a:off x="566928" y="1481328"/>
            <a:ext cx="64008" cy="2788920"/>
          </a:xfrm>
          <a:prstGeom prst="rect">
            <a:avLst/>
          </a:prstGeom>
          <a:solidFill>
            <a:srgbClr val="8B5CF6"/>
          </a:solidFill>
          <a:ln w="12700">
            <a:solidFill>
              <a:srgbClr val="8B5CF6">
                <a:alpha val="0"/>
              </a:srgbClr>
            </a:solidFill>
            <a:prstDash val="solid"/>
          </a:ln>
        </p:spPr>
      </p:sp>
      <p:sp>
        <p:nvSpPr>
          <p:cNvPr id="11" name="Text 8"/>
          <p:cNvSpPr/>
          <p:nvPr/>
        </p:nvSpPr>
        <p:spPr>
          <a:xfrm>
            <a:off x="822960" y="1700784"/>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What it is</a:t>
            </a:r>
            <a:endParaRPr lang="en-US" sz="1800" dirty="0"/>
          </a:p>
        </p:txBody>
      </p:sp>
      <p:sp>
        <p:nvSpPr>
          <p:cNvPr id="12" name="Text 9"/>
          <p:cNvSpPr/>
          <p:nvPr/>
        </p:nvSpPr>
        <p:spPr>
          <a:xfrm>
            <a:off x="822960" y="2139696"/>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A portal-first path to create a prompt agent by configuring instructions, a model, tools, and knowledge.</a:t>
            </a:r>
            <a:endParaRPr lang="en-US" sz="1150" dirty="0"/>
          </a:p>
        </p:txBody>
      </p:sp>
      <p:sp>
        <p:nvSpPr>
          <p:cNvPr id="13" name="Shape 10"/>
          <p:cNvSpPr/>
          <p:nvPr/>
        </p:nvSpPr>
        <p:spPr>
          <a:xfrm>
            <a:off x="4334256" y="1481328"/>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4" name="Shape 11"/>
          <p:cNvSpPr/>
          <p:nvPr/>
        </p:nvSpPr>
        <p:spPr>
          <a:xfrm>
            <a:off x="4334256" y="1481328"/>
            <a:ext cx="64008" cy="2788920"/>
          </a:xfrm>
          <a:prstGeom prst="rect">
            <a:avLst/>
          </a:prstGeom>
          <a:solidFill>
            <a:srgbClr val="22D3EE"/>
          </a:solidFill>
          <a:ln w="12700">
            <a:solidFill>
              <a:srgbClr val="22D3EE">
                <a:alpha val="0"/>
              </a:srgbClr>
            </a:solidFill>
            <a:prstDash val="solid"/>
          </a:ln>
        </p:spPr>
      </p:sp>
      <p:sp>
        <p:nvSpPr>
          <p:cNvPr id="15" name="Text 12"/>
          <p:cNvSpPr/>
          <p:nvPr/>
        </p:nvSpPr>
        <p:spPr>
          <a:xfrm>
            <a:off x="4590288" y="1700784"/>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What it does</a:t>
            </a:r>
            <a:endParaRPr lang="en-US" sz="1800" dirty="0"/>
          </a:p>
        </p:txBody>
      </p:sp>
      <p:sp>
        <p:nvSpPr>
          <p:cNvPr id="16" name="Text 13"/>
          <p:cNvSpPr/>
          <p:nvPr/>
        </p:nvSpPr>
        <p:spPr>
          <a:xfrm>
            <a:off x="4590288" y="2139696"/>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Launches Agent Builder, where users can prototype behavior, attach enterprise data or actions, test conversations, version the agent, and publish supported experiences.</a:t>
            </a:r>
            <a:endParaRPr lang="en-US" sz="1150" dirty="0"/>
          </a:p>
        </p:txBody>
      </p:sp>
      <p:sp>
        <p:nvSpPr>
          <p:cNvPr id="17" name="Shape 14"/>
          <p:cNvSpPr/>
          <p:nvPr/>
        </p:nvSpPr>
        <p:spPr>
          <a:xfrm>
            <a:off x="8083296" y="1481328"/>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8" name="Shape 15"/>
          <p:cNvSpPr/>
          <p:nvPr/>
        </p:nvSpPr>
        <p:spPr>
          <a:xfrm>
            <a:off x="8083296" y="1481328"/>
            <a:ext cx="64008" cy="2788920"/>
          </a:xfrm>
          <a:prstGeom prst="rect">
            <a:avLst/>
          </a:prstGeom>
          <a:solidFill>
            <a:srgbClr val="34D399"/>
          </a:solidFill>
          <a:ln w="12700">
            <a:solidFill>
              <a:srgbClr val="34D399">
                <a:alpha val="0"/>
              </a:srgbClr>
            </a:solidFill>
            <a:prstDash val="solid"/>
          </a:ln>
        </p:spPr>
      </p:sp>
      <p:sp>
        <p:nvSpPr>
          <p:cNvPr id="19" name="Text 16"/>
          <p:cNvSpPr/>
          <p:nvPr/>
        </p:nvSpPr>
        <p:spPr>
          <a:xfrm>
            <a:off x="8339328" y="1700784"/>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Business value</a:t>
            </a:r>
            <a:endParaRPr lang="en-US" sz="1800" dirty="0"/>
          </a:p>
        </p:txBody>
      </p:sp>
      <p:sp>
        <p:nvSpPr>
          <p:cNvPr id="20" name="Text 17"/>
          <p:cNvSpPr/>
          <p:nvPr/>
        </p:nvSpPr>
        <p:spPr>
          <a:xfrm>
            <a:off x="8339328" y="2139696"/>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Enables rapid prototyping without managing runtime code or containers. Teams can validate a use case with stakeholders before investing in deeper engineering.</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0E0D12"/>
        </a:solidFill>
        <a:effectLst/>
      </p:bgPr>
    </p:bg>
    <p:spTree>
      <p:nvGrpSpPr>
        <p:cNvPr id="1" name=""/>
        <p:cNvGrpSpPr/>
        <p:nvPr/>
      </p:nvGrpSpPr>
      <p:grpSpPr>
        <a:xfrm>
          <a:off x="0" y="0"/>
          <a:ext cx="0" cy="0"/>
          <a:chOff x="0" y="0"/>
          <a:chExt cx="0" cy="0"/>
        </a:xfrm>
      </p:grpSpPr>
      <p:sp>
        <p:nvSpPr>
          <p:cNvPr id="2" name="Text 0"/>
          <p:cNvSpPr/>
          <p:nvPr/>
        </p:nvSpPr>
        <p:spPr>
          <a:xfrm>
            <a:off x="566928" y="384048"/>
            <a:ext cx="4389120" cy="256032"/>
          </a:xfrm>
          <a:prstGeom prst="rect">
            <a:avLst/>
          </a:prstGeom>
          <a:noFill/>
          <a:ln/>
        </p:spPr>
        <p:txBody>
          <a:bodyPr wrap="square" lIns="0" tIns="0" rIns="0" bIns="0" rtlCol="0" anchor="ctr"/>
          <a:lstStyle/>
          <a:p>
            <a:pPr marL="0" indent="0">
              <a:buNone/>
            </a:pPr>
            <a:r>
              <a:rPr lang="en-US" sz="1100" b="1" kern="0" spc="160" dirty="0">
                <a:solidFill>
                  <a:srgbClr val="22D3EE"/>
                </a:solidFill>
                <a:latin typeface="Aptos" pitchFamily="34" charset="0"/>
                <a:ea typeface="Aptos" pitchFamily="34" charset="-122"/>
                <a:cs typeface="Aptos" pitchFamily="34" charset="-120"/>
              </a:rPr>
              <a:t>HOME COMPONENT</a:t>
            </a:r>
            <a:endParaRPr lang="en-US" sz="1100" dirty="0"/>
          </a:p>
        </p:txBody>
      </p:sp>
      <p:sp>
        <p:nvSpPr>
          <p:cNvPr id="3" name="Text 1"/>
          <p:cNvSpPr/>
          <p:nvPr/>
        </p:nvSpPr>
        <p:spPr>
          <a:xfrm>
            <a:off x="548640" y="713232"/>
            <a:ext cx="11018520" cy="566928"/>
          </a:xfrm>
          <a:prstGeom prst="rect">
            <a:avLst/>
          </a:prstGeom>
          <a:noFill/>
          <a:ln/>
        </p:spPr>
        <p:txBody>
          <a:bodyPr wrap="square" lIns="0" tIns="0" rIns="0" bIns="0" rtlCol="0" anchor="ctr">
            <a:normAutofit/>
          </a:bodyPr>
          <a:lstStyle/>
          <a:p>
            <a:pPr marL="0" indent="0">
              <a:buNone/>
            </a:pPr>
            <a:r>
              <a:rPr lang="en-US" sz="3000" b="1" dirty="0">
                <a:solidFill>
                  <a:srgbClr val="F7F7FB"/>
                </a:solidFill>
                <a:latin typeface="Aptos Display" pitchFamily="34" charset="0"/>
                <a:ea typeface="Aptos Display" pitchFamily="34" charset="-122"/>
                <a:cs typeface="Aptos Display" pitchFamily="34" charset="-120"/>
              </a:rPr>
              <a:t>Code an agent</a:t>
            </a:r>
            <a:endParaRPr lang="en-US" sz="3000" dirty="0"/>
          </a:p>
        </p:txBody>
      </p:sp>
      <p:sp>
        <p:nvSpPr>
          <p:cNvPr id="4" name="Text 2"/>
          <p:cNvSpPr/>
          <p:nvPr/>
        </p:nvSpPr>
        <p:spPr>
          <a:xfrm>
            <a:off x="502920" y="6528816"/>
            <a:ext cx="10789920" cy="164592"/>
          </a:xfrm>
          <a:prstGeom prst="rect">
            <a:avLst/>
          </a:prstGeom>
          <a:noFill/>
          <a:ln/>
        </p:spPr>
        <p:txBody>
          <a:bodyPr wrap="square" lIns="0" tIns="0" rIns="0" bIns="0" rtlCol="0" anchor="ctr"/>
          <a:lstStyle/>
          <a:p>
            <a:pPr marL="0" indent="0">
              <a:buNone/>
            </a:pPr>
            <a:r>
              <a:rPr lang="en-US" sz="850" dirty="0">
                <a:solidFill>
                  <a:srgbClr val="837E92"/>
                </a:solidFill>
                <a:latin typeface="Aptos" pitchFamily="34" charset="0"/>
                <a:ea typeface="Aptos" pitchFamily="34" charset="-122"/>
                <a:cs typeface="Aptos" pitchFamily="34" charset="-120"/>
              </a:rPr>
              <a:t>Microsoft Foundry | General overview demo</a:t>
            </a:r>
            <a:endParaRPr lang="en-US" sz="850" dirty="0"/>
          </a:p>
        </p:txBody>
      </p:sp>
      <p:sp>
        <p:nvSpPr>
          <p:cNvPr id="5" name="Text 3"/>
          <p:cNvSpPr/>
          <p:nvPr/>
        </p:nvSpPr>
        <p:spPr>
          <a:xfrm>
            <a:off x="11292840" y="6473952"/>
            <a:ext cx="384048" cy="228600"/>
          </a:xfrm>
          <a:prstGeom prst="rect">
            <a:avLst/>
          </a:prstGeom>
          <a:noFill/>
          <a:ln/>
        </p:spPr>
        <p:txBody>
          <a:bodyPr wrap="square" lIns="0" tIns="0" rIns="0" bIns="0" rtlCol="0" anchor="ctr"/>
          <a:lstStyle/>
          <a:p>
            <a:pPr marL="0" indent="0" algn="r">
              <a:buNone/>
            </a:pPr>
            <a:r>
              <a:rPr lang="en-US" sz="900" b="1" dirty="0">
                <a:solidFill>
                  <a:srgbClr val="C4B5FD"/>
                </a:solidFill>
                <a:latin typeface="Aptos" pitchFamily="34" charset="0"/>
                <a:ea typeface="Aptos" pitchFamily="34" charset="-122"/>
                <a:cs typeface="Aptos" pitchFamily="34" charset="-120"/>
              </a:rPr>
              <a:t>10</a:t>
            </a:r>
            <a:endParaRPr lang="en-US" sz="900" dirty="0"/>
          </a:p>
        </p:txBody>
      </p:sp>
      <p:sp>
        <p:nvSpPr>
          <p:cNvPr id="6" name="Shape 4"/>
          <p:cNvSpPr/>
          <p:nvPr/>
        </p:nvSpPr>
        <p:spPr>
          <a:xfrm>
            <a:off x="566928" y="1444752"/>
            <a:ext cx="11045952" cy="1353312"/>
          </a:xfrm>
          <a:prstGeom prst="roundRect">
            <a:avLst>
              <a:gd name="adj" fmla="val 5405"/>
            </a:avLst>
          </a:prstGeom>
          <a:solidFill>
            <a:srgbClr val="111016"/>
          </a:solidFill>
          <a:ln w="12700">
            <a:solidFill>
              <a:srgbClr val="3C3747"/>
            </a:solidFill>
            <a:prstDash val="solid"/>
          </a:ln>
          <a:effectLst>
            <a:outerShdw blurRad="38100" dist="50800" dir="2700000" algn="bl" rotWithShape="0">
              <a:srgbClr val="000000">
                <a:alpha val="24000"/>
              </a:srgbClr>
            </a:outerShdw>
          </a:effectLst>
        </p:spPr>
      </p:sp>
      <p:pic>
        <p:nvPicPr>
          <p:cNvPr id="7" name="Image 0" descr="Microsoft Foundry portal screenshot"/>
          <p:cNvPicPr>
            <a:picLocks noChangeAspect="1"/>
          </p:cNvPicPr>
          <p:nvPr/>
        </p:nvPicPr>
        <p:blipFill>
          <a:blip r:embed="rId3"/>
          <a:stretch>
            <a:fillRect/>
          </a:stretch>
        </p:blipFill>
        <p:spPr>
          <a:xfrm>
            <a:off x="3895013" y="1527048"/>
            <a:ext cx="4389783" cy="969264"/>
          </a:xfrm>
          <a:prstGeom prst="rect">
            <a:avLst/>
          </a:prstGeom>
        </p:spPr>
      </p:pic>
      <p:sp>
        <p:nvSpPr>
          <p:cNvPr id="8" name="Text 5"/>
          <p:cNvSpPr/>
          <p:nvPr/>
        </p:nvSpPr>
        <p:spPr>
          <a:xfrm>
            <a:off x="713232" y="2551176"/>
            <a:ext cx="10753344" cy="146304"/>
          </a:xfrm>
          <a:prstGeom prst="rect">
            <a:avLst/>
          </a:prstGeom>
          <a:noFill/>
          <a:ln/>
        </p:spPr>
        <p:txBody>
          <a:bodyPr wrap="square" lIns="0" tIns="0" rIns="0" bIns="0" rtlCol="0" anchor="ctr"/>
          <a:lstStyle/>
          <a:p>
            <a:pPr marL="0" indent="0" algn="ctr">
              <a:buNone/>
            </a:pPr>
            <a:r>
              <a:rPr lang="en-US" sz="850" i="1" dirty="0">
                <a:solidFill>
                  <a:srgbClr val="837E92"/>
                </a:solidFill>
              </a:rPr>
              <a:t>Full-control developer entry point</a:t>
            </a:r>
            <a:endParaRPr lang="en-US" sz="850" dirty="0"/>
          </a:p>
        </p:txBody>
      </p:sp>
      <p:sp>
        <p:nvSpPr>
          <p:cNvPr id="9" name="Shape 6"/>
          <p:cNvSpPr/>
          <p:nvPr/>
        </p:nvSpPr>
        <p:spPr>
          <a:xfrm>
            <a:off x="566928" y="2999232"/>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0" name="Shape 7"/>
          <p:cNvSpPr/>
          <p:nvPr/>
        </p:nvSpPr>
        <p:spPr>
          <a:xfrm>
            <a:off x="566928" y="2999232"/>
            <a:ext cx="64008" cy="2788920"/>
          </a:xfrm>
          <a:prstGeom prst="rect">
            <a:avLst/>
          </a:prstGeom>
          <a:solidFill>
            <a:srgbClr val="8B5CF6"/>
          </a:solidFill>
          <a:ln w="12700">
            <a:solidFill>
              <a:srgbClr val="8B5CF6">
                <a:alpha val="0"/>
              </a:srgbClr>
            </a:solidFill>
            <a:prstDash val="solid"/>
          </a:ln>
        </p:spPr>
      </p:sp>
      <p:sp>
        <p:nvSpPr>
          <p:cNvPr id="11" name="Text 8"/>
          <p:cNvSpPr/>
          <p:nvPr/>
        </p:nvSpPr>
        <p:spPr>
          <a:xfrm>
            <a:off x="822960" y="3218688"/>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What it is</a:t>
            </a:r>
            <a:endParaRPr lang="en-US" sz="1800" dirty="0"/>
          </a:p>
        </p:txBody>
      </p:sp>
      <p:sp>
        <p:nvSpPr>
          <p:cNvPr id="12" name="Text 9"/>
          <p:cNvSpPr/>
          <p:nvPr/>
        </p:nvSpPr>
        <p:spPr>
          <a:xfrm>
            <a:off x="822960" y="3657600"/>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The code-first path for agents that need custom logic, frameworks, packages, or orchestration.</a:t>
            </a:r>
            <a:endParaRPr lang="en-US" sz="1150" dirty="0"/>
          </a:p>
        </p:txBody>
      </p:sp>
      <p:sp>
        <p:nvSpPr>
          <p:cNvPr id="13" name="Shape 10"/>
          <p:cNvSpPr/>
          <p:nvPr/>
        </p:nvSpPr>
        <p:spPr>
          <a:xfrm>
            <a:off x="4334256" y="2999232"/>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4" name="Shape 11"/>
          <p:cNvSpPr/>
          <p:nvPr/>
        </p:nvSpPr>
        <p:spPr>
          <a:xfrm>
            <a:off x="4334256" y="2999232"/>
            <a:ext cx="64008" cy="2788920"/>
          </a:xfrm>
          <a:prstGeom prst="rect">
            <a:avLst/>
          </a:prstGeom>
          <a:solidFill>
            <a:srgbClr val="22D3EE"/>
          </a:solidFill>
          <a:ln w="12700">
            <a:solidFill>
              <a:srgbClr val="22D3EE">
                <a:alpha val="0"/>
              </a:srgbClr>
            </a:solidFill>
            <a:prstDash val="solid"/>
          </a:ln>
        </p:spPr>
      </p:sp>
      <p:sp>
        <p:nvSpPr>
          <p:cNvPr id="15" name="Text 12"/>
          <p:cNvSpPr/>
          <p:nvPr/>
        </p:nvSpPr>
        <p:spPr>
          <a:xfrm>
            <a:off x="4590288" y="3218688"/>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What it does</a:t>
            </a:r>
            <a:endParaRPr lang="en-US" sz="1800" dirty="0"/>
          </a:p>
        </p:txBody>
      </p:sp>
      <p:sp>
        <p:nvSpPr>
          <p:cNvPr id="16" name="Text 13"/>
          <p:cNvSpPr/>
          <p:nvPr/>
        </p:nvSpPr>
        <p:spPr>
          <a:xfrm>
            <a:off x="4590288" y="3657600"/>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Guides developers toward Microsoft Agent Framework and hosted-agent patterns, with managed endpoints, identity, scaling, versioning, and observability.</a:t>
            </a:r>
            <a:endParaRPr lang="en-US" sz="1150" dirty="0"/>
          </a:p>
        </p:txBody>
      </p:sp>
      <p:sp>
        <p:nvSpPr>
          <p:cNvPr id="17" name="Shape 14"/>
          <p:cNvSpPr/>
          <p:nvPr/>
        </p:nvSpPr>
        <p:spPr>
          <a:xfrm>
            <a:off x="8083296" y="2999232"/>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8" name="Shape 15"/>
          <p:cNvSpPr/>
          <p:nvPr/>
        </p:nvSpPr>
        <p:spPr>
          <a:xfrm>
            <a:off x="8083296" y="2999232"/>
            <a:ext cx="64008" cy="2788920"/>
          </a:xfrm>
          <a:prstGeom prst="rect">
            <a:avLst/>
          </a:prstGeom>
          <a:solidFill>
            <a:srgbClr val="34D399"/>
          </a:solidFill>
          <a:ln w="12700">
            <a:solidFill>
              <a:srgbClr val="34D399">
                <a:alpha val="0"/>
              </a:srgbClr>
            </a:solidFill>
            <a:prstDash val="solid"/>
          </a:ln>
        </p:spPr>
      </p:sp>
      <p:sp>
        <p:nvSpPr>
          <p:cNvPr id="19" name="Text 16"/>
          <p:cNvSpPr/>
          <p:nvPr/>
        </p:nvSpPr>
        <p:spPr>
          <a:xfrm>
            <a:off x="8339328" y="3218688"/>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Business value</a:t>
            </a:r>
            <a:endParaRPr lang="en-US" sz="1800" dirty="0"/>
          </a:p>
        </p:txBody>
      </p:sp>
      <p:sp>
        <p:nvSpPr>
          <p:cNvPr id="20" name="Text 17"/>
          <p:cNvSpPr/>
          <p:nvPr/>
        </p:nvSpPr>
        <p:spPr>
          <a:xfrm>
            <a:off x="8339328" y="3657600"/>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Preserves developer control while offloading production hosting concerns. Existing agent code can gain enterprise deployment and operations capabilities.</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0E0D12"/>
        </a:solidFill>
        <a:effectLst/>
      </p:bgPr>
    </p:bg>
    <p:spTree>
      <p:nvGrpSpPr>
        <p:cNvPr id="1" name=""/>
        <p:cNvGrpSpPr/>
        <p:nvPr/>
      </p:nvGrpSpPr>
      <p:grpSpPr>
        <a:xfrm>
          <a:off x="0" y="0"/>
          <a:ext cx="0" cy="0"/>
          <a:chOff x="0" y="0"/>
          <a:chExt cx="0" cy="0"/>
        </a:xfrm>
      </p:grpSpPr>
      <p:sp>
        <p:nvSpPr>
          <p:cNvPr id="2" name="Text 0"/>
          <p:cNvSpPr/>
          <p:nvPr/>
        </p:nvSpPr>
        <p:spPr>
          <a:xfrm>
            <a:off x="566928" y="384048"/>
            <a:ext cx="4389120" cy="256032"/>
          </a:xfrm>
          <a:prstGeom prst="rect">
            <a:avLst/>
          </a:prstGeom>
          <a:noFill/>
          <a:ln/>
        </p:spPr>
        <p:txBody>
          <a:bodyPr wrap="square" lIns="0" tIns="0" rIns="0" bIns="0" rtlCol="0" anchor="ctr"/>
          <a:lstStyle/>
          <a:p>
            <a:pPr marL="0" indent="0">
              <a:buNone/>
            </a:pPr>
            <a:r>
              <a:rPr lang="en-US" sz="1100" b="1" kern="0" spc="160" dirty="0">
                <a:solidFill>
                  <a:srgbClr val="22D3EE"/>
                </a:solidFill>
                <a:latin typeface="Aptos" pitchFamily="34" charset="0"/>
                <a:ea typeface="Aptos" pitchFamily="34" charset="-122"/>
                <a:cs typeface="Aptos" pitchFamily="34" charset="-120"/>
              </a:rPr>
              <a:t>HOME COMPONENT</a:t>
            </a:r>
            <a:endParaRPr lang="en-US" sz="1100" dirty="0"/>
          </a:p>
        </p:txBody>
      </p:sp>
      <p:sp>
        <p:nvSpPr>
          <p:cNvPr id="3" name="Text 1"/>
          <p:cNvSpPr/>
          <p:nvPr/>
        </p:nvSpPr>
        <p:spPr>
          <a:xfrm>
            <a:off x="548640" y="713232"/>
            <a:ext cx="11018520" cy="566928"/>
          </a:xfrm>
          <a:prstGeom prst="rect">
            <a:avLst/>
          </a:prstGeom>
          <a:noFill/>
          <a:ln/>
        </p:spPr>
        <p:txBody>
          <a:bodyPr wrap="square" lIns="0" tIns="0" rIns="0" bIns="0" rtlCol="0" anchor="ctr">
            <a:normAutofit/>
          </a:bodyPr>
          <a:lstStyle/>
          <a:p>
            <a:pPr marL="0" indent="0">
              <a:buNone/>
            </a:pPr>
            <a:r>
              <a:rPr lang="en-US" sz="3000" b="1" dirty="0">
                <a:solidFill>
                  <a:srgbClr val="F7F7FB"/>
                </a:solidFill>
                <a:latin typeface="Aptos Display" pitchFamily="34" charset="0"/>
                <a:ea typeface="Aptos Display" pitchFamily="34" charset="-122"/>
                <a:cs typeface="Aptos Display" pitchFamily="34" charset="-120"/>
              </a:rPr>
              <a:t>Authentication and endpoints</a:t>
            </a:r>
            <a:endParaRPr lang="en-US" sz="3000" dirty="0"/>
          </a:p>
        </p:txBody>
      </p:sp>
      <p:sp>
        <p:nvSpPr>
          <p:cNvPr id="4" name="Text 2"/>
          <p:cNvSpPr/>
          <p:nvPr/>
        </p:nvSpPr>
        <p:spPr>
          <a:xfrm>
            <a:off x="502920" y="6528816"/>
            <a:ext cx="10789920" cy="164592"/>
          </a:xfrm>
          <a:prstGeom prst="rect">
            <a:avLst/>
          </a:prstGeom>
          <a:noFill/>
          <a:ln/>
        </p:spPr>
        <p:txBody>
          <a:bodyPr wrap="square" lIns="0" tIns="0" rIns="0" bIns="0" rtlCol="0" anchor="ctr"/>
          <a:lstStyle/>
          <a:p>
            <a:pPr marL="0" indent="0">
              <a:buNone/>
            </a:pPr>
            <a:r>
              <a:rPr lang="en-US" sz="850" dirty="0">
                <a:solidFill>
                  <a:srgbClr val="837E92"/>
                </a:solidFill>
                <a:latin typeface="Aptos" pitchFamily="34" charset="0"/>
                <a:ea typeface="Aptos" pitchFamily="34" charset="-122"/>
                <a:cs typeface="Aptos" pitchFamily="34" charset="-120"/>
              </a:rPr>
              <a:t>Microsoft Foundry | General overview demo</a:t>
            </a:r>
            <a:endParaRPr lang="en-US" sz="850" dirty="0"/>
          </a:p>
        </p:txBody>
      </p:sp>
      <p:sp>
        <p:nvSpPr>
          <p:cNvPr id="5" name="Text 3"/>
          <p:cNvSpPr/>
          <p:nvPr/>
        </p:nvSpPr>
        <p:spPr>
          <a:xfrm>
            <a:off x="11292840" y="6473952"/>
            <a:ext cx="384048" cy="228600"/>
          </a:xfrm>
          <a:prstGeom prst="rect">
            <a:avLst/>
          </a:prstGeom>
          <a:noFill/>
          <a:ln/>
        </p:spPr>
        <p:txBody>
          <a:bodyPr wrap="square" lIns="0" tIns="0" rIns="0" bIns="0" rtlCol="0" anchor="ctr"/>
          <a:lstStyle/>
          <a:p>
            <a:pPr marL="0" indent="0" algn="r">
              <a:buNone/>
            </a:pPr>
            <a:r>
              <a:rPr lang="en-US" sz="900" b="1" dirty="0">
                <a:solidFill>
                  <a:srgbClr val="C4B5FD"/>
                </a:solidFill>
                <a:latin typeface="Aptos" pitchFamily="34" charset="0"/>
                <a:ea typeface="Aptos" pitchFamily="34" charset="-122"/>
                <a:cs typeface="Aptos" pitchFamily="34" charset="-120"/>
              </a:rPr>
              <a:t>11</a:t>
            </a:r>
            <a:endParaRPr lang="en-US" sz="900" dirty="0"/>
          </a:p>
        </p:txBody>
      </p:sp>
      <p:sp>
        <p:nvSpPr>
          <p:cNvPr id="6" name="Shape 4"/>
          <p:cNvSpPr/>
          <p:nvPr/>
        </p:nvSpPr>
        <p:spPr>
          <a:xfrm>
            <a:off x="566928" y="4608576"/>
            <a:ext cx="11045952" cy="1353312"/>
          </a:xfrm>
          <a:prstGeom prst="roundRect">
            <a:avLst>
              <a:gd name="adj" fmla="val 5405"/>
            </a:avLst>
          </a:prstGeom>
          <a:solidFill>
            <a:srgbClr val="111016"/>
          </a:solidFill>
          <a:ln w="12700">
            <a:solidFill>
              <a:srgbClr val="3C3747"/>
            </a:solidFill>
            <a:prstDash val="solid"/>
          </a:ln>
          <a:effectLst>
            <a:outerShdw blurRad="38100" dist="50800" dir="2700000" algn="bl" rotWithShape="0">
              <a:srgbClr val="000000">
                <a:alpha val="24000"/>
              </a:srgbClr>
            </a:outerShdw>
          </a:effectLst>
        </p:spPr>
      </p:sp>
      <p:pic>
        <p:nvPicPr>
          <p:cNvPr id="7" name="Image 0" descr="Microsoft Foundry portal screenshot"/>
          <p:cNvPicPr>
            <a:picLocks noChangeAspect="1"/>
          </p:cNvPicPr>
          <p:nvPr/>
        </p:nvPicPr>
        <p:blipFill>
          <a:blip r:embed="rId3"/>
          <a:stretch>
            <a:fillRect/>
          </a:stretch>
        </p:blipFill>
        <p:spPr>
          <a:xfrm>
            <a:off x="649224" y="4740250"/>
            <a:ext cx="10881360" cy="870509"/>
          </a:xfrm>
          <a:prstGeom prst="rect">
            <a:avLst/>
          </a:prstGeom>
        </p:spPr>
      </p:pic>
      <p:sp>
        <p:nvSpPr>
          <p:cNvPr id="8" name="Text 5"/>
          <p:cNvSpPr/>
          <p:nvPr/>
        </p:nvSpPr>
        <p:spPr>
          <a:xfrm>
            <a:off x="713232" y="5715000"/>
            <a:ext cx="10753344" cy="146304"/>
          </a:xfrm>
          <a:prstGeom prst="rect">
            <a:avLst/>
          </a:prstGeom>
          <a:noFill/>
          <a:ln/>
        </p:spPr>
        <p:txBody>
          <a:bodyPr wrap="square" lIns="0" tIns="0" rIns="0" bIns="0" rtlCol="0" anchor="ctr"/>
          <a:lstStyle/>
          <a:p>
            <a:pPr marL="0" indent="0" algn="ctr">
              <a:buNone/>
            </a:pPr>
            <a:r>
              <a:rPr lang="en-US" sz="850" i="1" dirty="0">
                <a:solidFill>
                  <a:srgbClr val="837E92"/>
                </a:solidFill>
              </a:rPr>
              <a:t>Project and Azure OpenAI endpoints</a:t>
            </a:r>
            <a:endParaRPr lang="en-US" sz="850" dirty="0"/>
          </a:p>
        </p:txBody>
      </p:sp>
      <p:sp>
        <p:nvSpPr>
          <p:cNvPr id="9" name="Shape 6"/>
          <p:cNvSpPr/>
          <p:nvPr/>
        </p:nvSpPr>
        <p:spPr>
          <a:xfrm>
            <a:off x="566928" y="1481328"/>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0" name="Shape 7"/>
          <p:cNvSpPr/>
          <p:nvPr/>
        </p:nvSpPr>
        <p:spPr>
          <a:xfrm>
            <a:off x="566928" y="1481328"/>
            <a:ext cx="64008" cy="2788920"/>
          </a:xfrm>
          <a:prstGeom prst="rect">
            <a:avLst/>
          </a:prstGeom>
          <a:solidFill>
            <a:srgbClr val="8B5CF6"/>
          </a:solidFill>
          <a:ln w="12700">
            <a:solidFill>
              <a:srgbClr val="8B5CF6">
                <a:alpha val="0"/>
              </a:srgbClr>
            </a:solidFill>
            <a:prstDash val="solid"/>
          </a:ln>
        </p:spPr>
      </p:sp>
      <p:sp>
        <p:nvSpPr>
          <p:cNvPr id="11" name="Text 8"/>
          <p:cNvSpPr/>
          <p:nvPr/>
        </p:nvSpPr>
        <p:spPr>
          <a:xfrm>
            <a:off x="822960" y="1700784"/>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What it is</a:t>
            </a:r>
            <a:endParaRPr lang="en-US" sz="1800" dirty="0"/>
          </a:p>
        </p:txBody>
      </p:sp>
      <p:sp>
        <p:nvSpPr>
          <p:cNvPr id="12" name="Text 9"/>
          <p:cNvSpPr/>
          <p:nvPr/>
        </p:nvSpPr>
        <p:spPr>
          <a:xfrm>
            <a:off x="822960" y="2139696"/>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Connection information for integrating applications and SDKs with the selected project and Azure OpenAI-compatible endpoint.</a:t>
            </a:r>
            <a:endParaRPr lang="en-US" sz="1150" dirty="0"/>
          </a:p>
        </p:txBody>
      </p:sp>
      <p:sp>
        <p:nvSpPr>
          <p:cNvPr id="13" name="Shape 10"/>
          <p:cNvSpPr/>
          <p:nvPr/>
        </p:nvSpPr>
        <p:spPr>
          <a:xfrm>
            <a:off x="4334256" y="1481328"/>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4" name="Shape 11"/>
          <p:cNvSpPr/>
          <p:nvPr/>
        </p:nvSpPr>
        <p:spPr>
          <a:xfrm>
            <a:off x="4334256" y="1481328"/>
            <a:ext cx="64008" cy="2788920"/>
          </a:xfrm>
          <a:prstGeom prst="rect">
            <a:avLst/>
          </a:prstGeom>
          <a:solidFill>
            <a:srgbClr val="22D3EE"/>
          </a:solidFill>
          <a:ln w="12700">
            <a:solidFill>
              <a:srgbClr val="22D3EE">
                <a:alpha val="0"/>
              </a:srgbClr>
            </a:solidFill>
            <a:prstDash val="solid"/>
          </a:ln>
        </p:spPr>
      </p:sp>
      <p:sp>
        <p:nvSpPr>
          <p:cNvPr id="15" name="Text 12"/>
          <p:cNvSpPr/>
          <p:nvPr/>
        </p:nvSpPr>
        <p:spPr>
          <a:xfrm>
            <a:off x="4590288" y="1700784"/>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What it does</a:t>
            </a:r>
            <a:endParaRPr lang="en-US" sz="1800" dirty="0"/>
          </a:p>
        </p:txBody>
      </p:sp>
      <p:sp>
        <p:nvSpPr>
          <p:cNvPr id="16" name="Text 13"/>
          <p:cNvSpPr/>
          <p:nvPr/>
        </p:nvSpPr>
        <p:spPr>
          <a:xfrm>
            <a:off x="4590288" y="2139696"/>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Displays the project endpoint, Azure OpenAI endpoint, authentication state, information help, and copy controls. API-key availability depends on project policy and feature.</a:t>
            </a:r>
            <a:endParaRPr lang="en-US" sz="1150" dirty="0"/>
          </a:p>
        </p:txBody>
      </p:sp>
      <p:sp>
        <p:nvSpPr>
          <p:cNvPr id="17" name="Shape 14"/>
          <p:cNvSpPr/>
          <p:nvPr/>
        </p:nvSpPr>
        <p:spPr>
          <a:xfrm>
            <a:off x="8083296" y="1481328"/>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8" name="Shape 15"/>
          <p:cNvSpPr/>
          <p:nvPr/>
        </p:nvSpPr>
        <p:spPr>
          <a:xfrm>
            <a:off x="8083296" y="1481328"/>
            <a:ext cx="64008" cy="2788920"/>
          </a:xfrm>
          <a:prstGeom prst="rect">
            <a:avLst/>
          </a:prstGeom>
          <a:solidFill>
            <a:srgbClr val="34D399"/>
          </a:solidFill>
          <a:ln w="12700">
            <a:solidFill>
              <a:srgbClr val="34D399">
                <a:alpha val="0"/>
              </a:srgbClr>
            </a:solidFill>
            <a:prstDash val="solid"/>
          </a:ln>
        </p:spPr>
      </p:sp>
      <p:sp>
        <p:nvSpPr>
          <p:cNvPr id="19" name="Text 16"/>
          <p:cNvSpPr/>
          <p:nvPr/>
        </p:nvSpPr>
        <p:spPr>
          <a:xfrm>
            <a:off x="8339328" y="1700784"/>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Business value</a:t>
            </a:r>
            <a:endParaRPr lang="en-US" sz="1800" dirty="0"/>
          </a:p>
        </p:txBody>
      </p:sp>
      <p:sp>
        <p:nvSpPr>
          <p:cNvPr id="20" name="Text 17"/>
          <p:cNvSpPr/>
          <p:nvPr/>
        </p:nvSpPr>
        <p:spPr>
          <a:xfrm>
            <a:off x="8339328" y="2139696"/>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Moves a validated prototype into application code quickly. Microsoft Entra ID and RBAC provide stronger enterprise permission granularity than shared keys.</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0E0D12"/>
        </a:solidFill>
        <a:effectLst/>
      </p:bgPr>
    </p:bg>
    <p:spTree>
      <p:nvGrpSpPr>
        <p:cNvPr id="1" name=""/>
        <p:cNvGrpSpPr/>
        <p:nvPr/>
      </p:nvGrpSpPr>
      <p:grpSpPr>
        <a:xfrm>
          <a:off x="0" y="0"/>
          <a:ext cx="0" cy="0"/>
          <a:chOff x="0" y="0"/>
          <a:chExt cx="0" cy="0"/>
        </a:xfrm>
      </p:grpSpPr>
      <p:sp>
        <p:nvSpPr>
          <p:cNvPr id="2" name="Text 0"/>
          <p:cNvSpPr/>
          <p:nvPr/>
        </p:nvSpPr>
        <p:spPr>
          <a:xfrm>
            <a:off x="566928" y="384048"/>
            <a:ext cx="4389120" cy="256032"/>
          </a:xfrm>
          <a:prstGeom prst="rect">
            <a:avLst/>
          </a:prstGeom>
          <a:noFill/>
          <a:ln/>
        </p:spPr>
        <p:txBody>
          <a:bodyPr wrap="square" lIns="0" tIns="0" rIns="0" bIns="0" rtlCol="0" anchor="ctr"/>
          <a:lstStyle/>
          <a:p>
            <a:pPr marL="0" indent="0">
              <a:buNone/>
            </a:pPr>
            <a:r>
              <a:rPr lang="en-US" sz="1100" b="1" kern="0" spc="160" dirty="0">
                <a:solidFill>
                  <a:srgbClr val="22D3EE"/>
                </a:solidFill>
                <a:latin typeface="Aptos" pitchFamily="34" charset="0"/>
                <a:ea typeface="Aptos" pitchFamily="34" charset="-122"/>
                <a:cs typeface="Aptos" pitchFamily="34" charset="-120"/>
              </a:rPr>
              <a:t>MODEL SELECTION</a:t>
            </a:r>
            <a:endParaRPr lang="en-US" sz="1100" dirty="0"/>
          </a:p>
        </p:txBody>
      </p:sp>
      <p:sp>
        <p:nvSpPr>
          <p:cNvPr id="3" name="Text 1"/>
          <p:cNvSpPr/>
          <p:nvPr/>
        </p:nvSpPr>
        <p:spPr>
          <a:xfrm>
            <a:off x="548640" y="713232"/>
            <a:ext cx="11018520" cy="566928"/>
          </a:xfrm>
          <a:prstGeom prst="rect">
            <a:avLst/>
          </a:prstGeom>
          <a:noFill/>
          <a:ln/>
        </p:spPr>
        <p:txBody>
          <a:bodyPr wrap="square" lIns="0" tIns="0" rIns="0" bIns="0" rtlCol="0" anchor="ctr">
            <a:normAutofit/>
          </a:bodyPr>
          <a:lstStyle/>
          <a:p>
            <a:pPr marL="0" indent="0">
              <a:buNone/>
            </a:pPr>
            <a:r>
              <a:rPr lang="en-US" sz="3000" b="1" dirty="0">
                <a:solidFill>
                  <a:srgbClr val="F7F7FB"/>
                </a:solidFill>
                <a:latin typeface="Aptos Display" pitchFamily="34" charset="0"/>
                <a:ea typeface="Aptos Display" pitchFamily="34" charset="-122"/>
                <a:cs typeface="Aptos Display" pitchFamily="34" charset="-120"/>
              </a:rPr>
              <a:t>Test in playground</a:t>
            </a:r>
            <a:endParaRPr lang="en-US" sz="3000" dirty="0"/>
          </a:p>
        </p:txBody>
      </p:sp>
      <p:sp>
        <p:nvSpPr>
          <p:cNvPr id="4" name="Text 2"/>
          <p:cNvSpPr/>
          <p:nvPr/>
        </p:nvSpPr>
        <p:spPr>
          <a:xfrm>
            <a:off x="502920" y="6528816"/>
            <a:ext cx="10789920" cy="164592"/>
          </a:xfrm>
          <a:prstGeom prst="rect">
            <a:avLst/>
          </a:prstGeom>
          <a:noFill/>
          <a:ln/>
        </p:spPr>
        <p:txBody>
          <a:bodyPr wrap="square" lIns="0" tIns="0" rIns="0" bIns="0" rtlCol="0" anchor="ctr"/>
          <a:lstStyle/>
          <a:p>
            <a:pPr marL="0" indent="0">
              <a:buNone/>
            </a:pPr>
            <a:r>
              <a:rPr lang="en-US" sz="850" dirty="0">
                <a:solidFill>
                  <a:srgbClr val="837E92"/>
                </a:solidFill>
                <a:latin typeface="Aptos" pitchFamily="34" charset="0"/>
                <a:ea typeface="Aptos" pitchFamily="34" charset="-122"/>
                <a:cs typeface="Aptos" pitchFamily="34" charset="-120"/>
              </a:rPr>
              <a:t>Microsoft Foundry | General overview demo</a:t>
            </a:r>
            <a:endParaRPr lang="en-US" sz="850" dirty="0"/>
          </a:p>
        </p:txBody>
      </p:sp>
      <p:sp>
        <p:nvSpPr>
          <p:cNvPr id="5" name="Text 3"/>
          <p:cNvSpPr/>
          <p:nvPr/>
        </p:nvSpPr>
        <p:spPr>
          <a:xfrm>
            <a:off x="11292840" y="6473952"/>
            <a:ext cx="384048" cy="228600"/>
          </a:xfrm>
          <a:prstGeom prst="rect">
            <a:avLst/>
          </a:prstGeom>
          <a:noFill/>
          <a:ln/>
        </p:spPr>
        <p:txBody>
          <a:bodyPr wrap="square" lIns="0" tIns="0" rIns="0" bIns="0" rtlCol="0" anchor="ctr"/>
          <a:lstStyle/>
          <a:p>
            <a:pPr marL="0" indent="0" algn="r">
              <a:buNone/>
            </a:pPr>
            <a:r>
              <a:rPr lang="en-US" sz="900" b="1" dirty="0">
                <a:solidFill>
                  <a:srgbClr val="C4B5FD"/>
                </a:solidFill>
                <a:latin typeface="Aptos" pitchFamily="34" charset="0"/>
                <a:ea typeface="Aptos" pitchFamily="34" charset="-122"/>
                <a:cs typeface="Aptos" pitchFamily="34" charset="-120"/>
              </a:rPr>
              <a:t>12</a:t>
            </a:r>
            <a:endParaRPr lang="en-US" sz="900" dirty="0"/>
          </a:p>
        </p:txBody>
      </p:sp>
      <p:sp>
        <p:nvSpPr>
          <p:cNvPr id="6" name="Shape 4"/>
          <p:cNvSpPr/>
          <p:nvPr/>
        </p:nvSpPr>
        <p:spPr>
          <a:xfrm>
            <a:off x="566928" y="1444752"/>
            <a:ext cx="11045952" cy="1353312"/>
          </a:xfrm>
          <a:prstGeom prst="roundRect">
            <a:avLst>
              <a:gd name="adj" fmla="val 5405"/>
            </a:avLst>
          </a:prstGeom>
          <a:solidFill>
            <a:srgbClr val="111016"/>
          </a:solidFill>
          <a:ln w="12700">
            <a:solidFill>
              <a:srgbClr val="3C3747"/>
            </a:solidFill>
            <a:prstDash val="solid"/>
          </a:ln>
          <a:effectLst>
            <a:outerShdw blurRad="38100" dist="50800" dir="2700000" algn="bl" rotWithShape="0">
              <a:srgbClr val="000000">
                <a:alpha val="24000"/>
              </a:srgbClr>
            </a:outerShdw>
          </a:effectLst>
        </p:spPr>
      </p:sp>
      <p:pic>
        <p:nvPicPr>
          <p:cNvPr id="7" name="Image 0" descr="Microsoft Foundry portal screenshot"/>
          <p:cNvPicPr>
            <a:picLocks noChangeAspect="1"/>
          </p:cNvPicPr>
          <p:nvPr/>
        </p:nvPicPr>
        <p:blipFill>
          <a:blip r:embed="rId3"/>
          <a:stretch>
            <a:fillRect/>
          </a:stretch>
        </p:blipFill>
        <p:spPr>
          <a:xfrm>
            <a:off x="1243584" y="1527048"/>
            <a:ext cx="9692640" cy="969264"/>
          </a:xfrm>
          <a:prstGeom prst="rect">
            <a:avLst/>
          </a:prstGeom>
        </p:spPr>
      </p:pic>
      <p:sp>
        <p:nvSpPr>
          <p:cNvPr id="8" name="Text 5"/>
          <p:cNvSpPr/>
          <p:nvPr/>
        </p:nvSpPr>
        <p:spPr>
          <a:xfrm>
            <a:off x="713232" y="2551176"/>
            <a:ext cx="10753344" cy="146304"/>
          </a:xfrm>
          <a:prstGeom prst="rect">
            <a:avLst/>
          </a:prstGeom>
          <a:noFill/>
          <a:ln/>
        </p:spPr>
        <p:txBody>
          <a:bodyPr wrap="square" lIns="0" tIns="0" rIns="0" bIns="0" rtlCol="0" anchor="ctr"/>
          <a:lstStyle/>
          <a:p>
            <a:pPr marL="0" indent="0" algn="ctr">
              <a:buNone/>
            </a:pPr>
            <a:r>
              <a:rPr lang="en-US" sz="850" i="1" dirty="0">
                <a:solidFill>
                  <a:srgbClr val="837E92"/>
                </a:solidFill>
              </a:rPr>
              <a:t>Model selection quick actions</a:t>
            </a:r>
            <a:endParaRPr lang="en-US" sz="850" dirty="0"/>
          </a:p>
        </p:txBody>
      </p:sp>
      <p:sp>
        <p:nvSpPr>
          <p:cNvPr id="9" name="Shape 6"/>
          <p:cNvSpPr/>
          <p:nvPr/>
        </p:nvSpPr>
        <p:spPr>
          <a:xfrm>
            <a:off x="566928" y="2999232"/>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0" name="Shape 7"/>
          <p:cNvSpPr/>
          <p:nvPr/>
        </p:nvSpPr>
        <p:spPr>
          <a:xfrm>
            <a:off x="566928" y="2999232"/>
            <a:ext cx="64008" cy="2788920"/>
          </a:xfrm>
          <a:prstGeom prst="rect">
            <a:avLst/>
          </a:prstGeom>
          <a:solidFill>
            <a:srgbClr val="8B5CF6"/>
          </a:solidFill>
          <a:ln w="12700">
            <a:solidFill>
              <a:srgbClr val="8B5CF6">
                <a:alpha val="0"/>
              </a:srgbClr>
            </a:solidFill>
            <a:prstDash val="solid"/>
          </a:ln>
        </p:spPr>
      </p:sp>
      <p:sp>
        <p:nvSpPr>
          <p:cNvPr id="11" name="Text 8"/>
          <p:cNvSpPr/>
          <p:nvPr/>
        </p:nvSpPr>
        <p:spPr>
          <a:xfrm>
            <a:off x="822960" y="3218688"/>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What it is</a:t>
            </a:r>
            <a:endParaRPr lang="en-US" sz="1800" dirty="0"/>
          </a:p>
        </p:txBody>
      </p:sp>
      <p:sp>
        <p:nvSpPr>
          <p:cNvPr id="12" name="Text 9"/>
          <p:cNvSpPr/>
          <p:nvPr/>
        </p:nvSpPr>
        <p:spPr>
          <a:xfrm>
            <a:off x="822960" y="3657600"/>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An interactive environment for sending prompts and seeing model responses in real time.</a:t>
            </a:r>
            <a:endParaRPr lang="en-US" sz="1150" dirty="0"/>
          </a:p>
        </p:txBody>
      </p:sp>
      <p:sp>
        <p:nvSpPr>
          <p:cNvPr id="13" name="Shape 10"/>
          <p:cNvSpPr/>
          <p:nvPr/>
        </p:nvSpPr>
        <p:spPr>
          <a:xfrm>
            <a:off x="4334256" y="2999232"/>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4" name="Shape 11"/>
          <p:cNvSpPr/>
          <p:nvPr/>
        </p:nvSpPr>
        <p:spPr>
          <a:xfrm>
            <a:off x="4334256" y="2999232"/>
            <a:ext cx="64008" cy="2788920"/>
          </a:xfrm>
          <a:prstGeom prst="rect">
            <a:avLst/>
          </a:prstGeom>
          <a:solidFill>
            <a:srgbClr val="22D3EE"/>
          </a:solidFill>
          <a:ln w="12700">
            <a:solidFill>
              <a:srgbClr val="22D3EE">
                <a:alpha val="0"/>
              </a:srgbClr>
            </a:solidFill>
            <a:prstDash val="solid"/>
          </a:ln>
        </p:spPr>
      </p:sp>
      <p:sp>
        <p:nvSpPr>
          <p:cNvPr id="15" name="Text 12"/>
          <p:cNvSpPr/>
          <p:nvPr/>
        </p:nvSpPr>
        <p:spPr>
          <a:xfrm>
            <a:off x="4590288" y="3218688"/>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What it does</a:t>
            </a:r>
            <a:endParaRPr lang="en-US" sz="1800" dirty="0"/>
          </a:p>
        </p:txBody>
      </p:sp>
      <p:sp>
        <p:nvSpPr>
          <p:cNvPr id="16" name="Text 13"/>
          <p:cNvSpPr/>
          <p:nvPr/>
        </p:nvSpPr>
        <p:spPr>
          <a:xfrm>
            <a:off x="4590288" y="3657600"/>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Supports prompt iteration, system instructions, parameter tuning, tool use where supported, safety controls, code samples, and transition from a model test to an agent.</a:t>
            </a:r>
            <a:endParaRPr lang="en-US" sz="1150" dirty="0"/>
          </a:p>
        </p:txBody>
      </p:sp>
      <p:sp>
        <p:nvSpPr>
          <p:cNvPr id="17" name="Shape 14"/>
          <p:cNvSpPr/>
          <p:nvPr/>
        </p:nvSpPr>
        <p:spPr>
          <a:xfrm>
            <a:off x="8083296" y="2999232"/>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8" name="Shape 15"/>
          <p:cNvSpPr/>
          <p:nvPr/>
        </p:nvSpPr>
        <p:spPr>
          <a:xfrm>
            <a:off x="8083296" y="2999232"/>
            <a:ext cx="64008" cy="2788920"/>
          </a:xfrm>
          <a:prstGeom prst="rect">
            <a:avLst/>
          </a:prstGeom>
          <a:solidFill>
            <a:srgbClr val="34D399"/>
          </a:solidFill>
          <a:ln w="12700">
            <a:solidFill>
              <a:srgbClr val="34D399">
                <a:alpha val="0"/>
              </a:srgbClr>
            </a:solidFill>
            <a:prstDash val="solid"/>
          </a:ln>
        </p:spPr>
      </p:sp>
      <p:sp>
        <p:nvSpPr>
          <p:cNvPr id="19" name="Text 16"/>
          <p:cNvSpPr/>
          <p:nvPr/>
        </p:nvSpPr>
        <p:spPr>
          <a:xfrm>
            <a:off x="8339328" y="3218688"/>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Business value</a:t>
            </a:r>
            <a:endParaRPr lang="en-US" sz="1800" dirty="0"/>
          </a:p>
        </p:txBody>
      </p:sp>
      <p:sp>
        <p:nvSpPr>
          <p:cNvPr id="20" name="Text 17"/>
          <p:cNvSpPr/>
          <p:nvPr/>
        </p:nvSpPr>
        <p:spPr>
          <a:xfrm>
            <a:off x="8339328" y="3657600"/>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Reduces the cost and time of experimentation. Teams can validate behavior before writing integration code or committing to a model choice.</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0E0D12"/>
        </a:solidFill>
        <a:effectLst/>
      </p:bgPr>
    </p:bg>
    <p:spTree>
      <p:nvGrpSpPr>
        <p:cNvPr id="1" name=""/>
        <p:cNvGrpSpPr/>
        <p:nvPr/>
      </p:nvGrpSpPr>
      <p:grpSpPr>
        <a:xfrm>
          <a:off x="0" y="0"/>
          <a:ext cx="0" cy="0"/>
          <a:chOff x="0" y="0"/>
          <a:chExt cx="0" cy="0"/>
        </a:xfrm>
      </p:grpSpPr>
      <p:sp>
        <p:nvSpPr>
          <p:cNvPr id="2" name="Text 0"/>
          <p:cNvSpPr/>
          <p:nvPr/>
        </p:nvSpPr>
        <p:spPr>
          <a:xfrm>
            <a:off x="566928" y="384048"/>
            <a:ext cx="4389120" cy="256032"/>
          </a:xfrm>
          <a:prstGeom prst="rect">
            <a:avLst/>
          </a:prstGeom>
          <a:noFill/>
          <a:ln/>
        </p:spPr>
        <p:txBody>
          <a:bodyPr wrap="square" lIns="0" tIns="0" rIns="0" bIns="0" rtlCol="0" anchor="ctr"/>
          <a:lstStyle/>
          <a:p>
            <a:pPr marL="0" indent="0">
              <a:buNone/>
            </a:pPr>
            <a:r>
              <a:rPr lang="en-US" sz="1100" b="1" kern="0" spc="160" dirty="0">
                <a:solidFill>
                  <a:srgbClr val="22D3EE"/>
                </a:solidFill>
                <a:latin typeface="Aptos" pitchFamily="34" charset="0"/>
                <a:ea typeface="Aptos" pitchFamily="34" charset="-122"/>
                <a:cs typeface="Aptos" pitchFamily="34" charset="-120"/>
              </a:rPr>
              <a:t>MODEL SELECTION</a:t>
            </a:r>
            <a:endParaRPr lang="en-US" sz="1100" dirty="0"/>
          </a:p>
        </p:txBody>
      </p:sp>
      <p:sp>
        <p:nvSpPr>
          <p:cNvPr id="3" name="Text 1"/>
          <p:cNvSpPr/>
          <p:nvPr/>
        </p:nvSpPr>
        <p:spPr>
          <a:xfrm>
            <a:off x="548640" y="713232"/>
            <a:ext cx="11018520" cy="566928"/>
          </a:xfrm>
          <a:prstGeom prst="rect">
            <a:avLst/>
          </a:prstGeom>
          <a:noFill/>
          <a:ln/>
        </p:spPr>
        <p:txBody>
          <a:bodyPr wrap="square" lIns="0" tIns="0" rIns="0" bIns="0" rtlCol="0" anchor="ctr">
            <a:normAutofit/>
          </a:bodyPr>
          <a:lstStyle/>
          <a:p>
            <a:pPr marL="0" indent="0">
              <a:buNone/>
            </a:pPr>
            <a:r>
              <a:rPr lang="en-US" sz="3000" b="1" dirty="0">
                <a:solidFill>
                  <a:srgbClr val="F7F7FB"/>
                </a:solidFill>
                <a:latin typeface="Aptos Display" pitchFamily="34" charset="0"/>
                <a:ea typeface="Aptos Display" pitchFamily="34" charset="-122"/>
                <a:cs typeface="Aptos Display" pitchFamily="34" charset="-120"/>
              </a:rPr>
              <a:t>Explore models</a:t>
            </a:r>
            <a:endParaRPr lang="en-US" sz="3000" dirty="0"/>
          </a:p>
        </p:txBody>
      </p:sp>
      <p:sp>
        <p:nvSpPr>
          <p:cNvPr id="4" name="Text 2"/>
          <p:cNvSpPr/>
          <p:nvPr/>
        </p:nvSpPr>
        <p:spPr>
          <a:xfrm>
            <a:off x="502920" y="6528816"/>
            <a:ext cx="10789920" cy="164592"/>
          </a:xfrm>
          <a:prstGeom prst="rect">
            <a:avLst/>
          </a:prstGeom>
          <a:noFill/>
          <a:ln/>
        </p:spPr>
        <p:txBody>
          <a:bodyPr wrap="square" lIns="0" tIns="0" rIns="0" bIns="0" rtlCol="0" anchor="ctr"/>
          <a:lstStyle/>
          <a:p>
            <a:pPr marL="0" indent="0">
              <a:buNone/>
            </a:pPr>
            <a:r>
              <a:rPr lang="en-US" sz="850" dirty="0">
                <a:solidFill>
                  <a:srgbClr val="837E92"/>
                </a:solidFill>
                <a:latin typeface="Aptos" pitchFamily="34" charset="0"/>
                <a:ea typeface="Aptos" pitchFamily="34" charset="-122"/>
                <a:cs typeface="Aptos" pitchFamily="34" charset="-120"/>
              </a:rPr>
              <a:t>Microsoft Foundry | General overview demo</a:t>
            </a:r>
            <a:endParaRPr lang="en-US" sz="850" dirty="0"/>
          </a:p>
        </p:txBody>
      </p:sp>
      <p:sp>
        <p:nvSpPr>
          <p:cNvPr id="5" name="Text 3"/>
          <p:cNvSpPr/>
          <p:nvPr/>
        </p:nvSpPr>
        <p:spPr>
          <a:xfrm>
            <a:off x="11292840" y="6473952"/>
            <a:ext cx="384048" cy="228600"/>
          </a:xfrm>
          <a:prstGeom prst="rect">
            <a:avLst/>
          </a:prstGeom>
          <a:noFill/>
          <a:ln/>
        </p:spPr>
        <p:txBody>
          <a:bodyPr wrap="square" lIns="0" tIns="0" rIns="0" bIns="0" rtlCol="0" anchor="ctr"/>
          <a:lstStyle/>
          <a:p>
            <a:pPr marL="0" indent="0" algn="r">
              <a:buNone/>
            </a:pPr>
            <a:r>
              <a:rPr lang="en-US" sz="900" b="1" dirty="0">
                <a:solidFill>
                  <a:srgbClr val="C4B5FD"/>
                </a:solidFill>
                <a:latin typeface="Aptos" pitchFamily="34" charset="0"/>
                <a:ea typeface="Aptos" pitchFamily="34" charset="-122"/>
                <a:cs typeface="Aptos" pitchFamily="34" charset="-120"/>
              </a:rPr>
              <a:t>13</a:t>
            </a:r>
            <a:endParaRPr lang="en-US" sz="900" dirty="0"/>
          </a:p>
        </p:txBody>
      </p:sp>
      <p:sp>
        <p:nvSpPr>
          <p:cNvPr id="6" name="Shape 4"/>
          <p:cNvSpPr/>
          <p:nvPr/>
        </p:nvSpPr>
        <p:spPr>
          <a:xfrm>
            <a:off x="566928" y="4608576"/>
            <a:ext cx="11045952" cy="1353312"/>
          </a:xfrm>
          <a:prstGeom prst="roundRect">
            <a:avLst>
              <a:gd name="adj" fmla="val 5405"/>
            </a:avLst>
          </a:prstGeom>
          <a:solidFill>
            <a:srgbClr val="111016"/>
          </a:solidFill>
          <a:ln w="12700">
            <a:solidFill>
              <a:srgbClr val="3C3747"/>
            </a:solidFill>
            <a:prstDash val="solid"/>
          </a:ln>
          <a:effectLst>
            <a:outerShdw blurRad="38100" dist="50800" dir="2700000" algn="bl" rotWithShape="0">
              <a:srgbClr val="000000">
                <a:alpha val="24000"/>
              </a:srgbClr>
            </a:outerShdw>
          </a:effectLst>
        </p:spPr>
      </p:sp>
      <p:pic>
        <p:nvPicPr>
          <p:cNvPr id="7" name="Image 0" descr="Microsoft Foundry portal screenshot"/>
          <p:cNvPicPr>
            <a:picLocks noChangeAspect="1"/>
          </p:cNvPicPr>
          <p:nvPr/>
        </p:nvPicPr>
        <p:blipFill>
          <a:blip r:embed="rId3"/>
          <a:stretch>
            <a:fillRect/>
          </a:stretch>
        </p:blipFill>
        <p:spPr>
          <a:xfrm>
            <a:off x="1243584" y="4690872"/>
            <a:ext cx="9692640" cy="969264"/>
          </a:xfrm>
          <a:prstGeom prst="rect">
            <a:avLst/>
          </a:prstGeom>
        </p:spPr>
      </p:pic>
      <p:sp>
        <p:nvSpPr>
          <p:cNvPr id="8" name="Text 5"/>
          <p:cNvSpPr/>
          <p:nvPr/>
        </p:nvSpPr>
        <p:spPr>
          <a:xfrm>
            <a:off x="713232" y="5715000"/>
            <a:ext cx="10753344" cy="146304"/>
          </a:xfrm>
          <a:prstGeom prst="rect">
            <a:avLst/>
          </a:prstGeom>
          <a:noFill/>
          <a:ln/>
        </p:spPr>
        <p:txBody>
          <a:bodyPr wrap="square" lIns="0" tIns="0" rIns="0" bIns="0" rtlCol="0" anchor="ctr"/>
          <a:lstStyle/>
          <a:p>
            <a:pPr marL="0" indent="0" algn="ctr">
              <a:buNone/>
            </a:pPr>
            <a:r>
              <a:rPr lang="en-US" sz="850" i="1" dirty="0">
                <a:solidFill>
                  <a:srgbClr val="837E92"/>
                </a:solidFill>
              </a:rPr>
              <a:t>Browse available models</a:t>
            </a:r>
            <a:endParaRPr lang="en-US" sz="850" dirty="0"/>
          </a:p>
        </p:txBody>
      </p:sp>
      <p:sp>
        <p:nvSpPr>
          <p:cNvPr id="9" name="Shape 6"/>
          <p:cNvSpPr/>
          <p:nvPr/>
        </p:nvSpPr>
        <p:spPr>
          <a:xfrm>
            <a:off x="566928" y="1481328"/>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0" name="Shape 7"/>
          <p:cNvSpPr/>
          <p:nvPr/>
        </p:nvSpPr>
        <p:spPr>
          <a:xfrm>
            <a:off x="566928" y="1481328"/>
            <a:ext cx="64008" cy="2788920"/>
          </a:xfrm>
          <a:prstGeom prst="rect">
            <a:avLst/>
          </a:prstGeom>
          <a:solidFill>
            <a:srgbClr val="8B5CF6"/>
          </a:solidFill>
          <a:ln w="12700">
            <a:solidFill>
              <a:srgbClr val="8B5CF6">
                <a:alpha val="0"/>
              </a:srgbClr>
            </a:solidFill>
            <a:prstDash val="solid"/>
          </a:ln>
        </p:spPr>
      </p:sp>
      <p:sp>
        <p:nvSpPr>
          <p:cNvPr id="11" name="Text 8"/>
          <p:cNvSpPr/>
          <p:nvPr/>
        </p:nvSpPr>
        <p:spPr>
          <a:xfrm>
            <a:off x="822960" y="1700784"/>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What it is</a:t>
            </a:r>
            <a:endParaRPr lang="en-US" sz="1800" dirty="0"/>
          </a:p>
        </p:txBody>
      </p:sp>
      <p:sp>
        <p:nvSpPr>
          <p:cNvPr id="12" name="Text 9"/>
          <p:cNvSpPr/>
          <p:nvPr/>
        </p:nvSpPr>
        <p:spPr>
          <a:xfrm>
            <a:off x="822960" y="2139696"/>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The gateway to the Foundry model catalog, covering Microsoft, OpenAI, Anthropic, Meta, DeepSeek, and other providers.</a:t>
            </a:r>
            <a:endParaRPr lang="en-US" sz="1150" dirty="0"/>
          </a:p>
        </p:txBody>
      </p:sp>
      <p:sp>
        <p:nvSpPr>
          <p:cNvPr id="13" name="Shape 10"/>
          <p:cNvSpPr/>
          <p:nvPr/>
        </p:nvSpPr>
        <p:spPr>
          <a:xfrm>
            <a:off x="4334256" y="1481328"/>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4" name="Shape 11"/>
          <p:cNvSpPr/>
          <p:nvPr/>
        </p:nvSpPr>
        <p:spPr>
          <a:xfrm>
            <a:off x="4334256" y="1481328"/>
            <a:ext cx="64008" cy="2788920"/>
          </a:xfrm>
          <a:prstGeom prst="rect">
            <a:avLst/>
          </a:prstGeom>
          <a:solidFill>
            <a:srgbClr val="22D3EE"/>
          </a:solidFill>
          <a:ln w="12700">
            <a:solidFill>
              <a:srgbClr val="22D3EE">
                <a:alpha val="0"/>
              </a:srgbClr>
            </a:solidFill>
            <a:prstDash val="solid"/>
          </a:ln>
        </p:spPr>
      </p:sp>
      <p:sp>
        <p:nvSpPr>
          <p:cNvPr id="15" name="Text 12"/>
          <p:cNvSpPr/>
          <p:nvPr/>
        </p:nvSpPr>
        <p:spPr>
          <a:xfrm>
            <a:off x="4590288" y="1700784"/>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What it does</a:t>
            </a:r>
            <a:endParaRPr lang="en-US" sz="1800" dirty="0"/>
          </a:p>
        </p:txBody>
      </p:sp>
      <p:sp>
        <p:nvSpPr>
          <p:cNvPr id="16" name="Text 13"/>
          <p:cNvSpPr/>
          <p:nvPr/>
        </p:nvSpPr>
        <p:spPr>
          <a:xfrm>
            <a:off x="4590288" y="2139696"/>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Browse model cards, modalities, task fit, regions, deployment options, provider terms, benchmarks, and availability. Foundry documents a catalog of more than 10,000 models.</a:t>
            </a:r>
            <a:endParaRPr lang="en-US" sz="1150" dirty="0"/>
          </a:p>
        </p:txBody>
      </p:sp>
      <p:sp>
        <p:nvSpPr>
          <p:cNvPr id="17" name="Shape 14"/>
          <p:cNvSpPr/>
          <p:nvPr/>
        </p:nvSpPr>
        <p:spPr>
          <a:xfrm>
            <a:off x="8083296" y="1481328"/>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8" name="Shape 15"/>
          <p:cNvSpPr/>
          <p:nvPr/>
        </p:nvSpPr>
        <p:spPr>
          <a:xfrm>
            <a:off x="8083296" y="1481328"/>
            <a:ext cx="64008" cy="2788920"/>
          </a:xfrm>
          <a:prstGeom prst="rect">
            <a:avLst/>
          </a:prstGeom>
          <a:solidFill>
            <a:srgbClr val="34D399"/>
          </a:solidFill>
          <a:ln w="12700">
            <a:solidFill>
              <a:srgbClr val="34D399">
                <a:alpha val="0"/>
              </a:srgbClr>
            </a:solidFill>
            <a:prstDash val="solid"/>
          </a:ln>
        </p:spPr>
      </p:sp>
      <p:sp>
        <p:nvSpPr>
          <p:cNvPr id="19" name="Text 16"/>
          <p:cNvSpPr/>
          <p:nvPr/>
        </p:nvSpPr>
        <p:spPr>
          <a:xfrm>
            <a:off x="8339328" y="1700784"/>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Business value</a:t>
            </a:r>
            <a:endParaRPr lang="en-US" sz="1800" dirty="0"/>
          </a:p>
        </p:txBody>
      </p:sp>
      <p:sp>
        <p:nvSpPr>
          <p:cNvPr id="20" name="Text 17"/>
          <p:cNvSpPr/>
          <p:nvPr/>
        </p:nvSpPr>
        <p:spPr>
          <a:xfrm>
            <a:off x="8339328" y="2139696"/>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Avoids locking teams into one model prematurely. A broad governed catalog allows fit-for-purpose choices across quality, latency, cost, modality, and deployment requirements.</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0E0D12"/>
        </a:solidFill>
        <a:effectLst/>
      </p:bgPr>
    </p:bg>
    <p:spTree>
      <p:nvGrpSpPr>
        <p:cNvPr id="1" name=""/>
        <p:cNvGrpSpPr/>
        <p:nvPr/>
      </p:nvGrpSpPr>
      <p:grpSpPr>
        <a:xfrm>
          <a:off x="0" y="0"/>
          <a:ext cx="0" cy="0"/>
          <a:chOff x="0" y="0"/>
          <a:chExt cx="0" cy="0"/>
        </a:xfrm>
      </p:grpSpPr>
      <p:sp>
        <p:nvSpPr>
          <p:cNvPr id="2" name="Text 0"/>
          <p:cNvSpPr/>
          <p:nvPr/>
        </p:nvSpPr>
        <p:spPr>
          <a:xfrm>
            <a:off x="566928" y="384048"/>
            <a:ext cx="4389120" cy="256032"/>
          </a:xfrm>
          <a:prstGeom prst="rect">
            <a:avLst/>
          </a:prstGeom>
          <a:noFill/>
          <a:ln/>
        </p:spPr>
        <p:txBody>
          <a:bodyPr wrap="square" lIns="0" tIns="0" rIns="0" bIns="0" rtlCol="0" anchor="ctr"/>
          <a:lstStyle/>
          <a:p>
            <a:pPr marL="0" indent="0">
              <a:buNone/>
            </a:pPr>
            <a:r>
              <a:rPr lang="en-US" sz="1100" b="1" kern="0" spc="160" dirty="0">
                <a:solidFill>
                  <a:srgbClr val="22D3EE"/>
                </a:solidFill>
                <a:latin typeface="Aptos" pitchFamily="34" charset="0"/>
                <a:ea typeface="Aptos" pitchFamily="34" charset="-122"/>
                <a:cs typeface="Aptos" pitchFamily="34" charset="-120"/>
              </a:rPr>
              <a:t>MODEL SELECTION</a:t>
            </a:r>
            <a:endParaRPr lang="en-US" sz="1100" dirty="0"/>
          </a:p>
        </p:txBody>
      </p:sp>
      <p:sp>
        <p:nvSpPr>
          <p:cNvPr id="3" name="Text 1"/>
          <p:cNvSpPr/>
          <p:nvPr/>
        </p:nvSpPr>
        <p:spPr>
          <a:xfrm>
            <a:off x="548640" y="713232"/>
            <a:ext cx="11018520" cy="566928"/>
          </a:xfrm>
          <a:prstGeom prst="rect">
            <a:avLst/>
          </a:prstGeom>
          <a:noFill/>
          <a:ln/>
        </p:spPr>
        <p:txBody>
          <a:bodyPr wrap="square" lIns="0" tIns="0" rIns="0" bIns="0" rtlCol="0" anchor="ctr">
            <a:normAutofit/>
          </a:bodyPr>
          <a:lstStyle/>
          <a:p>
            <a:pPr marL="0" indent="0">
              <a:buNone/>
            </a:pPr>
            <a:r>
              <a:rPr lang="en-US" sz="3000" b="1" dirty="0">
                <a:solidFill>
                  <a:srgbClr val="F7F7FB"/>
                </a:solidFill>
                <a:latin typeface="Aptos Display" pitchFamily="34" charset="0"/>
                <a:ea typeface="Aptos Display" pitchFamily="34" charset="-122"/>
                <a:cs typeface="Aptos Display" pitchFamily="34" charset="-120"/>
              </a:rPr>
              <a:t>Compare models</a:t>
            </a:r>
            <a:endParaRPr lang="en-US" sz="3000" dirty="0"/>
          </a:p>
        </p:txBody>
      </p:sp>
      <p:sp>
        <p:nvSpPr>
          <p:cNvPr id="4" name="Text 2"/>
          <p:cNvSpPr/>
          <p:nvPr/>
        </p:nvSpPr>
        <p:spPr>
          <a:xfrm>
            <a:off x="502920" y="6528816"/>
            <a:ext cx="10789920" cy="164592"/>
          </a:xfrm>
          <a:prstGeom prst="rect">
            <a:avLst/>
          </a:prstGeom>
          <a:noFill/>
          <a:ln/>
        </p:spPr>
        <p:txBody>
          <a:bodyPr wrap="square" lIns="0" tIns="0" rIns="0" bIns="0" rtlCol="0" anchor="ctr"/>
          <a:lstStyle/>
          <a:p>
            <a:pPr marL="0" indent="0">
              <a:buNone/>
            </a:pPr>
            <a:r>
              <a:rPr lang="en-US" sz="850" dirty="0">
                <a:solidFill>
                  <a:srgbClr val="837E92"/>
                </a:solidFill>
                <a:latin typeface="Aptos" pitchFamily="34" charset="0"/>
                <a:ea typeface="Aptos" pitchFamily="34" charset="-122"/>
                <a:cs typeface="Aptos" pitchFamily="34" charset="-120"/>
              </a:rPr>
              <a:t>Microsoft Foundry | General overview demo</a:t>
            </a:r>
            <a:endParaRPr lang="en-US" sz="850" dirty="0"/>
          </a:p>
        </p:txBody>
      </p:sp>
      <p:sp>
        <p:nvSpPr>
          <p:cNvPr id="5" name="Text 3"/>
          <p:cNvSpPr/>
          <p:nvPr/>
        </p:nvSpPr>
        <p:spPr>
          <a:xfrm>
            <a:off x="11292840" y="6473952"/>
            <a:ext cx="384048" cy="228600"/>
          </a:xfrm>
          <a:prstGeom prst="rect">
            <a:avLst/>
          </a:prstGeom>
          <a:noFill/>
          <a:ln/>
        </p:spPr>
        <p:txBody>
          <a:bodyPr wrap="square" lIns="0" tIns="0" rIns="0" bIns="0" rtlCol="0" anchor="ctr"/>
          <a:lstStyle/>
          <a:p>
            <a:pPr marL="0" indent="0" algn="r">
              <a:buNone/>
            </a:pPr>
            <a:r>
              <a:rPr lang="en-US" sz="900" b="1" dirty="0">
                <a:solidFill>
                  <a:srgbClr val="C4B5FD"/>
                </a:solidFill>
                <a:latin typeface="Aptos" pitchFamily="34" charset="0"/>
                <a:ea typeface="Aptos" pitchFamily="34" charset="-122"/>
                <a:cs typeface="Aptos" pitchFamily="34" charset="-120"/>
              </a:rPr>
              <a:t>14</a:t>
            </a:r>
            <a:endParaRPr lang="en-US" sz="900" dirty="0"/>
          </a:p>
        </p:txBody>
      </p:sp>
      <p:sp>
        <p:nvSpPr>
          <p:cNvPr id="6" name="Shape 4"/>
          <p:cNvSpPr/>
          <p:nvPr/>
        </p:nvSpPr>
        <p:spPr>
          <a:xfrm>
            <a:off x="566928" y="1444752"/>
            <a:ext cx="11045952" cy="1353312"/>
          </a:xfrm>
          <a:prstGeom prst="roundRect">
            <a:avLst>
              <a:gd name="adj" fmla="val 5405"/>
            </a:avLst>
          </a:prstGeom>
          <a:solidFill>
            <a:srgbClr val="111016"/>
          </a:solidFill>
          <a:ln w="12700">
            <a:solidFill>
              <a:srgbClr val="3C3747"/>
            </a:solidFill>
            <a:prstDash val="solid"/>
          </a:ln>
          <a:effectLst>
            <a:outerShdw blurRad="38100" dist="50800" dir="2700000" algn="bl" rotWithShape="0">
              <a:srgbClr val="000000">
                <a:alpha val="24000"/>
              </a:srgbClr>
            </a:outerShdw>
          </a:effectLst>
        </p:spPr>
      </p:sp>
      <p:pic>
        <p:nvPicPr>
          <p:cNvPr id="7" name="Image 0" descr="Microsoft Foundry portal screenshot"/>
          <p:cNvPicPr>
            <a:picLocks noChangeAspect="1"/>
          </p:cNvPicPr>
          <p:nvPr/>
        </p:nvPicPr>
        <p:blipFill>
          <a:blip r:embed="rId3"/>
          <a:stretch>
            <a:fillRect/>
          </a:stretch>
        </p:blipFill>
        <p:spPr>
          <a:xfrm>
            <a:off x="1243584" y="1527048"/>
            <a:ext cx="9692640" cy="969264"/>
          </a:xfrm>
          <a:prstGeom prst="rect">
            <a:avLst/>
          </a:prstGeom>
        </p:spPr>
      </p:pic>
      <p:sp>
        <p:nvSpPr>
          <p:cNvPr id="8" name="Text 5"/>
          <p:cNvSpPr/>
          <p:nvPr/>
        </p:nvSpPr>
        <p:spPr>
          <a:xfrm>
            <a:off x="713232" y="2551176"/>
            <a:ext cx="10753344" cy="146304"/>
          </a:xfrm>
          <a:prstGeom prst="rect">
            <a:avLst/>
          </a:prstGeom>
          <a:noFill/>
          <a:ln/>
        </p:spPr>
        <p:txBody>
          <a:bodyPr wrap="square" lIns="0" tIns="0" rIns="0" bIns="0" rtlCol="0" anchor="ctr"/>
          <a:lstStyle/>
          <a:p>
            <a:pPr marL="0" indent="0" algn="ctr">
              <a:buNone/>
            </a:pPr>
            <a:r>
              <a:rPr lang="en-US" sz="850" i="1" dirty="0">
                <a:solidFill>
                  <a:srgbClr val="837E92"/>
                </a:solidFill>
              </a:rPr>
              <a:t>Benchmark and side-by-side comparison</a:t>
            </a:r>
            <a:endParaRPr lang="en-US" sz="850" dirty="0"/>
          </a:p>
        </p:txBody>
      </p:sp>
      <p:sp>
        <p:nvSpPr>
          <p:cNvPr id="9" name="Shape 6"/>
          <p:cNvSpPr/>
          <p:nvPr/>
        </p:nvSpPr>
        <p:spPr>
          <a:xfrm>
            <a:off x="566928" y="2999232"/>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0" name="Shape 7"/>
          <p:cNvSpPr/>
          <p:nvPr/>
        </p:nvSpPr>
        <p:spPr>
          <a:xfrm>
            <a:off x="566928" y="2999232"/>
            <a:ext cx="64008" cy="2788920"/>
          </a:xfrm>
          <a:prstGeom prst="rect">
            <a:avLst/>
          </a:prstGeom>
          <a:solidFill>
            <a:srgbClr val="8B5CF6"/>
          </a:solidFill>
          <a:ln w="12700">
            <a:solidFill>
              <a:srgbClr val="8B5CF6">
                <a:alpha val="0"/>
              </a:srgbClr>
            </a:solidFill>
            <a:prstDash val="solid"/>
          </a:ln>
        </p:spPr>
      </p:sp>
      <p:sp>
        <p:nvSpPr>
          <p:cNvPr id="11" name="Text 8"/>
          <p:cNvSpPr/>
          <p:nvPr/>
        </p:nvSpPr>
        <p:spPr>
          <a:xfrm>
            <a:off x="822960" y="3218688"/>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What it is</a:t>
            </a:r>
            <a:endParaRPr lang="en-US" sz="1800" dirty="0"/>
          </a:p>
        </p:txBody>
      </p:sp>
      <p:sp>
        <p:nvSpPr>
          <p:cNvPr id="12" name="Text 9"/>
          <p:cNvSpPr/>
          <p:nvPr/>
        </p:nvSpPr>
        <p:spPr>
          <a:xfrm>
            <a:off x="822960" y="3657600"/>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A side-by-side way to review model benchmarks and test multiple deployed models with synchronized prompts.</a:t>
            </a:r>
            <a:endParaRPr lang="en-US" sz="1150" dirty="0"/>
          </a:p>
        </p:txBody>
      </p:sp>
      <p:sp>
        <p:nvSpPr>
          <p:cNvPr id="13" name="Shape 10"/>
          <p:cNvSpPr/>
          <p:nvPr/>
        </p:nvSpPr>
        <p:spPr>
          <a:xfrm>
            <a:off x="4334256" y="2999232"/>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4" name="Shape 11"/>
          <p:cNvSpPr/>
          <p:nvPr/>
        </p:nvSpPr>
        <p:spPr>
          <a:xfrm>
            <a:off x="4334256" y="2999232"/>
            <a:ext cx="64008" cy="2788920"/>
          </a:xfrm>
          <a:prstGeom prst="rect">
            <a:avLst/>
          </a:prstGeom>
          <a:solidFill>
            <a:srgbClr val="22D3EE"/>
          </a:solidFill>
          <a:ln w="12700">
            <a:solidFill>
              <a:srgbClr val="22D3EE">
                <a:alpha val="0"/>
              </a:srgbClr>
            </a:solidFill>
            <a:prstDash val="solid"/>
          </a:ln>
        </p:spPr>
      </p:sp>
      <p:sp>
        <p:nvSpPr>
          <p:cNvPr id="15" name="Text 12"/>
          <p:cNvSpPr/>
          <p:nvPr/>
        </p:nvSpPr>
        <p:spPr>
          <a:xfrm>
            <a:off x="4590288" y="3218688"/>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What it does</a:t>
            </a:r>
            <a:endParaRPr lang="en-US" sz="1800" dirty="0"/>
          </a:p>
        </p:txBody>
      </p:sp>
      <p:sp>
        <p:nvSpPr>
          <p:cNvPr id="16" name="Text 13"/>
          <p:cNvSpPr/>
          <p:nvPr/>
        </p:nvSpPr>
        <p:spPr>
          <a:xfrm>
            <a:off x="4590288" y="3657600"/>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Compare quality, safety, performance, and cost benchmarks. In playground compare mode, run the same prompt across up to three models and inspect responses and latency together.</a:t>
            </a:r>
            <a:endParaRPr lang="en-US" sz="1150" dirty="0"/>
          </a:p>
        </p:txBody>
      </p:sp>
      <p:sp>
        <p:nvSpPr>
          <p:cNvPr id="17" name="Shape 14"/>
          <p:cNvSpPr/>
          <p:nvPr/>
        </p:nvSpPr>
        <p:spPr>
          <a:xfrm>
            <a:off x="8083296" y="2999232"/>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8" name="Shape 15"/>
          <p:cNvSpPr/>
          <p:nvPr/>
        </p:nvSpPr>
        <p:spPr>
          <a:xfrm>
            <a:off x="8083296" y="2999232"/>
            <a:ext cx="64008" cy="2788920"/>
          </a:xfrm>
          <a:prstGeom prst="rect">
            <a:avLst/>
          </a:prstGeom>
          <a:solidFill>
            <a:srgbClr val="34D399"/>
          </a:solidFill>
          <a:ln w="12700">
            <a:solidFill>
              <a:srgbClr val="34D399">
                <a:alpha val="0"/>
              </a:srgbClr>
            </a:solidFill>
            <a:prstDash val="solid"/>
          </a:ln>
        </p:spPr>
      </p:sp>
      <p:sp>
        <p:nvSpPr>
          <p:cNvPr id="19" name="Text 16"/>
          <p:cNvSpPr/>
          <p:nvPr/>
        </p:nvSpPr>
        <p:spPr>
          <a:xfrm>
            <a:off x="8339328" y="3218688"/>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Business value</a:t>
            </a:r>
            <a:endParaRPr lang="en-US" sz="1800" dirty="0"/>
          </a:p>
        </p:txBody>
      </p:sp>
      <p:sp>
        <p:nvSpPr>
          <p:cNvPr id="20" name="Text 17"/>
          <p:cNvSpPr/>
          <p:nvPr/>
        </p:nvSpPr>
        <p:spPr>
          <a:xfrm>
            <a:off x="8339328" y="3657600"/>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Turns model selection from opinion into evidence. Side-by-side testing helps prevent overpaying for capability or accepting a lower-quality model for a critical task.</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0E0D12"/>
        </a:solidFill>
        <a:effectLst/>
      </p:bgPr>
    </p:bg>
    <p:spTree>
      <p:nvGrpSpPr>
        <p:cNvPr id="1" name=""/>
        <p:cNvGrpSpPr/>
        <p:nvPr/>
      </p:nvGrpSpPr>
      <p:grpSpPr>
        <a:xfrm>
          <a:off x="0" y="0"/>
          <a:ext cx="0" cy="0"/>
          <a:chOff x="0" y="0"/>
          <a:chExt cx="0" cy="0"/>
        </a:xfrm>
      </p:grpSpPr>
      <p:sp>
        <p:nvSpPr>
          <p:cNvPr id="2" name="Text 0"/>
          <p:cNvSpPr/>
          <p:nvPr/>
        </p:nvSpPr>
        <p:spPr>
          <a:xfrm>
            <a:off x="566928" y="384048"/>
            <a:ext cx="4389120" cy="256032"/>
          </a:xfrm>
          <a:prstGeom prst="rect">
            <a:avLst/>
          </a:prstGeom>
          <a:noFill/>
          <a:ln/>
        </p:spPr>
        <p:txBody>
          <a:bodyPr wrap="square" lIns="0" tIns="0" rIns="0" bIns="0" rtlCol="0" anchor="ctr"/>
          <a:lstStyle/>
          <a:p>
            <a:pPr marL="0" indent="0">
              <a:buNone/>
            </a:pPr>
            <a:r>
              <a:rPr lang="en-US" sz="1100" b="1" kern="0" spc="160" dirty="0">
                <a:solidFill>
                  <a:srgbClr val="22D3EE"/>
                </a:solidFill>
                <a:latin typeface="Aptos" pitchFamily="34" charset="0"/>
                <a:ea typeface="Aptos" pitchFamily="34" charset="-122"/>
                <a:cs typeface="Aptos" pitchFamily="34" charset="-120"/>
              </a:rPr>
              <a:t>HOME COMPONENT</a:t>
            </a:r>
            <a:endParaRPr lang="en-US" sz="1100" dirty="0"/>
          </a:p>
        </p:txBody>
      </p:sp>
      <p:sp>
        <p:nvSpPr>
          <p:cNvPr id="3" name="Text 1"/>
          <p:cNvSpPr/>
          <p:nvPr/>
        </p:nvSpPr>
        <p:spPr>
          <a:xfrm>
            <a:off x="548640" y="713232"/>
            <a:ext cx="11018520" cy="566928"/>
          </a:xfrm>
          <a:prstGeom prst="rect">
            <a:avLst/>
          </a:prstGeom>
          <a:noFill/>
          <a:ln/>
        </p:spPr>
        <p:txBody>
          <a:bodyPr wrap="square" lIns="0" tIns="0" rIns="0" bIns="0" rtlCol="0" anchor="ctr">
            <a:normAutofit/>
          </a:bodyPr>
          <a:lstStyle/>
          <a:p>
            <a:pPr marL="0" indent="0">
              <a:buNone/>
            </a:pPr>
            <a:r>
              <a:rPr lang="en-US" sz="3000" b="1" dirty="0">
                <a:solidFill>
                  <a:srgbClr val="F7F7FB"/>
                </a:solidFill>
                <a:latin typeface="Aptos Display" pitchFamily="34" charset="0"/>
                <a:ea typeface="Aptos Display" pitchFamily="34" charset="-122"/>
                <a:cs typeface="Aptos Display" pitchFamily="34" charset="-120"/>
              </a:rPr>
              <a:t>Featured model carousel</a:t>
            </a:r>
            <a:endParaRPr lang="en-US" sz="3000" dirty="0"/>
          </a:p>
        </p:txBody>
      </p:sp>
      <p:sp>
        <p:nvSpPr>
          <p:cNvPr id="4" name="Text 2"/>
          <p:cNvSpPr/>
          <p:nvPr/>
        </p:nvSpPr>
        <p:spPr>
          <a:xfrm>
            <a:off x="502920" y="6528816"/>
            <a:ext cx="10789920" cy="164592"/>
          </a:xfrm>
          <a:prstGeom prst="rect">
            <a:avLst/>
          </a:prstGeom>
          <a:noFill/>
          <a:ln/>
        </p:spPr>
        <p:txBody>
          <a:bodyPr wrap="square" lIns="0" tIns="0" rIns="0" bIns="0" rtlCol="0" anchor="ctr"/>
          <a:lstStyle/>
          <a:p>
            <a:pPr marL="0" indent="0">
              <a:buNone/>
            </a:pPr>
            <a:r>
              <a:rPr lang="en-US" sz="850" dirty="0">
                <a:solidFill>
                  <a:srgbClr val="837E92"/>
                </a:solidFill>
                <a:latin typeface="Aptos" pitchFamily="34" charset="0"/>
                <a:ea typeface="Aptos" pitchFamily="34" charset="-122"/>
                <a:cs typeface="Aptos" pitchFamily="34" charset="-120"/>
              </a:rPr>
              <a:t>Microsoft Foundry | General overview demo</a:t>
            </a:r>
            <a:endParaRPr lang="en-US" sz="850" dirty="0"/>
          </a:p>
        </p:txBody>
      </p:sp>
      <p:sp>
        <p:nvSpPr>
          <p:cNvPr id="5" name="Text 3"/>
          <p:cNvSpPr/>
          <p:nvPr/>
        </p:nvSpPr>
        <p:spPr>
          <a:xfrm>
            <a:off x="11292840" y="6473952"/>
            <a:ext cx="384048" cy="228600"/>
          </a:xfrm>
          <a:prstGeom prst="rect">
            <a:avLst/>
          </a:prstGeom>
          <a:noFill/>
          <a:ln/>
        </p:spPr>
        <p:txBody>
          <a:bodyPr wrap="square" lIns="0" tIns="0" rIns="0" bIns="0" rtlCol="0" anchor="ctr"/>
          <a:lstStyle/>
          <a:p>
            <a:pPr marL="0" indent="0" algn="r">
              <a:buNone/>
            </a:pPr>
            <a:r>
              <a:rPr lang="en-US" sz="900" b="1" dirty="0">
                <a:solidFill>
                  <a:srgbClr val="C4B5FD"/>
                </a:solidFill>
                <a:latin typeface="Aptos" pitchFamily="34" charset="0"/>
                <a:ea typeface="Aptos" pitchFamily="34" charset="-122"/>
                <a:cs typeface="Aptos" pitchFamily="34" charset="-120"/>
              </a:rPr>
              <a:t>15</a:t>
            </a:r>
            <a:endParaRPr lang="en-US" sz="900" dirty="0"/>
          </a:p>
        </p:txBody>
      </p:sp>
      <p:sp>
        <p:nvSpPr>
          <p:cNvPr id="6" name="Shape 4"/>
          <p:cNvSpPr/>
          <p:nvPr/>
        </p:nvSpPr>
        <p:spPr>
          <a:xfrm>
            <a:off x="566928" y="4608576"/>
            <a:ext cx="11045952" cy="1353312"/>
          </a:xfrm>
          <a:prstGeom prst="roundRect">
            <a:avLst>
              <a:gd name="adj" fmla="val 5405"/>
            </a:avLst>
          </a:prstGeom>
          <a:solidFill>
            <a:srgbClr val="111016"/>
          </a:solidFill>
          <a:ln w="12700">
            <a:solidFill>
              <a:srgbClr val="3C3747"/>
            </a:solidFill>
            <a:prstDash val="solid"/>
          </a:ln>
          <a:effectLst>
            <a:outerShdw blurRad="38100" dist="50800" dir="2700000" algn="bl" rotWithShape="0">
              <a:srgbClr val="000000">
                <a:alpha val="24000"/>
              </a:srgbClr>
            </a:outerShdw>
          </a:effectLst>
        </p:spPr>
      </p:sp>
      <p:pic>
        <p:nvPicPr>
          <p:cNvPr id="7" name="Image 0" descr="Microsoft Foundry portal screenshot"/>
          <p:cNvPicPr>
            <a:picLocks noChangeAspect="1"/>
          </p:cNvPicPr>
          <p:nvPr/>
        </p:nvPicPr>
        <p:blipFill>
          <a:blip r:embed="rId3"/>
          <a:stretch>
            <a:fillRect/>
          </a:stretch>
        </p:blipFill>
        <p:spPr>
          <a:xfrm>
            <a:off x="1243584" y="4690872"/>
            <a:ext cx="9692640" cy="969264"/>
          </a:xfrm>
          <a:prstGeom prst="rect">
            <a:avLst/>
          </a:prstGeom>
        </p:spPr>
      </p:pic>
      <p:sp>
        <p:nvSpPr>
          <p:cNvPr id="8" name="Text 5"/>
          <p:cNvSpPr/>
          <p:nvPr/>
        </p:nvSpPr>
        <p:spPr>
          <a:xfrm>
            <a:off x="713232" y="5715000"/>
            <a:ext cx="10753344" cy="146304"/>
          </a:xfrm>
          <a:prstGeom prst="rect">
            <a:avLst/>
          </a:prstGeom>
          <a:noFill/>
          <a:ln/>
        </p:spPr>
        <p:txBody>
          <a:bodyPr wrap="square" lIns="0" tIns="0" rIns="0" bIns="0" rtlCol="0" anchor="ctr"/>
          <a:lstStyle/>
          <a:p>
            <a:pPr marL="0" indent="0" algn="ctr">
              <a:buNone/>
            </a:pPr>
            <a:r>
              <a:rPr lang="en-US" sz="850" i="1" dirty="0">
                <a:solidFill>
                  <a:srgbClr val="837E92"/>
                </a:solidFill>
              </a:rPr>
              <a:t>Highlighted models from multiple providers</a:t>
            </a:r>
            <a:endParaRPr lang="en-US" sz="850" dirty="0"/>
          </a:p>
        </p:txBody>
      </p:sp>
      <p:sp>
        <p:nvSpPr>
          <p:cNvPr id="9" name="Shape 6"/>
          <p:cNvSpPr/>
          <p:nvPr/>
        </p:nvSpPr>
        <p:spPr>
          <a:xfrm>
            <a:off x="566928" y="1481328"/>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0" name="Shape 7"/>
          <p:cNvSpPr/>
          <p:nvPr/>
        </p:nvSpPr>
        <p:spPr>
          <a:xfrm>
            <a:off x="566928" y="1481328"/>
            <a:ext cx="64008" cy="2788920"/>
          </a:xfrm>
          <a:prstGeom prst="rect">
            <a:avLst/>
          </a:prstGeom>
          <a:solidFill>
            <a:srgbClr val="8B5CF6"/>
          </a:solidFill>
          <a:ln w="12700">
            <a:solidFill>
              <a:srgbClr val="8B5CF6">
                <a:alpha val="0"/>
              </a:srgbClr>
            </a:solidFill>
            <a:prstDash val="solid"/>
          </a:ln>
        </p:spPr>
      </p:sp>
      <p:sp>
        <p:nvSpPr>
          <p:cNvPr id="11" name="Text 8"/>
          <p:cNvSpPr/>
          <p:nvPr/>
        </p:nvSpPr>
        <p:spPr>
          <a:xfrm>
            <a:off x="822960" y="1700784"/>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What it is</a:t>
            </a:r>
            <a:endParaRPr lang="en-US" sz="1800" dirty="0"/>
          </a:p>
        </p:txBody>
      </p:sp>
      <p:sp>
        <p:nvSpPr>
          <p:cNvPr id="12" name="Text 9"/>
          <p:cNvSpPr/>
          <p:nvPr/>
        </p:nvSpPr>
        <p:spPr>
          <a:xfrm>
            <a:off x="822960" y="2139696"/>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A rotating set of highlighted models from multiple providers, surfaced for quick exploration.</a:t>
            </a:r>
            <a:endParaRPr lang="en-US" sz="1150" dirty="0"/>
          </a:p>
        </p:txBody>
      </p:sp>
      <p:sp>
        <p:nvSpPr>
          <p:cNvPr id="13" name="Shape 10"/>
          <p:cNvSpPr/>
          <p:nvPr/>
        </p:nvSpPr>
        <p:spPr>
          <a:xfrm>
            <a:off x="4334256" y="1481328"/>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4" name="Shape 11"/>
          <p:cNvSpPr/>
          <p:nvPr/>
        </p:nvSpPr>
        <p:spPr>
          <a:xfrm>
            <a:off x="4334256" y="1481328"/>
            <a:ext cx="64008" cy="2788920"/>
          </a:xfrm>
          <a:prstGeom prst="rect">
            <a:avLst/>
          </a:prstGeom>
          <a:solidFill>
            <a:srgbClr val="22D3EE"/>
          </a:solidFill>
          <a:ln w="12700">
            <a:solidFill>
              <a:srgbClr val="22D3EE">
                <a:alpha val="0"/>
              </a:srgbClr>
            </a:solidFill>
            <a:prstDash val="solid"/>
          </a:ln>
        </p:spPr>
      </p:sp>
      <p:sp>
        <p:nvSpPr>
          <p:cNvPr id="15" name="Text 12"/>
          <p:cNvSpPr/>
          <p:nvPr/>
        </p:nvSpPr>
        <p:spPr>
          <a:xfrm>
            <a:off x="4590288" y="1700784"/>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What it does</a:t>
            </a:r>
            <a:endParaRPr lang="en-US" sz="1800" dirty="0"/>
          </a:p>
        </p:txBody>
      </p:sp>
      <p:sp>
        <p:nvSpPr>
          <p:cNvPr id="16" name="Text 13"/>
          <p:cNvSpPr/>
          <p:nvPr/>
        </p:nvSpPr>
        <p:spPr>
          <a:xfrm>
            <a:off x="4590288" y="2139696"/>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Opens model details directly and exposes the breadth of the catalog without requiring a search. Carousel arrows reveal additional highlighted options.</a:t>
            </a:r>
            <a:endParaRPr lang="en-US" sz="1150" dirty="0"/>
          </a:p>
        </p:txBody>
      </p:sp>
      <p:sp>
        <p:nvSpPr>
          <p:cNvPr id="17" name="Shape 14"/>
          <p:cNvSpPr/>
          <p:nvPr/>
        </p:nvSpPr>
        <p:spPr>
          <a:xfrm>
            <a:off x="8083296" y="1481328"/>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8" name="Shape 15"/>
          <p:cNvSpPr/>
          <p:nvPr/>
        </p:nvSpPr>
        <p:spPr>
          <a:xfrm>
            <a:off x="8083296" y="1481328"/>
            <a:ext cx="64008" cy="2788920"/>
          </a:xfrm>
          <a:prstGeom prst="rect">
            <a:avLst/>
          </a:prstGeom>
          <a:solidFill>
            <a:srgbClr val="34D399"/>
          </a:solidFill>
          <a:ln w="12700">
            <a:solidFill>
              <a:srgbClr val="34D399">
                <a:alpha val="0"/>
              </a:srgbClr>
            </a:solidFill>
            <a:prstDash val="solid"/>
          </a:ln>
        </p:spPr>
      </p:sp>
      <p:sp>
        <p:nvSpPr>
          <p:cNvPr id="19" name="Text 16"/>
          <p:cNvSpPr/>
          <p:nvPr/>
        </p:nvSpPr>
        <p:spPr>
          <a:xfrm>
            <a:off x="8339328" y="1700784"/>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Business value</a:t>
            </a:r>
            <a:endParaRPr lang="en-US" sz="1800" dirty="0"/>
          </a:p>
        </p:txBody>
      </p:sp>
      <p:sp>
        <p:nvSpPr>
          <p:cNvPr id="20" name="Text 17"/>
          <p:cNvSpPr/>
          <p:nvPr/>
        </p:nvSpPr>
        <p:spPr>
          <a:xfrm>
            <a:off x="8339328" y="2139696"/>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Helps customers discover newly available or strategically relevant models and makes provider choice visible from the first screen.</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0E0D12"/>
        </a:solidFill>
        <a:effectLst/>
      </p:bgPr>
    </p:bg>
    <p:spTree>
      <p:nvGrpSpPr>
        <p:cNvPr id="1" name=""/>
        <p:cNvGrpSpPr/>
        <p:nvPr/>
      </p:nvGrpSpPr>
      <p:grpSpPr>
        <a:xfrm>
          <a:off x="0" y="0"/>
          <a:ext cx="0" cy="0"/>
          <a:chOff x="0" y="0"/>
          <a:chExt cx="0" cy="0"/>
        </a:xfrm>
      </p:grpSpPr>
      <p:sp>
        <p:nvSpPr>
          <p:cNvPr id="2" name="Text 0"/>
          <p:cNvSpPr/>
          <p:nvPr/>
        </p:nvSpPr>
        <p:spPr>
          <a:xfrm>
            <a:off x="566928" y="384048"/>
            <a:ext cx="4389120" cy="256032"/>
          </a:xfrm>
          <a:prstGeom prst="rect">
            <a:avLst/>
          </a:prstGeom>
          <a:noFill/>
          <a:ln/>
        </p:spPr>
        <p:txBody>
          <a:bodyPr wrap="square" lIns="0" tIns="0" rIns="0" bIns="0" rtlCol="0" anchor="ctr"/>
          <a:lstStyle/>
          <a:p>
            <a:pPr marL="0" indent="0">
              <a:buNone/>
            </a:pPr>
            <a:r>
              <a:rPr lang="en-US" sz="1100" b="1" kern="0" spc="160" dirty="0">
                <a:solidFill>
                  <a:srgbClr val="22D3EE"/>
                </a:solidFill>
                <a:latin typeface="Aptos" pitchFamily="34" charset="0"/>
                <a:ea typeface="Aptos" pitchFamily="34" charset="-122"/>
                <a:cs typeface="Aptos" pitchFamily="34" charset="-120"/>
              </a:rPr>
              <a:t>HOME COMPONENT</a:t>
            </a:r>
            <a:endParaRPr lang="en-US" sz="1100" dirty="0"/>
          </a:p>
        </p:txBody>
      </p:sp>
      <p:sp>
        <p:nvSpPr>
          <p:cNvPr id="3" name="Text 1"/>
          <p:cNvSpPr/>
          <p:nvPr/>
        </p:nvSpPr>
        <p:spPr>
          <a:xfrm>
            <a:off x="548640" y="713232"/>
            <a:ext cx="11018520" cy="566928"/>
          </a:xfrm>
          <a:prstGeom prst="rect">
            <a:avLst/>
          </a:prstGeom>
          <a:noFill/>
          <a:ln/>
        </p:spPr>
        <p:txBody>
          <a:bodyPr wrap="square" lIns="0" tIns="0" rIns="0" bIns="0" rtlCol="0" anchor="ctr">
            <a:normAutofit/>
          </a:bodyPr>
          <a:lstStyle/>
          <a:p>
            <a:pPr marL="0" indent="0">
              <a:buNone/>
            </a:pPr>
            <a:r>
              <a:rPr lang="en-US" sz="3000" b="1" dirty="0">
                <a:solidFill>
                  <a:srgbClr val="F7F7FB"/>
                </a:solidFill>
                <a:latin typeface="Aptos Display" pitchFamily="34" charset="0"/>
                <a:ea typeface="Aptos Display" pitchFamily="34" charset="-122"/>
                <a:cs typeface="Aptos Display" pitchFamily="34" charset="-120"/>
              </a:rPr>
              <a:t>Recent work</a:t>
            </a:r>
            <a:endParaRPr lang="en-US" sz="3000" dirty="0"/>
          </a:p>
        </p:txBody>
      </p:sp>
      <p:sp>
        <p:nvSpPr>
          <p:cNvPr id="4" name="Text 2"/>
          <p:cNvSpPr/>
          <p:nvPr/>
        </p:nvSpPr>
        <p:spPr>
          <a:xfrm>
            <a:off x="502920" y="6528816"/>
            <a:ext cx="10789920" cy="164592"/>
          </a:xfrm>
          <a:prstGeom prst="rect">
            <a:avLst/>
          </a:prstGeom>
          <a:noFill/>
          <a:ln/>
        </p:spPr>
        <p:txBody>
          <a:bodyPr wrap="square" lIns="0" tIns="0" rIns="0" bIns="0" rtlCol="0" anchor="ctr"/>
          <a:lstStyle/>
          <a:p>
            <a:pPr marL="0" indent="0">
              <a:buNone/>
            </a:pPr>
            <a:r>
              <a:rPr lang="en-US" sz="850" dirty="0">
                <a:solidFill>
                  <a:srgbClr val="837E92"/>
                </a:solidFill>
                <a:latin typeface="Aptos" pitchFamily="34" charset="0"/>
                <a:ea typeface="Aptos" pitchFamily="34" charset="-122"/>
                <a:cs typeface="Aptos" pitchFamily="34" charset="-120"/>
              </a:rPr>
              <a:t>Microsoft Foundry | General overview demo</a:t>
            </a:r>
            <a:endParaRPr lang="en-US" sz="850" dirty="0"/>
          </a:p>
        </p:txBody>
      </p:sp>
      <p:sp>
        <p:nvSpPr>
          <p:cNvPr id="5" name="Text 3"/>
          <p:cNvSpPr/>
          <p:nvPr/>
        </p:nvSpPr>
        <p:spPr>
          <a:xfrm>
            <a:off x="11292840" y="6473952"/>
            <a:ext cx="384048" cy="228600"/>
          </a:xfrm>
          <a:prstGeom prst="rect">
            <a:avLst/>
          </a:prstGeom>
          <a:noFill/>
          <a:ln/>
        </p:spPr>
        <p:txBody>
          <a:bodyPr wrap="square" lIns="0" tIns="0" rIns="0" bIns="0" rtlCol="0" anchor="ctr"/>
          <a:lstStyle/>
          <a:p>
            <a:pPr marL="0" indent="0" algn="r">
              <a:buNone/>
            </a:pPr>
            <a:r>
              <a:rPr lang="en-US" sz="900" b="1" dirty="0">
                <a:solidFill>
                  <a:srgbClr val="C4B5FD"/>
                </a:solidFill>
                <a:latin typeface="Aptos" pitchFamily="34" charset="0"/>
                <a:ea typeface="Aptos" pitchFamily="34" charset="-122"/>
                <a:cs typeface="Aptos" pitchFamily="34" charset="-120"/>
              </a:rPr>
              <a:t>16</a:t>
            </a:r>
            <a:endParaRPr lang="en-US" sz="900" dirty="0"/>
          </a:p>
        </p:txBody>
      </p:sp>
      <p:sp>
        <p:nvSpPr>
          <p:cNvPr id="6" name="Shape 4"/>
          <p:cNvSpPr/>
          <p:nvPr/>
        </p:nvSpPr>
        <p:spPr>
          <a:xfrm>
            <a:off x="566928" y="1444752"/>
            <a:ext cx="11045952" cy="1353312"/>
          </a:xfrm>
          <a:prstGeom prst="roundRect">
            <a:avLst>
              <a:gd name="adj" fmla="val 5405"/>
            </a:avLst>
          </a:prstGeom>
          <a:solidFill>
            <a:srgbClr val="111016"/>
          </a:solidFill>
          <a:ln w="12700">
            <a:solidFill>
              <a:srgbClr val="3C3747"/>
            </a:solidFill>
            <a:prstDash val="solid"/>
          </a:ln>
          <a:effectLst>
            <a:outerShdw blurRad="38100" dist="50800" dir="2700000" algn="bl" rotWithShape="0">
              <a:srgbClr val="000000">
                <a:alpha val="24000"/>
              </a:srgbClr>
            </a:outerShdw>
          </a:effectLst>
        </p:spPr>
      </p:sp>
      <p:pic>
        <p:nvPicPr>
          <p:cNvPr id="7" name="Image 0" descr="Microsoft Foundry portal screenshot"/>
          <p:cNvPicPr>
            <a:picLocks noChangeAspect="1"/>
          </p:cNvPicPr>
          <p:nvPr/>
        </p:nvPicPr>
        <p:blipFill>
          <a:blip r:embed="rId3"/>
          <a:stretch>
            <a:fillRect/>
          </a:stretch>
        </p:blipFill>
        <p:spPr>
          <a:xfrm>
            <a:off x="3456034" y="1527048"/>
            <a:ext cx="5267739" cy="969264"/>
          </a:xfrm>
          <a:prstGeom prst="rect">
            <a:avLst/>
          </a:prstGeom>
        </p:spPr>
      </p:pic>
      <p:sp>
        <p:nvSpPr>
          <p:cNvPr id="8" name="Text 5"/>
          <p:cNvSpPr/>
          <p:nvPr/>
        </p:nvSpPr>
        <p:spPr>
          <a:xfrm>
            <a:off x="713232" y="2551176"/>
            <a:ext cx="10753344" cy="146304"/>
          </a:xfrm>
          <a:prstGeom prst="rect">
            <a:avLst/>
          </a:prstGeom>
          <a:noFill/>
          <a:ln/>
        </p:spPr>
        <p:txBody>
          <a:bodyPr wrap="square" lIns="0" tIns="0" rIns="0" bIns="0" rtlCol="0" anchor="ctr"/>
          <a:lstStyle/>
          <a:p>
            <a:pPr marL="0" indent="0" algn="ctr">
              <a:buNone/>
            </a:pPr>
            <a:r>
              <a:rPr lang="en-US" sz="850" i="1" dirty="0">
                <a:solidFill>
                  <a:srgbClr val="837E92"/>
                </a:solidFill>
              </a:rPr>
              <a:t>Recently viewed project assets</a:t>
            </a:r>
            <a:endParaRPr lang="en-US" sz="850" dirty="0"/>
          </a:p>
        </p:txBody>
      </p:sp>
      <p:sp>
        <p:nvSpPr>
          <p:cNvPr id="9" name="Shape 6"/>
          <p:cNvSpPr/>
          <p:nvPr/>
        </p:nvSpPr>
        <p:spPr>
          <a:xfrm>
            <a:off x="566928" y="2999232"/>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0" name="Shape 7"/>
          <p:cNvSpPr/>
          <p:nvPr/>
        </p:nvSpPr>
        <p:spPr>
          <a:xfrm>
            <a:off x="566928" y="2999232"/>
            <a:ext cx="64008" cy="2788920"/>
          </a:xfrm>
          <a:prstGeom prst="rect">
            <a:avLst/>
          </a:prstGeom>
          <a:solidFill>
            <a:srgbClr val="8B5CF6"/>
          </a:solidFill>
          <a:ln w="12700">
            <a:solidFill>
              <a:srgbClr val="8B5CF6">
                <a:alpha val="0"/>
              </a:srgbClr>
            </a:solidFill>
            <a:prstDash val="solid"/>
          </a:ln>
        </p:spPr>
      </p:sp>
      <p:sp>
        <p:nvSpPr>
          <p:cNvPr id="11" name="Text 8"/>
          <p:cNvSpPr/>
          <p:nvPr/>
        </p:nvSpPr>
        <p:spPr>
          <a:xfrm>
            <a:off x="822960" y="3218688"/>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What it is</a:t>
            </a:r>
            <a:endParaRPr lang="en-US" sz="1800" dirty="0"/>
          </a:p>
        </p:txBody>
      </p:sp>
      <p:sp>
        <p:nvSpPr>
          <p:cNvPr id="12" name="Text 9"/>
          <p:cNvSpPr/>
          <p:nvPr/>
        </p:nvSpPr>
        <p:spPr>
          <a:xfrm>
            <a:off x="822960" y="3657600"/>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A project-scoped list of recently viewed agents and model deployments.</a:t>
            </a:r>
            <a:endParaRPr lang="en-US" sz="1150" dirty="0"/>
          </a:p>
        </p:txBody>
      </p:sp>
      <p:sp>
        <p:nvSpPr>
          <p:cNvPr id="13" name="Shape 10"/>
          <p:cNvSpPr/>
          <p:nvPr/>
        </p:nvSpPr>
        <p:spPr>
          <a:xfrm>
            <a:off x="4334256" y="2999232"/>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4" name="Shape 11"/>
          <p:cNvSpPr/>
          <p:nvPr/>
        </p:nvSpPr>
        <p:spPr>
          <a:xfrm>
            <a:off x="4334256" y="2999232"/>
            <a:ext cx="64008" cy="2788920"/>
          </a:xfrm>
          <a:prstGeom prst="rect">
            <a:avLst/>
          </a:prstGeom>
          <a:solidFill>
            <a:srgbClr val="22D3EE"/>
          </a:solidFill>
          <a:ln w="12700">
            <a:solidFill>
              <a:srgbClr val="22D3EE">
                <a:alpha val="0"/>
              </a:srgbClr>
            </a:solidFill>
            <a:prstDash val="solid"/>
          </a:ln>
        </p:spPr>
      </p:sp>
      <p:sp>
        <p:nvSpPr>
          <p:cNvPr id="15" name="Text 12"/>
          <p:cNvSpPr/>
          <p:nvPr/>
        </p:nvSpPr>
        <p:spPr>
          <a:xfrm>
            <a:off x="4590288" y="3218688"/>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What it does</a:t>
            </a:r>
            <a:endParaRPr lang="en-US" sz="1800" dirty="0"/>
          </a:p>
        </p:txBody>
      </p:sp>
      <p:sp>
        <p:nvSpPr>
          <p:cNvPr id="16" name="Text 13"/>
          <p:cNvSpPr/>
          <p:nvPr/>
        </p:nvSpPr>
        <p:spPr>
          <a:xfrm>
            <a:off x="4590288" y="3657600"/>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Filter by All, Agents, or Models; sort by last viewed; reopen an asset; or jump directly to its endpoint.</a:t>
            </a:r>
            <a:endParaRPr lang="en-US" sz="1150" dirty="0"/>
          </a:p>
        </p:txBody>
      </p:sp>
      <p:sp>
        <p:nvSpPr>
          <p:cNvPr id="17" name="Shape 14"/>
          <p:cNvSpPr/>
          <p:nvPr/>
        </p:nvSpPr>
        <p:spPr>
          <a:xfrm>
            <a:off x="8083296" y="2999232"/>
            <a:ext cx="3529584" cy="2788920"/>
          </a:xfrm>
          <a:prstGeom prst="roundRect">
            <a:avLst>
              <a:gd name="adj" fmla="val 2623"/>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8" name="Shape 15"/>
          <p:cNvSpPr/>
          <p:nvPr/>
        </p:nvSpPr>
        <p:spPr>
          <a:xfrm>
            <a:off x="8083296" y="2999232"/>
            <a:ext cx="64008" cy="2788920"/>
          </a:xfrm>
          <a:prstGeom prst="rect">
            <a:avLst/>
          </a:prstGeom>
          <a:solidFill>
            <a:srgbClr val="34D399"/>
          </a:solidFill>
          <a:ln w="12700">
            <a:solidFill>
              <a:srgbClr val="34D399">
                <a:alpha val="0"/>
              </a:srgbClr>
            </a:solidFill>
            <a:prstDash val="solid"/>
          </a:ln>
        </p:spPr>
      </p:sp>
      <p:sp>
        <p:nvSpPr>
          <p:cNvPr id="19" name="Text 16"/>
          <p:cNvSpPr/>
          <p:nvPr/>
        </p:nvSpPr>
        <p:spPr>
          <a:xfrm>
            <a:off x="8339328" y="3218688"/>
            <a:ext cx="3026664"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Business value</a:t>
            </a:r>
            <a:endParaRPr lang="en-US" sz="1800" dirty="0"/>
          </a:p>
        </p:txBody>
      </p:sp>
      <p:sp>
        <p:nvSpPr>
          <p:cNvPr id="20" name="Text 17"/>
          <p:cNvSpPr/>
          <p:nvPr/>
        </p:nvSpPr>
        <p:spPr>
          <a:xfrm>
            <a:off x="8339328" y="3657600"/>
            <a:ext cx="3026664" cy="1984248"/>
          </a:xfrm>
          <a:prstGeom prst="rect">
            <a:avLst/>
          </a:prstGeom>
          <a:noFill/>
          <a:ln/>
        </p:spPr>
        <p:txBody>
          <a:bodyPr wrap="square" lIns="0" tIns="0" rIns="0" bIns="0" rtlCol="0" anchor="t">
            <a:normAutofit/>
          </a:bodyPr>
          <a:lstStyle/>
          <a:p>
            <a:pPr marL="0" indent="0">
              <a:buNone/>
            </a:pPr>
            <a:r>
              <a:rPr lang="en-US" sz="1150" dirty="0">
                <a:solidFill>
                  <a:srgbClr val="B8B5C5"/>
                </a:solidFill>
              </a:rPr>
              <a:t>Reduces navigation time for active projects and makes the handoff between prototyping and endpoint consumption fast.</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0E0D12"/>
        </a:solidFill>
        <a:effectLst/>
      </p:bgPr>
    </p:bg>
    <p:spTree>
      <p:nvGrpSpPr>
        <p:cNvPr id="1" name=""/>
        <p:cNvGrpSpPr/>
        <p:nvPr/>
      </p:nvGrpSpPr>
      <p:grpSpPr>
        <a:xfrm>
          <a:off x="0" y="0"/>
          <a:ext cx="0" cy="0"/>
          <a:chOff x="0" y="0"/>
          <a:chExt cx="0" cy="0"/>
        </a:xfrm>
      </p:grpSpPr>
      <p:sp>
        <p:nvSpPr>
          <p:cNvPr id="2" name="Text 0"/>
          <p:cNvSpPr/>
          <p:nvPr/>
        </p:nvSpPr>
        <p:spPr>
          <a:xfrm>
            <a:off x="566928" y="384048"/>
            <a:ext cx="4389120" cy="256032"/>
          </a:xfrm>
          <a:prstGeom prst="rect">
            <a:avLst/>
          </a:prstGeom>
          <a:noFill/>
          <a:ln/>
        </p:spPr>
        <p:txBody>
          <a:bodyPr wrap="square" lIns="0" tIns="0" rIns="0" bIns="0" rtlCol="0" anchor="ctr"/>
          <a:lstStyle/>
          <a:p>
            <a:pPr marL="0" indent="0">
              <a:buNone/>
            </a:pPr>
            <a:r>
              <a:rPr lang="en-US" sz="1100" b="1" kern="0" spc="160" dirty="0">
                <a:solidFill>
                  <a:srgbClr val="22D3EE"/>
                </a:solidFill>
                <a:latin typeface="Aptos" pitchFamily="34" charset="0"/>
                <a:ea typeface="Aptos" pitchFamily="34" charset="-122"/>
                <a:cs typeface="Aptos" pitchFamily="34" charset="-120"/>
              </a:rPr>
              <a:t>TOP-LEVEL NAVIGATION</a:t>
            </a:r>
            <a:endParaRPr lang="en-US" sz="1100" dirty="0"/>
          </a:p>
        </p:txBody>
      </p:sp>
      <p:sp>
        <p:nvSpPr>
          <p:cNvPr id="3" name="Text 1"/>
          <p:cNvSpPr/>
          <p:nvPr/>
        </p:nvSpPr>
        <p:spPr>
          <a:xfrm>
            <a:off x="548640" y="713232"/>
            <a:ext cx="11018520" cy="566928"/>
          </a:xfrm>
          <a:prstGeom prst="rect">
            <a:avLst/>
          </a:prstGeom>
          <a:noFill/>
          <a:ln/>
        </p:spPr>
        <p:txBody>
          <a:bodyPr wrap="square" lIns="0" tIns="0" rIns="0" bIns="0" rtlCol="0" anchor="ctr">
            <a:normAutofit/>
          </a:bodyPr>
          <a:lstStyle/>
          <a:p>
            <a:pPr marL="0" indent="0">
              <a:buNone/>
            </a:pPr>
            <a:r>
              <a:rPr lang="en-US" sz="3000" b="1" dirty="0">
                <a:solidFill>
                  <a:srgbClr val="F7F7FB"/>
                </a:solidFill>
                <a:latin typeface="Aptos Display" pitchFamily="34" charset="0"/>
                <a:ea typeface="Aptos Display" pitchFamily="34" charset="-122"/>
                <a:cs typeface="Aptos Display" pitchFamily="34" charset="-120"/>
              </a:rPr>
              <a:t>Discover</a:t>
            </a:r>
            <a:endParaRPr lang="en-US" sz="3000" dirty="0"/>
          </a:p>
        </p:txBody>
      </p:sp>
      <p:sp>
        <p:nvSpPr>
          <p:cNvPr id="4" name="Text 2"/>
          <p:cNvSpPr/>
          <p:nvPr/>
        </p:nvSpPr>
        <p:spPr>
          <a:xfrm>
            <a:off x="502920" y="6528816"/>
            <a:ext cx="10789920" cy="164592"/>
          </a:xfrm>
          <a:prstGeom prst="rect">
            <a:avLst/>
          </a:prstGeom>
          <a:noFill/>
          <a:ln/>
        </p:spPr>
        <p:txBody>
          <a:bodyPr wrap="square" lIns="0" tIns="0" rIns="0" bIns="0" rtlCol="0" anchor="ctr"/>
          <a:lstStyle/>
          <a:p>
            <a:pPr marL="0" indent="0">
              <a:buNone/>
            </a:pPr>
            <a:r>
              <a:rPr lang="en-US" sz="850" dirty="0">
                <a:solidFill>
                  <a:srgbClr val="837E92"/>
                </a:solidFill>
                <a:latin typeface="Aptos" pitchFamily="34" charset="0"/>
                <a:ea typeface="Aptos" pitchFamily="34" charset="-122"/>
                <a:cs typeface="Aptos" pitchFamily="34" charset="-120"/>
              </a:rPr>
              <a:t>Microsoft Foundry | General overview demo</a:t>
            </a:r>
            <a:endParaRPr lang="en-US" sz="850" dirty="0"/>
          </a:p>
        </p:txBody>
      </p:sp>
      <p:sp>
        <p:nvSpPr>
          <p:cNvPr id="5" name="Text 3"/>
          <p:cNvSpPr/>
          <p:nvPr/>
        </p:nvSpPr>
        <p:spPr>
          <a:xfrm>
            <a:off x="11292840" y="6473952"/>
            <a:ext cx="384048" cy="228600"/>
          </a:xfrm>
          <a:prstGeom prst="rect">
            <a:avLst/>
          </a:prstGeom>
          <a:noFill/>
          <a:ln/>
        </p:spPr>
        <p:txBody>
          <a:bodyPr wrap="square" lIns="0" tIns="0" rIns="0" bIns="0" rtlCol="0" anchor="ctr"/>
          <a:lstStyle/>
          <a:p>
            <a:pPr marL="0" indent="0" algn="r">
              <a:buNone/>
            </a:pPr>
            <a:r>
              <a:rPr lang="en-US" sz="900" b="1" dirty="0">
                <a:solidFill>
                  <a:srgbClr val="C4B5FD"/>
                </a:solidFill>
                <a:latin typeface="Aptos" pitchFamily="34" charset="0"/>
                <a:ea typeface="Aptos" pitchFamily="34" charset="-122"/>
                <a:cs typeface="Aptos" pitchFamily="34" charset="-120"/>
              </a:rPr>
              <a:t>17</a:t>
            </a:r>
            <a:endParaRPr lang="en-US" sz="900" dirty="0"/>
          </a:p>
        </p:txBody>
      </p:sp>
      <p:sp>
        <p:nvSpPr>
          <p:cNvPr id="6" name="Shape 4"/>
          <p:cNvSpPr/>
          <p:nvPr/>
        </p:nvSpPr>
        <p:spPr>
          <a:xfrm>
            <a:off x="7726680" y="393192"/>
            <a:ext cx="3886200" cy="640080"/>
          </a:xfrm>
          <a:prstGeom prst="roundRect">
            <a:avLst>
              <a:gd name="adj" fmla="val 11429"/>
            </a:avLst>
          </a:prstGeom>
          <a:solidFill>
            <a:srgbClr val="111016"/>
          </a:solidFill>
          <a:ln w="12700">
            <a:solidFill>
              <a:srgbClr val="3C3747"/>
            </a:solidFill>
            <a:prstDash val="solid"/>
          </a:ln>
          <a:effectLst>
            <a:outerShdw blurRad="38100" dist="50800" dir="2700000" algn="bl" rotWithShape="0">
              <a:srgbClr val="000000">
                <a:alpha val="24000"/>
              </a:srgbClr>
            </a:outerShdw>
          </a:effectLst>
        </p:spPr>
      </p:sp>
      <p:pic>
        <p:nvPicPr>
          <p:cNvPr id="7" name="Image 0" descr="Microsoft Foundry portal screenshot"/>
          <p:cNvPicPr>
            <a:picLocks noChangeAspect="1"/>
          </p:cNvPicPr>
          <p:nvPr/>
        </p:nvPicPr>
        <p:blipFill>
          <a:blip r:embed="rId3"/>
          <a:stretch>
            <a:fillRect/>
          </a:stretch>
        </p:blipFill>
        <p:spPr>
          <a:xfrm>
            <a:off x="7850678" y="475488"/>
            <a:ext cx="3638204" cy="475488"/>
          </a:xfrm>
          <a:prstGeom prst="rect">
            <a:avLst/>
          </a:prstGeom>
        </p:spPr>
      </p:pic>
      <p:sp>
        <p:nvSpPr>
          <p:cNvPr id="8" name="Text 5"/>
          <p:cNvSpPr/>
          <p:nvPr/>
        </p:nvSpPr>
        <p:spPr>
          <a:xfrm>
            <a:off x="566928" y="1353312"/>
            <a:ext cx="10881360" cy="475488"/>
          </a:xfrm>
          <a:prstGeom prst="rect">
            <a:avLst/>
          </a:prstGeom>
          <a:noFill/>
          <a:ln/>
        </p:spPr>
        <p:txBody>
          <a:bodyPr wrap="square" lIns="0" tIns="0" rIns="0" bIns="0" rtlCol="0" anchor="ctr">
            <a:normAutofit/>
          </a:bodyPr>
          <a:lstStyle/>
          <a:p>
            <a:pPr marL="0" indent="0">
              <a:buNone/>
            </a:pPr>
            <a:r>
              <a:rPr lang="en-US" sz="2100" i="1" dirty="0">
                <a:solidFill>
                  <a:srgbClr val="C4B5FD"/>
                </a:solidFill>
              </a:rPr>
              <a:t>Find the right building blocks before you commit engineering effort.</a:t>
            </a:r>
            <a:endParaRPr lang="en-US" sz="2100" dirty="0"/>
          </a:p>
        </p:txBody>
      </p:sp>
      <p:sp>
        <p:nvSpPr>
          <p:cNvPr id="9" name="Shape 6"/>
          <p:cNvSpPr/>
          <p:nvPr/>
        </p:nvSpPr>
        <p:spPr>
          <a:xfrm>
            <a:off x="566928" y="2057400"/>
            <a:ext cx="3541776" cy="1691640"/>
          </a:xfrm>
          <a:prstGeom prst="roundRect">
            <a:avLst>
              <a:gd name="adj" fmla="val 4324"/>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0" name="Shape 7"/>
          <p:cNvSpPr/>
          <p:nvPr/>
        </p:nvSpPr>
        <p:spPr>
          <a:xfrm>
            <a:off x="566928" y="2057400"/>
            <a:ext cx="64008" cy="1691640"/>
          </a:xfrm>
          <a:prstGeom prst="rect">
            <a:avLst/>
          </a:prstGeom>
          <a:solidFill>
            <a:srgbClr val="22D3EE"/>
          </a:solidFill>
          <a:ln w="12700">
            <a:solidFill>
              <a:srgbClr val="22D3EE">
                <a:alpha val="0"/>
              </a:srgbClr>
            </a:solidFill>
            <a:prstDash val="solid"/>
          </a:ln>
        </p:spPr>
      </p:sp>
      <p:sp>
        <p:nvSpPr>
          <p:cNvPr id="11" name="Text 8"/>
          <p:cNvSpPr/>
          <p:nvPr/>
        </p:nvSpPr>
        <p:spPr>
          <a:xfrm>
            <a:off x="822960" y="2221992"/>
            <a:ext cx="3038856" cy="182880"/>
          </a:xfrm>
          <a:prstGeom prst="rect">
            <a:avLst/>
          </a:prstGeom>
          <a:noFill/>
          <a:ln/>
        </p:spPr>
        <p:txBody>
          <a:bodyPr wrap="square" lIns="0" tIns="0" rIns="0" bIns="0" rtlCol="0" anchor="ctr"/>
          <a:lstStyle/>
          <a:p>
            <a:pPr marL="0" indent="0">
              <a:buNone/>
            </a:pPr>
            <a:r>
              <a:rPr lang="en-US" sz="900" b="1" kern="0" spc="110" dirty="0">
                <a:solidFill>
                  <a:srgbClr val="22D3EE"/>
                </a:solidFill>
              </a:rPr>
              <a:t>GA</a:t>
            </a:r>
            <a:endParaRPr lang="en-US" sz="900" dirty="0"/>
          </a:p>
        </p:txBody>
      </p:sp>
      <p:sp>
        <p:nvSpPr>
          <p:cNvPr id="12" name="Text 9"/>
          <p:cNvSpPr/>
          <p:nvPr/>
        </p:nvSpPr>
        <p:spPr>
          <a:xfrm>
            <a:off x="822960" y="2496312"/>
            <a:ext cx="3038856"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Models</a:t>
            </a:r>
            <a:endParaRPr lang="en-US" sz="1800" dirty="0"/>
          </a:p>
        </p:txBody>
      </p:sp>
      <p:sp>
        <p:nvSpPr>
          <p:cNvPr id="13" name="Text 10"/>
          <p:cNvSpPr/>
          <p:nvPr/>
        </p:nvSpPr>
        <p:spPr>
          <a:xfrm>
            <a:off x="822960" y="2862072"/>
            <a:ext cx="3038856" cy="740664"/>
          </a:xfrm>
          <a:prstGeom prst="rect">
            <a:avLst/>
          </a:prstGeom>
          <a:noFill/>
          <a:ln/>
        </p:spPr>
        <p:txBody>
          <a:bodyPr wrap="square" lIns="0" tIns="0" rIns="0" bIns="0" rtlCol="0" anchor="t">
            <a:normAutofit/>
          </a:bodyPr>
          <a:lstStyle/>
          <a:p>
            <a:pPr marL="0" indent="0">
              <a:buNone/>
            </a:pPr>
            <a:r>
              <a:rPr lang="en-US" sz="1150" dirty="0">
                <a:solidFill>
                  <a:srgbClr val="B8B5C5"/>
                </a:solidFill>
              </a:rPr>
              <a:t>Search and filter the model catalog; review cards, capabilities, providers, regions, and deployment choices.</a:t>
            </a:r>
            <a:endParaRPr lang="en-US" sz="1150" dirty="0"/>
          </a:p>
        </p:txBody>
      </p:sp>
      <p:sp>
        <p:nvSpPr>
          <p:cNvPr id="14" name="Shape 11"/>
          <p:cNvSpPr/>
          <p:nvPr/>
        </p:nvSpPr>
        <p:spPr>
          <a:xfrm>
            <a:off x="4328160" y="2057400"/>
            <a:ext cx="3541776" cy="1691640"/>
          </a:xfrm>
          <a:prstGeom prst="roundRect">
            <a:avLst>
              <a:gd name="adj" fmla="val 4324"/>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5" name="Shape 12"/>
          <p:cNvSpPr/>
          <p:nvPr/>
        </p:nvSpPr>
        <p:spPr>
          <a:xfrm>
            <a:off x="4328160" y="2057400"/>
            <a:ext cx="64008" cy="1691640"/>
          </a:xfrm>
          <a:prstGeom prst="rect">
            <a:avLst/>
          </a:prstGeom>
          <a:solidFill>
            <a:srgbClr val="22D3EE"/>
          </a:solidFill>
          <a:ln w="12700">
            <a:solidFill>
              <a:srgbClr val="22D3EE">
                <a:alpha val="0"/>
              </a:srgbClr>
            </a:solidFill>
            <a:prstDash val="solid"/>
          </a:ln>
        </p:spPr>
      </p:sp>
      <p:sp>
        <p:nvSpPr>
          <p:cNvPr id="16" name="Text 13"/>
          <p:cNvSpPr/>
          <p:nvPr/>
        </p:nvSpPr>
        <p:spPr>
          <a:xfrm>
            <a:off x="4584192" y="2221992"/>
            <a:ext cx="3038856" cy="182880"/>
          </a:xfrm>
          <a:prstGeom prst="rect">
            <a:avLst/>
          </a:prstGeom>
          <a:noFill/>
          <a:ln/>
        </p:spPr>
        <p:txBody>
          <a:bodyPr wrap="square" lIns="0" tIns="0" rIns="0" bIns="0" rtlCol="0" anchor="ctr"/>
          <a:lstStyle/>
          <a:p>
            <a:pPr marL="0" indent="0">
              <a:buNone/>
            </a:pPr>
            <a:r>
              <a:rPr lang="en-US" sz="900" b="1" kern="0" spc="110" dirty="0">
                <a:solidFill>
                  <a:srgbClr val="22D3EE"/>
                </a:solidFill>
              </a:rPr>
              <a:t>GA</a:t>
            </a:r>
            <a:endParaRPr lang="en-US" sz="900" dirty="0"/>
          </a:p>
        </p:txBody>
      </p:sp>
      <p:sp>
        <p:nvSpPr>
          <p:cNvPr id="17" name="Text 14"/>
          <p:cNvSpPr/>
          <p:nvPr/>
        </p:nvSpPr>
        <p:spPr>
          <a:xfrm>
            <a:off x="4584192" y="2496312"/>
            <a:ext cx="3038856"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Tools</a:t>
            </a:r>
            <a:endParaRPr lang="en-US" sz="1800" dirty="0"/>
          </a:p>
        </p:txBody>
      </p:sp>
      <p:sp>
        <p:nvSpPr>
          <p:cNvPr id="18" name="Text 15"/>
          <p:cNvSpPr/>
          <p:nvPr/>
        </p:nvSpPr>
        <p:spPr>
          <a:xfrm>
            <a:off x="4584192" y="2862072"/>
            <a:ext cx="3038856" cy="740664"/>
          </a:xfrm>
          <a:prstGeom prst="rect">
            <a:avLst/>
          </a:prstGeom>
          <a:noFill/>
          <a:ln/>
        </p:spPr>
        <p:txBody>
          <a:bodyPr wrap="square" lIns="0" tIns="0" rIns="0" bIns="0" rtlCol="0" anchor="t">
            <a:normAutofit/>
          </a:bodyPr>
          <a:lstStyle/>
          <a:p>
            <a:pPr marL="0" indent="0">
              <a:buNone/>
            </a:pPr>
            <a:r>
              <a:rPr lang="en-US" sz="1150" dirty="0">
                <a:solidFill>
                  <a:srgbClr val="B8B5C5"/>
                </a:solidFill>
              </a:rPr>
              <a:t>Discover tools and services that extend agents with actions, retrieval, content processing, and external systems.</a:t>
            </a:r>
            <a:endParaRPr lang="en-US" sz="1150" dirty="0"/>
          </a:p>
        </p:txBody>
      </p:sp>
      <p:sp>
        <p:nvSpPr>
          <p:cNvPr id="19" name="Shape 16"/>
          <p:cNvSpPr/>
          <p:nvPr/>
        </p:nvSpPr>
        <p:spPr>
          <a:xfrm>
            <a:off x="8089392" y="2057400"/>
            <a:ext cx="3541776" cy="1691640"/>
          </a:xfrm>
          <a:prstGeom prst="roundRect">
            <a:avLst>
              <a:gd name="adj" fmla="val 4324"/>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20" name="Shape 17"/>
          <p:cNvSpPr/>
          <p:nvPr/>
        </p:nvSpPr>
        <p:spPr>
          <a:xfrm>
            <a:off x="8089392" y="2057400"/>
            <a:ext cx="64008" cy="1691640"/>
          </a:xfrm>
          <a:prstGeom prst="rect">
            <a:avLst/>
          </a:prstGeom>
          <a:solidFill>
            <a:srgbClr val="22D3EE"/>
          </a:solidFill>
          <a:ln w="12700">
            <a:solidFill>
              <a:srgbClr val="22D3EE">
                <a:alpha val="0"/>
              </a:srgbClr>
            </a:solidFill>
            <a:prstDash val="solid"/>
          </a:ln>
        </p:spPr>
      </p:sp>
      <p:sp>
        <p:nvSpPr>
          <p:cNvPr id="21" name="Text 18"/>
          <p:cNvSpPr/>
          <p:nvPr/>
        </p:nvSpPr>
        <p:spPr>
          <a:xfrm>
            <a:off x="8345424" y="2221992"/>
            <a:ext cx="3038856" cy="182880"/>
          </a:xfrm>
          <a:prstGeom prst="rect">
            <a:avLst/>
          </a:prstGeom>
          <a:noFill/>
          <a:ln/>
        </p:spPr>
        <p:txBody>
          <a:bodyPr wrap="square" lIns="0" tIns="0" rIns="0" bIns="0" rtlCol="0" anchor="ctr"/>
          <a:lstStyle/>
          <a:p>
            <a:pPr marL="0" indent="0">
              <a:buNone/>
            </a:pPr>
            <a:r>
              <a:rPr lang="en-US" sz="900" b="1" kern="0" spc="110" dirty="0">
                <a:solidFill>
                  <a:srgbClr val="22D3EE"/>
                </a:solidFill>
              </a:rPr>
              <a:t>GA</a:t>
            </a:r>
            <a:endParaRPr lang="en-US" sz="900" dirty="0"/>
          </a:p>
        </p:txBody>
      </p:sp>
      <p:sp>
        <p:nvSpPr>
          <p:cNvPr id="22" name="Text 19"/>
          <p:cNvSpPr/>
          <p:nvPr/>
        </p:nvSpPr>
        <p:spPr>
          <a:xfrm>
            <a:off x="8345424" y="2496312"/>
            <a:ext cx="3038856"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Solution templates</a:t>
            </a:r>
            <a:endParaRPr lang="en-US" sz="1800" dirty="0"/>
          </a:p>
        </p:txBody>
      </p:sp>
      <p:sp>
        <p:nvSpPr>
          <p:cNvPr id="23" name="Text 20"/>
          <p:cNvSpPr/>
          <p:nvPr/>
        </p:nvSpPr>
        <p:spPr>
          <a:xfrm>
            <a:off x="8345424" y="2862072"/>
            <a:ext cx="3038856" cy="740664"/>
          </a:xfrm>
          <a:prstGeom prst="rect">
            <a:avLst/>
          </a:prstGeom>
          <a:noFill/>
          <a:ln/>
        </p:spPr>
        <p:txBody>
          <a:bodyPr wrap="square" lIns="0" tIns="0" rIns="0" bIns="0" rtlCol="0" anchor="t">
            <a:normAutofit/>
          </a:bodyPr>
          <a:lstStyle/>
          <a:p>
            <a:pPr marL="0" indent="0">
              <a:buNone/>
            </a:pPr>
            <a:r>
              <a:rPr lang="en-US" sz="1150" dirty="0">
                <a:solidFill>
                  <a:srgbClr val="B8B5C5"/>
                </a:solidFill>
              </a:rPr>
              <a:t>Start from reference architectures and deployable examples for common AI scenarios.</a:t>
            </a:r>
            <a:endParaRPr lang="en-US" sz="1150" dirty="0"/>
          </a:p>
        </p:txBody>
      </p:sp>
      <p:sp>
        <p:nvSpPr>
          <p:cNvPr id="24" name="Shape 21"/>
          <p:cNvSpPr/>
          <p:nvPr/>
        </p:nvSpPr>
        <p:spPr>
          <a:xfrm>
            <a:off x="566928" y="3968496"/>
            <a:ext cx="3541776" cy="1691640"/>
          </a:xfrm>
          <a:prstGeom prst="roundRect">
            <a:avLst>
              <a:gd name="adj" fmla="val 4324"/>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25" name="Shape 22"/>
          <p:cNvSpPr/>
          <p:nvPr/>
        </p:nvSpPr>
        <p:spPr>
          <a:xfrm>
            <a:off x="566928" y="3968496"/>
            <a:ext cx="64008" cy="1691640"/>
          </a:xfrm>
          <a:prstGeom prst="rect">
            <a:avLst/>
          </a:prstGeom>
          <a:solidFill>
            <a:srgbClr val="22D3EE"/>
          </a:solidFill>
          <a:ln w="12700">
            <a:solidFill>
              <a:srgbClr val="22D3EE">
                <a:alpha val="0"/>
              </a:srgbClr>
            </a:solidFill>
            <a:prstDash val="solid"/>
          </a:ln>
        </p:spPr>
      </p:sp>
      <p:sp>
        <p:nvSpPr>
          <p:cNvPr id="26" name="Text 23"/>
          <p:cNvSpPr/>
          <p:nvPr/>
        </p:nvSpPr>
        <p:spPr>
          <a:xfrm>
            <a:off x="822960" y="4133088"/>
            <a:ext cx="3038856" cy="182880"/>
          </a:xfrm>
          <a:prstGeom prst="rect">
            <a:avLst/>
          </a:prstGeom>
          <a:noFill/>
          <a:ln/>
        </p:spPr>
        <p:txBody>
          <a:bodyPr wrap="square" lIns="0" tIns="0" rIns="0" bIns="0" rtlCol="0" anchor="ctr"/>
          <a:lstStyle/>
          <a:p>
            <a:pPr marL="0" indent="0">
              <a:buNone/>
            </a:pPr>
            <a:r>
              <a:rPr lang="en-US" sz="900" b="1" kern="0" spc="110" dirty="0">
                <a:solidFill>
                  <a:srgbClr val="22D3EE"/>
                </a:solidFill>
              </a:rPr>
              <a:t>GA / PREVIEW</a:t>
            </a:r>
            <a:endParaRPr lang="en-US" sz="900" dirty="0"/>
          </a:p>
        </p:txBody>
      </p:sp>
      <p:sp>
        <p:nvSpPr>
          <p:cNvPr id="27" name="Text 24"/>
          <p:cNvSpPr/>
          <p:nvPr/>
        </p:nvSpPr>
        <p:spPr>
          <a:xfrm>
            <a:off x="822960" y="4407408"/>
            <a:ext cx="3038856"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Playgrounds</a:t>
            </a:r>
            <a:endParaRPr lang="en-US" sz="1800" dirty="0"/>
          </a:p>
        </p:txBody>
      </p:sp>
      <p:sp>
        <p:nvSpPr>
          <p:cNvPr id="28" name="Text 25"/>
          <p:cNvSpPr/>
          <p:nvPr/>
        </p:nvSpPr>
        <p:spPr>
          <a:xfrm>
            <a:off x="822960" y="4773168"/>
            <a:ext cx="3038856" cy="740664"/>
          </a:xfrm>
          <a:prstGeom prst="rect">
            <a:avLst/>
          </a:prstGeom>
          <a:noFill/>
          <a:ln/>
        </p:spPr>
        <p:txBody>
          <a:bodyPr wrap="square" lIns="0" tIns="0" rIns="0" bIns="0" rtlCol="0" anchor="t">
            <a:normAutofit/>
          </a:bodyPr>
          <a:lstStyle/>
          <a:p>
            <a:pPr marL="0" indent="0">
              <a:buNone/>
            </a:pPr>
            <a:r>
              <a:rPr lang="en-US" sz="1150" dirty="0">
                <a:solidFill>
                  <a:srgbClr val="B8B5C5"/>
                </a:solidFill>
              </a:rPr>
              <a:t>Experiment with model, agent, image, and supported video experiences before building an application.</a:t>
            </a:r>
            <a:endParaRPr lang="en-US" sz="1150" dirty="0"/>
          </a:p>
        </p:txBody>
      </p:sp>
      <p:sp>
        <p:nvSpPr>
          <p:cNvPr id="29" name="Shape 26"/>
          <p:cNvSpPr/>
          <p:nvPr/>
        </p:nvSpPr>
        <p:spPr>
          <a:xfrm>
            <a:off x="4328160" y="3968496"/>
            <a:ext cx="3541776" cy="1691640"/>
          </a:xfrm>
          <a:prstGeom prst="roundRect">
            <a:avLst>
              <a:gd name="adj" fmla="val 4324"/>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30" name="Shape 27"/>
          <p:cNvSpPr/>
          <p:nvPr/>
        </p:nvSpPr>
        <p:spPr>
          <a:xfrm>
            <a:off x="4328160" y="3968496"/>
            <a:ext cx="64008" cy="1691640"/>
          </a:xfrm>
          <a:prstGeom prst="rect">
            <a:avLst/>
          </a:prstGeom>
          <a:solidFill>
            <a:srgbClr val="22D3EE"/>
          </a:solidFill>
          <a:ln w="12700">
            <a:solidFill>
              <a:srgbClr val="22D3EE">
                <a:alpha val="0"/>
              </a:srgbClr>
            </a:solidFill>
            <a:prstDash val="solid"/>
          </a:ln>
        </p:spPr>
      </p:sp>
      <p:sp>
        <p:nvSpPr>
          <p:cNvPr id="31" name="Text 28"/>
          <p:cNvSpPr/>
          <p:nvPr/>
        </p:nvSpPr>
        <p:spPr>
          <a:xfrm>
            <a:off x="4584192" y="4133088"/>
            <a:ext cx="3038856" cy="182880"/>
          </a:xfrm>
          <a:prstGeom prst="rect">
            <a:avLst/>
          </a:prstGeom>
          <a:noFill/>
          <a:ln/>
        </p:spPr>
        <p:txBody>
          <a:bodyPr wrap="square" lIns="0" tIns="0" rIns="0" bIns="0" rtlCol="0" anchor="ctr"/>
          <a:lstStyle/>
          <a:p>
            <a:pPr marL="0" indent="0">
              <a:buNone/>
            </a:pPr>
            <a:r>
              <a:rPr lang="en-US" sz="900" b="1" kern="0" spc="110" dirty="0">
                <a:solidFill>
                  <a:srgbClr val="22D3EE"/>
                </a:solidFill>
              </a:rPr>
              <a:t>PREVIEW</a:t>
            </a:r>
            <a:endParaRPr lang="en-US" sz="900" dirty="0"/>
          </a:p>
        </p:txBody>
      </p:sp>
      <p:sp>
        <p:nvSpPr>
          <p:cNvPr id="32" name="Text 29"/>
          <p:cNvSpPr/>
          <p:nvPr/>
        </p:nvSpPr>
        <p:spPr>
          <a:xfrm>
            <a:off x="4584192" y="4407408"/>
            <a:ext cx="3038856"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Leaderboards</a:t>
            </a:r>
            <a:endParaRPr lang="en-US" sz="1800" dirty="0"/>
          </a:p>
        </p:txBody>
      </p:sp>
      <p:sp>
        <p:nvSpPr>
          <p:cNvPr id="33" name="Text 30"/>
          <p:cNvSpPr/>
          <p:nvPr/>
        </p:nvSpPr>
        <p:spPr>
          <a:xfrm>
            <a:off x="4584192" y="4773168"/>
            <a:ext cx="3038856" cy="740664"/>
          </a:xfrm>
          <a:prstGeom prst="rect">
            <a:avLst/>
          </a:prstGeom>
          <a:noFill/>
          <a:ln/>
        </p:spPr>
        <p:txBody>
          <a:bodyPr wrap="square" lIns="0" tIns="0" rIns="0" bIns="0" rtlCol="0" anchor="t">
            <a:normAutofit/>
          </a:bodyPr>
          <a:lstStyle/>
          <a:p>
            <a:pPr marL="0" indent="0">
              <a:buNone/>
            </a:pPr>
            <a:r>
              <a:rPr lang="en-US" sz="1150" dirty="0">
                <a:solidFill>
                  <a:srgbClr val="B8B5C5"/>
                </a:solidFill>
              </a:rPr>
              <a:t>Compare models by quality, safety, performance, cost, and scenario-specific benchmarks.</a:t>
            </a:r>
            <a:endParaRPr lang="en-US" sz="1150" dirty="0"/>
          </a:p>
        </p:txBody>
      </p:sp>
      <p:sp>
        <p:nvSpPr>
          <p:cNvPr id="34" name="Shape 31"/>
          <p:cNvSpPr/>
          <p:nvPr/>
        </p:nvSpPr>
        <p:spPr>
          <a:xfrm>
            <a:off x="8089392" y="3968496"/>
            <a:ext cx="3541776" cy="1691640"/>
          </a:xfrm>
          <a:prstGeom prst="roundRect">
            <a:avLst>
              <a:gd name="adj" fmla="val 4324"/>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35" name="Shape 32"/>
          <p:cNvSpPr/>
          <p:nvPr/>
        </p:nvSpPr>
        <p:spPr>
          <a:xfrm>
            <a:off x="8089392" y="3968496"/>
            <a:ext cx="64008" cy="1691640"/>
          </a:xfrm>
          <a:prstGeom prst="rect">
            <a:avLst/>
          </a:prstGeom>
          <a:solidFill>
            <a:srgbClr val="22D3EE"/>
          </a:solidFill>
          <a:ln w="12700">
            <a:solidFill>
              <a:srgbClr val="22D3EE">
                <a:alpha val="0"/>
              </a:srgbClr>
            </a:solidFill>
            <a:prstDash val="solid"/>
          </a:ln>
        </p:spPr>
      </p:sp>
      <p:sp>
        <p:nvSpPr>
          <p:cNvPr id="36" name="Text 33"/>
          <p:cNvSpPr/>
          <p:nvPr/>
        </p:nvSpPr>
        <p:spPr>
          <a:xfrm>
            <a:off x="8345424" y="4133088"/>
            <a:ext cx="3038856" cy="182880"/>
          </a:xfrm>
          <a:prstGeom prst="rect">
            <a:avLst/>
          </a:prstGeom>
          <a:noFill/>
          <a:ln/>
        </p:spPr>
        <p:txBody>
          <a:bodyPr wrap="square" lIns="0" tIns="0" rIns="0" bIns="0" rtlCol="0" anchor="ctr"/>
          <a:lstStyle/>
          <a:p>
            <a:pPr marL="0" indent="0">
              <a:buNone/>
            </a:pPr>
            <a:r>
              <a:rPr lang="en-US" sz="900" b="1" kern="0" spc="110" dirty="0">
                <a:solidFill>
                  <a:srgbClr val="22D3EE"/>
                </a:solidFill>
              </a:rPr>
              <a:t>GA</a:t>
            </a:r>
            <a:endParaRPr lang="en-US" sz="900" dirty="0"/>
          </a:p>
        </p:txBody>
      </p:sp>
      <p:sp>
        <p:nvSpPr>
          <p:cNvPr id="37" name="Text 34"/>
          <p:cNvSpPr/>
          <p:nvPr/>
        </p:nvSpPr>
        <p:spPr>
          <a:xfrm>
            <a:off x="8345424" y="4407408"/>
            <a:ext cx="3038856"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Search</a:t>
            </a:r>
            <a:endParaRPr lang="en-US" sz="1800" dirty="0"/>
          </a:p>
        </p:txBody>
      </p:sp>
      <p:sp>
        <p:nvSpPr>
          <p:cNvPr id="38" name="Text 35"/>
          <p:cNvSpPr/>
          <p:nvPr/>
        </p:nvSpPr>
        <p:spPr>
          <a:xfrm>
            <a:off x="8345424" y="4773168"/>
            <a:ext cx="3038856" cy="740664"/>
          </a:xfrm>
          <a:prstGeom prst="rect">
            <a:avLst/>
          </a:prstGeom>
          <a:noFill/>
          <a:ln/>
        </p:spPr>
        <p:txBody>
          <a:bodyPr wrap="square" lIns="0" tIns="0" rIns="0" bIns="0" rtlCol="0" anchor="t">
            <a:normAutofit/>
          </a:bodyPr>
          <a:lstStyle/>
          <a:p>
            <a:pPr marL="0" indent="0">
              <a:buNone/>
            </a:pPr>
            <a:r>
              <a:rPr lang="en-US" sz="1150" dirty="0">
                <a:solidFill>
                  <a:srgbClr val="B8B5C5"/>
                </a:solidFill>
              </a:rPr>
              <a:t>Locate catalog assets and experiences by task, provider, or capability.</a:t>
            </a:r>
            <a:endParaRPr lang="en-US" sz="1150" dirty="0"/>
          </a:p>
        </p:txBody>
      </p:sp>
      <p:sp>
        <p:nvSpPr>
          <p:cNvPr id="39" name="Text 36"/>
          <p:cNvSpPr/>
          <p:nvPr/>
        </p:nvSpPr>
        <p:spPr>
          <a:xfrm>
            <a:off x="594360" y="6053328"/>
            <a:ext cx="10789920" cy="228600"/>
          </a:xfrm>
          <a:prstGeom prst="rect">
            <a:avLst/>
          </a:prstGeom>
          <a:noFill/>
          <a:ln/>
        </p:spPr>
        <p:txBody>
          <a:bodyPr wrap="square" lIns="0" tIns="0" rIns="0" bIns="0" rtlCol="0" anchor="ctr"/>
          <a:lstStyle/>
          <a:p>
            <a:pPr marL="0" indent="0" algn="ctr">
              <a:buNone/>
            </a:pPr>
            <a:r>
              <a:rPr lang="en-US" sz="950" i="1" dirty="0">
                <a:solidFill>
                  <a:srgbClr val="FBBF24"/>
                </a:solidFill>
              </a:rPr>
              <a:t>Preview status can vary by capability, region, and release wave.</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0E0D12"/>
        </a:solidFill>
        <a:effectLst/>
      </p:bgPr>
    </p:bg>
    <p:spTree>
      <p:nvGrpSpPr>
        <p:cNvPr id="1" name=""/>
        <p:cNvGrpSpPr/>
        <p:nvPr/>
      </p:nvGrpSpPr>
      <p:grpSpPr>
        <a:xfrm>
          <a:off x="0" y="0"/>
          <a:ext cx="0" cy="0"/>
          <a:chOff x="0" y="0"/>
          <a:chExt cx="0" cy="0"/>
        </a:xfrm>
      </p:grpSpPr>
      <p:sp>
        <p:nvSpPr>
          <p:cNvPr id="2" name="Text 0"/>
          <p:cNvSpPr/>
          <p:nvPr/>
        </p:nvSpPr>
        <p:spPr>
          <a:xfrm>
            <a:off x="566928" y="384048"/>
            <a:ext cx="4389120" cy="256032"/>
          </a:xfrm>
          <a:prstGeom prst="rect">
            <a:avLst/>
          </a:prstGeom>
          <a:noFill/>
          <a:ln/>
        </p:spPr>
        <p:txBody>
          <a:bodyPr wrap="square" lIns="0" tIns="0" rIns="0" bIns="0" rtlCol="0" anchor="ctr"/>
          <a:lstStyle/>
          <a:p>
            <a:pPr marL="0" indent="0">
              <a:buNone/>
            </a:pPr>
            <a:r>
              <a:rPr lang="en-US" sz="1100" b="1" kern="0" spc="160" dirty="0">
                <a:solidFill>
                  <a:srgbClr val="22D3EE"/>
                </a:solidFill>
                <a:latin typeface="Aptos" pitchFamily="34" charset="0"/>
                <a:ea typeface="Aptos" pitchFamily="34" charset="-122"/>
                <a:cs typeface="Aptos" pitchFamily="34" charset="-120"/>
              </a:rPr>
              <a:t>TOP-LEVEL NAVIGATION</a:t>
            </a:r>
            <a:endParaRPr lang="en-US" sz="1100" dirty="0"/>
          </a:p>
        </p:txBody>
      </p:sp>
      <p:sp>
        <p:nvSpPr>
          <p:cNvPr id="3" name="Text 1"/>
          <p:cNvSpPr/>
          <p:nvPr/>
        </p:nvSpPr>
        <p:spPr>
          <a:xfrm>
            <a:off x="548640" y="713232"/>
            <a:ext cx="11018520" cy="566928"/>
          </a:xfrm>
          <a:prstGeom prst="rect">
            <a:avLst/>
          </a:prstGeom>
          <a:noFill/>
          <a:ln/>
        </p:spPr>
        <p:txBody>
          <a:bodyPr wrap="square" lIns="0" tIns="0" rIns="0" bIns="0" rtlCol="0" anchor="ctr">
            <a:normAutofit/>
          </a:bodyPr>
          <a:lstStyle/>
          <a:p>
            <a:pPr marL="0" indent="0">
              <a:buNone/>
            </a:pPr>
            <a:r>
              <a:rPr lang="en-US" sz="3000" b="1" dirty="0">
                <a:solidFill>
                  <a:srgbClr val="F7F7FB"/>
                </a:solidFill>
                <a:latin typeface="Aptos Display" pitchFamily="34" charset="0"/>
                <a:ea typeface="Aptos Display" pitchFamily="34" charset="-122"/>
                <a:cs typeface="Aptos Display" pitchFamily="34" charset="-120"/>
              </a:rPr>
              <a:t>Build</a:t>
            </a:r>
            <a:endParaRPr lang="en-US" sz="3000" dirty="0"/>
          </a:p>
        </p:txBody>
      </p:sp>
      <p:sp>
        <p:nvSpPr>
          <p:cNvPr id="4" name="Text 2"/>
          <p:cNvSpPr/>
          <p:nvPr/>
        </p:nvSpPr>
        <p:spPr>
          <a:xfrm>
            <a:off x="502920" y="6528816"/>
            <a:ext cx="10789920" cy="164592"/>
          </a:xfrm>
          <a:prstGeom prst="rect">
            <a:avLst/>
          </a:prstGeom>
          <a:noFill/>
          <a:ln/>
        </p:spPr>
        <p:txBody>
          <a:bodyPr wrap="square" lIns="0" tIns="0" rIns="0" bIns="0" rtlCol="0" anchor="ctr"/>
          <a:lstStyle/>
          <a:p>
            <a:pPr marL="0" indent="0">
              <a:buNone/>
            </a:pPr>
            <a:r>
              <a:rPr lang="en-US" sz="850" dirty="0">
                <a:solidFill>
                  <a:srgbClr val="837E92"/>
                </a:solidFill>
                <a:latin typeface="Aptos" pitchFamily="34" charset="0"/>
                <a:ea typeface="Aptos" pitchFamily="34" charset="-122"/>
                <a:cs typeface="Aptos" pitchFamily="34" charset="-120"/>
              </a:rPr>
              <a:t>Microsoft Foundry | General overview demo</a:t>
            </a:r>
            <a:endParaRPr lang="en-US" sz="850" dirty="0"/>
          </a:p>
        </p:txBody>
      </p:sp>
      <p:sp>
        <p:nvSpPr>
          <p:cNvPr id="5" name="Text 3"/>
          <p:cNvSpPr/>
          <p:nvPr/>
        </p:nvSpPr>
        <p:spPr>
          <a:xfrm>
            <a:off x="11292840" y="6473952"/>
            <a:ext cx="384048" cy="228600"/>
          </a:xfrm>
          <a:prstGeom prst="rect">
            <a:avLst/>
          </a:prstGeom>
          <a:noFill/>
          <a:ln/>
        </p:spPr>
        <p:txBody>
          <a:bodyPr wrap="square" lIns="0" tIns="0" rIns="0" bIns="0" rtlCol="0" anchor="ctr"/>
          <a:lstStyle/>
          <a:p>
            <a:pPr marL="0" indent="0" algn="r">
              <a:buNone/>
            </a:pPr>
            <a:r>
              <a:rPr lang="en-US" sz="900" b="1" dirty="0">
                <a:solidFill>
                  <a:srgbClr val="C4B5FD"/>
                </a:solidFill>
                <a:latin typeface="Aptos" pitchFamily="34" charset="0"/>
                <a:ea typeface="Aptos" pitchFamily="34" charset="-122"/>
                <a:cs typeface="Aptos" pitchFamily="34" charset="-120"/>
              </a:rPr>
              <a:t>18</a:t>
            </a:r>
            <a:endParaRPr lang="en-US" sz="900" dirty="0"/>
          </a:p>
        </p:txBody>
      </p:sp>
      <p:sp>
        <p:nvSpPr>
          <p:cNvPr id="6" name="Shape 4"/>
          <p:cNvSpPr/>
          <p:nvPr/>
        </p:nvSpPr>
        <p:spPr>
          <a:xfrm>
            <a:off x="7726680" y="393192"/>
            <a:ext cx="3886200" cy="640080"/>
          </a:xfrm>
          <a:prstGeom prst="roundRect">
            <a:avLst>
              <a:gd name="adj" fmla="val 11429"/>
            </a:avLst>
          </a:prstGeom>
          <a:solidFill>
            <a:srgbClr val="111016"/>
          </a:solidFill>
          <a:ln w="12700">
            <a:solidFill>
              <a:srgbClr val="3C3747"/>
            </a:solidFill>
            <a:prstDash val="solid"/>
          </a:ln>
          <a:effectLst>
            <a:outerShdw blurRad="38100" dist="50800" dir="2700000" algn="bl" rotWithShape="0">
              <a:srgbClr val="000000">
                <a:alpha val="24000"/>
              </a:srgbClr>
            </a:outerShdw>
          </a:effectLst>
        </p:spPr>
      </p:sp>
      <p:pic>
        <p:nvPicPr>
          <p:cNvPr id="7" name="Image 0" descr="Microsoft Foundry portal screenshot"/>
          <p:cNvPicPr>
            <a:picLocks noChangeAspect="1"/>
          </p:cNvPicPr>
          <p:nvPr/>
        </p:nvPicPr>
        <p:blipFill>
          <a:blip r:embed="rId3"/>
          <a:stretch>
            <a:fillRect/>
          </a:stretch>
        </p:blipFill>
        <p:spPr>
          <a:xfrm>
            <a:off x="7850678" y="475488"/>
            <a:ext cx="3638204" cy="475488"/>
          </a:xfrm>
          <a:prstGeom prst="rect">
            <a:avLst/>
          </a:prstGeom>
        </p:spPr>
      </p:pic>
      <p:sp>
        <p:nvSpPr>
          <p:cNvPr id="8" name="Text 5"/>
          <p:cNvSpPr/>
          <p:nvPr/>
        </p:nvSpPr>
        <p:spPr>
          <a:xfrm>
            <a:off x="566928" y="1353312"/>
            <a:ext cx="10881360" cy="475488"/>
          </a:xfrm>
          <a:prstGeom prst="rect">
            <a:avLst/>
          </a:prstGeom>
          <a:noFill/>
          <a:ln/>
        </p:spPr>
        <p:txBody>
          <a:bodyPr wrap="square" lIns="0" tIns="0" rIns="0" bIns="0" rtlCol="0" anchor="ctr">
            <a:normAutofit/>
          </a:bodyPr>
          <a:lstStyle/>
          <a:p>
            <a:pPr marL="0" indent="0">
              <a:buNone/>
            </a:pPr>
            <a:r>
              <a:rPr lang="en-US" sz="2100" i="1" dirty="0">
                <a:solidFill>
                  <a:srgbClr val="C4B5FD"/>
                </a:solidFill>
              </a:rPr>
              <a:t>Turn selected models and tools into testable, deployable AI solutions.</a:t>
            </a:r>
            <a:endParaRPr lang="en-US" sz="2100" dirty="0"/>
          </a:p>
        </p:txBody>
      </p:sp>
      <p:sp>
        <p:nvSpPr>
          <p:cNvPr id="9" name="Shape 6"/>
          <p:cNvSpPr/>
          <p:nvPr/>
        </p:nvSpPr>
        <p:spPr>
          <a:xfrm>
            <a:off x="566928" y="2057400"/>
            <a:ext cx="3541776" cy="1691640"/>
          </a:xfrm>
          <a:prstGeom prst="roundRect">
            <a:avLst>
              <a:gd name="adj" fmla="val 4324"/>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0" name="Shape 7"/>
          <p:cNvSpPr/>
          <p:nvPr/>
        </p:nvSpPr>
        <p:spPr>
          <a:xfrm>
            <a:off x="566928" y="2057400"/>
            <a:ext cx="64008" cy="1691640"/>
          </a:xfrm>
          <a:prstGeom prst="rect">
            <a:avLst/>
          </a:prstGeom>
          <a:solidFill>
            <a:srgbClr val="8B5CF6"/>
          </a:solidFill>
          <a:ln w="12700">
            <a:solidFill>
              <a:srgbClr val="8B5CF6">
                <a:alpha val="0"/>
              </a:srgbClr>
            </a:solidFill>
            <a:prstDash val="solid"/>
          </a:ln>
        </p:spPr>
      </p:sp>
      <p:sp>
        <p:nvSpPr>
          <p:cNvPr id="11" name="Text 8"/>
          <p:cNvSpPr/>
          <p:nvPr/>
        </p:nvSpPr>
        <p:spPr>
          <a:xfrm>
            <a:off x="822960" y="2221992"/>
            <a:ext cx="3038856" cy="182880"/>
          </a:xfrm>
          <a:prstGeom prst="rect">
            <a:avLst/>
          </a:prstGeom>
          <a:noFill/>
          <a:ln/>
        </p:spPr>
        <p:txBody>
          <a:bodyPr wrap="square" lIns="0" tIns="0" rIns="0" bIns="0" rtlCol="0" anchor="ctr"/>
          <a:lstStyle/>
          <a:p>
            <a:pPr marL="0" indent="0">
              <a:buNone/>
            </a:pPr>
            <a:r>
              <a:rPr lang="en-US" sz="900" b="1" kern="0" spc="110" dirty="0">
                <a:solidFill>
                  <a:srgbClr val="8B5CF6"/>
                </a:solidFill>
              </a:rPr>
              <a:t>CORE GA</a:t>
            </a:r>
            <a:endParaRPr lang="en-US" sz="900" dirty="0"/>
          </a:p>
        </p:txBody>
      </p:sp>
      <p:sp>
        <p:nvSpPr>
          <p:cNvPr id="12" name="Text 9"/>
          <p:cNvSpPr/>
          <p:nvPr/>
        </p:nvSpPr>
        <p:spPr>
          <a:xfrm>
            <a:off x="822960" y="2496312"/>
            <a:ext cx="3038856"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Agents</a:t>
            </a:r>
            <a:endParaRPr lang="en-US" sz="1800" dirty="0"/>
          </a:p>
        </p:txBody>
      </p:sp>
      <p:sp>
        <p:nvSpPr>
          <p:cNvPr id="13" name="Text 10"/>
          <p:cNvSpPr/>
          <p:nvPr/>
        </p:nvSpPr>
        <p:spPr>
          <a:xfrm>
            <a:off x="822960" y="2862072"/>
            <a:ext cx="3038856" cy="740664"/>
          </a:xfrm>
          <a:prstGeom prst="rect">
            <a:avLst/>
          </a:prstGeom>
          <a:noFill/>
          <a:ln/>
        </p:spPr>
        <p:txBody>
          <a:bodyPr wrap="square" lIns="0" tIns="0" rIns="0" bIns="0" rtlCol="0" anchor="t">
            <a:normAutofit/>
          </a:bodyPr>
          <a:lstStyle/>
          <a:p>
            <a:pPr marL="0" indent="0">
              <a:buNone/>
            </a:pPr>
            <a:r>
              <a:rPr lang="en-US" sz="1150" dirty="0">
                <a:solidFill>
                  <a:srgbClr val="B8B5C5"/>
                </a:solidFill>
              </a:rPr>
              <a:t>Create prompt agents or host code-based agents; configure instructions, tools, knowledge, versions, and publishing.</a:t>
            </a:r>
            <a:endParaRPr lang="en-US" sz="1150" dirty="0"/>
          </a:p>
        </p:txBody>
      </p:sp>
      <p:sp>
        <p:nvSpPr>
          <p:cNvPr id="14" name="Shape 11"/>
          <p:cNvSpPr/>
          <p:nvPr/>
        </p:nvSpPr>
        <p:spPr>
          <a:xfrm>
            <a:off x="4328160" y="2057400"/>
            <a:ext cx="3541776" cy="1691640"/>
          </a:xfrm>
          <a:prstGeom prst="roundRect">
            <a:avLst>
              <a:gd name="adj" fmla="val 4324"/>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5" name="Shape 12"/>
          <p:cNvSpPr/>
          <p:nvPr/>
        </p:nvSpPr>
        <p:spPr>
          <a:xfrm>
            <a:off x="4328160" y="2057400"/>
            <a:ext cx="64008" cy="1691640"/>
          </a:xfrm>
          <a:prstGeom prst="rect">
            <a:avLst/>
          </a:prstGeom>
          <a:solidFill>
            <a:srgbClr val="8B5CF6"/>
          </a:solidFill>
          <a:ln w="12700">
            <a:solidFill>
              <a:srgbClr val="8B5CF6">
                <a:alpha val="0"/>
              </a:srgbClr>
            </a:solidFill>
            <a:prstDash val="solid"/>
          </a:ln>
        </p:spPr>
      </p:sp>
      <p:sp>
        <p:nvSpPr>
          <p:cNvPr id="16" name="Text 13"/>
          <p:cNvSpPr/>
          <p:nvPr/>
        </p:nvSpPr>
        <p:spPr>
          <a:xfrm>
            <a:off x="4584192" y="2221992"/>
            <a:ext cx="3038856" cy="182880"/>
          </a:xfrm>
          <a:prstGeom prst="rect">
            <a:avLst/>
          </a:prstGeom>
          <a:noFill/>
          <a:ln/>
        </p:spPr>
        <p:txBody>
          <a:bodyPr wrap="square" lIns="0" tIns="0" rIns="0" bIns="0" rtlCol="0" anchor="ctr"/>
          <a:lstStyle/>
          <a:p>
            <a:pPr marL="0" indent="0">
              <a:buNone/>
            </a:pPr>
            <a:r>
              <a:rPr lang="en-US" sz="900" b="1" kern="0" spc="110" dirty="0">
                <a:solidFill>
                  <a:srgbClr val="8B5CF6"/>
                </a:solidFill>
              </a:rPr>
              <a:t>GA</a:t>
            </a:r>
            <a:endParaRPr lang="en-US" sz="900" dirty="0"/>
          </a:p>
        </p:txBody>
      </p:sp>
      <p:sp>
        <p:nvSpPr>
          <p:cNvPr id="17" name="Text 14"/>
          <p:cNvSpPr/>
          <p:nvPr/>
        </p:nvSpPr>
        <p:spPr>
          <a:xfrm>
            <a:off x="4584192" y="2496312"/>
            <a:ext cx="3038856"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Models</a:t>
            </a:r>
            <a:endParaRPr lang="en-US" sz="1800" dirty="0"/>
          </a:p>
        </p:txBody>
      </p:sp>
      <p:sp>
        <p:nvSpPr>
          <p:cNvPr id="18" name="Text 15"/>
          <p:cNvSpPr/>
          <p:nvPr/>
        </p:nvSpPr>
        <p:spPr>
          <a:xfrm>
            <a:off x="4584192" y="2862072"/>
            <a:ext cx="3038856" cy="740664"/>
          </a:xfrm>
          <a:prstGeom prst="rect">
            <a:avLst/>
          </a:prstGeom>
          <a:noFill/>
          <a:ln/>
        </p:spPr>
        <p:txBody>
          <a:bodyPr wrap="square" lIns="0" tIns="0" rIns="0" bIns="0" rtlCol="0" anchor="t">
            <a:normAutofit/>
          </a:bodyPr>
          <a:lstStyle/>
          <a:p>
            <a:pPr marL="0" indent="0">
              <a:buNone/>
            </a:pPr>
            <a:r>
              <a:rPr lang="en-US" sz="1150" dirty="0">
                <a:solidFill>
                  <a:srgbClr val="B8B5C5"/>
                </a:solidFill>
              </a:rPr>
              <a:t>Deploy models, open playgrounds, manage endpoint settings, and access inference code.</a:t>
            </a:r>
            <a:endParaRPr lang="en-US" sz="1150" dirty="0"/>
          </a:p>
        </p:txBody>
      </p:sp>
      <p:sp>
        <p:nvSpPr>
          <p:cNvPr id="19" name="Shape 16"/>
          <p:cNvSpPr/>
          <p:nvPr/>
        </p:nvSpPr>
        <p:spPr>
          <a:xfrm>
            <a:off x="8089392" y="2057400"/>
            <a:ext cx="3541776" cy="1691640"/>
          </a:xfrm>
          <a:prstGeom prst="roundRect">
            <a:avLst>
              <a:gd name="adj" fmla="val 4324"/>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20" name="Shape 17"/>
          <p:cNvSpPr/>
          <p:nvPr/>
        </p:nvSpPr>
        <p:spPr>
          <a:xfrm>
            <a:off x="8089392" y="2057400"/>
            <a:ext cx="64008" cy="1691640"/>
          </a:xfrm>
          <a:prstGeom prst="rect">
            <a:avLst/>
          </a:prstGeom>
          <a:solidFill>
            <a:srgbClr val="8B5CF6"/>
          </a:solidFill>
          <a:ln w="12700">
            <a:solidFill>
              <a:srgbClr val="8B5CF6">
                <a:alpha val="0"/>
              </a:srgbClr>
            </a:solidFill>
            <a:prstDash val="solid"/>
          </a:ln>
        </p:spPr>
      </p:sp>
      <p:sp>
        <p:nvSpPr>
          <p:cNvPr id="21" name="Text 18"/>
          <p:cNvSpPr/>
          <p:nvPr/>
        </p:nvSpPr>
        <p:spPr>
          <a:xfrm>
            <a:off x="8345424" y="2221992"/>
            <a:ext cx="3038856" cy="182880"/>
          </a:xfrm>
          <a:prstGeom prst="rect">
            <a:avLst/>
          </a:prstGeom>
          <a:noFill/>
          <a:ln/>
        </p:spPr>
        <p:txBody>
          <a:bodyPr wrap="square" lIns="0" tIns="0" rIns="0" bIns="0" rtlCol="0" anchor="ctr"/>
          <a:lstStyle/>
          <a:p>
            <a:pPr marL="0" indent="0">
              <a:buNone/>
            </a:pPr>
            <a:r>
              <a:rPr lang="en-US" sz="900" b="1" kern="0" spc="110" dirty="0">
                <a:solidFill>
                  <a:srgbClr val="8B5CF6"/>
                </a:solidFill>
              </a:rPr>
              <a:t>GA*</a:t>
            </a:r>
            <a:endParaRPr lang="en-US" sz="900" dirty="0"/>
          </a:p>
        </p:txBody>
      </p:sp>
      <p:sp>
        <p:nvSpPr>
          <p:cNvPr id="22" name="Text 19"/>
          <p:cNvSpPr/>
          <p:nvPr/>
        </p:nvSpPr>
        <p:spPr>
          <a:xfrm>
            <a:off x="8345424" y="2496312"/>
            <a:ext cx="3038856"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Tools &amp; toolboxes</a:t>
            </a:r>
            <a:endParaRPr lang="en-US" sz="1800" dirty="0"/>
          </a:p>
        </p:txBody>
      </p:sp>
      <p:sp>
        <p:nvSpPr>
          <p:cNvPr id="23" name="Text 20"/>
          <p:cNvSpPr/>
          <p:nvPr/>
        </p:nvSpPr>
        <p:spPr>
          <a:xfrm>
            <a:off x="8345424" y="2862072"/>
            <a:ext cx="3038856" cy="740664"/>
          </a:xfrm>
          <a:prstGeom prst="rect">
            <a:avLst/>
          </a:prstGeom>
          <a:noFill/>
          <a:ln/>
        </p:spPr>
        <p:txBody>
          <a:bodyPr wrap="square" lIns="0" tIns="0" rIns="0" bIns="0" rtlCol="0" anchor="t">
            <a:normAutofit/>
          </a:bodyPr>
          <a:lstStyle/>
          <a:p>
            <a:pPr marL="0" indent="0">
              <a:buNone/>
            </a:pPr>
            <a:r>
              <a:rPr lang="en-US" sz="1150" dirty="0">
                <a:solidFill>
                  <a:srgbClr val="B8B5C5"/>
                </a:solidFill>
              </a:rPr>
              <a:t>Connect governed actions and reusable tool endpoints to agents.</a:t>
            </a:r>
            <a:endParaRPr lang="en-US" sz="1150" dirty="0"/>
          </a:p>
        </p:txBody>
      </p:sp>
      <p:sp>
        <p:nvSpPr>
          <p:cNvPr id="24" name="Shape 21"/>
          <p:cNvSpPr/>
          <p:nvPr/>
        </p:nvSpPr>
        <p:spPr>
          <a:xfrm>
            <a:off x="566928" y="3968496"/>
            <a:ext cx="3541776" cy="1691640"/>
          </a:xfrm>
          <a:prstGeom prst="roundRect">
            <a:avLst>
              <a:gd name="adj" fmla="val 4324"/>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25" name="Shape 22"/>
          <p:cNvSpPr/>
          <p:nvPr/>
        </p:nvSpPr>
        <p:spPr>
          <a:xfrm>
            <a:off x="566928" y="3968496"/>
            <a:ext cx="64008" cy="1691640"/>
          </a:xfrm>
          <a:prstGeom prst="rect">
            <a:avLst/>
          </a:prstGeom>
          <a:solidFill>
            <a:srgbClr val="8B5CF6"/>
          </a:solidFill>
          <a:ln w="12700">
            <a:solidFill>
              <a:srgbClr val="8B5CF6">
                <a:alpha val="0"/>
              </a:srgbClr>
            </a:solidFill>
            <a:prstDash val="solid"/>
          </a:ln>
        </p:spPr>
      </p:sp>
      <p:sp>
        <p:nvSpPr>
          <p:cNvPr id="26" name="Text 23"/>
          <p:cNvSpPr/>
          <p:nvPr/>
        </p:nvSpPr>
        <p:spPr>
          <a:xfrm>
            <a:off x="822960" y="4133088"/>
            <a:ext cx="3038856" cy="182880"/>
          </a:xfrm>
          <a:prstGeom prst="rect">
            <a:avLst/>
          </a:prstGeom>
          <a:noFill/>
          <a:ln/>
        </p:spPr>
        <p:txBody>
          <a:bodyPr wrap="square" lIns="0" tIns="0" rIns="0" bIns="0" rtlCol="0" anchor="ctr"/>
          <a:lstStyle/>
          <a:p>
            <a:pPr marL="0" indent="0">
              <a:buNone/>
            </a:pPr>
            <a:r>
              <a:rPr lang="en-US" sz="900" b="1" kern="0" spc="110" dirty="0">
                <a:solidFill>
                  <a:srgbClr val="8B5CF6"/>
                </a:solidFill>
              </a:rPr>
              <a:t>MIXED</a:t>
            </a:r>
            <a:endParaRPr lang="en-US" sz="900" dirty="0"/>
          </a:p>
        </p:txBody>
      </p:sp>
      <p:sp>
        <p:nvSpPr>
          <p:cNvPr id="27" name="Text 24"/>
          <p:cNvSpPr/>
          <p:nvPr/>
        </p:nvSpPr>
        <p:spPr>
          <a:xfrm>
            <a:off x="822960" y="4407408"/>
            <a:ext cx="3038856"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Knowledge &amp; data</a:t>
            </a:r>
            <a:endParaRPr lang="en-US" sz="1800" dirty="0"/>
          </a:p>
        </p:txBody>
      </p:sp>
      <p:sp>
        <p:nvSpPr>
          <p:cNvPr id="28" name="Text 25"/>
          <p:cNvSpPr/>
          <p:nvPr/>
        </p:nvSpPr>
        <p:spPr>
          <a:xfrm>
            <a:off x="822960" y="4773168"/>
            <a:ext cx="3038856" cy="740664"/>
          </a:xfrm>
          <a:prstGeom prst="rect">
            <a:avLst/>
          </a:prstGeom>
          <a:noFill/>
          <a:ln/>
        </p:spPr>
        <p:txBody>
          <a:bodyPr wrap="square" lIns="0" tIns="0" rIns="0" bIns="0" rtlCol="0" anchor="t">
            <a:normAutofit/>
          </a:bodyPr>
          <a:lstStyle/>
          <a:p>
            <a:pPr marL="0" indent="0">
              <a:buNone/>
            </a:pPr>
            <a:r>
              <a:rPr lang="en-US" sz="1150" dirty="0">
                <a:solidFill>
                  <a:srgbClr val="B8B5C5"/>
                </a:solidFill>
              </a:rPr>
              <a:t>Ground responses with project data, retrieval, vector stores, and Foundry IQ capabilities.</a:t>
            </a:r>
            <a:endParaRPr lang="en-US" sz="1150" dirty="0"/>
          </a:p>
        </p:txBody>
      </p:sp>
      <p:sp>
        <p:nvSpPr>
          <p:cNvPr id="29" name="Shape 26"/>
          <p:cNvSpPr/>
          <p:nvPr/>
        </p:nvSpPr>
        <p:spPr>
          <a:xfrm>
            <a:off x="4328160" y="3968496"/>
            <a:ext cx="3541776" cy="1691640"/>
          </a:xfrm>
          <a:prstGeom prst="roundRect">
            <a:avLst>
              <a:gd name="adj" fmla="val 4324"/>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30" name="Shape 27"/>
          <p:cNvSpPr/>
          <p:nvPr/>
        </p:nvSpPr>
        <p:spPr>
          <a:xfrm>
            <a:off x="4328160" y="3968496"/>
            <a:ext cx="64008" cy="1691640"/>
          </a:xfrm>
          <a:prstGeom prst="rect">
            <a:avLst/>
          </a:prstGeom>
          <a:solidFill>
            <a:srgbClr val="8B5CF6"/>
          </a:solidFill>
          <a:ln w="12700">
            <a:solidFill>
              <a:srgbClr val="8B5CF6">
                <a:alpha val="0"/>
              </a:srgbClr>
            </a:solidFill>
            <a:prstDash val="solid"/>
          </a:ln>
        </p:spPr>
      </p:sp>
      <p:sp>
        <p:nvSpPr>
          <p:cNvPr id="31" name="Text 28"/>
          <p:cNvSpPr/>
          <p:nvPr/>
        </p:nvSpPr>
        <p:spPr>
          <a:xfrm>
            <a:off x="4584192" y="4133088"/>
            <a:ext cx="3038856" cy="182880"/>
          </a:xfrm>
          <a:prstGeom prst="rect">
            <a:avLst/>
          </a:prstGeom>
          <a:noFill/>
          <a:ln/>
        </p:spPr>
        <p:txBody>
          <a:bodyPr wrap="square" lIns="0" tIns="0" rIns="0" bIns="0" rtlCol="0" anchor="ctr"/>
          <a:lstStyle/>
          <a:p>
            <a:pPr marL="0" indent="0">
              <a:buNone/>
            </a:pPr>
            <a:r>
              <a:rPr lang="en-US" sz="900" b="1" kern="0" spc="110" dirty="0">
                <a:solidFill>
                  <a:srgbClr val="8B5CF6"/>
                </a:solidFill>
              </a:rPr>
              <a:t>GA*</a:t>
            </a:r>
            <a:endParaRPr lang="en-US" sz="900" dirty="0"/>
          </a:p>
        </p:txBody>
      </p:sp>
      <p:sp>
        <p:nvSpPr>
          <p:cNvPr id="32" name="Text 29"/>
          <p:cNvSpPr/>
          <p:nvPr/>
        </p:nvSpPr>
        <p:spPr>
          <a:xfrm>
            <a:off x="4584192" y="4407408"/>
            <a:ext cx="3038856"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Evaluation &amp; red teaming</a:t>
            </a:r>
            <a:endParaRPr lang="en-US" sz="1800" dirty="0"/>
          </a:p>
        </p:txBody>
      </p:sp>
      <p:sp>
        <p:nvSpPr>
          <p:cNvPr id="33" name="Text 30"/>
          <p:cNvSpPr/>
          <p:nvPr/>
        </p:nvSpPr>
        <p:spPr>
          <a:xfrm>
            <a:off x="4584192" y="4773168"/>
            <a:ext cx="3038856" cy="740664"/>
          </a:xfrm>
          <a:prstGeom prst="rect">
            <a:avLst/>
          </a:prstGeom>
          <a:noFill/>
          <a:ln/>
        </p:spPr>
        <p:txBody>
          <a:bodyPr wrap="square" lIns="0" tIns="0" rIns="0" bIns="0" rtlCol="0" anchor="t">
            <a:normAutofit/>
          </a:bodyPr>
          <a:lstStyle/>
          <a:p>
            <a:pPr marL="0" indent="0">
              <a:buNone/>
            </a:pPr>
            <a:r>
              <a:rPr lang="en-US" sz="1150" dirty="0">
                <a:solidFill>
                  <a:srgbClr val="B8B5C5"/>
                </a:solidFill>
              </a:rPr>
              <a:t>Measure quality, safety, groundedness, task completion, and adversarial resilience.</a:t>
            </a:r>
            <a:endParaRPr lang="en-US" sz="1150" dirty="0"/>
          </a:p>
        </p:txBody>
      </p:sp>
      <p:sp>
        <p:nvSpPr>
          <p:cNvPr id="34" name="Shape 31"/>
          <p:cNvSpPr/>
          <p:nvPr/>
        </p:nvSpPr>
        <p:spPr>
          <a:xfrm>
            <a:off x="8089392" y="3968496"/>
            <a:ext cx="3541776" cy="1691640"/>
          </a:xfrm>
          <a:prstGeom prst="roundRect">
            <a:avLst>
              <a:gd name="adj" fmla="val 4324"/>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35" name="Shape 32"/>
          <p:cNvSpPr/>
          <p:nvPr/>
        </p:nvSpPr>
        <p:spPr>
          <a:xfrm>
            <a:off x="8089392" y="3968496"/>
            <a:ext cx="64008" cy="1691640"/>
          </a:xfrm>
          <a:prstGeom prst="rect">
            <a:avLst/>
          </a:prstGeom>
          <a:solidFill>
            <a:srgbClr val="8B5CF6"/>
          </a:solidFill>
          <a:ln w="12700">
            <a:solidFill>
              <a:srgbClr val="8B5CF6">
                <a:alpha val="0"/>
              </a:srgbClr>
            </a:solidFill>
            <a:prstDash val="solid"/>
          </a:ln>
        </p:spPr>
      </p:sp>
      <p:sp>
        <p:nvSpPr>
          <p:cNvPr id="36" name="Text 33"/>
          <p:cNvSpPr/>
          <p:nvPr/>
        </p:nvSpPr>
        <p:spPr>
          <a:xfrm>
            <a:off x="8345424" y="4133088"/>
            <a:ext cx="3038856" cy="182880"/>
          </a:xfrm>
          <a:prstGeom prst="rect">
            <a:avLst/>
          </a:prstGeom>
          <a:noFill/>
          <a:ln/>
        </p:spPr>
        <p:txBody>
          <a:bodyPr wrap="square" lIns="0" tIns="0" rIns="0" bIns="0" rtlCol="0" anchor="ctr"/>
          <a:lstStyle/>
          <a:p>
            <a:pPr marL="0" indent="0">
              <a:buNone/>
            </a:pPr>
            <a:r>
              <a:rPr lang="en-US" sz="900" b="1" kern="0" spc="110" dirty="0">
                <a:solidFill>
                  <a:srgbClr val="8B5CF6"/>
                </a:solidFill>
              </a:rPr>
              <a:t>MIXED</a:t>
            </a:r>
            <a:endParaRPr lang="en-US" sz="900" dirty="0"/>
          </a:p>
        </p:txBody>
      </p:sp>
      <p:sp>
        <p:nvSpPr>
          <p:cNvPr id="37" name="Text 34"/>
          <p:cNvSpPr/>
          <p:nvPr/>
        </p:nvSpPr>
        <p:spPr>
          <a:xfrm>
            <a:off x="8345424" y="4407408"/>
            <a:ext cx="3038856"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Tracing, guardrails &amp; tuning</a:t>
            </a:r>
            <a:endParaRPr lang="en-US" sz="1800" dirty="0"/>
          </a:p>
        </p:txBody>
      </p:sp>
      <p:sp>
        <p:nvSpPr>
          <p:cNvPr id="38" name="Text 35"/>
          <p:cNvSpPr/>
          <p:nvPr/>
        </p:nvSpPr>
        <p:spPr>
          <a:xfrm>
            <a:off x="8345424" y="4773168"/>
            <a:ext cx="3038856" cy="740664"/>
          </a:xfrm>
          <a:prstGeom prst="rect">
            <a:avLst/>
          </a:prstGeom>
          <a:noFill/>
          <a:ln/>
        </p:spPr>
        <p:txBody>
          <a:bodyPr wrap="square" lIns="0" tIns="0" rIns="0" bIns="0" rtlCol="0" anchor="t">
            <a:normAutofit/>
          </a:bodyPr>
          <a:lstStyle/>
          <a:p>
            <a:pPr marL="0" indent="0">
              <a:buNone/>
            </a:pPr>
            <a:r>
              <a:rPr lang="en-US" sz="1150" dirty="0">
                <a:solidFill>
                  <a:srgbClr val="B8B5C5"/>
                </a:solidFill>
              </a:rPr>
              <a:t>Debug execution, apply safety controls, and customize supported models.</a:t>
            </a:r>
            <a:endParaRPr lang="en-US" sz="1150" dirty="0"/>
          </a:p>
        </p:txBody>
      </p:sp>
      <p:sp>
        <p:nvSpPr>
          <p:cNvPr id="39" name="Text 36"/>
          <p:cNvSpPr/>
          <p:nvPr/>
        </p:nvSpPr>
        <p:spPr>
          <a:xfrm>
            <a:off x="594360" y="6053328"/>
            <a:ext cx="10789920" cy="228600"/>
          </a:xfrm>
          <a:prstGeom prst="rect">
            <a:avLst/>
          </a:prstGeom>
          <a:noFill/>
          <a:ln/>
        </p:spPr>
        <p:txBody>
          <a:bodyPr wrap="square" lIns="0" tIns="0" rIns="0" bIns="0" rtlCol="0" anchor="ctr"/>
          <a:lstStyle/>
          <a:p>
            <a:pPr marL="0" indent="0" algn="ctr">
              <a:buNone/>
            </a:pPr>
            <a:r>
              <a:rPr lang="en-US" sz="950" i="1" dirty="0">
                <a:solidFill>
                  <a:srgbClr val="FBBF24"/>
                </a:solidFill>
              </a:rPr>
              <a:t>Preview status can vary by capability, region, and release wave.</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0E0D12"/>
        </a:solidFill>
        <a:effectLst/>
      </p:bgPr>
    </p:bg>
    <p:spTree>
      <p:nvGrpSpPr>
        <p:cNvPr id="1" name=""/>
        <p:cNvGrpSpPr/>
        <p:nvPr/>
      </p:nvGrpSpPr>
      <p:grpSpPr>
        <a:xfrm>
          <a:off x="0" y="0"/>
          <a:ext cx="0" cy="0"/>
          <a:chOff x="0" y="0"/>
          <a:chExt cx="0" cy="0"/>
        </a:xfrm>
      </p:grpSpPr>
      <p:sp>
        <p:nvSpPr>
          <p:cNvPr id="2" name="Text 0"/>
          <p:cNvSpPr/>
          <p:nvPr/>
        </p:nvSpPr>
        <p:spPr>
          <a:xfrm>
            <a:off x="566928" y="384048"/>
            <a:ext cx="4389120" cy="256032"/>
          </a:xfrm>
          <a:prstGeom prst="rect">
            <a:avLst/>
          </a:prstGeom>
          <a:noFill/>
          <a:ln/>
        </p:spPr>
        <p:txBody>
          <a:bodyPr wrap="square" lIns="0" tIns="0" rIns="0" bIns="0" rtlCol="0" anchor="ctr"/>
          <a:lstStyle/>
          <a:p>
            <a:pPr marL="0" indent="0">
              <a:buNone/>
            </a:pPr>
            <a:r>
              <a:rPr lang="en-US" sz="1100" b="1" kern="0" spc="160" dirty="0">
                <a:solidFill>
                  <a:srgbClr val="22D3EE"/>
                </a:solidFill>
                <a:latin typeface="Aptos" pitchFamily="34" charset="0"/>
                <a:ea typeface="Aptos" pitchFamily="34" charset="-122"/>
                <a:cs typeface="Aptos" pitchFamily="34" charset="-120"/>
              </a:rPr>
              <a:t>TOP-LEVEL NAVIGATION</a:t>
            </a:r>
            <a:endParaRPr lang="en-US" sz="1100" dirty="0"/>
          </a:p>
        </p:txBody>
      </p:sp>
      <p:sp>
        <p:nvSpPr>
          <p:cNvPr id="3" name="Text 1"/>
          <p:cNvSpPr/>
          <p:nvPr/>
        </p:nvSpPr>
        <p:spPr>
          <a:xfrm>
            <a:off x="548640" y="713232"/>
            <a:ext cx="11018520" cy="566928"/>
          </a:xfrm>
          <a:prstGeom prst="rect">
            <a:avLst/>
          </a:prstGeom>
          <a:noFill/>
          <a:ln/>
        </p:spPr>
        <p:txBody>
          <a:bodyPr wrap="square" lIns="0" tIns="0" rIns="0" bIns="0" rtlCol="0" anchor="ctr">
            <a:normAutofit/>
          </a:bodyPr>
          <a:lstStyle/>
          <a:p>
            <a:pPr marL="0" indent="0">
              <a:buNone/>
            </a:pPr>
            <a:r>
              <a:rPr lang="en-US" sz="3000" b="1" dirty="0">
                <a:solidFill>
                  <a:srgbClr val="F7F7FB"/>
                </a:solidFill>
                <a:latin typeface="Aptos Display" pitchFamily="34" charset="0"/>
                <a:ea typeface="Aptos Display" pitchFamily="34" charset="-122"/>
                <a:cs typeface="Aptos Display" pitchFamily="34" charset="-120"/>
              </a:rPr>
              <a:t>Operate</a:t>
            </a:r>
            <a:endParaRPr lang="en-US" sz="3000" dirty="0"/>
          </a:p>
        </p:txBody>
      </p:sp>
      <p:sp>
        <p:nvSpPr>
          <p:cNvPr id="4" name="Text 2"/>
          <p:cNvSpPr/>
          <p:nvPr/>
        </p:nvSpPr>
        <p:spPr>
          <a:xfrm>
            <a:off x="502920" y="6528816"/>
            <a:ext cx="10789920" cy="164592"/>
          </a:xfrm>
          <a:prstGeom prst="rect">
            <a:avLst/>
          </a:prstGeom>
          <a:noFill/>
          <a:ln/>
        </p:spPr>
        <p:txBody>
          <a:bodyPr wrap="square" lIns="0" tIns="0" rIns="0" bIns="0" rtlCol="0" anchor="ctr"/>
          <a:lstStyle/>
          <a:p>
            <a:pPr marL="0" indent="0">
              <a:buNone/>
            </a:pPr>
            <a:r>
              <a:rPr lang="en-US" sz="850" dirty="0">
                <a:solidFill>
                  <a:srgbClr val="837E92"/>
                </a:solidFill>
                <a:latin typeface="Aptos" pitchFamily="34" charset="0"/>
                <a:ea typeface="Aptos" pitchFamily="34" charset="-122"/>
                <a:cs typeface="Aptos" pitchFamily="34" charset="-120"/>
              </a:rPr>
              <a:t>Microsoft Foundry | General overview demo</a:t>
            </a:r>
            <a:endParaRPr lang="en-US" sz="850" dirty="0"/>
          </a:p>
        </p:txBody>
      </p:sp>
      <p:sp>
        <p:nvSpPr>
          <p:cNvPr id="5" name="Text 3"/>
          <p:cNvSpPr/>
          <p:nvPr/>
        </p:nvSpPr>
        <p:spPr>
          <a:xfrm>
            <a:off x="11292840" y="6473952"/>
            <a:ext cx="384048" cy="228600"/>
          </a:xfrm>
          <a:prstGeom prst="rect">
            <a:avLst/>
          </a:prstGeom>
          <a:noFill/>
          <a:ln/>
        </p:spPr>
        <p:txBody>
          <a:bodyPr wrap="square" lIns="0" tIns="0" rIns="0" bIns="0" rtlCol="0" anchor="ctr"/>
          <a:lstStyle/>
          <a:p>
            <a:pPr marL="0" indent="0" algn="r">
              <a:buNone/>
            </a:pPr>
            <a:r>
              <a:rPr lang="en-US" sz="900" b="1" dirty="0">
                <a:solidFill>
                  <a:srgbClr val="C4B5FD"/>
                </a:solidFill>
                <a:latin typeface="Aptos" pitchFamily="34" charset="0"/>
                <a:ea typeface="Aptos" pitchFamily="34" charset="-122"/>
                <a:cs typeface="Aptos" pitchFamily="34" charset="-120"/>
              </a:rPr>
              <a:t>19</a:t>
            </a:r>
            <a:endParaRPr lang="en-US" sz="900" dirty="0"/>
          </a:p>
        </p:txBody>
      </p:sp>
      <p:sp>
        <p:nvSpPr>
          <p:cNvPr id="6" name="Shape 4"/>
          <p:cNvSpPr/>
          <p:nvPr/>
        </p:nvSpPr>
        <p:spPr>
          <a:xfrm>
            <a:off x="7726680" y="393192"/>
            <a:ext cx="3886200" cy="640080"/>
          </a:xfrm>
          <a:prstGeom prst="roundRect">
            <a:avLst>
              <a:gd name="adj" fmla="val 11429"/>
            </a:avLst>
          </a:prstGeom>
          <a:solidFill>
            <a:srgbClr val="111016"/>
          </a:solidFill>
          <a:ln w="12700">
            <a:solidFill>
              <a:srgbClr val="3C3747"/>
            </a:solidFill>
            <a:prstDash val="solid"/>
          </a:ln>
          <a:effectLst>
            <a:outerShdw blurRad="38100" dist="50800" dir="2700000" algn="bl" rotWithShape="0">
              <a:srgbClr val="000000">
                <a:alpha val="24000"/>
              </a:srgbClr>
            </a:outerShdw>
          </a:effectLst>
        </p:spPr>
      </p:sp>
      <p:pic>
        <p:nvPicPr>
          <p:cNvPr id="7" name="Image 0" descr="Microsoft Foundry portal screenshot"/>
          <p:cNvPicPr>
            <a:picLocks noChangeAspect="1"/>
          </p:cNvPicPr>
          <p:nvPr/>
        </p:nvPicPr>
        <p:blipFill>
          <a:blip r:embed="rId3"/>
          <a:stretch>
            <a:fillRect/>
          </a:stretch>
        </p:blipFill>
        <p:spPr>
          <a:xfrm>
            <a:off x="7850678" y="475488"/>
            <a:ext cx="3638204" cy="475488"/>
          </a:xfrm>
          <a:prstGeom prst="rect">
            <a:avLst/>
          </a:prstGeom>
        </p:spPr>
      </p:pic>
      <p:sp>
        <p:nvSpPr>
          <p:cNvPr id="8" name="Text 5"/>
          <p:cNvSpPr/>
          <p:nvPr/>
        </p:nvSpPr>
        <p:spPr>
          <a:xfrm>
            <a:off x="566928" y="1353312"/>
            <a:ext cx="10881360" cy="475488"/>
          </a:xfrm>
          <a:prstGeom prst="rect">
            <a:avLst/>
          </a:prstGeom>
          <a:noFill/>
          <a:ln/>
        </p:spPr>
        <p:txBody>
          <a:bodyPr wrap="square" lIns="0" tIns="0" rIns="0" bIns="0" rtlCol="0" anchor="ctr">
            <a:normAutofit/>
          </a:bodyPr>
          <a:lstStyle/>
          <a:p>
            <a:pPr marL="0" indent="0">
              <a:buNone/>
            </a:pPr>
            <a:r>
              <a:rPr lang="en-US" sz="2100" i="1" dirty="0">
                <a:solidFill>
                  <a:srgbClr val="C4B5FD"/>
                </a:solidFill>
              </a:rPr>
              <a:t>See how AI systems behave across projects after they are deployed.</a:t>
            </a:r>
            <a:endParaRPr lang="en-US" sz="2100" dirty="0"/>
          </a:p>
        </p:txBody>
      </p:sp>
      <p:sp>
        <p:nvSpPr>
          <p:cNvPr id="9" name="Shape 6"/>
          <p:cNvSpPr/>
          <p:nvPr/>
        </p:nvSpPr>
        <p:spPr>
          <a:xfrm>
            <a:off x="566928" y="2057400"/>
            <a:ext cx="3541776" cy="1691640"/>
          </a:xfrm>
          <a:prstGeom prst="roundRect">
            <a:avLst>
              <a:gd name="adj" fmla="val 4324"/>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0" name="Shape 7"/>
          <p:cNvSpPr/>
          <p:nvPr/>
        </p:nvSpPr>
        <p:spPr>
          <a:xfrm>
            <a:off x="566928" y="2057400"/>
            <a:ext cx="64008" cy="1691640"/>
          </a:xfrm>
          <a:prstGeom prst="rect">
            <a:avLst/>
          </a:prstGeom>
          <a:solidFill>
            <a:srgbClr val="34D399"/>
          </a:solidFill>
          <a:ln w="12700">
            <a:solidFill>
              <a:srgbClr val="34D399">
                <a:alpha val="0"/>
              </a:srgbClr>
            </a:solidFill>
            <a:prstDash val="solid"/>
          </a:ln>
        </p:spPr>
      </p:sp>
      <p:sp>
        <p:nvSpPr>
          <p:cNvPr id="11" name="Text 8"/>
          <p:cNvSpPr/>
          <p:nvPr/>
        </p:nvSpPr>
        <p:spPr>
          <a:xfrm>
            <a:off x="822960" y="2221992"/>
            <a:ext cx="3038856" cy="182880"/>
          </a:xfrm>
          <a:prstGeom prst="rect">
            <a:avLst/>
          </a:prstGeom>
          <a:noFill/>
          <a:ln/>
        </p:spPr>
        <p:txBody>
          <a:bodyPr wrap="square" lIns="0" tIns="0" rIns="0" bIns="0" rtlCol="0" anchor="ctr"/>
          <a:lstStyle/>
          <a:p>
            <a:pPr marL="0" indent="0">
              <a:buNone/>
            </a:pPr>
            <a:r>
              <a:rPr lang="en-US" sz="900" b="1" kern="0" spc="110" dirty="0">
                <a:solidFill>
                  <a:srgbClr val="34D399"/>
                </a:solidFill>
              </a:rPr>
              <a:t>PREVIEW</a:t>
            </a:r>
            <a:endParaRPr lang="en-US" sz="900" dirty="0"/>
          </a:p>
        </p:txBody>
      </p:sp>
      <p:sp>
        <p:nvSpPr>
          <p:cNvPr id="12" name="Text 9"/>
          <p:cNvSpPr/>
          <p:nvPr/>
        </p:nvSpPr>
        <p:spPr>
          <a:xfrm>
            <a:off x="822960" y="2496312"/>
            <a:ext cx="3038856"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Overview</a:t>
            </a:r>
            <a:endParaRPr lang="en-US" sz="1800" dirty="0"/>
          </a:p>
        </p:txBody>
      </p:sp>
      <p:sp>
        <p:nvSpPr>
          <p:cNvPr id="13" name="Text 10"/>
          <p:cNvSpPr/>
          <p:nvPr/>
        </p:nvSpPr>
        <p:spPr>
          <a:xfrm>
            <a:off x="822960" y="2862072"/>
            <a:ext cx="3038856" cy="740664"/>
          </a:xfrm>
          <a:prstGeom prst="rect">
            <a:avLst/>
          </a:prstGeom>
          <a:noFill/>
          <a:ln/>
        </p:spPr>
        <p:txBody>
          <a:bodyPr wrap="square" lIns="0" tIns="0" rIns="0" bIns="0" rtlCol="0" anchor="t">
            <a:normAutofit/>
          </a:bodyPr>
          <a:lstStyle/>
          <a:p>
            <a:pPr marL="0" indent="0">
              <a:buNone/>
            </a:pPr>
            <a:r>
              <a:rPr lang="en-US" sz="1150" dirty="0">
                <a:solidFill>
                  <a:srgbClr val="B8B5C5"/>
                </a:solidFill>
              </a:rPr>
              <a:t>Cross-project operational view with filters for projects and time range, including usage and estimated cost signals.</a:t>
            </a:r>
            <a:endParaRPr lang="en-US" sz="1150" dirty="0"/>
          </a:p>
        </p:txBody>
      </p:sp>
      <p:sp>
        <p:nvSpPr>
          <p:cNvPr id="14" name="Shape 11"/>
          <p:cNvSpPr/>
          <p:nvPr/>
        </p:nvSpPr>
        <p:spPr>
          <a:xfrm>
            <a:off x="4328160" y="2057400"/>
            <a:ext cx="3541776" cy="1691640"/>
          </a:xfrm>
          <a:prstGeom prst="roundRect">
            <a:avLst>
              <a:gd name="adj" fmla="val 4324"/>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5" name="Shape 12"/>
          <p:cNvSpPr/>
          <p:nvPr/>
        </p:nvSpPr>
        <p:spPr>
          <a:xfrm>
            <a:off x="4328160" y="2057400"/>
            <a:ext cx="64008" cy="1691640"/>
          </a:xfrm>
          <a:prstGeom prst="rect">
            <a:avLst/>
          </a:prstGeom>
          <a:solidFill>
            <a:srgbClr val="34D399"/>
          </a:solidFill>
          <a:ln w="12700">
            <a:solidFill>
              <a:srgbClr val="34D399">
                <a:alpha val="0"/>
              </a:srgbClr>
            </a:solidFill>
            <a:prstDash val="solid"/>
          </a:ln>
        </p:spPr>
      </p:sp>
      <p:sp>
        <p:nvSpPr>
          <p:cNvPr id="16" name="Text 13"/>
          <p:cNvSpPr/>
          <p:nvPr/>
        </p:nvSpPr>
        <p:spPr>
          <a:xfrm>
            <a:off x="4584192" y="2221992"/>
            <a:ext cx="3038856" cy="182880"/>
          </a:xfrm>
          <a:prstGeom prst="rect">
            <a:avLst/>
          </a:prstGeom>
          <a:noFill/>
          <a:ln/>
        </p:spPr>
        <p:txBody>
          <a:bodyPr wrap="square" lIns="0" tIns="0" rIns="0" bIns="0" rtlCol="0" anchor="ctr"/>
          <a:lstStyle/>
          <a:p>
            <a:pPr marL="0" indent="0">
              <a:buNone/>
            </a:pPr>
            <a:r>
              <a:rPr lang="en-US" sz="900" b="1" kern="0" spc="110" dirty="0">
                <a:solidFill>
                  <a:srgbClr val="34D399"/>
                </a:solidFill>
              </a:rPr>
              <a:t>PREVIEW</a:t>
            </a:r>
            <a:endParaRPr lang="en-US" sz="900" dirty="0"/>
          </a:p>
        </p:txBody>
      </p:sp>
      <p:sp>
        <p:nvSpPr>
          <p:cNvPr id="17" name="Text 14"/>
          <p:cNvSpPr/>
          <p:nvPr/>
        </p:nvSpPr>
        <p:spPr>
          <a:xfrm>
            <a:off x="4584192" y="2496312"/>
            <a:ext cx="3038856"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Assets</a:t>
            </a:r>
            <a:endParaRPr lang="en-US" sz="1800" dirty="0"/>
          </a:p>
        </p:txBody>
      </p:sp>
      <p:sp>
        <p:nvSpPr>
          <p:cNvPr id="18" name="Text 15"/>
          <p:cNvSpPr/>
          <p:nvPr/>
        </p:nvSpPr>
        <p:spPr>
          <a:xfrm>
            <a:off x="4584192" y="2862072"/>
            <a:ext cx="3038856" cy="740664"/>
          </a:xfrm>
          <a:prstGeom prst="rect">
            <a:avLst/>
          </a:prstGeom>
          <a:noFill/>
          <a:ln/>
        </p:spPr>
        <p:txBody>
          <a:bodyPr wrap="square" lIns="0" tIns="0" rIns="0" bIns="0" rtlCol="0" anchor="t">
            <a:normAutofit/>
          </a:bodyPr>
          <a:lstStyle/>
          <a:p>
            <a:pPr marL="0" indent="0">
              <a:buNone/>
            </a:pPr>
            <a:r>
              <a:rPr lang="en-US" sz="1150" dirty="0">
                <a:solidFill>
                  <a:srgbClr val="B8B5C5"/>
                </a:solidFill>
              </a:rPr>
              <a:t>Inventory agents and other operational assets; inspect status, ownership, usage, and cost where available.</a:t>
            </a:r>
            <a:endParaRPr lang="en-US" sz="1150" dirty="0"/>
          </a:p>
        </p:txBody>
      </p:sp>
      <p:sp>
        <p:nvSpPr>
          <p:cNvPr id="19" name="Shape 16"/>
          <p:cNvSpPr/>
          <p:nvPr/>
        </p:nvSpPr>
        <p:spPr>
          <a:xfrm>
            <a:off x="8089392" y="2057400"/>
            <a:ext cx="3541776" cy="1691640"/>
          </a:xfrm>
          <a:prstGeom prst="roundRect">
            <a:avLst>
              <a:gd name="adj" fmla="val 4324"/>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20" name="Shape 17"/>
          <p:cNvSpPr/>
          <p:nvPr/>
        </p:nvSpPr>
        <p:spPr>
          <a:xfrm>
            <a:off x="8089392" y="2057400"/>
            <a:ext cx="64008" cy="1691640"/>
          </a:xfrm>
          <a:prstGeom prst="rect">
            <a:avLst/>
          </a:prstGeom>
          <a:solidFill>
            <a:srgbClr val="34D399"/>
          </a:solidFill>
          <a:ln w="12700">
            <a:solidFill>
              <a:srgbClr val="34D399">
                <a:alpha val="0"/>
              </a:srgbClr>
            </a:solidFill>
            <a:prstDash val="solid"/>
          </a:ln>
        </p:spPr>
      </p:sp>
      <p:sp>
        <p:nvSpPr>
          <p:cNvPr id="21" name="Text 18"/>
          <p:cNvSpPr/>
          <p:nvPr/>
        </p:nvSpPr>
        <p:spPr>
          <a:xfrm>
            <a:off x="8345424" y="2221992"/>
            <a:ext cx="3038856" cy="182880"/>
          </a:xfrm>
          <a:prstGeom prst="rect">
            <a:avLst/>
          </a:prstGeom>
          <a:noFill/>
          <a:ln/>
        </p:spPr>
        <p:txBody>
          <a:bodyPr wrap="square" lIns="0" tIns="0" rIns="0" bIns="0" rtlCol="0" anchor="ctr"/>
          <a:lstStyle/>
          <a:p>
            <a:pPr marL="0" indent="0">
              <a:buNone/>
            </a:pPr>
            <a:r>
              <a:rPr lang="en-US" sz="900" b="1" kern="0" spc="110" dirty="0">
                <a:solidFill>
                  <a:srgbClr val="34D399"/>
                </a:solidFill>
              </a:rPr>
              <a:t>CAPABILITY</a:t>
            </a:r>
            <a:endParaRPr lang="en-US" sz="900" dirty="0"/>
          </a:p>
        </p:txBody>
      </p:sp>
      <p:sp>
        <p:nvSpPr>
          <p:cNvPr id="22" name="Text 19"/>
          <p:cNvSpPr/>
          <p:nvPr/>
        </p:nvSpPr>
        <p:spPr>
          <a:xfrm>
            <a:off x="8345424" y="2496312"/>
            <a:ext cx="3038856"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Monitoring</a:t>
            </a:r>
            <a:endParaRPr lang="en-US" sz="1800" dirty="0"/>
          </a:p>
        </p:txBody>
      </p:sp>
      <p:sp>
        <p:nvSpPr>
          <p:cNvPr id="23" name="Text 20"/>
          <p:cNvSpPr/>
          <p:nvPr/>
        </p:nvSpPr>
        <p:spPr>
          <a:xfrm>
            <a:off x="8345424" y="2862072"/>
            <a:ext cx="3038856" cy="740664"/>
          </a:xfrm>
          <a:prstGeom prst="rect">
            <a:avLst/>
          </a:prstGeom>
          <a:noFill/>
          <a:ln/>
        </p:spPr>
        <p:txBody>
          <a:bodyPr wrap="square" lIns="0" tIns="0" rIns="0" bIns="0" rtlCol="0" anchor="t">
            <a:normAutofit/>
          </a:bodyPr>
          <a:lstStyle/>
          <a:p>
            <a:pPr marL="0" indent="0">
              <a:buNone/>
            </a:pPr>
            <a:r>
              <a:rPr lang="en-US" sz="1150" dirty="0">
                <a:solidFill>
                  <a:srgbClr val="B8B5C5"/>
                </a:solidFill>
              </a:rPr>
              <a:t>Track latency, throughput, token consumption, errors, quality scores, and agent health through Azure Monitor integration.</a:t>
            </a:r>
            <a:endParaRPr lang="en-US" sz="1150" dirty="0"/>
          </a:p>
        </p:txBody>
      </p:sp>
      <p:sp>
        <p:nvSpPr>
          <p:cNvPr id="24" name="Shape 21"/>
          <p:cNvSpPr/>
          <p:nvPr/>
        </p:nvSpPr>
        <p:spPr>
          <a:xfrm>
            <a:off x="566928" y="3968496"/>
            <a:ext cx="3541776" cy="1691640"/>
          </a:xfrm>
          <a:prstGeom prst="roundRect">
            <a:avLst>
              <a:gd name="adj" fmla="val 4324"/>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25" name="Shape 22"/>
          <p:cNvSpPr/>
          <p:nvPr/>
        </p:nvSpPr>
        <p:spPr>
          <a:xfrm>
            <a:off x="566928" y="3968496"/>
            <a:ext cx="64008" cy="1691640"/>
          </a:xfrm>
          <a:prstGeom prst="rect">
            <a:avLst/>
          </a:prstGeom>
          <a:solidFill>
            <a:srgbClr val="34D399"/>
          </a:solidFill>
          <a:ln w="12700">
            <a:solidFill>
              <a:srgbClr val="34D399">
                <a:alpha val="0"/>
              </a:srgbClr>
            </a:solidFill>
            <a:prstDash val="solid"/>
          </a:ln>
        </p:spPr>
      </p:sp>
      <p:sp>
        <p:nvSpPr>
          <p:cNvPr id="26" name="Text 23"/>
          <p:cNvSpPr/>
          <p:nvPr/>
        </p:nvSpPr>
        <p:spPr>
          <a:xfrm>
            <a:off x="822960" y="4133088"/>
            <a:ext cx="3038856" cy="182880"/>
          </a:xfrm>
          <a:prstGeom prst="rect">
            <a:avLst/>
          </a:prstGeom>
          <a:noFill/>
          <a:ln/>
        </p:spPr>
        <p:txBody>
          <a:bodyPr wrap="square" lIns="0" tIns="0" rIns="0" bIns="0" rtlCol="0" anchor="ctr"/>
          <a:lstStyle/>
          <a:p>
            <a:pPr marL="0" indent="0">
              <a:buNone/>
            </a:pPr>
            <a:r>
              <a:rPr lang="en-US" sz="900" b="1" kern="0" spc="110" dirty="0">
                <a:solidFill>
                  <a:srgbClr val="34D399"/>
                </a:solidFill>
              </a:rPr>
              <a:t>GA / PREVIEW</a:t>
            </a:r>
            <a:endParaRPr lang="en-US" sz="900" dirty="0"/>
          </a:p>
        </p:txBody>
      </p:sp>
      <p:sp>
        <p:nvSpPr>
          <p:cNvPr id="27" name="Text 24"/>
          <p:cNvSpPr/>
          <p:nvPr/>
        </p:nvSpPr>
        <p:spPr>
          <a:xfrm>
            <a:off x="822960" y="4407408"/>
            <a:ext cx="3038856"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Tracing</a:t>
            </a:r>
            <a:endParaRPr lang="en-US" sz="1800" dirty="0"/>
          </a:p>
        </p:txBody>
      </p:sp>
      <p:sp>
        <p:nvSpPr>
          <p:cNvPr id="28" name="Text 25"/>
          <p:cNvSpPr/>
          <p:nvPr/>
        </p:nvSpPr>
        <p:spPr>
          <a:xfrm>
            <a:off x="822960" y="4773168"/>
            <a:ext cx="3038856" cy="740664"/>
          </a:xfrm>
          <a:prstGeom prst="rect">
            <a:avLst/>
          </a:prstGeom>
          <a:noFill/>
          <a:ln/>
        </p:spPr>
        <p:txBody>
          <a:bodyPr wrap="square" lIns="0" tIns="0" rIns="0" bIns="0" rtlCol="0" anchor="t">
            <a:normAutofit/>
          </a:bodyPr>
          <a:lstStyle/>
          <a:p>
            <a:pPr marL="0" indent="0">
              <a:buNone/>
            </a:pPr>
            <a:r>
              <a:rPr lang="en-US" sz="1150" dirty="0">
                <a:solidFill>
                  <a:srgbClr val="B8B5C5"/>
                </a:solidFill>
              </a:rPr>
              <a:t>Inspect model calls, tool invocations, agent decisions, dependencies, errors, and timing using OpenTelemetry-based traces.</a:t>
            </a:r>
            <a:endParaRPr lang="en-US" sz="1150" dirty="0"/>
          </a:p>
        </p:txBody>
      </p:sp>
      <p:sp>
        <p:nvSpPr>
          <p:cNvPr id="29" name="Shape 26"/>
          <p:cNvSpPr/>
          <p:nvPr/>
        </p:nvSpPr>
        <p:spPr>
          <a:xfrm>
            <a:off x="4328160" y="3968496"/>
            <a:ext cx="3541776" cy="1691640"/>
          </a:xfrm>
          <a:prstGeom prst="roundRect">
            <a:avLst>
              <a:gd name="adj" fmla="val 4324"/>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30" name="Shape 27"/>
          <p:cNvSpPr/>
          <p:nvPr/>
        </p:nvSpPr>
        <p:spPr>
          <a:xfrm>
            <a:off x="4328160" y="3968496"/>
            <a:ext cx="64008" cy="1691640"/>
          </a:xfrm>
          <a:prstGeom prst="rect">
            <a:avLst/>
          </a:prstGeom>
          <a:solidFill>
            <a:srgbClr val="34D399"/>
          </a:solidFill>
          <a:ln w="12700">
            <a:solidFill>
              <a:srgbClr val="34D399">
                <a:alpha val="0"/>
              </a:srgbClr>
            </a:solidFill>
            <a:prstDash val="solid"/>
          </a:ln>
        </p:spPr>
      </p:sp>
      <p:sp>
        <p:nvSpPr>
          <p:cNvPr id="31" name="Text 28"/>
          <p:cNvSpPr/>
          <p:nvPr/>
        </p:nvSpPr>
        <p:spPr>
          <a:xfrm>
            <a:off x="4584192" y="4133088"/>
            <a:ext cx="3038856" cy="182880"/>
          </a:xfrm>
          <a:prstGeom prst="rect">
            <a:avLst/>
          </a:prstGeom>
          <a:noFill/>
          <a:ln/>
        </p:spPr>
        <p:txBody>
          <a:bodyPr wrap="square" lIns="0" tIns="0" rIns="0" bIns="0" rtlCol="0" anchor="ctr"/>
          <a:lstStyle/>
          <a:p>
            <a:pPr marL="0" indent="0">
              <a:buNone/>
            </a:pPr>
            <a:r>
              <a:rPr lang="en-US" sz="900" b="1" kern="0" spc="110" dirty="0">
                <a:solidFill>
                  <a:srgbClr val="34D399"/>
                </a:solidFill>
              </a:rPr>
              <a:t>PREVIEW</a:t>
            </a:r>
            <a:endParaRPr lang="en-US" sz="900" dirty="0"/>
          </a:p>
        </p:txBody>
      </p:sp>
      <p:sp>
        <p:nvSpPr>
          <p:cNvPr id="32" name="Text 29"/>
          <p:cNvSpPr/>
          <p:nvPr/>
        </p:nvSpPr>
        <p:spPr>
          <a:xfrm>
            <a:off x="4584192" y="4407408"/>
            <a:ext cx="3038856"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Compliance</a:t>
            </a:r>
            <a:endParaRPr lang="en-US" sz="1800" dirty="0"/>
          </a:p>
        </p:txBody>
      </p:sp>
      <p:sp>
        <p:nvSpPr>
          <p:cNvPr id="33" name="Text 30"/>
          <p:cNvSpPr/>
          <p:nvPr/>
        </p:nvSpPr>
        <p:spPr>
          <a:xfrm>
            <a:off x="4584192" y="4773168"/>
            <a:ext cx="3038856" cy="740664"/>
          </a:xfrm>
          <a:prstGeom prst="rect">
            <a:avLst/>
          </a:prstGeom>
          <a:noFill/>
          <a:ln/>
        </p:spPr>
        <p:txBody>
          <a:bodyPr wrap="square" lIns="0" tIns="0" rIns="0" bIns="0" rtlCol="0" anchor="t">
            <a:normAutofit/>
          </a:bodyPr>
          <a:lstStyle/>
          <a:p>
            <a:pPr marL="0" indent="0">
              <a:buNone/>
            </a:pPr>
            <a:r>
              <a:rPr lang="en-US" sz="1150" dirty="0">
                <a:solidFill>
                  <a:srgbClr val="B8B5C5"/>
                </a:solidFill>
              </a:rPr>
              <a:t>Review governance and compliance posture across the selected operational scope.</a:t>
            </a:r>
            <a:endParaRPr lang="en-US" sz="1150" dirty="0"/>
          </a:p>
        </p:txBody>
      </p:sp>
      <p:sp>
        <p:nvSpPr>
          <p:cNvPr id="34" name="Shape 31"/>
          <p:cNvSpPr/>
          <p:nvPr/>
        </p:nvSpPr>
        <p:spPr>
          <a:xfrm>
            <a:off x="8089392" y="3968496"/>
            <a:ext cx="3541776" cy="1691640"/>
          </a:xfrm>
          <a:prstGeom prst="roundRect">
            <a:avLst>
              <a:gd name="adj" fmla="val 4324"/>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35" name="Shape 32"/>
          <p:cNvSpPr/>
          <p:nvPr/>
        </p:nvSpPr>
        <p:spPr>
          <a:xfrm>
            <a:off x="8089392" y="3968496"/>
            <a:ext cx="64008" cy="1691640"/>
          </a:xfrm>
          <a:prstGeom prst="rect">
            <a:avLst/>
          </a:prstGeom>
          <a:solidFill>
            <a:srgbClr val="34D399"/>
          </a:solidFill>
          <a:ln w="12700">
            <a:solidFill>
              <a:srgbClr val="34D399">
                <a:alpha val="0"/>
              </a:srgbClr>
            </a:solidFill>
            <a:prstDash val="solid"/>
          </a:ln>
        </p:spPr>
      </p:sp>
      <p:sp>
        <p:nvSpPr>
          <p:cNvPr id="36" name="Text 33"/>
          <p:cNvSpPr/>
          <p:nvPr/>
        </p:nvSpPr>
        <p:spPr>
          <a:xfrm>
            <a:off x="8345424" y="4133088"/>
            <a:ext cx="3038856" cy="182880"/>
          </a:xfrm>
          <a:prstGeom prst="rect">
            <a:avLst/>
          </a:prstGeom>
          <a:noFill/>
          <a:ln/>
        </p:spPr>
        <p:txBody>
          <a:bodyPr wrap="square" lIns="0" tIns="0" rIns="0" bIns="0" rtlCol="0" anchor="ctr"/>
          <a:lstStyle/>
          <a:p>
            <a:pPr marL="0" indent="0">
              <a:buNone/>
            </a:pPr>
            <a:r>
              <a:rPr lang="en-US" sz="900" b="1" kern="0" spc="110" dirty="0">
                <a:solidFill>
                  <a:srgbClr val="34D399"/>
                </a:solidFill>
              </a:rPr>
              <a:t>CAPABILITY</a:t>
            </a:r>
            <a:endParaRPr lang="en-US" sz="900" dirty="0"/>
          </a:p>
        </p:txBody>
      </p:sp>
      <p:sp>
        <p:nvSpPr>
          <p:cNvPr id="37" name="Text 34"/>
          <p:cNvSpPr/>
          <p:nvPr/>
        </p:nvSpPr>
        <p:spPr>
          <a:xfrm>
            <a:off x="8345424" y="4407408"/>
            <a:ext cx="3038856"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Alerts &amp; feedback</a:t>
            </a:r>
            <a:endParaRPr lang="en-US" sz="1800" dirty="0"/>
          </a:p>
        </p:txBody>
      </p:sp>
      <p:sp>
        <p:nvSpPr>
          <p:cNvPr id="38" name="Text 35"/>
          <p:cNvSpPr/>
          <p:nvPr/>
        </p:nvSpPr>
        <p:spPr>
          <a:xfrm>
            <a:off x="8345424" y="4773168"/>
            <a:ext cx="3038856" cy="740664"/>
          </a:xfrm>
          <a:prstGeom prst="rect">
            <a:avLst/>
          </a:prstGeom>
          <a:noFill/>
          <a:ln/>
        </p:spPr>
        <p:txBody>
          <a:bodyPr wrap="square" lIns="0" tIns="0" rIns="0" bIns="0" rtlCol="0" anchor="t">
            <a:normAutofit/>
          </a:bodyPr>
          <a:lstStyle/>
          <a:p>
            <a:pPr marL="0" indent="0">
              <a:buNone/>
            </a:pPr>
            <a:r>
              <a:rPr lang="en-US" sz="1150" dirty="0">
                <a:solidFill>
                  <a:srgbClr val="B8B5C5"/>
                </a:solidFill>
              </a:rPr>
              <a:t>Use operational signals and end-user feedback to identify quality, safety, and reliability issues.</a:t>
            </a:r>
            <a:endParaRPr lang="en-US" sz="1150" dirty="0"/>
          </a:p>
        </p:txBody>
      </p:sp>
      <p:sp>
        <p:nvSpPr>
          <p:cNvPr id="39" name="Text 36"/>
          <p:cNvSpPr/>
          <p:nvPr/>
        </p:nvSpPr>
        <p:spPr>
          <a:xfrm>
            <a:off x="594360" y="6053328"/>
            <a:ext cx="10789920" cy="228600"/>
          </a:xfrm>
          <a:prstGeom prst="rect">
            <a:avLst/>
          </a:prstGeom>
          <a:noFill/>
          <a:ln/>
        </p:spPr>
        <p:txBody>
          <a:bodyPr wrap="square" lIns="0" tIns="0" rIns="0" bIns="0" rtlCol="0" anchor="ctr"/>
          <a:lstStyle/>
          <a:p>
            <a:pPr marL="0" indent="0" algn="ctr">
              <a:buNone/>
            </a:pPr>
            <a:r>
              <a:rPr lang="en-US" sz="950" i="1" dirty="0">
                <a:solidFill>
                  <a:srgbClr val="FBBF24"/>
                </a:solidFill>
              </a:rPr>
              <a:t>Preview status can vary by capability, region, and release wave.</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0E0D12"/>
        </a:solidFill>
        <a:effectLst/>
      </p:bgPr>
    </p:bg>
    <p:spTree>
      <p:nvGrpSpPr>
        <p:cNvPr id="1" name=""/>
        <p:cNvGrpSpPr/>
        <p:nvPr/>
      </p:nvGrpSpPr>
      <p:grpSpPr>
        <a:xfrm>
          <a:off x="0" y="0"/>
          <a:ext cx="0" cy="0"/>
          <a:chOff x="0" y="0"/>
          <a:chExt cx="0" cy="0"/>
        </a:xfrm>
      </p:grpSpPr>
      <p:sp>
        <p:nvSpPr>
          <p:cNvPr id="2" name="Text 0"/>
          <p:cNvSpPr/>
          <p:nvPr/>
        </p:nvSpPr>
        <p:spPr>
          <a:xfrm>
            <a:off x="566928" y="384048"/>
            <a:ext cx="4389120" cy="256032"/>
          </a:xfrm>
          <a:prstGeom prst="rect">
            <a:avLst/>
          </a:prstGeom>
          <a:noFill/>
          <a:ln/>
        </p:spPr>
        <p:txBody>
          <a:bodyPr wrap="square" lIns="0" tIns="0" rIns="0" bIns="0" rtlCol="0" anchor="ctr"/>
          <a:lstStyle/>
          <a:p>
            <a:pPr marL="0" indent="0">
              <a:buNone/>
            </a:pPr>
            <a:r>
              <a:rPr lang="en-US" sz="1100" b="1" kern="0" spc="160" dirty="0">
                <a:solidFill>
                  <a:srgbClr val="22D3EE"/>
                </a:solidFill>
                <a:latin typeface="Aptos" pitchFamily="34" charset="0"/>
                <a:ea typeface="Aptos" pitchFamily="34" charset="-122"/>
                <a:cs typeface="Aptos" pitchFamily="34" charset="-120"/>
              </a:rPr>
              <a:t>TOP-LEVEL NAVIGATION</a:t>
            </a:r>
            <a:endParaRPr lang="en-US" sz="1100" dirty="0"/>
          </a:p>
        </p:txBody>
      </p:sp>
      <p:sp>
        <p:nvSpPr>
          <p:cNvPr id="3" name="Text 1"/>
          <p:cNvSpPr/>
          <p:nvPr/>
        </p:nvSpPr>
        <p:spPr>
          <a:xfrm>
            <a:off x="548640" y="713232"/>
            <a:ext cx="11018520" cy="566928"/>
          </a:xfrm>
          <a:prstGeom prst="rect">
            <a:avLst/>
          </a:prstGeom>
          <a:noFill/>
          <a:ln/>
        </p:spPr>
        <p:txBody>
          <a:bodyPr wrap="square" lIns="0" tIns="0" rIns="0" bIns="0" rtlCol="0" anchor="ctr">
            <a:normAutofit/>
          </a:bodyPr>
          <a:lstStyle/>
          <a:p>
            <a:pPr marL="0" indent="0">
              <a:buNone/>
            </a:pPr>
            <a:r>
              <a:rPr lang="en-US" sz="3000" b="1" dirty="0">
                <a:solidFill>
                  <a:srgbClr val="F7F7FB"/>
                </a:solidFill>
                <a:latin typeface="Aptos Display" pitchFamily="34" charset="0"/>
                <a:ea typeface="Aptos Display" pitchFamily="34" charset="-122"/>
                <a:cs typeface="Aptos Display" pitchFamily="34" charset="-120"/>
              </a:rPr>
              <a:t>Manage</a:t>
            </a:r>
            <a:endParaRPr lang="en-US" sz="3000" dirty="0"/>
          </a:p>
        </p:txBody>
      </p:sp>
      <p:sp>
        <p:nvSpPr>
          <p:cNvPr id="4" name="Text 2"/>
          <p:cNvSpPr/>
          <p:nvPr/>
        </p:nvSpPr>
        <p:spPr>
          <a:xfrm>
            <a:off x="502920" y="6528816"/>
            <a:ext cx="10789920" cy="164592"/>
          </a:xfrm>
          <a:prstGeom prst="rect">
            <a:avLst/>
          </a:prstGeom>
          <a:noFill/>
          <a:ln/>
        </p:spPr>
        <p:txBody>
          <a:bodyPr wrap="square" lIns="0" tIns="0" rIns="0" bIns="0" rtlCol="0" anchor="ctr"/>
          <a:lstStyle/>
          <a:p>
            <a:pPr marL="0" indent="0">
              <a:buNone/>
            </a:pPr>
            <a:r>
              <a:rPr lang="en-US" sz="850" dirty="0">
                <a:solidFill>
                  <a:srgbClr val="837E92"/>
                </a:solidFill>
                <a:latin typeface="Aptos" pitchFamily="34" charset="0"/>
                <a:ea typeface="Aptos" pitchFamily="34" charset="-122"/>
                <a:cs typeface="Aptos" pitchFamily="34" charset="-120"/>
              </a:rPr>
              <a:t>Microsoft Foundry | General overview demo</a:t>
            </a:r>
            <a:endParaRPr lang="en-US" sz="850" dirty="0"/>
          </a:p>
        </p:txBody>
      </p:sp>
      <p:sp>
        <p:nvSpPr>
          <p:cNvPr id="5" name="Text 3"/>
          <p:cNvSpPr/>
          <p:nvPr/>
        </p:nvSpPr>
        <p:spPr>
          <a:xfrm>
            <a:off x="11292840" y="6473952"/>
            <a:ext cx="384048" cy="228600"/>
          </a:xfrm>
          <a:prstGeom prst="rect">
            <a:avLst/>
          </a:prstGeom>
          <a:noFill/>
          <a:ln/>
        </p:spPr>
        <p:txBody>
          <a:bodyPr wrap="square" lIns="0" tIns="0" rIns="0" bIns="0" rtlCol="0" anchor="ctr"/>
          <a:lstStyle/>
          <a:p>
            <a:pPr marL="0" indent="0" algn="r">
              <a:buNone/>
            </a:pPr>
            <a:r>
              <a:rPr lang="en-US" sz="900" b="1" dirty="0">
                <a:solidFill>
                  <a:srgbClr val="C4B5FD"/>
                </a:solidFill>
                <a:latin typeface="Aptos" pitchFamily="34" charset="0"/>
                <a:ea typeface="Aptos" pitchFamily="34" charset="-122"/>
                <a:cs typeface="Aptos" pitchFamily="34" charset="-120"/>
              </a:rPr>
              <a:t>20</a:t>
            </a:r>
            <a:endParaRPr lang="en-US" sz="900" dirty="0"/>
          </a:p>
        </p:txBody>
      </p:sp>
      <p:sp>
        <p:nvSpPr>
          <p:cNvPr id="6" name="Shape 4"/>
          <p:cNvSpPr/>
          <p:nvPr/>
        </p:nvSpPr>
        <p:spPr>
          <a:xfrm>
            <a:off x="7726680" y="393192"/>
            <a:ext cx="3886200" cy="640080"/>
          </a:xfrm>
          <a:prstGeom prst="roundRect">
            <a:avLst>
              <a:gd name="adj" fmla="val 11429"/>
            </a:avLst>
          </a:prstGeom>
          <a:solidFill>
            <a:srgbClr val="111016"/>
          </a:solidFill>
          <a:ln w="12700">
            <a:solidFill>
              <a:srgbClr val="3C3747"/>
            </a:solidFill>
            <a:prstDash val="solid"/>
          </a:ln>
          <a:effectLst>
            <a:outerShdw blurRad="38100" dist="50800" dir="2700000" algn="bl" rotWithShape="0">
              <a:srgbClr val="000000">
                <a:alpha val="24000"/>
              </a:srgbClr>
            </a:outerShdw>
          </a:effectLst>
        </p:spPr>
      </p:sp>
      <p:pic>
        <p:nvPicPr>
          <p:cNvPr id="7" name="Image 0" descr="Microsoft Foundry portal screenshot"/>
          <p:cNvPicPr>
            <a:picLocks noChangeAspect="1"/>
          </p:cNvPicPr>
          <p:nvPr/>
        </p:nvPicPr>
        <p:blipFill>
          <a:blip r:embed="rId3"/>
          <a:stretch>
            <a:fillRect/>
          </a:stretch>
        </p:blipFill>
        <p:spPr>
          <a:xfrm>
            <a:off x="7850678" y="475488"/>
            <a:ext cx="3638204" cy="475488"/>
          </a:xfrm>
          <a:prstGeom prst="rect">
            <a:avLst/>
          </a:prstGeom>
        </p:spPr>
      </p:pic>
      <p:sp>
        <p:nvSpPr>
          <p:cNvPr id="8" name="Text 5"/>
          <p:cNvSpPr/>
          <p:nvPr/>
        </p:nvSpPr>
        <p:spPr>
          <a:xfrm>
            <a:off x="566928" y="1353312"/>
            <a:ext cx="10881360" cy="475488"/>
          </a:xfrm>
          <a:prstGeom prst="rect">
            <a:avLst/>
          </a:prstGeom>
          <a:noFill/>
          <a:ln/>
        </p:spPr>
        <p:txBody>
          <a:bodyPr wrap="square" lIns="0" tIns="0" rIns="0" bIns="0" rtlCol="0" anchor="ctr">
            <a:normAutofit/>
          </a:bodyPr>
          <a:lstStyle/>
          <a:p>
            <a:pPr marL="0" indent="0">
              <a:buNone/>
            </a:pPr>
            <a:r>
              <a:rPr lang="en-US" sz="2100" i="1" dirty="0">
                <a:solidFill>
                  <a:srgbClr val="C4B5FD"/>
                </a:solidFill>
              </a:rPr>
              <a:t>Apply the resource, quota, identity, and connectivity controls behind the project.</a:t>
            </a:r>
            <a:endParaRPr lang="en-US" sz="2100" dirty="0"/>
          </a:p>
        </p:txBody>
      </p:sp>
      <p:sp>
        <p:nvSpPr>
          <p:cNvPr id="9" name="Shape 6"/>
          <p:cNvSpPr/>
          <p:nvPr/>
        </p:nvSpPr>
        <p:spPr>
          <a:xfrm>
            <a:off x="566928" y="2057400"/>
            <a:ext cx="3541776" cy="1691640"/>
          </a:xfrm>
          <a:prstGeom prst="roundRect">
            <a:avLst>
              <a:gd name="adj" fmla="val 4324"/>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0" name="Shape 7"/>
          <p:cNvSpPr/>
          <p:nvPr/>
        </p:nvSpPr>
        <p:spPr>
          <a:xfrm>
            <a:off x="566928" y="2057400"/>
            <a:ext cx="64008" cy="1691640"/>
          </a:xfrm>
          <a:prstGeom prst="rect">
            <a:avLst/>
          </a:prstGeom>
          <a:solidFill>
            <a:srgbClr val="FBBF24"/>
          </a:solidFill>
          <a:ln w="12700">
            <a:solidFill>
              <a:srgbClr val="FBBF24">
                <a:alpha val="0"/>
              </a:srgbClr>
            </a:solidFill>
            <a:prstDash val="solid"/>
          </a:ln>
        </p:spPr>
      </p:sp>
      <p:sp>
        <p:nvSpPr>
          <p:cNvPr id="11" name="Text 8"/>
          <p:cNvSpPr/>
          <p:nvPr/>
        </p:nvSpPr>
        <p:spPr>
          <a:xfrm>
            <a:off x="822960" y="2221992"/>
            <a:ext cx="3038856" cy="182880"/>
          </a:xfrm>
          <a:prstGeom prst="rect">
            <a:avLst/>
          </a:prstGeom>
          <a:noFill/>
          <a:ln/>
        </p:spPr>
        <p:txBody>
          <a:bodyPr wrap="square" lIns="0" tIns="0" rIns="0" bIns="0" rtlCol="0" anchor="ctr"/>
          <a:lstStyle/>
          <a:p>
            <a:pPr marL="0" indent="0">
              <a:buNone/>
            </a:pPr>
            <a:r>
              <a:rPr lang="en-US" sz="900" b="1" kern="0" spc="110" dirty="0">
                <a:solidFill>
                  <a:srgbClr val="FBBF24"/>
                </a:solidFill>
              </a:rPr>
              <a:t>GA</a:t>
            </a:r>
            <a:endParaRPr lang="en-US" sz="900" dirty="0"/>
          </a:p>
        </p:txBody>
      </p:sp>
      <p:sp>
        <p:nvSpPr>
          <p:cNvPr id="12" name="Text 9"/>
          <p:cNvSpPr/>
          <p:nvPr/>
        </p:nvSpPr>
        <p:spPr>
          <a:xfrm>
            <a:off x="822960" y="2496312"/>
            <a:ext cx="3038856"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Project details</a:t>
            </a:r>
            <a:endParaRPr lang="en-US" sz="1800" dirty="0"/>
          </a:p>
        </p:txBody>
      </p:sp>
      <p:sp>
        <p:nvSpPr>
          <p:cNvPr id="13" name="Text 10"/>
          <p:cNvSpPr/>
          <p:nvPr/>
        </p:nvSpPr>
        <p:spPr>
          <a:xfrm>
            <a:off x="822960" y="2862072"/>
            <a:ext cx="3038856" cy="740664"/>
          </a:xfrm>
          <a:prstGeom prst="rect">
            <a:avLst/>
          </a:prstGeom>
          <a:noFill/>
          <a:ln/>
        </p:spPr>
        <p:txBody>
          <a:bodyPr wrap="square" lIns="0" tIns="0" rIns="0" bIns="0" rtlCol="0" anchor="t">
            <a:normAutofit/>
          </a:bodyPr>
          <a:lstStyle/>
          <a:p>
            <a:pPr marL="0" indent="0">
              <a:buNone/>
            </a:pPr>
            <a:r>
              <a:rPr lang="en-US" sz="1150" dirty="0">
                <a:solidFill>
                  <a:srgbClr val="B8B5C5"/>
                </a:solidFill>
              </a:rPr>
              <a:t>Review project identity, endpoints, connected resources, and project-level configuration.</a:t>
            </a:r>
            <a:endParaRPr lang="en-US" sz="1150" dirty="0"/>
          </a:p>
        </p:txBody>
      </p:sp>
      <p:sp>
        <p:nvSpPr>
          <p:cNvPr id="14" name="Shape 11"/>
          <p:cNvSpPr/>
          <p:nvPr/>
        </p:nvSpPr>
        <p:spPr>
          <a:xfrm>
            <a:off x="4328160" y="2057400"/>
            <a:ext cx="3541776" cy="1691640"/>
          </a:xfrm>
          <a:prstGeom prst="roundRect">
            <a:avLst>
              <a:gd name="adj" fmla="val 4324"/>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5" name="Shape 12"/>
          <p:cNvSpPr/>
          <p:nvPr/>
        </p:nvSpPr>
        <p:spPr>
          <a:xfrm>
            <a:off x="4328160" y="2057400"/>
            <a:ext cx="64008" cy="1691640"/>
          </a:xfrm>
          <a:prstGeom prst="rect">
            <a:avLst/>
          </a:prstGeom>
          <a:solidFill>
            <a:srgbClr val="FBBF24"/>
          </a:solidFill>
          <a:ln w="12700">
            <a:solidFill>
              <a:srgbClr val="FBBF24">
                <a:alpha val="0"/>
              </a:srgbClr>
            </a:solidFill>
            <a:prstDash val="solid"/>
          </a:ln>
        </p:spPr>
      </p:sp>
      <p:sp>
        <p:nvSpPr>
          <p:cNvPr id="16" name="Text 13"/>
          <p:cNvSpPr/>
          <p:nvPr/>
        </p:nvSpPr>
        <p:spPr>
          <a:xfrm>
            <a:off x="4584192" y="2221992"/>
            <a:ext cx="3038856" cy="182880"/>
          </a:xfrm>
          <a:prstGeom prst="rect">
            <a:avLst/>
          </a:prstGeom>
          <a:noFill/>
          <a:ln/>
        </p:spPr>
        <p:txBody>
          <a:bodyPr wrap="square" lIns="0" tIns="0" rIns="0" bIns="0" rtlCol="0" anchor="ctr"/>
          <a:lstStyle/>
          <a:p>
            <a:pPr marL="0" indent="0">
              <a:buNone/>
            </a:pPr>
            <a:r>
              <a:rPr lang="en-US" sz="900" b="1" kern="0" spc="110" dirty="0">
                <a:solidFill>
                  <a:srgbClr val="FBBF24"/>
                </a:solidFill>
              </a:rPr>
              <a:t>GA</a:t>
            </a:r>
            <a:endParaRPr lang="en-US" sz="900" dirty="0"/>
          </a:p>
        </p:txBody>
      </p:sp>
      <p:sp>
        <p:nvSpPr>
          <p:cNvPr id="17" name="Text 14"/>
          <p:cNvSpPr/>
          <p:nvPr/>
        </p:nvSpPr>
        <p:spPr>
          <a:xfrm>
            <a:off x="4584192" y="2496312"/>
            <a:ext cx="3038856"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Resource details</a:t>
            </a:r>
            <a:endParaRPr lang="en-US" sz="1800" dirty="0"/>
          </a:p>
        </p:txBody>
      </p:sp>
      <p:sp>
        <p:nvSpPr>
          <p:cNvPr id="18" name="Text 15"/>
          <p:cNvSpPr/>
          <p:nvPr/>
        </p:nvSpPr>
        <p:spPr>
          <a:xfrm>
            <a:off x="4584192" y="2862072"/>
            <a:ext cx="3038856" cy="740664"/>
          </a:xfrm>
          <a:prstGeom prst="rect">
            <a:avLst/>
          </a:prstGeom>
          <a:noFill/>
          <a:ln/>
        </p:spPr>
        <p:txBody>
          <a:bodyPr wrap="square" lIns="0" tIns="0" rIns="0" bIns="0" rtlCol="0" anchor="t">
            <a:normAutofit/>
          </a:bodyPr>
          <a:lstStyle/>
          <a:p>
            <a:pPr marL="0" indent="0">
              <a:buNone/>
            </a:pPr>
            <a:r>
              <a:rPr lang="en-US" sz="1150" dirty="0">
                <a:solidFill>
                  <a:srgbClr val="B8B5C5"/>
                </a:solidFill>
              </a:rPr>
              <a:t>Inspect the backing Foundry resource and open it in Azure portal for broader resource administration.</a:t>
            </a:r>
            <a:endParaRPr lang="en-US" sz="1150" dirty="0"/>
          </a:p>
        </p:txBody>
      </p:sp>
      <p:sp>
        <p:nvSpPr>
          <p:cNvPr id="19" name="Shape 16"/>
          <p:cNvSpPr/>
          <p:nvPr/>
        </p:nvSpPr>
        <p:spPr>
          <a:xfrm>
            <a:off x="8089392" y="2057400"/>
            <a:ext cx="3541776" cy="1691640"/>
          </a:xfrm>
          <a:prstGeom prst="roundRect">
            <a:avLst>
              <a:gd name="adj" fmla="val 4324"/>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20" name="Shape 17"/>
          <p:cNvSpPr/>
          <p:nvPr/>
        </p:nvSpPr>
        <p:spPr>
          <a:xfrm>
            <a:off x="8089392" y="2057400"/>
            <a:ext cx="64008" cy="1691640"/>
          </a:xfrm>
          <a:prstGeom prst="rect">
            <a:avLst/>
          </a:prstGeom>
          <a:solidFill>
            <a:srgbClr val="FBBF24"/>
          </a:solidFill>
          <a:ln w="12700">
            <a:solidFill>
              <a:srgbClr val="FBBF24">
                <a:alpha val="0"/>
              </a:srgbClr>
            </a:solidFill>
            <a:prstDash val="solid"/>
          </a:ln>
        </p:spPr>
      </p:sp>
      <p:sp>
        <p:nvSpPr>
          <p:cNvPr id="21" name="Text 18"/>
          <p:cNvSpPr/>
          <p:nvPr/>
        </p:nvSpPr>
        <p:spPr>
          <a:xfrm>
            <a:off x="8345424" y="2221992"/>
            <a:ext cx="3038856" cy="182880"/>
          </a:xfrm>
          <a:prstGeom prst="rect">
            <a:avLst/>
          </a:prstGeom>
          <a:noFill/>
          <a:ln/>
        </p:spPr>
        <p:txBody>
          <a:bodyPr wrap="square" lIns="0" tIns="0" rIns="0" bIns="0" rtlCol="0" anchor="ctr"/>
          <a:lstStyle/>
          <a:p>
            <a:pPr marL="0" indent="0">
              <a:buNone/>
            </a:pPr>
            <a:r>
              <a:rPr lang="en-US" sz="900" b="1" kern="0" spc="110" dirty="0">
                <a:solidFill>
                  <a:srgbClr val="FBBF24"/>
                </a:solidFill>
              </a:rPr>
              <a:t>GA</a:t>
            </a:r>
            <a:endParaRPr lang="en-US" sz="900" dirty="0"/>
          </a:p>
        </p:txBody>
      </p:sp>
      <p:sp>
        <p:nvSpPr>
          <p:cNvPr id="22" name="Text 19"/>
          <p:cNvSpPr/>
          <p:nvPr/>
        </p:nvSpPr>
        <p:spPr>
          <a:xfrm>
            <a:off x="8345424" y="2496312"/>
            <a:ext cx="3038856"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Quota</a:t>
            </a:r>
            <a:endParaRPr lang="en-US" sz="1800" dirty="0"/>
          </a:p>
        </p:txBody>
      </p:sp>
      <p:sp>
        <p:nvSpPr>
          <p:cNvPr id="23" name="Text 20"/>
          <p:cNvSpPr/>
          <p:nvPr/>
        </p:nvSpPr>
        <p:spPr>
          <a:xfrm>
            <a:off x="8345424" y="2862072"/>
            <a:ext cx="3038856" cy="740664"/>
          </a:xfrm>
          <a:prstGeom prst="rect">
            <a:avLst/>
          </a:prstGeom>
          <a:noFill/>
          <a:ln/>
        </p:spPr>
        <p:txBody>
          <a:bodyPr wrap="square" lIns="0" tIns="0" rIns="0" bIns="0" rtlCol="0" anchor="t">
            <a:normAutofit/>
          </a:bodyPr>
          <a:lstStyle/>
          <a:p>
            <a:pPr marL="0" indent="0">
              <a:buNone/>
            </a:pPr>
            <a:r>
              <a:rPr lang="en-US" sz="1150" dirty="0">
                <a:solidFill>
                  <a:srgbClr val="B8B5C5"/>
                </a:solidFill>
              </a:rPr>
              <a:t>Review model capacity and regional quota to plan and troubleshoot deployments.</a:t>
            </a:r>
            <a:endParaRPr lang="en-US" sz="1150" dirty="0"/>
          </a:p>
        </p:txBody>
      </p:sp>
      <p:sp>
        <p:nvSpPr>
          <p:cNvPr id="24" name="Shape 21"/>
          <p:cNvSpPr/>
          <p:nvPr/>
        </p:nvSpPr>
        <p:spPr>
          <a:xfrm>
            <a:off x="566928" y="3968496"/>
            <a:ext cx="3541776" cy="1691640"/>
          </a:xfrm>
          <a:prstGeom prst="roundRect">
            <a:avLst>
              <a:gd name="adj" fmla="val 4324"/>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25" name="Shape 22"/>
          <p:cNvSpPr/>
          <p:nvPr/>
        </p:nvSpPr>
        <p:spPr>
          <a:xfrm>
            <a:off x="566928" y="3968496"/>
            <a:ext cx="64008" cy="1691640"/>
          </a:xfrm>
          <a:prstGeom prst="rect">
            <a:avLst/>
          </a:prstGeom>
          <a:solidFill>
            <a:srgbClr val="FBBF24"/>
          </a:solidFill>
          <a:ln w="12700">
            <a:solidFill>
              <a:srgbClr val="FBBF24">
                <a:alpha val="0"/>
              </a:srgbClr>
            </a:solidFill>
            <a:prstDash val="solid"/>
          </a:ln>
        </p:spPr>
      </p:sp>
      <p:sp>
        <p:nvSpPr>
          <p:cNvPr id="26" name="Text 23"/>
          <p:cNvSpPr/>
          <p:nvPr/>
        </p:nvSpPr>
        <p:spPr>
          <a:xfrm>
            <a:off x="822960" y="4133088"/>
            <a:ext cx="3038856" cy="182880"/>
          </a:xfrm>
          <a:prstGeom prst="rect">
            <a:avLst/>
          </a:prstGeom>
          <a:noFill/>
          <a:ln/>
        </p:spPr>
        <p:txBody>
          <a:bodyPr wrap="square" lIns="0" tIns="0" rIns="0" bIns="0" rtlCol="0" anchor="ctr"/>
          <a:lstStyle/>
          <a:p>
            <a:pPr marL="0" indent="0">
              <a:buNone/>
            </a:pPr>
            <a:r>
              <a:rPr lang="en-US" sz="900" b="1" kern="0" spc="110" dirty="0">
                <a:solidFill>
                  <a:srgbClr val="FBBF24"/>
                </a:solidFill>
              </a:rPr>
              <a:t>PLATFORM</a:t>
            </a:r>
            <a:endParaRPr lang="en-US" sz="900" dirty="0"/>
          </a:p>
        </p:txBody>
      </p:sp>
      <p:sp>
        <p:nvSpPr>
          <p:cNvPr id="27" name="Text 24"/>
          <p:cNvSpPr/>
          <p:nvPr/>
        </p:nvSpPr>
        <p:spPr>
          <a:xfrm>
            <a:off x="822960" y="4407408"/>
            <a:ext cx="3038856"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Access &amp; identity</a:t>
            </a:r>
            <a:endParaRPr lang="en-US" sz="1800" dirty="0"/>
          </a:p>
        </p:txBody>
      </p:sp>
      <p:sp>
        <p:nvSpPr>
          <p:cNvPr id="28" name="Text 25"/>
          <p:cNvSpPr/>
          <p:nvPr/>
        </p:nvSpPr>
        <p:spPr>
          <a:xfrm>
            <a:off x="822960" y="4773168"/>
            <a:ext cx="3038856" cy="740664"/>
          </a:xfrm>
          <a:prstGeom prst="rect">
            <a:avLst/>
          </a:prstGeom>
          <a:noFill/>
          <a:ln/>
        </p:spPr>
        <p:txBody>
          <a:bodyPr wrap="square" lIns="0" tIns="0" rIns="0" bIns="0" rtlCol="0" anchor="t">
            <a:normAutofit/>
          </a:bodyPr>
          <a:lstStyle/>
          <a:p>
            <a:pPr marL="0" indent="0">
              <a:buNone/>
            </a:pPr>
            <a:r>
              <a:rPr lang="en-US" sz="1150" dirty="0">
                <a:solidFill>
                  <a:srgbClr val="B8B5C5"/>
                </a:solidFill>
              </a:rPr>
              <a:t>Use Microsoft Entra ID, managed identities, and RBAC to control who and what can access resources.</a:t>
            </a:r>
            <a:endParaRPr lang="en-US" sz="1150" dirty="0"/>
          </a:p>
        </p:txBody>
      </p:sp>
      <p:sp>
        <p:nvSpPr>
          <p:cNvPr id="29" name="Shape 26"/>
          <p:cNvSpPr/>
          <p:nvPr/>
        </p:nvSpPr>
        <p:spPr>
          <a:xfrm>
            <a:off x="4328160" y="3968496"/>
            <a:ext cx="3541776" cy="1691640"/>
          </a:xfrm>
          <a:prstGeom prst="roundRect">
            <a:avLst>
              <a:gd name="adj" fmla="val 4324"/>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30" name="Shape 27"/>
          <p:cNvSpPr/>
          <p:nvPr/>
        </p:nvSpPr>
        <p:spPr>
          <a:xfrm>
            <a:off x="4328160" y="3968496"/>
            <a:ext cx="64008" cy="1691640"/>
          </a:xfrm>
          <a:prstGeom prst="rect">
            <a:avLst/>
          </a:prstGeom>
          <a:solidFill>
            <a:srgbClr val="FBBF24"/>
          </a:solidFill>
          <a:ln w="12700">
            <a:solidFill>
              <a:srgbClr val="FBBF24">
                <a:alpha val="0"/>
              </a:srgbClr>
            </a:solidFill>
            <a:prstDash val="solid"/>
          </a:ln>
        </p:spPr>
      </p:sp>
      <p:sp>
        <p:nvSpPr>
          <p:cNvPr id="31" name="Text 28"/>
          <p:cNvSpPr/>
          <p:nvPr/>
        </p:nvSpPr>
        <p:spPr>
          <a:xfrm>
            <a:off x="4584192" y="4133088"/>
            <a:ext cx="3038856" cy="182880"/>
          </a:xfrm>
          <a:prstGeom prst="rect">
            <a:avLst/>
          </a:prstGeom>
          <a:noFill/>
          <a:ln/>
        </p:spPr>
        <p:txBody>
          <a:bodyPr wrap="square" lIns="0" tIns="0" rIns="0" bIns="0" rtlCol="0" anchor="ctr"/>
          <a:lstStyle/>
          <a:p>
            <a:pPr marL="0" indent="0">
              <a:buNone/>
            </a:pPr>
            <a:r>
              <a:rPr lang="en-US" sz="900" b="1" kern="0" spc="110" dirty="0">
                <a:solidFill>
                  <a:srgbClr val="FBBF24"/>
                </a:solidFill>
              </a:rPr>
              <a:t>MIXED</a:t>
            </a:r>
            <a:endParaRPr lang="en-US" sz="900" dirty="0"/>
          </a:p>
        </p:txBody>
      </p:sp>
      <p:sp>
        <p:nvSpPr>
          <p:cNvPr id="32" name="Text 29"/>
          <p:cNvSpPr/>
          <p:nvPr/>
        </p:nvSpPr>
        <p:spPr>
          <a:xfrm>
            <a:off x="4584192" y="4407408"/>
            <a:ext cx="3038856"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Networking &amp; policy</a:t>
            </a:r>
            <a:endParaRPr lang="en-US" sz="1800" dirty="0"/>
          </a:p>
        </p:txBody>
      </p:sp>
      <p:sp>
        <p:nvSpPr>
          <p:cNvPr id="33" name="Text 30"/>
          <p:cNvSpPr/>
          <p:nvPr/>
        </p:nvSpPr>
        <p:spPr>
          <a:xfrm>
            <a:off x="4584192" y="4773168"/>
            <a:ext cx="3038856" cy="740664"/>
          </a:xfrm>
          <a:prstGeom prst="rect">
            <a:avLst/>
          </a:prstGeom>
          <a:noFill/>
          <a:ln/>
        </p:spPr>
        <p:txBody>
          <a:bodyPr wrap="square" lIns="0" tIns="0" rIns="0" bIns="0" rtlCol="0" anchor="t">
            <a:normAutofit/>
          </a:bodyPr>
          <a:lstStyle/>
          <a:p>
            <a:pPr marL="0" indent="0">
              <a:buNone/>
            </a:pPr>
            <a:r>
              <a:rPr lang="en-US" sz="1150" dirty="0">
                <a:solidFill>
                  <a:srgbClr val="B8B5C5"/>
                </a:solidFill>
              </a:rPr>
              <a:t>Apply network isolation, Azure Policy, content controls, and enterprise configuration where supported.</a:t>
            </a:r>
            <a:endParaRPr lang="en-US" sz="1150" dirty="0"/>
          </a:p>
        </p:txBody>
      </p:sp>
      <p:sp>
        <p:nvSpPr>
          <p:cNvPr id="34" name="Shape 31"/>
          <p:cNvSpPr/>
          <p:nvPr/>
        </p:nvSpPr>
        <p:spPr>
          <a:xfrm>
            <a:off x="8089392" y="3968496"/>
            <a:ext cx="3541776" cy="1691640"/>
          </a:xfrm>
          <a:prstGeom prst="roundRect">
            <a:avLst>
              <a:gd name="adj" fmla="val 4324"/>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35" name="Shape 32"/>
          <p:cNvSpPr/>
          <p:nvPr/>
        </p:nvSpPr>
        <p:spPr>
          <a:xfrm>
            <a:off x="8089392" y="3968496"/>
            <a:ext cx="64008" cy="1691640"/>
          </a:xfrm>
          <a:prstGeom prst="rect">
            <a:avLst/>
          </a:prstGeom>
          <a:solidFill>
            <a:srgbClr val="FBBF24"/>
          </a:solidFill>
          <a:ln w="12700">
            <a:solidFill>
              <a:srgbClr val="FBBF24">
                <a:alpha val="0"/>
              </a:srgbClr>
            </a:solidFill>
            <a:prstDash val="solid"/>
          </a:ln>
        </p:spPr>
      </p:sp>
      <p:sp>
        <p:nvSpPr>
          <p:cNvPr id="36" name="Text 33"/>
          <p:cNvSpPr/>
          <p:nvPr/>
        </p:nvSpPr>
        <p:spPr>
          <a:xfrm>
            <a:off x="8345424" y="4133088"/>
            <a:ext cx="3038856" cy="182880"/>
          </a:xfrm>
          <a:prstGeom prst="rect">
            <a:avLst/>
          </a:prstGeom>
          <a:noFill/>
          <a:ln/>
        </p:spPr>
        <p:txBody>
          <a:bodyPr wrap="square" lIns="0" tIns="0" rIns="0" bIns="0" rtlCol="0" anchor="ctr"/>
          <a:lstStyle/>
          <a:p>
            <a:pPr marL="0" indent="0">
              <a:buNone/>
            </a:pPr>
            <a:r>
              <a:rPr lang="en-US" sz="900" b="1" kern="0" spc="110" dirty="0">
                <a:solidFill>
                  <a:srgbClr val="FBBF24"/>
                </a:solidFill>
              </a:rPr>
              <a:t>PREVIEW</a:t>
            </a:r>
            <a:endParaRPr lang="en-US" sz="900" dirty="0"/>
          </a:p>
        </p:txBody>
      </p:sp>
      <p:sp>
        <p:nvSpPr>
          <p:cNvPr id="37" name="Text 34"/>
          <p:cNvSpPr/>
          <p:nvPr/>
        </p:nvSpPr>
        <p:spPr>
          <a:xfrm>
            <a:off x="8345424" y="4407408"/>
            <a:ext cx="3038856"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AI Gateway</a:t>
            </a:r>
            <a:endParaRPr lang="en-US" sz="1800" dirty="0"/>
          </a:p>
        </p:txBody>
      </p:sp>
      <p:sp>
        <p:nvSpPr>
          <p:cNvPr id="38" name="Text 35"/>
          <p:cNvSpPr/>
          <p:nvPr/>
        </p:nvSpPr>
        <p:spPr>
          <a:xfrm>
            <a:off x="8345424" y="4773168"/>
            <a:ext cx="3038856" cy="740664"/>
          </a:xfrm>
          <a:prstGeom prst="rect">
            <a:avLst/>
          </a:prstGeom>
          <a:noFill/>
          <a:ln/>
        </p:spPr>
        <p:txBody>
          <a:bodyPr wrap="square" lIns="0" tIns="0" rIns="0" bIns="0" rtlCol="0" anchor="t">
            <a:normAutofit/>
          </a:bodyPr>
          <a:lstStyle/>
          <a:p>
            <a:pPr marL="0" indent="0">
              <a:buNone/>
            </a:pPr>
            <a:r>
              <a:rPr lang="en-US" sz="1150" dirty="0">
                <a:solidFill>
                  <a:srgbClr val="B8B5C5"/>
                </a:solidFill>
              </a:rPr>
              <a:t>Centralize gateway controls and governance for AI traffic where the preview capability is enabled.</a:t>
            </a:r>
            <a:endParaRPr lang="en-US" sz="1150" dirty="0"/>
          </a:p>
        </p:txBody>
      </p:sp>
      <p:sp>
        <p:nvSpPr>
          <p:cNvPr id="39" name="Text 36"/>
          <p:cNvSpPr/>
          <p:nvPr/>
        </p:nvSpPr>
        <p:spPr>
          <a:xfrm>
            <a:off x="594360" y="6053328"/>
            <a:ext cx="10789920" cy="228600"/>
          </a:xfrm>
          <a:prstGeom prst="rect">
            <a:avLst/>
          </a:prstGeom>
          <a:noFill/>
          <a:ln/>
        </p:spPr>
        <p:txBody>
          <a:bodyPr wrap="square" lIns="0" tIns="0" rIns="0" bIns="0" rtlCol="0" anchor="ctr"/>
          <a:lstStyle/>
          <a:p>
            <a:pPr marL="0" indent="0" algn="ctr">
              <a:buNone/>
            </a:pPr>
            <a:r>
              <a:rPr lang="en-US" sz="950" i="1" dirty="0">
                <a:solidFill>
                  <a:srgbClr val="FBBF24"/>
                </a:solidFill>
              </a:rPr>
              <a:t>Preview status can vary by capability, region, and release wave.</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0E0D12"/>
        </a:solidFill>
        <a:effectLst/>
      </p:bgPr>
    </p:bg>
    <p:spTree>
      <p:nvGrpSpPr>
        <p:cNvPr id="1" name=""/>
        <p:cNvGrpSpPr/>
        <p:nvPr/>
      </p:nvGrpSpPr>
      <p:grpSpPr>
        <a:xfrm>
          <a:off x="0" y="0"/>
          <a:ext cx="0" cy="0"/>
          <a:chOff x="0" y="0"/>
          <a:chExt cx="0" cy="0"/>
        </a:xfrm>
      </p:grpSpPr>
      <p:sp>
        <p:nvSpPr>
          <p:cNvPr id="2" name="Text 0"/>
          <p:cNvSpPr/>
          <p:nvPr/>
        </p:nvSpPr>
        <p:spPr>
          <a:xfrm>
            <a:off x="566928" y="384048"/>
            <a:ext cx="4389120" cy="256032"/>
          </a:xfrm>
          <a:prstGeom prst="rect">
            <a:avLst/>
          </a:prstGeom>
          <a:noFill/>
          <a:ln/>
        </p:spPr>
        <p:txBody>
          <a:bodyPr wrap="square" lIns="0" tIns="0" rIns="0" bIns="0" rtlCol="0" anchor="ctr"/>
          <a:lstStyle/>
          <a:p>
            <a:pPr marL="0" indent="0">
              <a:buNone/>
            </a:pPr>
            <a:r>
              <a:rPr lang="en-US" sz="1100" b="1" kern="0" spc="160" dirty="0">
                <a:solidFill>
                  <a:srgbClr val="22D3EE"/>
                </a:solidFill>
                <a:latin typeface="Aptos" pitchFamily="34" charset="0"/>
                <a:ea typeface="Aptos" pitchFamily="34" charset="-122"/>
                <a:cs typeface="Aptos" pitchFamily="34" charset="-120"/>
              </a:rPr>
              <a:t>TOP-LEVEL NAVIGATION</a:t>
            </a:r>
            <a:endParaRPr lang="en-US" sz="1100" dirty="0"/>
          </a:p>
        </p:txBody>
      </p:sp>
      <p:sp>
        <p:nvSpPr>
          <p:cNvPr id="3" name="Text 1"/>
          <p:cNvSpPr/>
          <p:nvPr/>
        </p:nvSpPr>
        <p:spPr>
          <a:xfrm>
            <a:off x="548640" y="713232"/>
            <a:ext cx="11018520" cy="566928"/>
          </a:xfrm>
          <a:prstGeom prst="rect">
            <a:avLst/>
          </a:prstGeom>
          <a:noFill/>
          <a:ln/>
        </p:spPr>
        <p:txBody>
          <a:bodyPr wrap="square" lIns="0" tIns="0" rIns="0" bIns="0" rtlCol="0" anchor="ctr">
            <a:normAutofit/>
          </a:bodyPr>
          <a:lstStyle/>
          <a:p>
            <a:pPr marL="0" indent="0">
              <a:buNone/>
            </a:pPr>
            <a:r>
              <a:rPr lang="en-US" sz="3000" b="1" dirty="0">
                <a:solidFill>
                  <a:srgbClr val="F7F7FB"/>
                </a:solidFill>
                <a:latin typeface="Aptos Display" pitchFamily="34" charset="0"/>
                <a:ea typeface="Aptos Display" pitchFamily="34" charset="-122"/>
                <a:cs typeface="Aptos Display" pitchFamily="34" charset="-120"/>
              </a:rPr>
              <a:t>Docs</a:t>
            </a:r>
            <a:endParaRPr lang="en-US" sz="3000" dirty="0"/>
          </a:p>
        </p:txBody>
      </p:sp>
      <p:sp>
        <p:nvSpPr>
          <p:cNvPr id="4" name="Text 2"/>
          <p:cNvSpPr/>
          <p:nvPr/>
        </p:nvSpPr>
        <p:spPr>
          <a:xfrm>
            <a:off x="502920" y="6528816"/>
            <a:ext cx="10789920" cy="164592"/>
          </a:xfrm>
          <a:prstGeom prst="rect">
            <a:avLst/>
          </a:prstGeom>
          <a:noFill/>
          <a:ln/>
        </p:spPr>
        <p:txBody>
          <a:bodyPr wrap="square" lIns="0" tIns="0" rIns="0" bIns="0" rtlCol="0" anchor="ctr"/>
          <a:lstStyle/>
          <a:p>
            <a:pPr marL="0" indent="0">
              <a:buNone/>
            </a:pPr>
            <a:r>
              <a:rPr lang="en-US" sz="850" dirty="0">
                <a:solidFill>
                  <a:srgbClr val="837E92"/>
                </a:solidFill>
                <a:latin typeface="Aptos" pitchFamily="34" charset="0"/>
                <a:ea typeface="Aptos" pitchFamily="34" charset="-122"/>
                <a:cs typeface="Aptos" pitchFamily="34" charset="-120"/>
              </a:rPr>
              <a:t>Microsoft Foundry | General overview demo</a:t>
            </a:r>
            <a:endParaRPr lang="en-US" sz="850" dirty="0"/>
          </a:p>
        </p:txBody>
      </p:sp>
      <p:sp>
        <p:nvSpPr>
          <p:cNvPr id="5" name="Text 3"/>
          <p:cNvSpPr/>
          <p:nvPr/>
        </p:nvSpPr>
        <p:spPr>
          <a:xfrm>
            <a:off x="11292840" y="6473952"/>
            <a:ext cx="384048" cy="228600"/>
          </a:xfrm>
          <a:prstGeom prst="rect">
            <a:avLst/>
          </a:prstGeom>
          <a:noFill/>
          <a:ln/>
        </p:spPr>
        <p:txBody>
          <a:bodyPr wrap="square" lIns="0" tIns="0" rIns="0" bIns="0" rtlCol="0" anchor="ctr"/>
          <a:lstStyle/>
          <a:p>
            <a:pPr marL="0" indent="0" algn="r">
              <a:buNone/>
            </a:pPr>
            <a:r>
              <a:rPr lang="en-US" sz="900" b="1" dirty="0">
                <a:solidFill>
                  <a:srgbClr val="C4B5FD"/>
                </a:solidFill>
                <a:latin typeface="Aptos" pitchFamily="34" charset="0"/>
                <a:ea typeface="Aptos" pitchFamily="34" charset="-122"/>
                <a:cs typeface="Aptos" pitchFamily="34" charset="-120"/>
              </a:rPr>
              <a:t>21</a:t>
            </a:r>
            <a:endParaRPr lang="en-US" sz="900" dirty="0"/>
          </a:p>
        </p:txBody>
      </p:sp>
      <p:sp>
        <p:nvSpPr>
          <p:cNvPr id="6" name="Shape 4"/>
          <p:cNvSpPr/>
          <p:nvPr/>
        </p:nvSpPr>
        <p:spPr>
          <a:xfrm>
            <a:off x="7726680" y="393192"/>
            <a:ext cx="3886200" cy="640080"/>
          </a:xfrm>
          <a:prstGeom prst="roundRect">
            <a:avLst>
              <a:gd name="adj" fmla="val 11429"/>
            </a:avLst>
          </a:prstGeom>
          <a:solidFill>
            <a:srgbClr val="111016"/>
          </a:solidFill>
          <a:ln w="12700">
            <a:solidFill>
              <a:srgbClr val="3C3747"/>
            </a:solidFill>
            <a:prstDash val="solid"/>
          </a:ln>
          <a:effectLst>
            <a:outerShdw blurRad="38100" dist="50800" dir="2700000" algn="bl" rotWithShape="0">
              <a:srgbClr val="000000">
                <a:alpha val="24000"/>
              </a:srgbClr>
            </a:outerShdw>
          </a:effectLst>
        </p:spPr>
      </p:sp>
      <p:pic>
        <p:nvPicPr>
          <p:cNvPr id="7" name="Image 0" descr="Microsoft Foundry portal screenshot"/>
          <p:cNvPicPr>
            <a:picLocks noChangeAspect="1"/>
          </p:cNvPicPr>
          <p:nvPr/>
        </p:nvPicPr>
        <p:blipFill>
          <a:blip r:embed="rId3"/>
          <a:stretch>
            <a:fillRect/>
          </a:stretch>
        </p:blipFill>
        <p:spPr>
          <a:xfrm>
            <a:off x="7850678" y="475488"/>
            <a:ext cx="3638204" cy="475488"/>
          </a:xfrm>
          <a:prstGeom prst="rect">
            <a:avLst/>
          </a:prstGeom>
        </p:spPr>
      </p:pic>
      <p:sp>
        <p:nvSpPr>
          <p:cNvPr id="8" name="Text 5"/>
          <p:cNvSpPr/>
          <p:nvPr/>
        </p:nvSpPr>
        <p:spPr>
          <a:xfrm>
            <a:off x="566928" y="1353312"/>
            <a:ext cx="10881360" cy="475488"/>
          </a:xfrm>
          <a:prstGeom prst="rect">
            <a:avLst/>
          </a:prstGeom>
          <a:noFill/>
          <a:ln/>
        </p:spPr>
        <p:txBody>
          <a:bodyPr wrap="square" lIns="0" tIns="0" rIns="0" bIns="0" rtlCol="0" anchor="ctr">
            <a:normAutofit/>
          </a:bodyPr>
          <a:lstStyle/>
          <a:p>
            <a:pPr marL="0" indent="0">
              <a:buNone/>
            </a:pPr>
            <a:r>
              <a:rPr lang="en-US" sz="2100" i="1" dirty="0">
                <a:solidFill>
                  <a:srgbClr val="C4B5FD"/>
                </a:solidFill>
              </a:rPr>
              <a:t>Move from portal exploration to repeatable implementation with authoritative guidance.</a:t>
            </a:r>
            <a:endParaRPr lang="en-US" sz="2100" dirty="0"/>
          </a:p>
        </p:txBody>
      </p:sp>
      <p:sp>
        <p:nvSpPr>
          <p:cNvPr id="9" name="Shape 6"/>
          <p:cNvSpPr/>
          <p:nvPr/>
        </p:nvSpPr>
        <p:spPr>
          <a:xfrm>
            <a:off x="566928" y="2057400"/>
            <a:ext cx="5422392" cy="1691640"/>
          </a:xfrm>
          <a:prstGeom prst="roundRect">
            <a:avLst>
              <a:gd name="adj" fmla="val 4324"/>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0" name="Shape 7"/>
          <p:cNvSpPr/>
          <p:nvPr/>
        </p:nvSpPr>
        <p:spPr>
          <a:xfrm>
            <a:off x="566928" y="2057400"/>
            <a:ext cx="64008" cy="1691640"/>
          </a:xfrm>
          <a:prstGeom prst="rect">
            <a:avLst/>
          </a:prstGeom>
          <a:solidFill>
            <a:srgbClr val="C4B5FD"/>
          </a:solidFill>
          <a:ln w="12700">
            <a:solidFill>
              <a:srgbClr val="C4B5FD">
                <a:alpha val="0"/>
              </a:srgbClr>
            </a:solidFill>
            <a:prstDash val="solid"/>
          </a:ln>
        </p:spPr>
      </p:sp>
      <p:sp>
        <p:nvSpPr>
          <p:cNvPr id="11" name="Text 8"/>
          <p:cNvSpPr/>
          <p:nvPr/>
        </p:nvSpPr>
        <p:spPr>
          <a:xfrm>
            <a:off x="822960" y="2221992"/>
            <a:ext cx="4919472" cy="182880"/>
          </a:xfrm>
          <a:prstGeom prst="rect">
            <a:avLst/>
          </a:prstGeom>
          <a:noFill/>
          <a:ln/>
        </p:spPr>
        <p:txBody>
          <a:bodyPr wrap="square" lIns="0" tIns="0" rIns="0" bIns="0" rtlCol="0" anchor="ctr"/>
          <a:lstStyle/>
          <a:p>
            <a:pPr marL="0" indent="0">
              <a:buNone/>
            </a:pPr>
            <a:r>
              <a:rPr lang="en-US" sz="900" b="1" kern="0" spc="110" dirty="0">
                <a:solidFill>
                  <a:srgbClr val="C4B5FD"/>
                </a:solidFill>
              </a:rPr>
              <a:t>GA</a:t>
            </a:r>
            <a:endParaRPr lang="en-US" sz="900" dirty="0"/>
          </a:p>
        </p:txBody>
      </p:sp>
      <p:sp>
        <p:nvSpPr>
          <p:cNvPr id="12" name="Text 9"/>
          <p:cNvSpPr/>
          <p:nvPr/>
        </p:nvSpPr>
        <p:spPr>
          <a:xfrm>
            <a:off x="822960" y="2496312"/>
            <a:ext cx="4919472"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Concepts</a:t>
            </a:r>
            <a:endParaRPr lang="en-US" sz="1800" dirty="0"/>
          </a:p>
        </p:txBody>
      </p:sp>
      <p:sp>
        <p:nvSpPr>
          <p:cNvPr id="13" name="Text 10"/>
          <p:cNvSpPr/>
          <p:nvPr/>
        </p:nvSpPr>
        <p:spPr>
          <a:xfrm>
            <a:off x="822960" y="2862072"/>
            <a:ext cx="4919472" cy="740664"/>
          </a:xfrm>
          <a:prstGeom prst="rect">
            <a:avLst/>
          </a:prstGeom>
          <a:noFill/>
          <a:ln/>
        </p:spPr>
        <p:txBody>
          <a:bodyPr wrap="square" lIns="0" tIns="0" rIns="0" bIns="0" rtlCol="0" anchor="t">
            <a:normAutofit/>
          </a:bodyPr>
          <a:lstStyle/>
          <a:p>
            <a:pPr marL="0" indent="0">
              <a:buNone/>
            </a:pPr>
            <a:r>
              <a:rPr lang="en-US" sz="1150" dirty="0">
                <a:solidFill>
                  <a:srgbClr val="B8B5C5"/>
                </a:solidFill>
              </a:rPr>
              <a:t>Understand platform architecture, agents, models, tools, observability, security, and governance.</a:t>
            </a:r>
            <a:endParaRPr lang="en-US" sz="1150" dirty="0"/>
          </a:p>
        </p:txBody>
      </p:sp>
      <p:sp>
        <p:nvSpPr>
          <p:cNvPr id="14" name="Shape 11"/>
          <p:cNvSpPr/>
          <p:nvPr/>
        </p:nvSpPr>
        <p:spPr>
          <a:xfrm>
            <a:off x="6208776" y="2057400"/>
            <a:ext cx="5422392" cy="1691640"/>
          </a:xfrm>
          <a:prstGeom prst="roundRect">
            <a:avLst>
              <a:gd name="adj" fmla="val 4324"/>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5" name="Shape 12"/>
          <p:cNvSpPr/>
          <p:nvPr/>
        </p:nvSpPr>
        <p:spPr>
          <a:xfrm>
            <a:off x="6208776" y="2057400"/>
            <a:ext cx="64008" cy="1691640"/>
          </a:xfrm>
          <a:prstGeom prst="rect">
            <a:avLst/>
          </a:prstGeom>
          <a:solidFill>
            <a:srgbClr val="C4B5FD"/>
          </a:solidFill>
          <a:ln w="12700">
            <a:solidFill>
              <a:srgbClr val="C4B5FD">
                <a:alpha val="0"/>
              </a:srgbClr>
            </a:solidFill>
            <a:prstDash val="solid"/>
          </a:ln>
        </p:spPr>
      </p:sp>
      <p:sp>
        <p:nvSpPr>
          <p:cNvPr id="16" name="Text 13"/>
          <p:cNvSpPr/>
          <p:nvPr/>
        </p:nvSpPr>
        <p:spPr>
          <a:xfrm>
            <a:off x="6464808" y="2221992"/>
            <a:ext cx="4919472" cy="182880"/>
          </a:xfrm>
          <a:prstGeom prst="rect">
            <a:avLst/>
          </a:prstGeom>
          <a:noFill/>
          <a:ln/>
        </p:spPr>
        <p:txBody>
          <a:bodyPr wrap="square" lIns="0" tIns="0" rIns="0" bIns="0" rtlCol="0" anchor="ctr"/>
          <a:lstStyle/>
          <a:p>
            <a:pPr marL="0" indent="0">
              <a:buNone/>
            </a:pPr>
            <a:r>
              <a:rPr lang="en-US" sz="900" b="1" kern="0" spc="110" dirty="0">
                <a:solidFill>
                  <a:srgbClr val="C4B5FD"/>
                </a:solidFill>
              </a:rPr>
              <a:t>GA</a:t>
            </a:r>
            <a:endParaRPr lang="en-US" sz="900" dirty="0"/>
          </a:p>
        </p:txBody>
      </p:sp>
      <p:sp>
        <p:nvSpPr>
          <p:cNvPr id="17" name="Text 14"/>
          <p:cNvSpPr/>
          <p:nvPr/>
        </p:nvSpPr>
        <p:spPr>
          <a:xfrm>
            <a:off x="6464808" y="2496312"/>
            <a:ext cx="4919472"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Quickstarts</a:t>
            </a:r>
            <a:endParaRPr lang="en-US" sz="1800" dirty="0"/>
          </a:p>
        </p:txBody>
      </p:sp>
      <p:sp>
        <p:nvSpPr>
          <p:cNvPr id="18" name="Text 15"/>
          <p:cNvSpPr/>
          <p:nvPr/>
        </p:nvSpPr>
        <p:spPr>
          <a:xfrm>
            <a:off x="6464808" y="2862072"/>
            <a:ext cx="4919472" cy="740664"/>
          </a:xfrm>
          <a:prstGeom prst="rect">
            <a:avLst/>
          </a:prstGeom>
          <a:noFill/>
          <a:ln/>
        </p:spPr>
        <p:txBody>
          <a:bodyPr wrap="square" lIns="0" tIns="0" rIns="0" bIns="0" rtlCol="0" anchor="t">
            <a:normAutofit/>
          </a:bodyPr>
          <a:lstStyle/>
          <a:p>
            <a:pPr marL="0" indent="0">
              <a:buNone/>
            </a:pPr>
            <a:r>
              <a:rPr lang="en-US" sz="1150" dirty="0">
                <a:solidFill>
                  <a:srgbClr val="B8B5C5"/>
                </a:solidFill>
              </a:rPr>
              <a:t>Complete a first model call, build an agent, deploy a model, or configure a project.</a:t>
            </a:r>
            <a:endParaRPr lang="en-US" sz="1150" dirty="0"/>
          </a:p>
        </p:txBody>
      </p:sp>
      <p:sp>
        <p:nvSpPr>
          <p:cNvPr id="19" name="Shape 16"/>
          <p:cNvSpPr/>
          <p:nvPr/>
        </p:nvSpPr>
        <p:spPr>
          <a:xfrm>
            <a:off x="566928" y="3968496"/>
            <a:ext cx="5422392" cy="1691640"/>
          </a:xfrm>
          <a:prstGeom prst="roundRect">
            <a:avLst>
              <a:gd name="adj" fmla="val 4324"/>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20" name="Shape 17"/>
          <p:cNvSpPr/>
          <p:nvPr/>
        </p:nvSpPr>
        <p:spPr>
          <a:xfrm>
            <a:off x="566928" y="3968496"/>
            <a:ext cx="64008" cy="1691640"/>
          </a:xfrm>
          <a:prstGeom prst="rect">
            <a:avLst/>
          </a:prstGeom>
          <a:solidFill>
            <a:srgbClr val="C4B5FD"/>
          </a:solidFill>
          <a:ln w="12700">
            <a:solidFill>
              <a:srgbClr val="C4B5FD">
                <a:alpha val="0"/>
              </a:srgbClr>
            </a:solidFill>
            <a:prstDash val="solid"/>
          </a:ln>
        </p:spPr>
      </p:sp>
      <p:sp>
        <p:nvSpPr>
          <p:cNvPr id="21" name="Text 18"/>
          <p:cNvSpPr/>
          <p:nvPr/>
        </p:nvSpPr>
        <p:spPr>
          <a:xfrm>
            <a:off x="822960" y="4133088"/>
            <a:ext cx="4919472" cy="182880"/>
          </a:xfrm>
          <a:prstGeom prst="rect">
            <a:avLst/>
          </a:prstGeom>
          <a:noFill/>
          <a:ln/>
        </p:spPr>
        <p:txBody>
          <a:bodyPr wrap="square" lIns="0" tIns="0" rIns="0" bIns="0" rtlCol="0" anchor="ctr"/>
          <a:lstStyle/>
          <a:p>
            <a:pPr marL="0" indent="0">
              <a:buNone/>
            </a:pPr>
            <a:r>
              <a:rPr lang="en-US" sz="900" b="1" kern="0" spc="110" dirty="0">
                <a:solidFill>
                  <a:srgbClr val="C4B5FD"/>
                </a:solidFill>
              </a:rPr>
              <a:t>GA</a:t>
            </a:r>
            <a:endParaRPr lang="en-US" sz="900" dirty="0"/>
          </a:p>
        </p:txBody>
      </p:sp>
      <p:sp>
        <p:nvSpPr>
          <p:cNvPr id="22" name="Text 19"/>
          <p:cNvSpPr/>
          <p:nvPr/>
        </p:nvSpPr>
        <p:spPr>
          <a:xfrm>
            <a:off x="822960" y="4407408"/>
            <a:ext cx="4919472"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How-to guides</a:t>
            </a:r>
            <a:endParaRPr lang="en-US" sz="1800" dirty="0"/>
          </a:p>
        </p:txBody>
      </p:sp>
      <p:sp>
        <p:nvSpPr>
          <p:cNvPr id="23" name="Text 20"/>
          <p:cNvSpPr/>
          <p:nvPr/>
        </p:nvSpPr>
        <p:spPr>
          <a:xfrm>
            <a:off x="822960" y="4773168"/>
            <a:ext cx="4919472" cy="740664"/>
          </a:xfrm>
          <a:prstGeom prst="rect">
            <a:avLst/>
          </a:prstGeom>
          <a:noFill/>
          <a:ln/>
        </p:spPr>
        <p:txBody>
          <a:bodyPr wrap="square" lIns="0" tIns="0" rIns="0" bIns="0" rtlCol="0" anchor="t">
            <a:normAutofit/>
          </a:bodyPr>
          <a:lstStyle/>
          <a:p>
            <a:pPr marL="0" indent="0">
              <a:buNone/>
            </a:pPr>
            <a:r>
              <a:rPr lang="en-US" sz="1150" dirty="0">
                <a:solidFill>
                  <a:srgbClr val="B8B5C5"/>
                </a:solidFill>
              </a:rPr>
              <a:t>Follow task-oriented procedures for development, evaluation, tracing, monitoring, networking, and deployment.</a:t>
            </a:r>
            <a:endParaRPr lang="en-US" sz="1150" dirty="0"/>
          </a:p>
        </p:txBody>
      </p:sp>
      <p:sp>
        <p:nvSpPr>
          <p:cNvPr id="24" name="Shape 21"/>
          <p:cNvSpPr/>
          <p:nvPr/>
        </p:nvSpPr>
        <p:spPr>
          <a:xfrm>
            <a:off x="6208776" y="3968496"/>
            <a:ext cx="5422392" cy="1691640"/>
          </a:xfrm>
          <a:prstGeom prst="roundRect">
            <a:avLst>
              <a:gd name="adj" fmla="val 4324"/>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25" name="Shape 22"/>
          <p:cNvSpPr/>
          <p:nvPr/>
        </p:nvSpPr>
        <p:spPr>
          <a:xfrm>
            <a:off x="6208776" y="3968496"/>
            <a:ext cx="64008" cy="1691640"/>
          </a:xfrm>
          <a:prstGeom prst="rect">
            <a:avLst/>
          </a:prstGeom>
          <a:solidFill>
            <a:srgbClr val="C4B5FD"/>
          </a:solidFill>
          <a:ln w="12700">
            <a:solidFill>
              <a:srgbClr val="C4B5FD">
                <a:alpha val="0"/>
              </a:srgbClr>
            </a:solidFill>
            <a:prstDash val="solid"/>
          </a:ln>
        </p:spPr>
      </p:sp>
      <p:sp>
        <p:nvSpPr>
          <p:cNvPr id="26" name="Text 23"/>
          <p:cNvSpPr/>
          <p:nvPr/>
        </p:nvSpPr>
        <p:spPr>
          <a:xfrm>
            <a:off x="6464808" y="4133088"/>
            <a:ext cx="4919472" cy="182880"/>
          </a:xfrm>
          <a:prstGeom prst="rect">
            <a:avLst/>
          </a:prstGeom>
          <a:noFill/>
          <a:ln/>
        </p:spPr>
        <p:txBody>
          <a:bodyPr wrap="square" lIns="0" tIns="0" rIns="0" bIns="0" rtlCol="0" anchor="ctr"/>
          <a:lstStyle/>
          <a:p>
            <a:pPr marL="0" indent="0">
              <a:buNone/>
            </a:pPr>
            <a:r>
              <a:rPr lang="en-US" sz="900" b="1" kern="0" spc="110" dirty="0">
                <a:solidFill>
                  <a:srgbClr val="C4B5FD"/>
                </a:solidFill>
              </a:rPr>
              <a:t>GA*</a:t>
            </a:r>
            <a:endParaRPr lang="en-US" sz="900" dirty="0"/>
          </a:p>
        </p:txBody>
      </p:sp>
      <p:sp>
        <p:nvSpPr>
          <p:cNvPr id="27" name="Text 24"/>
          <p:cNvSpPr/>
          <p:nvPr/>
        </p:nvSpPr>
        <p:spPr>
          <a:xfrm>
            <a:off x="6464808" y="4407408"/>
            <a:ext cx="4919472"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API &amp; SDK reference</a:t>
            </a:r>
            <a:endParaRPr lang="en-US" sz="1800" dirty="0"/>
          </a:p>
        </p:txBody>
      </p:sp>
      <p:sp>
        <p:nvSpPr>
          <p:cNvPr id="28" name="Text 25"/>
          <p:cNvSpPr/>
          <p:nvPr/>
        </p:nvSpPr>
        <p:spPr>
          <a:xfrm>
            <a:off x="6464808" y="4773168"/>
            <a:ext cx="4919472" cy="740664"/>
          </a:xfrm>
          <a:prstGeom prst="rect">
            <a:avLst/>
          </a:prstGeom>
          <a:noFill/>
          <a:ln/>
        </p:spPr>
        <p:txBody>
          <a:bodyPr wrap="square" lIns="0" tIns="0" rIns="0" bIns="0" rtlCol="0" anchor="t">
            <a:normAutofit/>
          </a:bodyPr>
          <a:lstStyle/>
          <a:p>
            <a:pPr marL="0" indent="0">
              <a:buNone/>
            </a:pPr>
            <a:r>
              <a:rPr lang="en-US" sz="1150" dirty="0">
                <a:solidFill>
                  <a:srgbClr val="B8B5C5"/>
                </a:solidFill>
              </a:rPr>
              <a:t>Use supported Python, C#, JavaScript, Java, REST, CLI, and developer-tool surfaces.</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0E0D12"/>
        </a:solidFill>
        <a:effectLst/>
      </p:bgPr>
    </p:bg>
    <p:spTree>
      <p:nvGrpSpPr>
        <p:cNvPr id="1" name=""/>
        <p:cNvGrpSpPr/>
        <p:nvPr/>
      </p:nvGrpSpPr>
      <p:grpSpPr>
        <a:xfrm>
          <a:off x="0" y="0"/>
          <a:ext cx="0" cy="0"/>
          <a:chOff x="0" y="0"/>
          <a:chExt cx="0" cy="0"/>
        </a:xfrm>
      </p:grpSpPr>
      <p:sp>
        <p:nvSpPr>
          <p:cNvPr id="2" name="Text 0"/>
          <p:cNvSpPr/>
          <p:nvPr/>
        </p:nvSpPr>
        <p:spPr>
          <a:xfrm>
            <a:off x="566928" y="384048"/>
            <a:ext cx="4389120" cy="256032"/>
          </a:xfrm>
          <a:prstGeom prst="rect">
            <a:avLst/>
          </a:prstGeom>
          <a:noFill/>
          <a:ln/>
        </p:spPr>
        <p:txBody>
          <a:bodyPr wrap="square" lIns="0" tIns="0" rIns="0" bIns="0" rtlCol="0" anchor="ctr"/>
          <a:lstStyle/>
          <a:p>
            <a:pPr marL="0" indent="0">
              <a:buNone/>
            </a:pPr>
            <a:r>
              <a:rPr lang="en-US" sz="1100" b="1" kern="0" spc="160" dirty="0">
                <a:solidFill>
                  <a:srgbClr val="22D3EE"/>
                </a:solidFill>
                <a:latin typeface="Aptos" pitchFamily="34" charset="0"/>
                <a:ea typeface="Aptos" pitchFamily="34" charset="-122"/>
                <a:cs typeface="Aptos" pitchFamily="34" charset="-120"/>
              </a:rPr>
              <a:t>SUGGESTED SUMMARY</a:t>
            </a:r>
            <a:endParaRPr lang="en-US" sz="1100" dirty="0"/>
          </a:p>
        </p:txBody>
      </p:sp>
      <p:sp>
        <p:nvSpPr>
          <p:cNvPr id="3" name="Text 1"/>
          <p:cNvSpPr/>
          <p:nvPr/>
        </p:nvSpPr>
        <p:spPr>
          <a:xfrm>
            <a:off x="548640" y="713232"/>
            <a:ext cx="11018520" cy="566928"/>
          </a:xfrm>
          <a:prstGeom prst="rect">
            <a:avLst/>
          </a:prstGeom>
          <a:noFill/>
          <a:ln/>
        </p:spPr>
        <p:txBody>
          <a:bodyPr wrap="square" lIns="0" tIns="0" rIns="0" bIns="0" rtlCol="0" anchor="ctr">
            <a:normAutofit/>
          </a:bodyPr>
          <a:lstStyle/>
          <a:p>
            <a:pPr marL="0" indent="0">
              <a:buNone/>
            </a:pPr>
            <a:r>
              <a:rPr lang="en-US" sz="3000" b="1" dirty="0">
                <a:solidFill>
                  <a:srgbClr val="F7F7FB"/>
                </a:solidFill>
                <a:latin typeface="Aptos Display" pitchFamily="34" charset="0"/>
                <a:ea typeface="Aptos Display" pitchFamily="34" charset="-122"/>
                <a:cs typeface="Aptos Display" pitchFamily="34" charset="-120"/>
              </a:rPr>
              <a:t>Close with outcomes, not features</a:t>
            </a:r>
            <a:endParaRPr lang="en-US" sz="3000" dirty="0"/>
          </a:p>
        </p:txBody>
      </p:sp>
      <p:sp>
        <p:nvSpPr>
          <p:cNvPr id="4" name="Text 2"/>
          <p:cNvSpPr/>
          <p:nvPr/>
        </p:nvSpPr>
        <p:spPr>
          <a:xfrm>
            <a:off x="502920" y="6528816"/>
            <a:ext cx="10789920" cy="164592"/>
          </a:xfrm>
          <a:prstGeom prst="rect">
            <a:avLst/>
          </a:prstGeom>
          <a:noFill/>
          <a:ln/>
        </p:spPr>
        <p:txBody>
          <a:bodyPr wrap="square" lIns="0" tIns="0" rIns="0" bIns="0" rtlCol="0" anchor="ctr"/>
          <a:lstStyle/>
          <a:p>
            <a:pPr marL="0" indent="0">
              <a:buNone/>
            </a:pPr>
            <a:r>
              <a:rPr lang="en-US" sz="850" dirty="0">
                <a:solidFill>
                  <a:srgbClr val="837E92"/>
                </a:solidFill>
                <a:latin typeface="Aptos" pitchFamily="34" charset="0"/>
                <a:ea typeface="Aptos" pitchFamily="34" charset="-122"/>
                <a:cs typeface="Aptos" pitchFamily="34" charset="-120"/>
              </a:rPr>
              <a:t>Microsoft Foundry | General overview demo</a:t>
            </a:r>
            <a:endParaRPr lang="en-US" sz="850" dirty="0"/>
          </a:p>
        </p:txBody>
      </p:sp>
      <p:sp>
        <p:nvSpPr>
          <p:cNvPr id="5" name="Text 3"/>
          <p:cNvSpPr/>
          <p:nvPr/>
        </p:nvSpPr>
        <p:spPr>
          <a:xfrm>
            <a:off x="11292840" y="6473952"/>
            <a:ext cx="384048" cy="228600"/>
          </a:xfrm>
          <a:prstGeom prst="rect">
            <a:avLst/>
          </a:prstGeom>
          <a:noFill/>
          <a:ln/>
        </p:spPr>
        <p:txBody>
          <a:bodyPr wrap="square" lIns="0" tIns="0" rIns="0" bIns="0" rtlCol="0" anchor="ctr"/>
          <a:lstStyle/>
          <a:p>
            <a:pPr marL="0" indent="0" algn="r">
              <a:buNone/>
            </a:pPr>
            <a:r>
              <a:rPr lang="en-US" sz="900" b="1" dirty="0">
                <a:solidFill>
                  <a:srgbClr val="C4B5FD"/>
                </a:solidFill>
                <a:latin typeface="Aptos" pitchFamily="34" charset="0"/>
                <a:ea typeface="Aptos" pitchFamily="34" charset="-122"/>
                <a:cs typeface="Aptos" pitchFamily="34" charset="-120"/>
              </a:rPr>
              <a:t>22</a:t>
            </a:r>
            <a:endParaRPr lang="en-US" sz="900" dirty="0"/>
          </a:p>
        </p:txBody>
      </p:sp>
      <p:sp>
        <p:nvSpPr>
          <p:cNvPr id="6" name="Shape 4"/>
          <p:cNvSpPr/>
          <p:nvPr/>
        </p:nvSpPr>
        <p:spPr>
          <a:xfrm>
            <a:off x="640080" y="1645920"/>
            <a:ext cx="5285232" cy="1508760"/>
          </a:xfrm>
          <a:prstGeom prst="roundRect">
            <a:avLst>
              <a:gd name="adj" fmla="val 4848"/>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7" name="Shape 5"/>
          <p:cNvSpPr/>
          <p:nvPr/>
        </p:nvSpPr>
        <p:spPr>
          <a:xfrm>
            <a:off x="640080" y="1645920"/>
            <a:ext cx="64008" cy="1508760"/>
          </a:xfrm>
          <a:prstGeom prst="rect">
            <a:avLst/>
          </a:prstGeom>
          <a:solidFill>
            <a:srgbClr val="22D3EE"/>
          </a:solidFill>
          <a:ln w="12700">
            <a:solidFill>
              <a:srgbClr val="22D3EE">
                <a:alpha val="0"/>
              </a:srgbClr>
            </a:solidFill>
            <a:prstDash val="solid"/>
          </a:ln>
        </p:spPr>
      </p:sp>
      <p:sp>
        <p:nvSpPr>
          <p:cNvPr id="8" name="Text 6"/>
          <p:cNvSpPr/>
          <p:nvPr/>
        </p:nvSpPr>
        <p:spPr>
          <a:xfrm>
            <a:off x="896112" y="1810512"/>
            <a:ext cx="4782312" cy="182880"/>
          </a:xfrm>
          <a:prstGeom prst="rect">
            <a:avLst/>
          </a:prstGeom>
          <a:noFill/>
          <a:ln/>
        </p:spPr>
        <p:txBody>
          <a:bodyPr wrap="square" lIns="0" tIns="0" rIns="0" bIns="0" rtlCol="0" anchor="ctr"/>
          <a:lstStyle/>
          <a:p>
            <a:pPr marL="0" indent="0">
              <a:buNone/>
            </a:pPr>
            <a:r>
              <a:rPr lang="en-US" sz="900" b="1" kern="0" spc="110" dirty="0">
                <a:solidFill>
                  <a:srgbClr val="22D3EE"/>
                </a:solidFill>
              </a:rPr>
              <a:t>OUTCOME 1</a:t>
            </a:r>
            <a:endParaRPr lang="en-US" sz="900" dirty="0"/>
          </a:p>
        </p:txBody>
      </p:sp>
      <p:sp>
        <p:nvSpPr>
          <p:cNvPr id="9" name="Text 7"/>
          <p:cNvSpPr/>
          <p:nvPr/>
        </p:nvSpPr>
        <p:spPr>
          <a:xfrm>
            <a:off x="896112" y="2084832"/>
            <a:ext cx="4782312"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Faster selection</a:t>
            </a:r>
            <a:endParaRPr lang="en-US" sz="1800" dirty="0"/>
          </a:p>
        </p:txBody>
      </p:sp>
      <p:sp>
        <p:nvSpPr>
          <p:cNvPr id="10" name="Text 8"/>
          <p:cNvSpPr/>
          <p:nvPr/>
        </p:nvSpPr>
        <p:spPr>
          <a:xfrm>
            <a:off x="896112" y="2450592"/>
            <a:ext cx="4782312" cy="557784"/>
          </a:xfrm>
          <a:prstGeom prst="rect">
            <a:avLst/>
          </a:prstGeom>
          <a:noFill/>
          <a:ln/>
        </p:spPr>
        <p:txBody>
          <a:bodyPr wrap="square" lIns="0" tIns="0" rIns="0" bIns="0" rtlCol="0" anchor="t">
            <a:normAutofit/>
          </a:bodyPr>
          <a:lstStyle/>
          <a:p>
            <a:pPr marL="0" indent="0">
              <a:buNone/>
            </a:pPr>
            <a:r>
              <a:rPr lang="en-US" sz="1150" dirty="0">
                <a:solidFill>
                  <a:srgbClr val="B8B5C5"/>
                </a:solidFill>
              </a:rPr>
              <a:t>Discover and compare models, tools, and templates.</a:t>
            </a:r>
            <a:endParaRPr lang="en-US" sz="1150" dirty="0"/>
          </a:p>
        </p:txBody>
      </p:sp>
      <p:sp>
        <p:nvSpPr>
          <p:cNvPr id="11" name="Shape 9"/>
          <p:cNvSpPr/>
          <p:nvPr/>
        </p:nvSpPr>
        <p:spPr>
          <a:xfrm>
            <a:off x="6217920" y="1645920"/>
            <a:ext cx="5285232" cy="1508760"/>
          </a:xfrm>
          <a:prstGeom prst="roundRect">
            <a:avLst>
              <a:gd name="adj" fmla="val 4848"/>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2" name="Shape 10"/>
          <p:cNvSpPr/>
          <p:nvPr/>
        </p:nvSpPr>
        <p:spPr>
          <a:xfrm>
            <a:off x="6217920" y="1645920"/>
            <a:ext cx="64008" cy="1508760"/>
          </a:xfrm>
          <a:prstGeom prst="rect">
            <a:avLst/>
          </a:prstGeom>
          <a:solidFill>
            <a:srgbClr val="8B5CF6"/>
          </a:solidFill>
          <a:ln w="12700">
            <a:solidFill>
              <a:srgbClr val="8B5CF6">
                <a:alpha val="0"/>
              </a:srgbClr>
            </a:solidFill>
            <a:prstDash val="solid"/>
          </a:ln>
        </p:spPr>
      </p:sp>
      <p:sp>
        <p:nvSpPr>
          <p:cNvPr id="13" name="Text 11"/>
          <p:cNvSpPr/>
          <p:nvPr/>
        </p:nvSpPr>
        <p:spPr>
          <a:xfrm>
            <a:off x="6473952" y="1810512"/>
            <a:ext cx="4782312" cy="182880"/>
          </a:xfrm>
          <a:prstGeom prst="rect">
            <a:avLst/>
          </a:prstGeom>
          <a:noFill/>
          <a:ln/>
        </p:spPr>
        <p:txBody>
          <a:bodyPr wrap="square" lIns="0" tIns="0" rIns="0" bIns="0" rtlCol="0" anchor="ctr"/>
          <a:lstStyle/>
          <a:p>
            <a:pPr marL="0" indent="0">
              <a:buNone/>
            </a:pPr>
            <a:r>
              <a:rPr lang="en-US" sz="900" b="1" kern="0" spc="110" dirty="0">
                <a:solidFill>
                  <a:srgbClr val="8B5CF6"/>
                </a:solidFill>
              </a:rPr>
              <a:t>OUTCOME 2</a:t>
            </a:r>
            <a:endParaRPr lang="en-US" sz="900" dirty="0"/>
          </a:p>
        </p:txBody>
      </p:sp>
      <p:sp>
        <p:nvSpPr>
          <p:cNvPr id="14" name="Text 12"/>
          <p:cNvSpPr/>
          <p:nvPr/>
        </p:nvSpPr>
        <p:spPr>
          <a:xfrm>
            <a:off x="6473952" y="2084832"/>
            <a:ext cx="4782312"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Faster creation</a:t>
            </a:r>
            <a:endParaRPr lang="en-US" sz="1800" dirty="0"/>
          </a:p>
        </p:txBody>
      </p:sp>
      <p:sp>
        <p:nvSpPr>
          <p:cNvPr id="15" name="Text 13"/>
          <p:cNvSpPr/>
          <p:nvPr/>
        </p:nvSpPr>
        <p:spPr>
          <a:xfrm>
            <a:off x="6473952" y="2450592"/>
            <a:ext cx="4782312" cy="557784"/>
          </a:xfrm>
          <a:prstGeom prst="rect">
            <a:avLst/>
          </a:prstGeom>
          <a:noFill/>
          <a:ln/>
        </p:spPr>
        <p:txBody>
          <a:bodyPr wrap="square" lIns="0" tIns="0" rIns="0" bIns="0" rtlCol="0" anchor="t">
            <a:normAutofit/>
          </a:bodyPr>
          <a:lstStyle/>
          <a:p>
            <a:pPr marL="0" indent="0">
              <a:buNone/>
            </a:pPr>
            <a:r>
              <a:rPr lang="en-US" sz="1150" dirty="0">
                <a:solidFill>
                  <a:srgbClr val="B8B5C5"/>
                </a:solidFill>
              </a:rPr>
              <a:t>Build declaratively or with full code control.</a:t>
            </a:r>
            <a:endParaRPr lang="en-US" sz="1150" dirty="0"/>
          </a:p>
        </p:txBody>
      </p:sp>
      <p:sp>
        <p:nvSpPr>
          <p:cNvPr id="16" name="Shape 14"/>
          <p:cNvSpPr/>
          <p:nvPr/>
        </p:nvSpPr>
        <p:spPr>
          <a:xfrm>
            <a:off x="640080" y="3520440"/>
            <a:ext cx="5285232" cy="1508760"/>
          </a:xfrm>
          <a:prstGeom prst="roundRect">
            <a:avLst>
              <a:gd name="adj" fmla="val 4848"/>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17" name="Shape 15"/>
          <p:cNvSpPr/>
          <p:nvPr/>
        </p:nvSpPr>
        <p:spPr>
          <a:xfrm>
            <a:off x="640080" y="3520440"/>
            <a:ext cx="64008" cy="1508760"/>
          </a:xfrm>
          <a:prstGeom prst="rect">
            <a:avLst/>
          </a:prstGeom>
          <a:solidFill>
            <a:srgbClr val="34D399"/>
          </a:solidFill>
          <a:ln w="12700">
            <a:solidFill>
              <a:srgbClr val="34D399">
                <a:alpha val="0"/>
              </a:srgbClr>
            </a:solidFill>
            <a:prstDash val="solid"/>
          </a:ln>
        </p:spPr>
      </p:sp>
      <p:sp>
        <p:nvSpPr>
          <p:cNvPr id="18" name="Text 16"/>
          <p:cNvSpPr/>
          <p:nvPr/>
        </p:nvSpPr>
        <p:spPr>
          <a:xfrm>
            <a:off x="896112" y="3685032"/>
            <a:ext cx="4782312" cy="182880"/>
          </a:xfrm>
          <a:prstGeom prst="rect">
            <a:avLst/>
          </a:prstGeom>
          <a:noFill/>
          <a:ln/>
        </p:spPr>
        <p:txBody>
          <a:bodyPr wrap="square" lIns="0" tIns="0" rIns="0" bIns="0" rtlCol="0" anchor="ctr"/>
          <a:lstStyle/>
          <a:p>
            <a:pPr marL="0" indent="0">
              <a:buNone/>
            </a:pPr>
            <a:r>
              <a:rPr lang="en-US" sz="900" b="1" kern="0" spc="110" dirty="0">
                <a:solidFill>
                  <a:srgbClr val="34D399"/>
                </a:solidFill>
              </a:rPr>
              <a:t>OUTCOME 3</a:t>
            </a:r>
            <a:endParaRPr lang="en-US" sz="900" dirty="0"/>
          </a:p>
        </p:txBody>
      </p:sp>
      <p:sp>
        <p:nvSpPr>
          <p:cNvPr id="19" name="Text 17"/>
          <p:cNvSpPr/>
          <p:nvPr/>
        </p:nvSpPr>
        <p:spPr>
          <a:xfrm>
            <a:off x="896112" y="3959352"/>
            <a:ext cx="4782312"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Measurable AI</a:t>
            </a:r>
            <a:endParaRPr lang="en-US" sz="1800" dirty="0"/>
          </a:p>
        </p:txBody>
      </p:sp>
      <p:sp>
        <p:nvSpPr>
          <p:cNvPr id="20" name="Text 18"/>
          <p:cNvSpPr/>
          <p:nvPr/>
        </p:nvSpPr>
        <p:spPr>
          <a:xfrm>
            <a:off x="896112" y="4325112"/>
            <a:ext cx="4782312" cy="557784"/>
          </a:xfrm>
          <a:prstGeom prst="rect">
            <a:avLst/>
          </a:prstGeom>
          <a:noFill/>
          <a:ln/>
        </p:spPr>
        <p:txBody>
          <a:bodyPr wrap="square" lIns="0" tIns="0" rIns="0" bIns="0" rtlCol="0" anchor="t">
            <a:normAutofit/>
          </a:bodyPr>
          <a:lstStyle/>
          <a:p>
            <a:pPr marL="0" indent="0">
              <a:buNone/>
            </a:pPr>
            <a:r>
              <a:rPr lang="en-US" sz="1150" dirty="0">
                <a:solidFill>
                  <a:srgbClr val="B8B5C5"/>
                </a:solidFill>
              </a:rPr>
              <a:t>Evaluate, trace, monitor, and improve behavior.</a:t>
            </a:r>
            <a:endParaRPr lang="en-US" sz="1150" dirty="0"/>
          </a:p>
        </p:txBody>
      </p:sp>
      <p:sp>
        <p:nvSpPr>
          <p:cNvPr id="21" name="Shape 19"/>
          <p:cNvSpPr/>
          <p:nvPr/>
        </p:nvSpPr>
        <p:spPr>
          <a:xfrm>
            <a:off x="6217920" y="3520440"/>
            <a:ext cx="5285232" cy="1508760"/>
          </a:xfrm>
          <a:prstGeom prst="roundRect">
            <a:avLst>
              <a:gd name="adj" fmla="val 4848"/>
            </a:avLst>
          </a:prstGeom>
          <a:solidFill>
            <a:srgbClr val="1A1820"/>
          </a:solidFill>
          <a:ln w="10160">
            <a:solidFill>
              <a:srgbClr val="34303E"/>
            </a:solidFill>
            <a:prstDash val="solid"/>
          </a:ln>
          <a:effectLst>
            <a:outerShdw blurRad="38100" dist="50800" dir="2700000" algn="bl" rotWithShape="0">
              <a:srgbClr val="000000">
                <a:alpha val="24000"/>
              </a:srgbClr>
            </a:outerShdw>
          </a:effectLst>
        </p:spPr>
      </p:sp>
      <p:sp>
        <p:nvSpPr>
          <p:cNvPr id="22" name="Shape 20"/>
          <p:cNvSpPr/>
          <p:nvPr/>
        </p:nvSpPr>
        <p:spPr>
          <a:xfrm>
            <a:off x="6217920" y="3520440"/>
            <a:ext cx="64008" cy="1508760"/>
          </a:xfrm>
          <a:prstGeom prst="rect">
            <a:avLst/>
          </a:prstGeom>
          <a:solidFill>
            <a:srgbClr val="FBBF24"/>
          </a:solidFill>
          <a:ln w="12700">
            <a:solidFill>
              <a:srgbClr val="FBBF24">
                <a:alpha val="0"/>
              </a:srgbClr>
            </a:solidFill>
            <a:prstDash val="solid"/>
          </a:ln>
        </p:spPr>
      </p:sp>
      <p:sp>
        <p:nvSpPr>
          <p:cNvPr id="23" name="Text 21"/>
          <p:cNvSpPr/>
          <p:nvPr/>
        </p:nvSpPr>
        <p:spPr>
          <a:xfrm>
            <a:off x="6473952" y="3685032"/>
            <a:ext cx="4782312" cy="182880"/>
          </a:xfrm>
          <a:prstGeom prst="rect">
            <a:avLst/>
          </a:prstGeom>
          <a:noFill/>
          <a:ln/>
        </p:spPr>
        <p:txBody>
          <a:bodyPr wrap="square" lIns="0" tIns="0" rIns="0" bIns="0" rtlCol="0" anchor="ctr"/>
          <a:lstStyle/>
          <a:p>
            <a:pPr marL="0" indent="0">
              <a:buNone/>
            </a:pPr>
            <a:r>
              <a:rPr lang="en-US" sz="900" b="1" kern="0" spc="110" dirty="0">
                <a:solidFill>
                  <a:srgbClr val="FBBF24"/>
                </a:solidFill>
              </a:rPr>
              <a:t>OUTCOME 4</a:t>
            </a:r>
            <a:endParaRPr lang="en-US" sz="900" dirty="0"/>
          </a:p>
        </p:txBody>
      </p:sp>
      <p:sp>
        <p:nvSpPr>
          <p:cNvPr id="24" name="Text 22"/>
          <p:cNvSpPr/>
          <p:nvPr/>
        </p:nvSpPr>
        <p:spPr>
          <a:xfrm>
            <a:off x="6473952" y="3959352"/>
            <a:ext cx="4782312" cy="310896"/>
          </a:xfrm>
          <a:prstGeom prst="rect">
            <a:avLst/>
          </a:prstGeom>
          <a:noFill/>
          <a:ln/>
        </p:spPr>
        <p:txBody>
          <a:bodyPr wrap="square" lIns="0" tIns="0" rIns="0" bIns="0" rtlCol="0" anchor="ctr">
            <a:normAutofit/>
          </a:bodyPr>
          <a:lstStyle/>
          <a:p>
            <a:pPr marL="0" indent="0">
              <a:buNone/>
            </a:pPr>
            <a:r>
              <a:rPr lang="en-US" sz="1800" b="1" dirty="0">
                <a:solidFill>
                  <a:srgbClr val="F7F7FB"/>
                </a:solidFill>
              </a:rPr>
              <a:t>Enterprise control</a:t>
            </a:r>
            <a:endParaRPr lang="en-US" sz="1800" dirty="0"/>
          </a:p>
        </p:txBody>
      </p:sp>
      <p:sp>
        <p:nvSpPr>
          <p:cNvPr id="25" name="Text 23"/>
          <p:cNvSpPr/>
          <p:nvPr/>
        </p:nvSpPr>
        <p:spPr>
          <a:xfrm>
            <a:off x="6473952" y="4325112"/>
            <a:ext cx="4782312" cy="557784"/>
          </a:xfrm>
          <a:prstGeom prst="rect">
            <a:avLst/>
          </a:prstGeom>
          <a:noFill/>
          <a:ln/>
        </p:spPr>
        <p:txBody>
          <a:bodyPr wrap="square" lIns="0" tIns="0" rIns="0" bIns="0" rtlCol="0" anchor="t">
            <a:normAutofit/>
          </a:bodyPr>
          <a:lstStyle/>
          <a:p>
            <a:pPr marL="0" indent="0">
              <a:buNone/>
            </a:pPr>
            <a:r>
              <a:rPr lang="en-US" sz="1150" dirty="0">
                <a:solidFill>
                  <a:srgbClr val="B8B5C5"/>
                </a:solidFill>
              </a:rPr>
              <a:t>Apply identity, policy, networking, quota, and governance.</a:t>
            </a:r>
            <a:endParaRPr lang="en-US" sz="1150" dirty="0"/>
          </a:p>
        </p:txBody>
      </p:sp>
      <p:sp>
        <p:nvSpPr>
          <p:cNvPr id="26" name="Shape 24"/>
          <p:cNvSpPr/>
          <p:nvPr/>
        </p:nvSpPr>
        <p:spPr>
          <a:xfrm>
            <a:off x="1920240" y="5577840"/>
            <a:ext cx="8321040" cy="566928"/>
          </a:xfrm>
          <a:prstGeom prst="roundRect">
            <a:avLst>
              <a:gd name="adj" fmla="val 12903"/>
            </a:avLst>
          </a:prstGeom>
          <a:solidFill>
            <a:srgbClr val="6D3BC2"/>
          </a:solidFill>
          <a:ln w="12700">
            <a:solidFill>
              <a:srgbClr val="C4B5FD"/>
            </a:solidFill>
            <a:prstDash val="solid"/>
          </a:ln>
        </p:spPr>
      </p:sp>
      <p:sp>
        <p:nvSpPr>
          <p:cNvPr id="27" name="Text 25"/>
          <p:cNvSpPr/>
          <p:nvPr/>
        </p:nvSpPr>
        <p:spPr>
          <a:xfrm>
            <a:off x="2148840" y="5715000"/>
            <a:ext cx="7863840" cy="22860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rPr>
              <a:t>Microsoft Foundry: move from AI idea to governed production on one platform.</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4605</Words>
  <Application>Microsoft Office PowerPoint</Application>
  <PresentationFormat>Widescreen</PresentationFormat>
  <Paragraphs>409</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Foundry platform tour</dc:title>
  <dc:subject>Generic solution click-through demonstration</dc:subject>
  <dc:creator>John Straumann</dc:creator>
  <cp:keywords>FoundryPlatformTour</cp:keywords>
  <dc:description>Customer branding generalized. Edited historical captures; results not rerun.</dc:description>
  <cp:lastModifiedBy>John Straumann</cp:lastModifiedBy>
  <cp:revision>5</cp:revision>
  <dcterms:created xsi:type="dcterms:W3CDTF">2026-09-02T13:46:33Z</dcterms:created>
  <dcterms:modified xsi:type="dcterms:W3CDTF">2026-10-28T13:23:17Z</dcterms:modified>
  <dc:identifier/>
</cp:coreProperties>
</file>