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82" r:id="rId2"/>
    <p:sldId id="283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Problem: A conversation alone is not enough: learners and instructors need visible learning outcomes and reviewable evidence.</a:t>
            </a:r>
          </a:p>
          <a:p>
            <a:r>
              <a:t>Solution: Practice with a character, evaluate progress, reflect on the exchange and confirm an instructor-reviewable submission.</a:t>
            </a:r>
          </a:p>
          <a:p>
            <a:r>
              <a:t>Products: Captured LMS / browser UI | Separate recreation: ASP.NET Core MVC/.NET 10 | Azure OpenAI / Foundry | Blob Storage</a:t>
            </a:r>
          </a:p>
          <a:p>
            <a:r>
              <a:t>Evidence status: Screens come from a recorded course demo. A later Azure-backed recreation is separate; its backend must not be attributed to the original recording.</a:t>
            </a:r>
          </a:p>
          <a:p>
            <a:r>
              <a:t>Customer branding, organization labels and resource identifiers have been generalized. Screenshots are edited historical captures; no service results were rerun.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Architecture: [['Learner roleplay', 'Character conversation'], ['Evaluator', 'Outcome progress + evidence'], ['Guided reflection', 'Review the learning'], ['LMS handoff', 'Confirm + instructor report']]</a:t>
            </a:r>
          </a:p>
          <a:p>
            <a:r>
              <a:t>Boundary: The diagram describes the captured learning workflow. Its original cloud backend and production LMS API wiring are not verified. Assignment Dropbox is not Dropbox cloud storage.</a:t>
            </a:r>
          </a:p>
          <a:p>
            <a:r>
              <a:t>This is a logical diagram, not a verified deployment inventory. Arrows show the conceptual information flow.</a:t>
            </a:r>
          </a:p>
          <a:p>
            <a:r>
              <a:t>Customer names, logos and resource identifiers in subsequent captured screens have been generalized. Service brands and the solution's core workflow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6539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6B6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ONLINE LEARNING AGENT  |  ROLEPLAY DEMO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656539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6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kaltura.Learning.edu/media/t/1_bkuq2ca1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99A22"/>
                </a:solidFill>
                <a:latin typeface="Calibri"/>
              </a:defRPr>
            </a:pPr>
            <a:r>
              <a:t>GENERIC SOLUTION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Learning roleplay and 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D3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9A22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5074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A conversation alone is not enough: learners and instructors need visible learning outcomes and reviewable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D3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8232" y="20116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9A22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2514600"/>
            <a:ext cx="5074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Practice with a character, evaluate progress, reflect on the exchange and confirm an instructor-reviewable submission.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9A22"/>
                </a:solidFill>
                <a:latin typeface="Calibri"/>
              </a:defRPr>
            </a:pPr>
            <a:r>
              <a:t>PRODUCTS AND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6227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FFFFFF"/>
                </a:solidFill>
                <a:latin typeface="Calibri"/>
              </a:defRPr>
            </a:pPr>
            <a:r>
              <a:t>Captured LMS / browser UI | Separate recreation: ASP.NET Core MVC/.NET 10 | Azure OpenAI / Foundry | Blob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961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D4DAE8"/>
                </a:solidFill>
                <a:latin typeface="Calibri"/>
              </a:defRPr>
            </a:pPr>
            <a:r>
              <a:t>Screens come from a recorded course demo. A later Azure-backed recreation is separate; its backend must not be attributed to the original recording.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6B65"/>
                </a:solidFill>
                <a:latin typeface="Calibri"/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82337"/>
                </a:solidFill>
                <a:latin typeface="Calibri"/>
              </a:defRPr>
            </a:pPr>
            <a:r>
              <a:t>How the solution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09928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6B65"/>
                </a:solidFill>
                <a:latin typeface="Calibri"/>
              </a:defRPr>
            </a:pPr>
            <a:r>
              <a:t>LOGICAL FLOW / REFERENCE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688336" cy="2377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99A22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363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82337"/>
                </a:solidFill>
                <a:latin typeface="Calibri"/>
              </a:defRPr>
            </a:pPr>
            <a:r>
              <a:t>Learner roleplay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82337"/>
                </a:solidFill>
                <a:latin typeface="Calibri"/>
              </a:defRPr>
            </a:pPr>
            <a:r>
              <a:t>Character conversation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3163824" y="3264408"/>
            <a:ext cx="137160" cy="320040"/>
          </a:xfrm>
          <a:prstGeom prst="chevron">
            <a:avLst/>
          </a:prstGeom>
          <a:solidFill>
            <a:srgbClr val="006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9272" y="2286000"/>
            <a:ext cx="2688336" cy="2377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24688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99A22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31363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82337"/>
                </a:solidFill>
                <a:latin typeface="Calibri"/>
              </a:defRPr>
            </a:pPr>
            <a:r>
              <a:t>Evaluator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3840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82337"/>
                </a:solidFill>
                <a:latin typeface="Calibri"/>
              </a:defRPr>
            </a:pPr>
            <a:r>
              <a:t>Outcome progress + evidence</a:t>
            </a:r>
          </a:p>
        </p:txBody>
      </p:sp>
      <p:sp>
        <p:nvSpPr>
          <p:cNvPr id="14" name="Chevron 13"/>
          <p:cNvSpPr/>
          <p:nvPr/>
        </p:nvSpPr>
        <p:spPr>
          <a:xfrm>
            <a:off x="6025896" y="3264408"/>
            <a:ext cx="137160" cy="320040"/>
          </a:xfrm>
          <a:prstGeom prst="chevron">
            <a:avLst/>
          </a:prstGeom>
          <a:solidFill>
            <a:srgbClr val="006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81344" y="2286000"/>
            <a:ext cx="2688336" cy="2377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4224" y="24688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99A22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1363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82337"/>
                </a:solidFill>
                <a:latin typeface="Calibri"/>
              </a:defRPr>
            </a:pPr>
            <a:r>
              <a:t>Guided reflection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840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82337"/>
                </a:solidFill>
                <a:latin typeface="Calibri"/>
              </a:defRPr>
            </a:pPr>
            <a:r>
              <a:t>Review the learning</a:t>
            </a:r>
          </a:p>
        </p:txBody>
      </p:sp>
      <p:sp>
        <p:nvSpPr>
          <p:cNvPr id="19" name="Chevron 18"/>
          <p:cNvSpPr/>
          <p:nvPr/>
        </p:nvSpPr>
        <p:spPr>
          <a:xfrm>
            <a:off x="8887968" y="3264408"/>
            <a:ext cx="137160" cy="320040"/>
          </a:xfrm>
          <a:prstGeom prst="chevron">
            <a:avLst/>
          </a:prstGeom>
          <a:solidFill>
            <a:srgbClr val="006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43416" y="2286000"/>
            <a:ext cx="2688336" cy="2377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26296" y="24688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99A22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31363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82337"/>
                </a:solidFill>
                <a:latin typeface="Calibri"/>
              </a:defRPr>
            </a:pPr>
            <a:r>
              <a:t>LMS handoff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3840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82337"/>
                </a:solidFill>
                <a:latin typeface="Calibri"/>
              </a:defRPr>
            </a:pPr>
            <a:r>
              <a:t>Confirm + instructor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7492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337"/>
                </a:solidFill>
                <a:latin typeface="Calibri"/>
              </a:defRPr>
            </a:pPr>
            <a:r>
              <a:t>The diagram describes the captured learning workflow. Its original cloud backend and production LMS API wiring are not verified. Assignment Dropbox is not Dropbox cloud storage.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72784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26176"/>
                </a:solidFill>
                <a:latin typeface="Calibri"/>
              </a:defRPr>
            </a:pPr>
            <a:r>
              <a:t>Generic labels and edited screenshots | Historical results are illustrative, not rerun</a:t>
            </a:r>
          </a:p>
        </p:txBody>
      </p:sp>
      <p:sp>
        <p:nvSpPr>
          <p:cNvPr id="26" name="TextBox 25">
            <a:hlinkClick r:id="rId3" action="ppaction://hlinksldjump"/>
          </p:cNvPr>
          <p:cNvSpPr txBox="1"/>
          <p:nvPr/>
        </p:nvSpPr>
        <p:spPr>
          <a:xfrm>
            <a:off x="10378440" y="623620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6B65"/>
                </a:solidFill>
                <a:latin typeface="Calibri"/>
              </a:defRPr>
            </a:pPr>
            <a:r>
              <a:t>START TOUR 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80" dirty="0">
                <a:solidFill>
                  <a:srgbClr val="D9D2CA"/>
                </a:solidFill>
              </a:rPr>
              <a:t>Learning ONLINE LEARNING AGENT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572768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Roleplay demo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click-by-click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68096" y="3730752"/>
            <a:ext cx="6995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9D2CA"/>
                </a:solidFill>
              </a:rPr>
              <a:t>Screens captured from the Kaltura recording with synchronized narration excerpts and key automatic transitions.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732520" y="1051560"/>
            <a:ext cx="2468880" cy="4526280"/>
          </a:xfrm>
          <a:prstGeom prst="roundRect">
            <a:avLst>
              <a:gd name="adj" fmla="val 2222"/>
            </a:avLst>
          </a:prstGeom>
          <a:solidFill>
            <a:srgbClr val="F7F5F2"/>
          </a:solidFill>
          <a:ln w="12700">
            <a:solidFill>
              <a:srgbClr val="F7F5F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34272" y="148132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BA0C2F"/>
                </a:solidFill>
              </a:rPr>
              <a:t>13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034272" y="23225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1E1B"/>
                </a:solidFill>
              </a:rPr>
              <a:t>click actions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034272" y="3072384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554F49"/>
                </a:solidFill>
              </a:rPr>
              <a:t>25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034272" y="37673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1E1B"/>
                </a:solidFill>
              </a:rPr>
              <a:t>captured screens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8096" y="6053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Learning roleplay walkthrough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6053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D2CA"/>
                </a:solidFill>
              </a:rPr>
              <a:t>Prepared 02 Sep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Demo starting point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01  /  00:12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Demo starting point at 00: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554F49"/>
          </a:solidFill>
          <a:ln>
            <a:solidFill>
              <a:srgbClr val="554F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CONTEXT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The learner opens the Hamilton Role Play activity in the course content viewer.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"James Castle introduces a student-facing AI roleplay agent configured for a conversation with Alexander Hamilton."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Included to preserve the complete demo flow.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Reveal the learning-outcome criteria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02  /  01:38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Reveal the learning-outcome criteria at 01: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BA0C2F"/>
          </a:solidFill>
          <a:ln>
            <a:solidFill>
              <a:srgbClr val="BA0C2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Click "Show criteria" beneath the three outcome indicators.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titles of the criteria can be exposed so students understand what they are working toward; instructors can also hide them."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Frame captured immediately before or after the click.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Send roleplay response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03  /  02:12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Send roleplay response 1 at 02: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BA0C2F"/>
          </a:solidFill>
          <a:ln>
            <a:solidFill>
              <a:srgbClr val="BA0C2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Paste the learner response, then click "Send."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"Prewritten responses are used to move the demonstration toward mastery without waiting for live typing."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Frame captured immediately before or after the click.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Send roleplay response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04  /  02:38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Send roleplay response 2 at 02: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BA0C2F"/>
          </a:solidFill>
          <a:ln>
            <a:solidFill>
              <a:srgbClr val="BA0C2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Paste the second learner response and click "Send."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"After the first exchange, one outcome shows partial progress. Each additional message triggers multiple cooperating AI agents."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Frame captured immediately before or after the click.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Inspect the evaluator-agent assessment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05  /  04:20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Inspect the evaluator-agent assessment at 04: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554F49"/>
          </a:solidFill>
          <a:ln>
            <a:solidFill>
              <a:srgbClr val="554F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Switch to the Gateway log to inspect an evaluator assessment.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evaluator marks outcomes as met, not met, or partial and records the evidence used for each judgment."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Included to preserve the complete demo flow.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Send roleplay response 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06  /  05:32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Send roleplay response 3 at 05: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BA0C2F"/>
          </a:solidFill>
          <a:ln>
            <a:solidFill>
              <a:srgbClr val="BA0C2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Paste the next learner response and click "Send."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conversation resumes after the architecture explanation, continuing to press Hamilton's position against the learning outcomes."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Frame captured immediately before or after the click.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Send roleplay response 4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07  /  05:43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Send roleplay response 4 at 05: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BA0C2F"/>
          </a:solidFill>
          <a:ln>
            <a:solidFill>
              <a:srgbClr val="BA0C2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Paste the fourth roleplay response and click "Send."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Hamilton character is designed to speak authentically while the evaluator quietly tracks progress in the background."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Frame captured immediately before or after the click.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Send roleplay response 5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08  /  06:24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Send roleplay response 5 at 06: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BA0C2F"/>
          </a:solidFill>
          <a:ln>
            <a:solidFill>
              <a:srgbClr val="BA0C2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Paste the final roleplay response and click "Send."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"At this point one outcome is met and the remaining two are partially met; the final exchange completes the criteria."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Frame captured immediately before or after the click.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Roleplay transitions to reflection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09  /  07:00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Roleplay transitions to reflection at 07: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8C6B22"/>
          </a:solidFill>
          <a:ln>
            <a:solidFill>
              <a:srgbClr val="8C6B2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AUTO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Automatic transition after all three criteria are met.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"Hamilton gives a final message, then the learner is moved into a structured reflection workflow with a different agent."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Included to preserve the complete demo flow.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Send reflection response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10  /  07:32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Send reflection response 1 at 07: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BA0C2F"/>
          </a:solidFill>
          <a:ln>
            <a:solidFill>
              <a:srgbClr val="BA0C2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Paste the first reflection response and click "Send."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facilitator pulls details from the roleplay and asks the learner to examine what worked and what they might do differently."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Frame captured immediately before or after the click.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Send reflection response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11  /  07:45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Send reflection response 2 at 07: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BA0C2F"/>
          </a:solidFill>
          <a:ln>
            <a:solidFill>
              <a:srgbClr val="BA0C2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Paste the second reflection response and click "Send."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reflection agent probes the learner's choices and compares their reasoning with the preceding exchange."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Frame captured immediately before or after the click.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Send reflection response 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12  /  07:55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Send reflection response 3 at 07: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BA0C2F"/>
          </a:solidFill>
          <a:ln>
            <a:solidFill>
              <a:srgbClr val="BA0C2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Paste the third reflection response and click "Send."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learner identifies strengths, limits, and the conditions under which the argument would hold."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Frame captured immediately before or after the click.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Send reflection response 4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13  /  07:59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Send reflection response 4 at 07: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BA0C2F"/>
          </a:solidFill>
          <a:ln>
            <a:solidFill>
              <a:srgbClr val="BA0C2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Paste the final reflection response and click "Send."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final question asks for the learner's takeaway and closes the structured reflection phase."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Frame captured immediately before or after the click.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Summary agent starts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14  /  08:12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Summary agent starts at 08: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8C6B22"/>
          </a:solidFill>
          <a:ln>
            <a:solidFill>
              <a:srgbClr val="8C6B2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AUTO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Automatic transition after reflection is complete.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"A fourth agent builds the activity summary and prepares a Dropbox submission."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Included to preserve the complete demo flow.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Review the generated submission preview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15  /  08:38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Review the generated submission preview at 08: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554F49"/>
          </a:solidFill>
          <a:ln>
            <a:solidFill>
              <a:srgbClr val="554F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Review the generated performance overview and evidence highlights.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submission includes learning-outcome status, evaluator evidence, reflection content, and a full conversation transcript."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Included to preserve the complete demo flow.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Confirm the Dropbox submission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16  /  08:44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Confirm the Dropbox submission at 08: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BA0C2F"/>
          </a:solidFill>
          <a:ln>
            <a:solidFill>
              <a:srgbClr val="BA0C2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Click "Confirm Submission."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summary is complete and the learner confirms creation of the assignment Dropbox submission."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Frame captured immediately before or after the click.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Submission created successfully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17  /  08:46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Submission created successfully at 08: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2F7D4C"/>
          </a:solidFill>
          <a:ln>
            <a:solidFill>
              <a:srgbClr val="2F7D4C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The learner receives an in-app success confirmation.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completed roleplay package is now available to the instructor like a normal assignment submission."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Included to preserve the complete demo flow.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Open the instructor submissions 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18  /  08:53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Open the instructor submissions list at 08: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554F49"/>
          </a:solidFill>
          <a:ln>
            <a:solidFill>
              <a:srgbClr val="554F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Switch to the instructor view for the Hamilton Role Play assignment.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instructor can open the assignment submissions area and locate the learner's generated submission."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Included to preserve the complete demo flow.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Expand the learner submission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19  /  08:58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Expand the learner submission at 08: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BA0C2F"/>
          </a:solidFill>
          <a:ln>
            <a:solidFill>
              <a:srgbClr val="BA0C2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Click the "Castle, James" learner row to expose its submitted file.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learner row expands to show the generated submission file and submission timestamp."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Frame captured immediately before or after the click.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Open the generated submission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20  /  09:02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Open the generated submission at 09: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BA0C2F"/>
          </a:solidFill>
          <a:ln>
            <a:solidFill>
              <a:srgbClr val="BA0C2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Click the submitted file, "submission-info.txt."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generated content opens in the standard assignment evaluation experience."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Frame captured immediately before or after the click.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Instructor view: performance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21  /  09:15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Instructor view: performance overview at 09: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554F49"/>
          </a:solidFill>
          <a:ln>
            <a:solidFill>
              <a:srgbClr val="554F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Review the high-level assessment of the learner's performance.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overview summarizes how the learner engaged Hamilton's framework across the major dimensions of the exercise."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Included to preserve the complete demo flow.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Instructor view: outcome achievement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22  /  09:25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Instructor view: outcome achievement at 09: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554F49"/>
          </a:solidFill>
          <a:ln>
            <a:solidFill>
              <a:srgbClr val="554F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Review each criterion, its status, and the supporting evidence.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table shows the agent's status assessment and the evidence used to reach that assessment."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Included to preserve the complete demo flow.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Instructor view: key moments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23  /  09:35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Instructor view: key moments at 09: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554F49"/>
          </a:solidFill>
          <a:ln>
            <a:solidFill>
              <a:srgbClr val="554F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Review key moments from the learner's conversation.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report identifies important exchanges that demonstrate the learner's reasoning and progress."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Included to preserve the complete demo flow.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Instructor view: reflection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24  /  09:45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Instructor view: reflection summary at 09: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554F49"/>
          </a:solidFill>
          <a:ln>
            <a:solidFill>
              <a:srgbClr val="554F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Review the reflection summary and outcome achievements.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report connects the learner's reflection to the outcome evidence gathered during the roleplay."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Included to preserve the complete demo flow.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0175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11E1B"/>
                </a:solidFill>
              </a:rPr>
              <a:t>Instructor view: full transcript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619488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E"/>
                </a:solidFill>
              </a:rPr>
              <a:t>25  /  09:55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8330184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blurRad="25400" dist="12700" dir="2700000" algn="bl" rotWithShape="0">
              <a:srgbClr val="5C5148">
                <a:alpha val="18000"/>
              </a:srgbClr>
            </a:outerShdw>
          </a:effectLst>
        </p:spPr>
      </p:sp>
      <p:pic>
        <p:nvPicPr>
          <p:cNvPr id="5" name="Image 0" descr="Instructor view: full transcript at 09: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8275320" cy="4655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088136"/>
            <a:ext cx="2898648" cy="470916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1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62288" y="1344168"/>
            <a:ext cx="969264" cy="256032"/>
          </a:xfrm>
          <a:prstGeom prst="rect">
            <a:avLst/>
          </a:prstGeom>
          <a:solidFill>
            <a:srgbClr val="554F49"/>
          </a:solidFill>
          <a:ln>
            <a:solidFill>
              <a:srgbClr val="554F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62288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62288" y="21762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03B37"/>
                </a:solidFill>
              </a:rPr>
              <a:t>Review the complete character and reflection-agent transcript.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228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E1B"/>
                </a:solidFill>
              </a:rPr>
              <a:t>Accompanying narration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2288" y="3785616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403B37"/>
                </a:solidFill>
              </a:rPr>
              <a:t>"The final section preserves the full conversation with both the Hamilton character and the reflection facilitator."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62288" y="5504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179"/>
                </a:solidFill>
              </a:rPr>
              <a:t>Included to preserve the complete demo flow.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1659</Words>
  <Application>Microsoft Office PowerPoint</Application>
  <PresentationFormat>Widescreen</PresentationFormat>
  <Paragraphs>272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roleplay and reflection</dc:title>
  <dc:subject>Generic solution click-through demonstration</dc:subject>
  <dc:creator>GitHub Copilot</dc:creator>
  <cp:keywords>LearningRoleplayAgent</cp:keywords>
  <dc:description>Customer branding generalized. Edited historical captures; results not rerun.</dc:description>
  <cp:lastModifiedBy>John Straumann</cp:lastModifiedBy>
  <cp:revision>6</cp:revision>
  <dcterms:created xsi:type="dcterms:W3CDTF">2026-09-02T19:00:08Z</dcterms:created>
  <dcterms:modified xsi:type="dcterms:W3CDTF">2026-10-28T13:23:27Z</dcterms:modified>
  <dc:identifier/>
</cp:coreProperties>
</file>