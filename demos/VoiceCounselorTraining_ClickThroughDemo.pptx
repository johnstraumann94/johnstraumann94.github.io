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4" r:id="rId2"/>
    <p:sldId id="265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Problem: Counselor trainees need realistic spoken practice with varied client personas and consistent, affordable feedback.</a:t>
            </a:r>
          </a:p>
          <a:p>
            <a:r>
              <a:t>Solution: Design a guarded voice roleplay, retain the transcript, then judge it asynchronously against a training rubric.</a:t>
            </a:r>
          </a:p>
          <a:p>
            <a:r>
              <a:t>Products: Azure AI Speech / Voice Live | Azure OpenAI | Batch API | Content Safety | Entra ID | Blob / Cosmos DB</a:t>
            </a:r>
          </a:p>
          <a:p>
            <a:r>
              <a:t>Evidence status: Architecture and directional cost briefing, not a running voice app. Live latency, dashboard implementation and deployment are not verified.</a:t>
            </a:r>
          </a:p>
          <a:p>
            <a:r>
              <a:t>Customer branding, organization labels and resource identifiers have been generalized. Screenshots are edited historical captures; no service results were rerun.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Architecture: [['Trainee browser', 'Spoken interaction'], ['Speech + persona', 'STT/TTS or realtime voice'], ['Transcript + judging', 'Storage + Batch API'], ['Training dashboard', 'Trainee / instructor review']]</a:t>
            </a:r>
          </a:p>
          <a:p>
            <a:r>
              <a:t>Boundary: All components are proposed. Hosting can use Container Apps/Functions; APIM, Key Vault and Monitor are supporting design options, not proven deployed services.</a:t>
            </a:r>
          </a:p>
          <a:p>
            <a:r>
              <a:t>This is a logical diagram, not a verified deployment inventory. Arrows show the conceptual information flow.</a:t>
            </a:r>
          </a:p>
          <a:p>
            <a:r>
              <a:t>Customer names, logos and resource identifiers in subsequent captured screens have been generalized. Service brands and the solution's core workflow remain.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— set the scene in ~30 seconds.
• Thank Mike Wolfe for the introduction and Cody's team for their time.
• Learning Center (Learning Design Center) is building AI Client Scenarios: trainee HIV counselors practice live, spoken mock-counseling sessions against realistic AI “client” personas, then get automated feedback.
• They're moving from planning into build and asked Microsoft for pre-development architecture and cost guidance — that's what this deck delivers.
• Frame the through-line for the whole session: realistic personas + natural voice + automated judging, engineered for the best possible price-per-conversation.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— confirm we heard their problem correctly before proposing anything.
• The opportunity: a live spoken sim where a trainee talks to an AI client persona; an AI judge then scores the transcript and returns structured feedback.
• Walk the desired outcomes on the left — scale, predictable cost/conversation, natural low-latency voice, consistent automated feedback, and reliable guardrails for a sensitive domain.
• The six challenge cards map directly to Cody and Mike's emails: cost at scale and best price-per-conversation were their #1 stated concerns; model selection, real-time latency, keeping the persona on-track, and the sensitive HIV-counseling domain round it out.
• Pause here and ask: “Did we capture this correctly? Anything to add?” Every following slide answers one of these cards.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— show one platform with four capabilities, each tied to an exact customer ask.
• Client personas → Azure AI Foundry Models. Default to GPT-4o-mini; escalate to GPT-4.1 only where realism demands it. Persona profiles live in Cosmos DB and are injected per scenario.
• Real-time voice → two patterns: composable Azure AI Speech (STT/TTS) for maximum cost control, or Voice Live / GPT-4o Realtime for lowest latency. We'll pick in the workshop.
• AI-as-a-judge → Azure OpenAI Batch API, ~50% cheaper. Feedback isn't latency-sensitive, so batch is a free win.
• Keep persona on-track → Content Safety Prompt Shields + a cheap guardian model running in parallel to steer off-track replies before they're voiced.
• Best price-per-conversation → right-sizing, batch, prompt caching, PTUs, and Cost Management telemetry — detailed on the economics slide.
• Note the footer: all of this sits on a standard scalable, secure Azure app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— walk the data path once, left to right, then the async branch.
• Trainee's browser streams audio over WebSocket through Front Door + API Management (Entra ID auth, quotas) into the Orchestration layer (Container Apps / Functions / Foundry Agent Service).
• Live loop: Real-time Voice (STT) → Persona Model (Azure AI Foundry, routed tier) → Live Guardrails (Content Safety + guardian) → TTS back to the trainee.
• Async branch: at session end the transcript goes to Blob, which triggers the AI-as-a-Judge Batch API job; scores land in Cosmos DB and surface on the Feedback Dashboard.
• Cross-cutting strip: Entra ID, Key Vault, Cost Management budgets, and App Insights telemetry for per-conversation token tracking.
• Key message: the persona, guardian, and judge are separate model calls, so each can be right-sized independently — that's the cost lever.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— answer Cody's core question: what's the price-per-conversation, and how do we minimize it?
• Lead with the three big numbers: ~$0.17 per 10-min session with a mini persona, ~50% off on judging via Batch API, and ~$1.7k/month at 10k sessions.
• The per-session table is the punchline: at the mini tier, VOICE (STT ~$0.08 + TTS ~$0.09) dominates — not the LLM tokens. That reframes where to optimize.
• Swapping to a premium persona (GPT-4.1 / GPT-4o) raises reasoning cost ~10–20× — still modest per session, but use it only where realism truly needs it.
• Walk the levers by impact: right-size the persona, batch the judging, cache static prompts, manage voice minutes, adopt PTUs at scale, and let telemetry drive tuning.
• STRESS the disclaimer: these are illustrative figures on representative list pricing — we'll firm them up in the cost-model step and the prototype.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— make the experience concrete by walking the three lanes.
• Lane A (live, real-time): sign in and pick a scenario → trainee speaks → STT feeds the persona → guardrail check → TTS voices the reply → loop until the session ends. Emphasize the guardrail check happens every turn, before audio is voiced.
• Lane B (batch, async): transcript to Blob triggers a Function → Batch API judge scores against the rubric → results persist to Cosmos DB → trainee/instructor dashboard. This is where the ~50% batch savings apply.
• Lane C (governance, ongoing): App Insights logs tokens and latency per session, surfaces the true price-per-conversation, and drives routing/caching/batch/PTU decisions.
• Tie-back: the live lane is latency-sensitive (optimize for speed), the batch lane is cost-sensitive (optimize for price), and the governance lane keeps both honest.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— close with a clear, low-risk path forward and secure the next meeting.
• Propose starting with an architecture workshop to lock the voice pattern (composable vs. integrated) and persona fidelity targets.
• Then a model bake-off (GPT-4o-mini vs. GPT-4.1) to set the routing policy on realism-vs-cost, feeding a concrete per-conversation cost model.
• De-risk with an end-to-end prototype of a single scenario (voice → persona → guardrail → batch judge) before any large build commitment.
• Include a Responsible AI review given the sensitive HIV-counseling domain — content safety, privacy, and data handling.
• ASK: agree on a date for the architecture workshop and identify who from Learning Center owns each next step. Confirm we keep Mike Wolfe in the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— give the room a concrete, low-risk demo plan they can picture before we build.
• This is a 15-minute, portal-only, NO-CODE demo — stress that it's directional since we don't have full specifics yet.
• Segment 1 (Model leaderboard) answers Cody's #1 ask: best price-per-conversation, using real cost/quality data to pick a model.
• Segment 2 (Chat playground persona) is the emotional peak — a believable 'client' from just a system prompt; mention voice is a fast follow.
• Segment 3 (Guardrails) proves persona policing: system prompt keeps it in character, Content Safety + Prompt Shields screen every turn.
• Segment 4 wraps by naming what we didn't click (real-time voice, Batch AI-as-a-judge at ~50% off) and asks for the architecture workshop.
• Full click-by-click script with the paste-ready persona prompt lives in Training_Foundry_15min_Demo.md.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D99A22"/>
                </a:solidFill>
                <a:latin typeface="Calibri"/>
              </a:defRPr>
            </a:pPr>
            <a:r>
              <a:t>GENERIC SOLUTION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3400" b="1">
                <a:solidFill>
                  <a:srgbClr val="FFFFFF"/>
                </a:solidFill>
                <a:latin typeface="Calibri"/>
              </a:defRPr>
            </a:pPr>
            <a:r>
              <a:t>Voice-based counselor training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2D39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D99A22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50749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Counselor trainees need realistic spoken practice with varied client personas and consistent, affordable feedback.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182880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2D39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28232" y="201168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D99A22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28232" y="2514600"/>
            <a:ext cx="50749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Design a guarded voice roleplay, retain the transcript, then judge it asynchronously against a training rubric.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7764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D99A22"/>
                </a:solidFill>
                <a:latin typeface="Calibri"/>
              </a:defRPr>
            </a:pPr>
            <a:r>
              <a:t>PRODUCTS AND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462272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2100" b="0">
                <a:solidFill>
                  <a:srgbClr val="FFFFFF"/>
                </a:solidFill>
                <a:latin typeface="Calibri"/>
              </a:defRPr>
            </a:pPr>
            <a:r>
              <a:t>Azure AI Speech / Voice Live | Azure OpenAI | Batch API | Content Safety | Entra ID | Blob / Cosmos DB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596128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D4DAE8"/>
                </a:solidFill>
                <a:latin typeface="Calibri"/>
              </a:defRPr>
            </a:pPr>
            <a:r>
              <a:t>Architecture and directional cost briefing, not a running voice app. Live latency, dashboard implementation and deployment are not verified.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06B65"/>
                </a:solidFill>
                <a:latin typeface="Calibri"/>
              </a:defRPr>
            </a:pPr>
            <a:r>
              <a:t>SOLUTION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3400" b="1">
                <a:solidFill>
                  <a:srgbClr val="182337"/>
                </a:solidFill>
                <a:latin typeface="Calibri"/>
              </a:defRPr>
            </a:pPr>
            <a:r>
              <a:t>How the solution fits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09928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06B65"/>
                </a:solidFill>
                <a:latin typeface="Calibri"/>
              </a:defRPr>
            </a:pPr>
            <a:r>
              <a:t>LOGICAL FLOW / REFERENCE 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2688336" cy="2377440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D99A22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36392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2100" b="1">
                <a:solidFill>
                  <a:srgbClr val="182337"/>
                </a:solidFill>
                <a:latin typeface="Calibri"/>
              </a:defRPr>
            </a:pPr>
            <a:r>
              <a:t>Trainee browser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82337"/>
                </a:solidFill>
                <a:latin typeface="Calibri"/>
              </a:defRPr>
            </a:pPr>
            <a:r>
              <a:t>Spoken interaction</a:t>
            </a:r>
          </a:p>
        </p:txBody>
      </p:sp>
      <p:sp>
        <p:nvSpPr>
          <p:cNvPr id="9" name="Chevron 8"/>
          <p:cNvSpPr/>
          <p:nvPr/>
        </p:nvSpPr>
        <p:spPr>
          <a:xfrm>
            <a:off x="3163824" y="3264408"/>
            <a:ext cx="137160" cy="320040"/>
          </a:xfrm>
          <a:prstGeom prst="chevron">
            <a:avLst/>
          </a:prstGeom>
          <a:solidFill>
            <a:srgbClr val="006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319272" y="2286000"/>
            <a:ext cx="2688336" cy="2377440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02152" y="246888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D99A22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2152" y="3136392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2100" b="1">
                <a:solidFill>
                  <a:srgbClr val="182337"/>
                </a:solidFill>
                <a:latin typeface="Calibri"/>
              </a:defRPr>
            </a:pPr>
            <a:r>
              <a:t>Speech + persona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2152" y="384048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82337"/>
                </a:solidFill>
                <a:latin typeface="Calibri"/>
              </a:defRPr>
            </a:pPr>
            <a:r>
              <a:t>STT/TTS or realtime voice</a:t>
            </a:r>
          </a:p>
        </p:txBody>
      </p:sp>
      <p:sp>
        <p:nvSpPr>
          <p:cNvPr id="14" name="Chevron 13"/>
          <p:cNvSpPr/>
          <p:nvPr/>
        </p:nvSpPr>
        <p:spPr>
          <a:xfrm>
            <a:off x="6025896" y="3264408"/>
            <a:ext cx="137160" cy="320040"/>
          </a:xfrm>
          <a:prstGeom prst="chevron">
            <a:avLst/>
          </a:prstGeom>
          <a:solidFill>
            <a:srgbClr val="006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181344" y="2286000"/>
            <a:ext cx="2688336" cy="2377440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64224" y="246888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D99A22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3136392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2100" b="1">
                <a:solidFill>
                  <a:srgbClr val="182337"/>
                </a:solidFill>
                <a:latin typeface="Calibri"/>
              </a:defRPr>
            </a:pPr>
            <a:r>
              <a:t>Transcript + judging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384048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82337"/>
                </a:solidFill>
                <a:latin typeface="Calibri"/>
              </a:defRPr>
            </a:pPr>
            <a:r>
              <a:t>Storage + Batch API</a:t>
            </a:r>
          </a:p>
        </p:txBody>
      </p:sp>
      <p:sp>
        <p:nvSpPr>
          <p:cNvPr id="19" name="Chevron 18"/>
          <p:cNvSpPr/>
          <p:nvPr/>
        </p:nvSpPr>
        <p:spPr>
          <a:xfrm>
            <a:off x="8887968" y="3264408"/>
            <a:ext cx="137160" cy="320040"/>
          </a:xfrm>
          <a:prstGeom prst="chevron">
            <a:avLst/>
          </a:prstGeom>
          <a:solidFill>
            <a:srgbClr val="006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043416" y="2286000"/>
            <a:ext cx="2688336" cy="2377440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26296" y="246888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D99A22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26296" y="3136392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2100" b="1">
                <a:solidFill>
                  <a:srgbClr val="182337"/>
                </a:solidFill>
                <a:latin typeface="Calibri"/>
              </a:defRPr>
            </a:pPr>
            <a:r>
              <a:t>Training 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26296" y="384048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82337"/>
                </a:solidFill>
                <a:latin typeface="Calibri"/>
              </a:defRPr>
            </a:pPr>
            <a:r>
              <a:t>Trainee / instructor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074920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82337"/>
                </a:solidFill>
                <a:latin typeface="Calibri"/>
              </a:defRPr>
            </a:pPr>
            <a:r>
              <a:t>All components are proposed. Hosting can use Container Apps/Functions; APIM, Key Vault and Monitor are supporting design options, not proven deployed services.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272784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526176"/>
                </a:solidFill>
                <a:latin typeface="Calibri"/>
              </a:defRPr>
            </a:pPr>
            <a:r>
              <a:t>Generic labels and edited screenshots | Historical results are illustrative, not rerun</a:t>
            </a:r>
          </a:p>
        </p:txBody>
      </p:sp>
      <p:sp>
        <p:nvSpPr>
          <p:cNvPr id="26" name="TextBox 25">
            <a:hlinkClick r:id="rId3" action="ppaction://hlinksldjump"/>
          </p:cNvPr>
          <p:cNvSpPr txBox="1"/>
          <p:nvPr/>
        </p:nvSpPr>
        <p:spPr>
          <a:xfrm>
            <a:off x="10378440" y="623620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06B65"/>
                </a:solidFill>
                <a:latin typeface="Calibri"/>
              </a:defRPr>
            </a:pPr>
            <a:r>
              <a:t>START TOUR &gt;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82F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5A2230"/>
          </a:solidFill>
          <a:ln/>
        </p:spPr>
      </p:sp>
      <p:sp>
        <p:nvSpPr>
          <p:cNvPr id="3" name="Shape 1"/>
          <p:cNvSpPr/>
          <p:nvPr/>
        </p:nvSpPr>
        <p:spPr>
          <a:xfrm>
            <a:off x="4206240" y="0"/>
            <a:ext cx="91440" cy="6858000"/>
          </a:xfrm>
          <a:prstGeom prst="rect">
            <a:avLst/>
          </a:prstGeom>
          <a:solidFill>
            <a:srgbClr val="CEB88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EB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 ×  Training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53949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Learning Design Center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393192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Staci Mildenberger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AI Specialist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Straumann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Engineer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09160" y="196596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Example State" pitchFamily="34" charset="0"/>
                <a:ea typeface="Example State" pitchFamily="34" charset="-122"/>
                <a:cs typeface="Example State" pitchFamily="34" charset="-120"/>
              </a:rPr>
              <a:t>AI Client Scenarios on Azure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709160" y="352044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HIV counselors with AI-driven, voice-based counseling simulations and automated feedback — a scalable, cost-efficient Azure &amp; Azure AI blueprint.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709160" y="3383280"/>
            <a:ext cx="1463040" cy="45720"/>
          </a:xfrm>
          <a:prstGeom prst="rect">
            <a:avLst/>
          </a:prstGeom>
          <a:solidFill>
            <a:srgbClr val="CEB888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32688"/>
          </a:xfrm>
          <a:prstGeom prst="rect">
            <a:avLst/>
          </a:prstGeom>
          <a:solidFill>
            <a:srgbClr val="782F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12161520" cy="54864"/>
          </a:xfrm>
          <a:prstGeom prst="rect">
            <a:avLst/>
          </a:prstGeom>
          <a:solidFill>
            <a:srgbClr val="CEB88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801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EB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ENGAGEMENT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Example State" pitchFamily="34" charset="0"/>
                <a:ea typeface="Example State" pitchFamily="34" charset="-122"/>
                <a:cs typeface="Example State" pitchFamily="34" charset="-120"/>
              </a:rPr>
              <a:t>The Opportunity &amp; Challenges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782F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536192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Center is building AI-driven, spoken mock-counseling simulations to train HIV counselors. A trainee speaks live with a realistic AI “client” persona; after the session an AI judge scores the transcript and returns structured feedback.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880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782F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DESIRED OUTCOMES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3182112"/>
            <a:ext cx="5394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Azure architecture for live simulations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Minimized, predictable cost per conversation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Natural, low-latency spoken interaction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Consistent, automated trainee feedback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guardrails; safe for a sensitive domain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72200" y="1234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782F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CHALLENGES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1536192"/>
            <a:ext cx="269748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4DECF"/>
            </a:solidFill>
            <a:prstDash val="solid"/>
          </a:ln>
          <a:effectLst>
            <a:outerShdw blurRad="635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1536192"/>
            <a:ext cx="73152" cy="1051560"/>
          </a:xfrm>
          <a:prstGeom prst="rect">
            <a:avLst/>
          </a:prstGeom>
          <a:solidFill>
            <a:srgbClr val="CEB888"/>
          </a:solidFill>
          <a:ln/>
        </p:spPr>
      </p:sp>
      <p:sp>
        <p:nvSpPr>
          <p:cNvPr id="13" name="Text 11"/>
          <p:cNvSpPr/>
          <p:nvPr/>
        </p:nvSpPr>
        <p:spPr>
          <a:xfrm>
            <a:off x="6373368" y="16642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82F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at scale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373368" y="195681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Token-intensive across voice, persona &amp; judging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942832" y="1536192"/>
            <a:ext cx="269748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4DECF"/>
            </a:solidFill>
            <a:prstDash val="solid"/>
          </a:ln>
          <a:effectLst>
            <a:outerShdw blurRad="635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942832" y="1536192"/>
            <a:ext cx="73152" cy="1051560"/>
          </a:xfrm>
          <a:prstGeom prst="rect">
            <a:avLst/>
          </a:prstGeom>
          <a:solidFill>
            <a:srgbClr val="CEB888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0" y="16642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82F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Price-per-conversation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144000" y="195681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models + Azure cost-saving features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2770632"/>
            <a:ext cx="269748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4DECF"/>
            </a:solidFill>
            <a:prstDash val="solid"/>
          </a:ln>
          <a:effectLst>
            <a:outerShdw blurRad="635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72200" y="2770632"/>
            <a:ext cx="73152" cy="1051560"/>
          </a:xfrm>
          <a:prstGeom prst="rect">
            <a:avLst/>
          </a:prstGeom>
          <a:solidFill>
            <a:srgbClr val="CEB888"/>
          </a:solidFill>
          <a:ln/>
        </p:spPr>
      </p:sp>
      <p:sp>
        <p:nvSpPr>
          <p:cNvPr id="21" name="Text 19"/>
          <p:cNvSpPr/>
          <p:nvPr/>
        </p:nvSpPr>
        <p:spPr>
          <a:xfrm>
            <a:off x="6373368" y="28986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82F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selection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373368" y="319125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model tier to each workload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942832" y="2770632"/>
            <a:ext cx="269748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4DECF"/>
            </a:solidFill>
            <a:prstDash val="solid"/>
          </a:ln>
          <a:effectLst>
            <a:outerShdw blurRad="635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942832" y="2770632"/>
            <a:ext cx="73152" cy="1051560"/>
          </a:xfrm>
          <a:prstGeom prst="rect">
            <a:avLst/>
          </a:prstGeom>
          <a:solidFill>
            <a:srgbClr val="CEB888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0" y="28986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82F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latency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144000" y="319125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spoken STT ↔ LLM ↔ TTS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72200" y="4005072"/>
            <a:ext cx="269748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4DECF"/>
            </a:solidFill>
            <a:prstDash val="solid"/>
          </a:ln>
          <a:effectLst>
            <a:outerShdw blurRad="635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72200" y="4005072"/>
            <a:ext cx="73152" cy="1051560"/>
          </a:xfrm>
          <a:prstGeom prst="rect">
            <a:avLst/>
          </a:prstGeom>
          <a:solidFill>
            <a:srgbClr val="CEB888"/>
          </a:solidFill>
          <a:ln/>
        </p:spPr>
      </p:sp>
      <p:sp>
        <p:nvSpPr>
          <p:cNvPr id="29" name="Text 27"/>
          <p:cNvSpPr/>
          <p:nvPr/>
        </p:nvSpPr>
        <p:spPr>
          <a:xfrm>
            <a:off x="6373368" y="41330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82F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on-track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373368" y="442569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in character &amp; on-topic live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942832" y="4005072"/>
            <a:ext cx="269748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4DECF"/>
            </a:solidFill>
            <a:prstDash val="solid"/>
          </a:ln>
          <a:effectLst>
            <a:outerShdw blurRad="635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942832" y="4005072"/>
            <a:ext cx="73152" cy="1051560"/>
          </a:xfrm>
          <a:prstGeom prst="rect">
            <a:avLst/>
          </a:prstGeom>
          <a:solidFill>
            <a:srgbClr val="CEB888"/>
          </a:solidFill>
          <a:ln/>
        </p:spPr>
      </p:sp>
      <p:sp>
        <p:nvSpPr>
          <p:cNvPr id="33" name="Text 31"/>
          <p:cNvSpPr/>
          <p:nvPr/>
        </p:nvSpPr>
        <p:spPr>
          <a:xfrm>
            <a:off x="9144000" y="41330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82F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 domain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9144000" y="442569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safety, privacy, responsible AI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02920" y="65379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· Learning Design Center  —  AI Client Scenarios on Azure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1430000" y="65196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32688"/>
          </a:xfrm>
          <a:prstGeom prst="rect">
            <a:avLst/>
          </a:prstGeom>
          <a:solidFill>
            <a:srgbClr val="782F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12161520" cy="54864"/>
          </a:xfrm>
          <a:prstGeom prst="rect">
            <a:avLst/>
          </a:prstGeom>
          <a:solidFill>
            <a:srgbClr val="CEB88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801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EB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Example State" pitchFamily="34" charset="0"/>
                <a:ea typeface="Example State" pitchFamily="34" charset="-122"/>
                <a:cs typeface="Example State" pitchFamily="34" charset="-120"/>
              </a:rPr>
              <a:t>One Azure Platform — Mapped to Each Customer Ask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11155680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 Ask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2F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Azure Product &amp; Deployment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2F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Benefit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2F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782F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personas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AI Foundry Models — GPT-4o-mini default, GPT-4.1 for fidelity; serverless endpoint, persona profiles in Cosmos 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Realistic, reusable, cost-routed personas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782F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voice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AI Speech (STT/TTS) or Voice Live / GPT-4o Realtime over WebSockets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Natural, low-latency spoken interaction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782F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AI-as-a-judge feedback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OpenAI Batch API (~50% off) via Functions; rubric scoring on session transcripts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Consistent, objective, low-cost scoring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782F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persona on-track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AI Content Safety (Prompt Shields) + guardian model (GPT-4o-mini) in parallel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In-character, on-topic, safe sessions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782F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price-per-conversation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right-sizing · Batch API · prompt caching · PTUs · Cost Management telemetry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Predictable, minimized cost at scale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617220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Underpinned by scale &amp; security: Container Apps · API Management · Entra ID · Cosmos DB · Blob Storage · Key Vault · App Insights.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65379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· Learning Design Center  —  AI Client Scenarios on Azure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430000" y="65196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32688"/>
          </a:xfrm>
          <a:prstGeom prst="rect">
            <a:avLst/>
          </a:prstGeom>
          <a:solidFill>
            <a:srgbClr val="782F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12161520" cy="54864"/>
          </a:xfrm>
          <a:prstGeom prst="rect">
            <a:avLst/>
          </a:prstGeom>
          <a:solidFill>
            <a:srgbClr val="CEB88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801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EB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Example State" pitchFamily="34" charset="0"/>
                <a:ea typeface="Example State" pitchFamily="34" charset="-122"/>
                <a:cs typeface="Example State" pitchFamily="34" charset="-120"/>
              </a:rPr>
              <a:t>Reference Architecture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2286000" cy="868680"/>
          </a:xfrm>
          <a:prstGeom prst="rect">
            <a:avLst/>
          </a:prstGeom>
          <a:solidFill>
            <a:srgbClr val="1E2A44"/>
          </a:solidFill>
          <a:ln w="9525">
            <a:solidFill>
              <a:srgbClr val="E4DECF"/>
            </a:solidFill>
            <a:prstDash val="solid"/>
          </a:ln>
          <a:effectLst>
            <a:outerShdw blurRad="635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30936" y="1325880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30936" y="1636776"/>
            <a:ext cx="202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/ app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 ◄─audio─► speaker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377440"/>
            <a:ext cx="22860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ECF"/>
            </a:solidFill>
            <a:prstDash val="solid"/>
          </a:ln>
          <a:effectLst>
            <a:outerShdw blurRad="635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2377440"/>
            <a:ext cx="2286000" cy="73152"/>
          </a:xfrm>
          <a:prstGeom prst="rect">
            <a:avLst/>
          </a:prstGeom>
          <a:solidFill>
            <a:srgbClr val="CEB888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" y="2523744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82F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 Door + APIM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0936" y="2834640"/>
            <a:ext cx="202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Gateway, quotas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 auth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520440" y="1783080"/>
            <a:ext cx="2468880" cy="1143000"/>
          </a:xfrm>
          <a:prstGeom prst="rect">
            <a:avLst/>
          </a:prstGeom>
          <a:solidFill>
            <a:srgbClr val="782F40"/>
          </a:solidFill>
          <a:ln w="9525">
            <a:solidFill>
              <a:srgbClr val="E4DECF"/>
            </a:solidFill>
            <a:prstDash val="solid"/>
          </a:ln>
          <a:effectLst>
            <a:outerShdw blurRad="635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48456" y="1874520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648456" y="2185416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Apps /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/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Agent Service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611880"/>
            <a:ext cx="22860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4DECF"/>
            </a:solidFill>
            <a:prstDash val="solid"/>
          </a:ln>
          <a:effectLst>
            <a:outerShdw blurRad="635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3611880"/>
            <a:ext cx="228600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" y="3758184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Voice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30936" y="4069080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Speech STT/TTS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Voice Live /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Realtime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20840" y="1783080"/>
            <a:ext cx="24688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ECF"/>
            </a:solidFill>
            <a:prstDash val="solid"/>
          </a:ln>
          <a:effectLst>
            <a:outerShdw blurRad="635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20840" y="1783080"/>
            <a:ext cx="2468880" cy="73152"/>
          </a:xfrm>
          <a:prstGeom prst="rect">
            <a:avLst/>
          </a:prstGeom>
          <a:solidFill>
            <a:srgbClr val="CEB888"/>
          </a:solidFill>
          <a:ln/>
        </p:spPr>
      </p:sp>
      <p:sp>
        <p:nvSpPr>
          <p:cNvPr id="22" name="Text 20"/>
          <p:cNvSpPr/>
          <p:nvPr/>
        </p:nvSpPr>
        <p:spPr>
          <a:xfrm>
            <a:off x="6848856" y="1929384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82F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Model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848856" y="2240280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Foundry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 / GPT-4o-mini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(routed by scenario)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20840" y="3200400"/>
            <a:ext cx="24688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4DECF"/>
            </a:solidFill>
            <a:prstDash val="solid"/>
          </a:ln>
          <a:effectLst>
            <a:outerShdw blurRad="635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720840" y="3200400"/>
            <a:ext cx="2468880" cy="7315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6" name="Text 24"/>
          <p:cNvSpPr/>
          <p:nvPr/>
        </p:nvSpPr>
        <p:spPr>
          <a:xfrm>
            <a:off x="6848856" y="3346704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Guardrails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848856" y="365760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Safety +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guardian model (mini)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464040" y="1783080"/>
            <a:ext cx="219456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ECF"/>
            </a:solidFill>
            <a:prstDash val="solid"/>
          </a:ln>
          <a:effectLst>
            <a:outerShdw blurRad="635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464040" y="1783080"/>
            <a:ext cx="2194560" cy="731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0" name="Text 28"/>
          <p:cNvSpPr/>
          <p:nvPr/>
        </p:nvSpPr>
        <p:spPr>
          <a:xfrm>
            <a:off x="9592056" y="1929384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AI-as-a-Judge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592056" y="2240280"/>
            <a:ext cx="1938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API (~50%)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scoring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464040" y="3200400"/>
            <a:ext cx="21945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4DECF"/>
            </a:solidFill>
            <a:prstDash val="solid"/>
          </a:ln>
          <a:effectLst>
            <a:outerShdw blurRad="635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464040" y="3200400"/>
            <a:ext cx="2194560" cy="73152"/>
          </a:xfrm>
          <a:prstGeom prst="rect">
            <a:avLst/>
          </a:prstGeom>
          <a:solidFill>
            <a:srgbClr val="1E2A44"/>
          </a:solidFill>
          <a:ln/>
        </p:spPr>
      </p:sp>
      <p:sp>
        <p:nvSpPr>
          <p:cNvPr id="34" name="Text 32"/>
          <p:cNvSpPr/>
          <p:nvPr/>
        </p:nvSpPr>
        <p:spPr>
          <a:xfrm>
            <a:off x="9592056" y="3346704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592056" y="365760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Cosmos DB · Blob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personas, scores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464040" y="4480560"/>
            <a:ext cx="21945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4DECF"/>
            </a:solidFill>
            <a:prstDash val="solid"/>
          </a:ln>
          <a:effectLst>
            <a:outerShdw blurRad="635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9464040" y="4480560"/>
            <a:ext cx="2194560" cy="73152"/>
          </a:xfrm>
          <a:prstGeom prst="rect">
            <a:avLst/>
          </a:prstGeom>
          <a:solidFill>
            <a:srgbClr val="CEB888"/>
          </a:solidFill>
          <a:ln/>
        </p:spPr>
      </p:sp>
      <p:sp>
        <p:nvSpPr>
          <p:cNvPr id="38" name="Text 36"/>
          <p:cNvSpPr/>
          <p:nvPr/>
        </p:nvSpPr>
        <p:spPr>
          <a:xfrm>
            <a:off x="9592056" y="4626864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82F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Dashboard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9592056" y="493776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Trainee / instructor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88920" y="1664208"/>
            <a:ext cx="731520" cy="393192"/>
          </a:xfrm>
          <a:prstGeom prst="line">
            <a:avLst/>
          </a:prstGeom>
          <a:noFill/>
          <a:ln w="25400">
            <a:solidFill>
              <a:srgbClr val="782F40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1645920" y="2103120"/>
            <a:ext cx="0" cy="274320"/>
          </a:xfrm>
          <a:prstGeom prst="line">
            <a:avLst/>
          </a:prstGeom>
          <a:noFill/>
          <a:ln w="25400">
            <a:solidFill>
              <a:srgbClr val="782F40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 flipV="1">
            <a:off x="2788920" y="2606040"/>
            <a:ext cx="731520" cy="182880"/>
          </a:xfrm>
          <a:prstGeom prst="line">
            <a:avLst/>
          </a:prstGeom>
          <a:noFill/>
          <a:ln w="25400">
            <a:solidFill>
              <a:srgbClr val="782F40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 flipV="1">
            <a:off x="2788920" y="2926080"/>
            <a:ext cx="731520" cy="114300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5989320" y="2331720"/>
            <a:ext cx="731520" cy="0"/>
          </a:xfrm>
          <a:prstGeom prst="line">
            <a:avLst/>
          </a:prstGeom>
          <a:noFill/>
          <a:ln w="25400">
            <a:solidFill>
              <a:srgbClr val="782F40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7955280" y="2926080"/>
            <a:ext cx="0" cy="27432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9189720" y="2331720"/>
            <a:ext cx="274320" cy="0"/>
          </a:xfrm>
          <a:prstGeom prst="line">
            <a:avLst/>
          </a:prstGeom>
          <a:noFill/>
          <a:ln w="25400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10561320" y="2926080"/>
            <a:ext cx="0" cy="274320"/>
          </a:xfrm>
          <a:prstGeom prst="line">
            <a:avLst/>
          </a:prstGeom>
          <a:noFill/>
          <a:ln w="25400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10561320" y="4206240"/>
            <a:ext cx="0" cy="274320"/>
          </a:xfrm>
          <a:prstGeom prst="line">
            <a:avLst/>
          </a:prstGeom>
          <a:noFill/>
          <a:ln w="25400">
            <a:solidFill>
              <a:srgbClr val="1E2A44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502920" y="5806440"/>
            <a:ext cx="11155680" cy="548640"/>
          </a:xfrm>
          <a:prstGeom prst="rect">
            <a:avLst/>
          </a:prstGeom>
          <a:solidFill>
            <a:srgbClr val="EFE9DF"/>
          </a:solidFill>
          <a:ln/>
        </p:spPr>
      </p:sp>
      <p:sp>
        <p:nvSpPr>
          <p:cNvPr id="50" name="Text 48"/>
          <p:cNvSpPr/>
          <p:nvPr/>
        </p:nvSpPr>
        <p:spPr>
          <a:xfrm>
            <a:off x="731520" y="58064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82F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CROSS-CUTTING   </a:t>
            </a: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Entra ID · Key Vault · Cost Management (budgets) · App Insights / Monitor (per-conversation token telemetry)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02920" y="65379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· Learning Design Center  —  AI Client Scenarios on Azure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11430000" y="65196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32688"/>
          </a:xfrm>
          <a:prstGeom prst="rect">
            <a:avLst/>
          </a:prstGeom>
          <a:solidFill>
            <a:srgbClr val="782F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12161520" cy="54864"/>
          </a:xfrm>
          <a:prstGeom prst="rect">
            <a:avLst/>
          </a:prstGeom>
          <a:solidFill>
            <a:srgbClr val="CEB88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801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EB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Example State" pitchFamily="34" charset="0"/>
                <a:ea typeface="Example State" pitchFamily="34" charset="-122"/>
                <a:cs typeface="Example State" pitchFamily="34" charset="-120"/>
              </a:rPr>
              <a:t>Rough Cost Model — Price per Conversation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3566160" cy="1234440"/>
          </a:xfrm>
          <a:prstGeom prst="rect">
            <a:avLst/>
          </a:prstGeom>
          <a:solidFill>
            <a:srgbClr val="1E2A44"/>
          </a:solidFill>
          <a:ln/>
          <a:effectLst>
            <a:outerShdw blurRad="635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234440"/>
            <a:ext cx="82296" cy="1234440"/>
          </a:xfrm>
          <a:prstGeom prst="rect">
            <a:avLst/>
          </a:prstGeom>
          <a:solidFill>
            <a:srgbClr val="CEB88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3716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Example State" pitchFamily="34" charset="0"/>
                <a:ea typeface="Example State" pitchFamily="34" charset="-122"/>
                <a:cs typeface="Example State" pitchFamily="34" charset="-120"/>
              </a:rPr>
              <a:t>~$0.17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95528" y="19019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10-min session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95528" y="21579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persona (composable)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97680" y="1234440"/>
            <a:ext cx="3566160" cy="1234440"/>
          </a:xfrm>
          <a:prstGeom prst="rect">
            <a:avLst/>
          </a:prstGeom>
          <a:solidFill>
            <a:srgbClr val="2C5F2D"/>
          </a:solidFill>
          <a:ln/>
          <a:effectLst>
            <a:outerShdw blurRad="635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97680" y="1234440"/>
            <a:ext cx="82296" cy="1234440"/>
          </a:xfrm>
          <a:prstGeom prst="rect">
            <a:avLst/>
          </a:prstGeom>
          <a:solidFill>
            <a:srgbClr val="CEB888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3716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Example State" pitchFamily="34" charset="0"/>
                <a:ea typeface="Example State" pitchFamily="34" charset="-122"/>
                <a:cs typeface="Example State" pitchFamily="34" charset="-120"/>
              </a:rPr>
              <a:t>~50%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590288" y="19019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on judging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90288" y="21579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Batch API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92440" y="1234440"/>
            <a:ext cx="3566160" cy="1234440"/>
          </a:xfrm>
          <a:prstGeom prst="rect">
            <a:avLst/>
          </a:prstGeom>
          <a:solidFill>
            <a:srgbClr val="782F40"/>
          </a:solidFill>
          <a:ln/>
          <a:effectLst>
            <a:outerShdw blurRad="635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92440" y="1234440"/>
            <a:ext cx="82296" cy="1234440"/>
          </a:xfrm>
          <a:prstGeom prst="rect">
            <a:avLst/>
          </a:prstGeom>
          <a:solidFill>
            <a:srgbClr val="CEB888"/>
          </a:solidFill>
          <a:ln/>
        </p:spPr>
      </p:sp>
      <p:sp>
        <p:nvSpPr>
          <p:cNvPr id="18" name="Text 16"/>
          <p:cNvSpPr/>
          <p:nvPr/>
        </p:nvSpPr>
        <p:spPr>
          <a:xfrm>
            <a:off x="8366760" y="13716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Example State" pitchFamily="34" charset="0"/>
                <a:ea typeface="Example State" pitchFamily="34" charset="-122"/>
                <a:cs typeface="Example State" pitchFamily="34" charset="-120"/>
              </a:rPr>
              <a:t>~$1.7k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8385048" y="19019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 @ 10k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85048" y="21579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/ month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2743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782F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INDICATIVE COST PER SESSION</a:t>
            </a:r>
            <a:endParaRPr lang="en-US" sz="1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063240"/>
          <a:ext cx="553212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2F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/ basis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2F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~$/session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2F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 reasoning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GPT-4o-mini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Guardian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GPT-4o-mini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Speech-to-text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AI Speech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Text-to-speech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Neural TTS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AI-as-a-judge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GPT-4o-mini (Batch)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782F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(composable)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 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782F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$0.17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6355080" y="2743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782F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COST-SAVING LEVERS (BY IMPACT)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355080" y="3108960"/>
            <a:ext cx="5303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 the persona model — mini default, escalate per scenario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API for judging — ~50% off, latency-insensitive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caching — reuse static persona/system prompts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voice minutes — STT/TTS dominate at mini tier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PTUs at scale — flat, predictable real-time pricing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Telemetry-driven tuning — true price-per-conversation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02920" y="598932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figures using representative Azure list pricing — validate against current pricing and a prototype. Voice dominates at the mini tier; premium personas raise reasoning cost ~10–20×.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02920" y="65379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· Learning Design Center  —  AI Client Scenarios on Azure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11430000" y="65196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32688"/>
          </a:xfrm>
          <a:prstGeom prst="rect">
            <a:avLst/>
          </a:prstGeom>
          <a:solidFill>
            <a:srgbClr val="782F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12161520" cy="54864"/>
          </a:xfrm>
          <a:prstGeom prst="rect">
            <a:avLst/>
          </a:prstGeom>
          <a:solidFill>
            <a:srgbClr val="CEB88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801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EB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Example State" pitchFamily="34" charset="0"/>
                <a:ea typeface="Example State" pitchFamily="34" charset="-122"/>
                <a:cs typeface="Example State" pitchFamily="34" charset="-120"/>
              </a:rPr>
              <a:t>End-to-End Process Flow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1155680" cy="31089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3444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LIVE MOCK-COUNSELING SESSION (REAL-TIME)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655064"/>
            <a:ext cx="209946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4DECF"/>
            </a:solidFill>
            <a:prstDash val="solid"/>
          </a:ln>
          <a:effectLst>
            <a:outerShdw blurRad="635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2648" y="1764792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1764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2648" y="2112264"/>
            <a:ext cx="18800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(Entra ID) &amp; select scenario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611526" y="2130552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766974" y="1655064"/>
            <a:ext cx="209946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4DECF"/>
            </a:solidFill>
            <a:prstDash val="solid"/>
          </a:ln>
          <a:effectLst>
            <a:outerShdw blurRad="635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876702" y="1764792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2876702" y="1764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76702" y="2112264"/>
            <a:ext cx="18800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Trainee speaks — audio over WebSocket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75581" y="2130552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031029" y="1655064"/>
            <a:ext cx="209946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4DECF"/>
            </a:solidFill>
            <a:prstDash val="solid"/>
          </a:ln>
          <a:effectLst>
            <a:outerShdw blurRad="635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140757" y="1764792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5140757" y="1764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40757" y="2112264"/>
            <a:ext cx="18800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 → persona model reasons in character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139635" y="2130552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295083" y="1655064"/>
            <a:ext cx="209946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4DECF"/>
            </a:solidFill>
            <a:prstDash val="solid"/>
          </a:ln>
          <a:effectLst>
            <a:outerShdw blurRad="635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404811" y="1764792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7404811" y="1764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404811" y="2112264"/>
            <a:ext cx="18800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check (Content Safety + guardian)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403690" y="2130552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559138" y="1655064"/>
            <a:ext cx="209946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4DECF"/>
            </a:solidFill>
            <a:prstDash val="solid"/>
          </a:ln>
          <a:effectLst>
            <a:outerShdw blurRad="635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668866" y="1764792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9668866" y="1764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668866" y="2112264"/>
            <a:ext cx="18800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 voices reply → loop until session ends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02920" y="3246120"/>
            <a:ext cx="11155680" cy="31089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324612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POST-SESSION FEEDBACK (BATCH / ASYNC)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02920" y="3666744"/>
            <a:ext cx="2665476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4DECF"/>
            </a:solidFill>
            <a:prstDash val="solid"/>
          </a:ln>
          <a:effectLst>
            <a:outerShdw blurRad="635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2648" y="3776472"/>
            <a:ext cx="310896" cy="31089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6" name="Text 34"/>
          <p:cNvSpPr/>
          <p:nvPr/>
        </p:nvSpPr>
        <p:spPr>
          <a:xfrm>
            <a:off x="612648" y="3776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12648" y="4123944"/>
            <a:ext cx="24460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→ Blob; Event Grid triggers Function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177540" y="4142232"/>
            <a:ext cx="146304" cy="0"/>
          </a:xfrm>
          <a:prstGeom prst="line">
            <a:avLst/>
          </a:prstGeom>
          <a:noFill/>
          <a:ln w="22225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3332988" y="3666744"/>
            <a:ext cx="2665476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4DECF"/>
            </a:solidFill>
            <a:prstDash val="solid"/>
          </a:ln>
          <a:effectLst>
            <a:outerShdw blurRad="635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442716" y="3776472"/>
            <a:ext cx="310896" cy="31089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41" name="Text 39"/>
          <p:cNvSpPr/>
          <p:nvPr/>
        </p:nvSpPr>
        <p:spPr>
          <a:xfrm>
            <a:off x="3442716" y="3776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442716" y="4123944"/>
            <a:ext cx="24460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API judge scores against rubric (~50% cost)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007608" y="4142232"/>
            <a:ext cx="146304" cy="0"/>
          </a:xfrm>
          <a:prstGeom prst="line">
            <a:avLst/>
          </a:prstGeom>
          <a:noFill/>
          <a:ln w="22225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6163056" y="3666744"/>
            <a:ext cx="2665476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4DECF"/>
            </a:solidFill>
            <a:prstDash val="solid"/>
          </a:ln>
          <a:effectLst>
            <a:outerShdw blurRad="635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272784" y="3776472"/>
            <a:ext cx="310896" cy="31089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46" name="Text 44"/>
          <p:cNvSpPr/>
          <p:nvPr/>
        </p:nvSpPr>
        <p:spPr>
          <a:xfrm>
            <a:off x="6272784" y="3776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272784" y="4123944"/>
            <a:ext cx="24460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+ feedback persisted to Cosmos DB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8837676" y="4142232"/>
            <a:ext cx="146304" cy="0"/>
          </a:xfrm>
          <a:prstGeom prst="line">
            <a:avLst/>
          </a:prstGeom>
          <a:noFill/>
          <a:ln w="22225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8993124" y="3666744"/>
            <a:ext cx="2665476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4DECF"/>
            </a:solidFill>
            <a:prstDash val="solid"/>
          </a:ln>
          <a:effectLst>
            <a:outerShdw blurRad="635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9102852" y="3776472"/>
            <a:ext cx="310896" cy="31089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1" name="Text 49"/>
          <p:cNvSpPr/>
          <p:nvPr/>
        </p:nvSpPr>
        <p:spPr>
          <a:xfrm>
            <a:off x="9102852" y="3776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9102852" y="4123944"/>
            <a:ext cx="24460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Trainee / instructor dashboard displays results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02920" y="4937760"/>
            <a:ext cx="11155680" cy="31089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4" name="Text 52"/>
          <p:cNvSpPr/>
          <p:nvPr/>
        </p:nvSpPr>
        <p:spPr>
          <a:xfrm>
            <a:off x="640080" y="493776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CONTINUOUS COST &amp; QUALITY GOVERNANCE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502920" y="5358384"/>
            <a:ext cx="360883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4DECF"/>
            </a:solidFill>
            <a:prstDash val="solid"/>
          </a:ln>
          <a:effectLst>
            <a:outerShdw blurRad="635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612648" y="5468112"/>
            <a:ext cx="310896" cy="31089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57" name="Text 55"/>
          <p:cNvSpPr/>
          <p:nvPr/>
        </p:nvSpPr>
        <p:spPr>
          <a:xfrm>
            <a:off x="612648" y="5468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612648" y="5815584"/>
            <a:ext cx="3389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Insights logs tokens &amp; latency per session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120896" y="5833872"/>
            <a:ext cx="146304" cy="0"/>
          </a:xfrm>
          <a:prstGeom prst="line">
            <a:avLst/>
          </a:prstGeom>
          <a:noFill/>
          <a:ln w="22225">
            <a:solidFill>
              <a:srgbClr val="B85042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4276344" y="5358384"/>
            <a:ext cx="360883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4DECF"/>
            </a:solidFill>
            <a:prstDash val="solid"/>
          </a:ln>
          <a:effectLst>
            <a:outerShdw blurRad="635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4386072" y="5468112"/>
            <a:ext cx="310896" cy="31089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2" name="Text 60"/>
          <p:cNvSpPr/>
          <p:nvPr/>
        </p:nvSpPr>
        <p:spPr>
          <a:xfrm>
            <a:off x="4386072" y="5468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4386072" y="5815584"/>
            <a:ext cx="3389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price-per-conversation surfaced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7894320" y="5833872"/>
            <a:ext cx="146304" cy="0"/>
          </a:xfrm>
          <a:prstGeom prst="line">
            <a:avLst/>
          </a:prstGeom>
          <a:noFill/>
          <a:ln w="22225">
            <a:solidFill>
              <a:srgbClr val="B85042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8049768" y="5358384"/>
            <a:ext cx="360883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4DECF"/>
            </a:solidFill>
            <a:prstDash val="solid"/>
          </a:ln>
          <a:effectLst>
            <a:outerShdw blurRad="635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8159496" y="5468112"/>
            <a:ext cx="310896" cy="31089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7" name="Text 65"/>
          <p:cNvSpPr/>
          <p:nvPr/>
        </p:nvSpPr>
        <p:spPr>
          <a:xfrm>
            <a:off x="8159496" y="5468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8159496" y="5815584"/>
            <a:ext cx="3389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+ caching + batch + PTUs keep cost lean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502920" y="65379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· Learning Design Center  —  AI Client Scenarios on Azure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11430000" y="65196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782F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CEB8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EB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NEXT STEPS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Example State" pitchFamily="34" charset="0"/>
                <a:ea typeface="Example State" pitchFamily="34" charset="-122"/>
                <a:cs typeface="Example State" pitchFamily="34" charset="-120"/>
              </a:rPr>
              <a:t>From Blueprint to Prototype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CEB88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82F40"/>
                </a:solidFill>
                <a:latin typeface="Example State" pitchFamily="34" charset="0"/>
                <a:ea typeface="Example State" pitchFamily="34" charset="-122"/>
                <a:cs typeface="Example State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00200" y="198424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workshop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2295144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voice pattern (composable vs. integrated) and persona fidelity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2752344"/>
            <a:ext cx="548640" cy="548640"/>
          </a:xfrm>
          <a:prstGeom prst="ellipse">
            <a:avLst/>
          </a:prstGeom>
          <a:solidFill>
            <a:srgbClr val="CEB88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7523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82F40"/>
                </a:solidFill>
                <a:latin typeface="Example State" pitchFamily="34" charset="0"/>
                <a:ea typeface="Example State" pitchFamily="34" charset="-122"/>
                <a:cs typeface="Example State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00200" y="277063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bake-off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00200" y="3081528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vs. GPT-4.1 on realism vs. cost; set routing policy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3538728"/>
            <a:ext cx="548640" cy="548640"/>
          </a:xfrm>
          <a:prstGeom prst="ellipse">
            <a:avLst/>
          </a:prstGeom>
          <a:solidFill>
            <a:srgbClr val="CEB888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538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82F40"/>
                </a:solidFill>
                <a:latin typeface="Example State" pitchFamily="34" charset="0"/>
                <a:ea typeface="Example State" pitchFamily="34" charset="-122"/>
                <a:cs typeface="Example State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00200" y="355701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model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00200" y="386791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Per-conversation estimate; batch, caching &amp; PTU break-even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" y="4325112"/>
            <a:ext cx="548640" cy="548640"/>
          </a:xfrm>
          <a:prstGeom prst="ellipse">
            <a:avLst/>
          </a:prstGeom>
          <a:solidFill>
            <a:srgbClr val="CEB888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325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82F40"/>
                </a:solidFill>
                <a:latin typeface="Example State" pitchFamily="34" charset="0"/>
                <a:ea typeface="Example State" pitchFamily="34" charset="-122"/>
                <a:cs typeface="Example State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600200" y="434340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prototype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00200" y="4654296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scenario: voice → persona → guardrail → batch judge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22960" y="5111496"/>
            <a:ext cx="548640" cy="548640"/>
          </a:xfrm>
          <a:prstGeom prst="ellipse">
            <a:avLst/>
          </a:prstGeom>
          <a:solidFill>
            <a:srgbClr val="CEB888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51114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82F40"/>
                </a:solidFill>
                <a:latin typeface="Example State" pitchFamily="34" charset="0"/>
                <a:ea typeface="Example State" pitchFamily="34" charset="-122"/>
                <a:cs typeface="Example State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600200" y="512978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Responsible AI review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00200" y="5440680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safety, privacy &amp; data handling for a sensitive domain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6172200"/>
            <a:ext cx="10972800" cy="18288"/>
          </a:xfrm>
          <a:prstGeom prst="rect">
            <a:avLst/>
          </a:prstGeom>
          <a:solidFill>
            <a:srgbClr val="B9A06A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Microsoft: Staci Mildenberger (Cloud &amp; AI Specialist) · John Straumann (Solution Engineer)   |   Illustrative figures — validate with current pricing &amp; a prototype.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32688"/>
          </a:xfrm>
          <a:prstGeom prst="rect">
            <a:avLst/>
          </a:prstGeom>
          <a:solidFill>
            <a:srgbClr val="782F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12161520" cy="54864"/>
          </a:xfrm>
          <a:prstGeom prst="rect">
            <a:avLst/>
          </a:prstGeom>
          <a:solidFill>
            <a:srgbClr val="CEB88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801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EB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IT WORK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Example State" pitchFamily="34" charset="0"/>
                <a:ea typeface="Example State" pitchFamily="34" charset="-122"/>
                <a:cs typeface="Example State" pitchFamily="34" charset="-120"/>
              </a:rPr>
              <a:t>15-Minute Azure AI Foundry Demo — Run of Show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Portal-only, no-code walkthrough proving three of Learning Center's asks. Directional, not the build — every step maps to a workshop follow-up.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269748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ECF"/>
            </a:solidFill>
            <a:prstDash val="solid"/>
          </a:ln>
          <a:effectLst>
            <a:outerShdw blurRad="635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691640"/>
            <a:ext cx="2697480" cy="6583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Shape 7"/>
          <p:cNvSpPr/>
          <p:nvPr/>
        </p:nvSpPr>
        <p:spPr>
          <a:xfrm>
            <a:off x="649224" y="1837944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" y="1837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  <a:latin typeface="Example State" pitchFamily="34" charset="0"/>
                <a:ea typeface="Example State" pitchFamily="34" charset="-122"/>
                <a:cs typeface="Example State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69848" y="18196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0:00–3:30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69848" y="20208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leaderboard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" y="2478024"/>
            <a:ext cx="2368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67512" y="2660904"/>
            <a:ext cx="23682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catalog → Leaderboard → Quality-vs-Cost trade-off → Compare gpt-4o-mini vs. gpt-4o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67512" y="3977640"/>
            <a:ext cx="2368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SEES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67512" y="4160520"/>
            <a:ext cx="23682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95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Sees: models ranked by quality, safety, latency &amp; cost side-by-side.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67512" y="4983480"/>
            <a:ext cx="2368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67512" y="5166360"/>
            <a:ext cx="2368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782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“best price-per-conversation” with data — pick the cheapest fit-for-purpose model.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319272" y="1691640"/>
            <a:ext cx="269748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ECF"/>
            </a:solidFill>
            <a:prstDash val="solid"/>
          </a:ln>
          <a:effectLst>
            <a:outerShdw blurRad="635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19272" y="1691640"/>
            <a:ext cx="2697480" cy="658368"/>
          </a:xfrm>
          <a:prstGeom prst="rect">
            <a:avLst/>
          </a:prstGeom>
          <a:solidFill>
            <a:srgbClr val="782F40"/>
          </a:solidFill>
          <a:ln/>
        </p:spPr>
      </p:sp>
      <p:sp>
        <p:nvSpPr>
          <p:cNvPr id="21" name="Shape 19"/>
          <p:cNvSpPr/>
          <p:nvPr/>
        </p:nvSpPr>
        <p:spPr>
          <a:xfrm>
            <a:off x="3465576" y="1837944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3465576" y="1837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82F40"/>
                </a:solidFill>
                <a:latin typeface="Example State" pitchFamily="34" charset="0"/>
                <a:ea typeface="Example State" pitchFamily="34" charset="-122"/>
                <a:cs typeface="Example State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886200" y="18196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3:30–9:30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886200" y="20208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in Chat playground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83864" y="2478024"/>
            <a:ext cx="2368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782F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483864" y="2660904"/>
            <a:ext cx="23682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Playgrounds → Chat → select gpt-4o-mini → paste persona system prompt → role-play the counselor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483864" y="3977640"/>
            <a:ext cx="2368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782F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SEES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83864" y="4160520"/>
            <a:ext cx="23682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95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Sees: a live, in-character “client” (Jordan) responding naturally.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483864" y="4983480"/>
            <a:ext cx="2368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782F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483864" y="5166360"/>
            <a:ext cx="2368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782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training persona from a prompt — no code; a scenario library is a content task.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135624" y="1691640"/>
            <a:ext cx="269748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ECF"/>
            </a:solidFill>
            <a:prstDash val="solid"/>
          </a:ln>
          <a:effectLst>
            <a:outerShdw blurRad="635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35624" y="1691640"/>
            <a:ext cx="2697480" cy="65836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3" name="Shape 31"/>
          <p:cNvSpPr/>
          <p:nvPr/>
        </p:nvSpPr>
        <p:spPr>
          <a:xfrm>
            <a:off x="6281928" y="1837944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6281928" y="1837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85042"/>
                </a:solidFill>
                <a:latin typeface="Example State" pitchFamily="34" charset="0"/>
                <a:ea typeface="Example State" pitchFamily="34" charset="-122"/>
                <a:cs typeface="Example State" pitchFamily="34" charset="-120"/>
              </a:rPr>
              <a:t>3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702552" y="18196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9:30–13:00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702552" y="20208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 &amp; policing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00216" y="2478024"/>
            <a:ext cx="2368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300216" y="2660904"/>
            <a:ext cx="23682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jailbreak line → persona stays in role → open Guardrails + controls (content filters, Prompt Shields)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300216" y="3977640"/>
            <a:ext cx="2368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SEES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300216" y="4160520"/>
            <a:ext cx="23682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95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Sees: persona refusing to break character + a configurable safety layer.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300216" y="4983480"/>
            <a:ext cx="2368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300216" y="5166360"/>
            <a:ext cx="2368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782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persona on-track &amp; safe — essential for a sensitive counseling domain.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951976" y="1691640"/>
            <a:ext cx="269748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ECF"/>
            </a:solidFill>
            <a:prstDash val="solid"/>
          </a:ln>
          <a:effectLst>
            <a:outerShdw blurRad="635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951976" y="1691640"/>
            <a:ext cx="2697480" cy="65836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5" name="Shape 43"/>
          <p:cNvSpPr/>
          <p:nvPr/>
        </p:nvSpPr>
        <p:spPr>
          <a:xfrm>
            <a:off x="9098280" y="1837944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9098280" y="1837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5F2D"/>
                </a:solidFill>
                <a:latin typeface="Example State" pitchFamily="34" charset="0"/>
                <a:ea typeface="Example State" pitchFamily="34" charset="-122"/>
                <a:cs typeface="Example State" pitchFamily="34" charset="-120"/>
              </a:rPr>
              <a:t>4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518904" y="18196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13:00–15:00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518904" y="20208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 &amp; next step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116568" y="2478024"/>
            <a:ext cx="2368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9116568" y="2660904"/>
            <a:ext cx="23682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over the playground: mention voice (Speech / Voice Live) &amp; AI-as-a-judge (Batch, ~50% off)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9116568" y="3977640"/>
            <a:ext cx="2368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SEES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9116568" y="4160520"/>
            <a:ext cx="23682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95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Sees: the full vision + what's a fast follow.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9116568" y="4983480"/>
            <a:ext cx="2368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9116568" y="5166360"/>
            <a:ext cx="2368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782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the architecture workshop — voice pattern, model bake-off, cost estimate.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02920" y="65379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· Learning Design Center  —  AI Client Scenarios on Azure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11430000" y="65196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2946</Words>
  <Application>Microsoft Office PowerPoint</Application>
  <PresentationFormat>Widescreen</PresentationFormat>
  <Paragraphs>276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Example State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Voice-based counselor training</dc:title>
  <dc:subject>Generic solution click-through demonstration</dc:subject>
  <dc:creator>Microsoft — Staci Mildenberger, John Straumann</dc:creator>
  <cp:keywords>VoiceCounselorTraining</cp:keywords>
  <dc:description>Customer branding generalized. Edited historical captures; results not rerun.</dc:description>
  <cp:lastModifiedBy>John Straumann</cp:lastModifiedBy>
  <cp:revision>2</cp:revision>
  <dcterms:created xsi:type="dcterms:W3CDTF">2026-07-08T11:24:19Z</dcterms:created>
  <dcterms:modified xsi:type="dcterms:W3CDTF">2026-10-28T13:25:55Z</dcterms:modified>
  <dc:identifier/>
</cp:coreProperties>
</file>