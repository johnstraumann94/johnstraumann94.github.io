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306" r:id="rId2"/>
    <p:sldId id="307" r:id="rId3"/>
    <p:sldId id="286" r:id="rId4"/>
    <p:sldId id="291" r:id="rId5"/>
    <p:sldId id="294" r:id="rId6"/>
    <p:sldId id="295" r:id="rId7"/>
    <p:sldId id="296" r:id="rId8"/>
    <p:sldId id="258" r:id="rId9"/>
    <p:sldId id="280" r:id="rId10"/>
    <p:sldId id="282" r:id="rId11"/>
    <p:sldId id="283" r:id="rId12"/>
    <p:sldId id="297" r:id="rId13"/>
    <p:sldId id="257" r:id="rId14"/>
    <p:sldId id="298" r:id="rId15"/>
    <p:sldId id="299" r:id="rId16"/>
    <p:sldId id="300" r:id="rId17"/>
    <p:sldId id="30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5500"/>
    <a:srgbClr val="0030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7" autoAdjust="0"/>
    <p:restoredTop sz="63837" autoAdjust="0"/>
  </p:normalViewPr>
  <p:slideViewPr>
    <p:cSldViewPr snapToGrid="0">
      <p:cViewPr varScale="1">
        <p:scale>
          <a:sx n="94" d="100"/>
          <a:sy n="94" d="100"/>
        </p:scale>
        <p:origin x="15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6795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Problem: Long case PDFs leave investigators re-keying facts and searching manually for evidence.</a:t>
            </a:r>
          </a:p>
          <a:p>
            <a:r>
              <a:t>Solution: Select records and fields, analyze the documents, and inspect structured results before any downstream handoff.</a:t>
            </a:r>
          </a:p>
          <a:p>
            <a:r>
              <a:t>Products: Azure AI Document Intelligence | Azure OpenAI GPT-4.1 | Azure AI Search | Blob Storage | Logic Apps</a:t>
            </a:r>
          </a:p>
          <a:p>
            <a:r>
              <a:t>Evidence status: Captured: document/field selection and extraction results. Excel and registry automation are described, not shown executing. Hosting and deployment are not verified.</a:t>
            </a:r>
          </a:p>
          <a:p>
            <a:r>
              <a:t>Customer branding, organization labels and resource identifiers have been generalized. Screenshots are edited historical captures; no service results were rerun.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Architecture: [['Analyst web UI', 'Choose PDFs and fields'], ['Document Intelligence', 'OCR and layout extraction'], ['Azure OpenAI + Search', 'Interpret and retrieve facts'], ['Review + export', 'Human verification']]</a:t>
            </a:r>
          </a:p>
          <a:p>
            <a:r>
              <a:t>Boundary: Reference design includes Blob and Logic Apps. Excel/registry automation is a proposed extension; source diagrams differ on App Service versus Static Web Apps.</a:t>
            </a:r>
          </a:p>
          <a:p>
            <a:r>
              <a:t>This is a logical diagram, not a verified deployment inventory. Arrows show the conceptual information flow.</a:t>
            </a:r>
          </a:p>
          <a:p>
            <a:r>
              <a:t>Customer names, logos and resource identifiers in subsequent captured screens have been generalized. Service brands and the solution's core workflow remain.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🔍 Challenges of the Manual Process</a:t>
            </a: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1. Time &amp; Throughput Constraints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Reviewing </a:t>
            </a:r>
            <a:r>
              <a:rPr lang="en-US" b="1" dirty="0">
                <a:solidFill>
                  <a:schemeClr val="bg1"/>
                </a:solidFill>
              </a:rPr>
              <a:t>100-page documents manually</a:t>
            </a:r>
            <a:r>
              <a:rPr lang="en-US" dirty="0">
                <a:solidFill>
                  <a:schemeClr val="bg1"/>
                </a:solidFill>
              </a:rPr>
              <a:t> is inherently slow (often 1–3 hours per document depending on complexity).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Data entry into Excel adds additional overhead (15–30+ minutes per document).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Re-keying data again into </a:t>
            </a:r>
            <a:r>
              <a:rPr lang="en-US" b="1" dirty="0">
                <a:solidFill>
                  <a:schemeClr val="bg1"/>
                </a:solidFill>
              </a:rPr>
              <a:t>NamUs</a:t>
            </a:r>
            <a:r>
              <a:rPr lang="en-US" dirty="0">
                <a:solidFill>
                  <a:schemeClr val="bg1"/>
                </a:solidFill>
              </a:rPr>
              <a:t> creates duplication of effort.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Overall throughput is severely limited → </a:t>
            </a:r>
            <a:r>
              <a:rPr lang="en-US" b="1" dirty="0">
                <a:solidFill>
                  <a:schemeClr val="bg1"/>
                </a:solidFill>
              </a:rPr>
              <a:t>case backlog grows continuously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Result: Investigators spend more time processing data than analyzing it.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2. Human Error &amp; Data Quality Risks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Manual extraction leads to: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Missed fields (especially buried in long reports)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Misinterpretation of ambiguous language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Typographical errors during entry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Re-entry into multiple systems compounds error probability.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Inconsistent formatting across documents leads to </a:t>
            </a:r>
            <a:r>
              <a:rPr lang="en-US" b="1" dirty="0">
                <a:solidFill>
                  <a:schemeClr val="bg1"/>
                </a:solidFill>
              </a:rPr>
              <a:t>non-standardized data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Result: Poor data quality reduces effectiveness of downstream analysis and matching.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3. Cognitive Load &amp; Fatigue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Reviewing long, repetitive documents causes: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Attention degradation over time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Increased likelihood of missing critical clues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Investigators must context-switch between: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Reading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Extracting data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Entering into Excel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Navigating external systems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Result: Mental fatigue → lower accuracy and slower decision-making.</a:t>
            </a:r>
          </a:p>
          <a:p>
            <a:pPr>
              <a:buNone/>
            </a:pP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4. Lack of Searchability &amp; Insight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Data locked in documents 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Not easily searchable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Not cross-referenced across cases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Excel files become static repositories rather than intelligence tools.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Result: Investigators cannot easily identify patterns, trends, or connections across cases.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5. Inefficient System Interaction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Manual navigation of the NAMUS system: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Repetitive form entry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 automation of workflows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 integration between document data and system inputs.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Result: High friction in moving from </a:t>
            </a:r>
            <a:r>
              <a:rPr lang="en-US" b="1" dirty="0">
                <a:solidFill>
                  <a:schemeClr val="bg1"/>
                </a:solidFill>
              </a:rPr>
              <a:t>data → action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77AF66-25C1-49DF-9289-13DE181EB25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37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⚡ Benefits of the Automated Solution</a:t>
            </a: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1. Massive Time Savings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Azure Document Intelligence</a:t>
            </a:r>
            <a:r>
              <a:rPr lang="en-US" dirty="0">
                <a:solidFill>
                  <a:schemeClr val="bg1"/>
                </a:solidFill>
              </a:rPr>
              <a:t> automatically extracts structured data from long documents.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Azure OpenAI Service</a:t>
            </a:r>
            <a:r>
              <a:rPr lang="en-US" dirty="0">
                <a:solidFill>
                  <a:schemeClr val="bg1"/>
                </a:solidFill>
              </a:rPr>
              <a:t> interprets context and normalizes outputs.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End-to-end processing reduced from </a:t>
            </a:r>
            <a:r>
              <a:rPr lang="en-US" b="1" dirty="0">
                <a:solidFill>
                  <a:schemeClr val="bg1"/>
                </a:solidFill>
              </a:rPr>
              <a:t>hours → minutes per document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Investigators can process </a:t>
            </a:r>
            <a:r>
              <a:rPr lang="en-US" b="1" dirty="0">
                <a:solidFill>
                  <a:schemeClr val="bg1"/>
                </a:solidFill>
              </a:rPr>
              <a:t>10–20x more cases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>
              <a:buNone/>
            </a:pPr>
            <a:br>
              <a:rPr lang="en-US" dirty="0">
                <a:solidFill>
                  <a:schemeClr val="bg1"/>
                </a:solidFill>
              </a:rPr>
            </a:br>
            <a:endParaRPr lang="en-US" i="1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i="1" dirty="0">
                <a:solidFill>
                  <a:schemeClr val="bg1"/>
                </a:solidFill>
              </a:rPr>
              <a:t>2. Improved Accuracy &amp; Consistency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bg1"/>
                </a:solidFill>
              </a:rPr>
              <a:t>AI-driven extraction ensures: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Standardized field mapping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Reduced human transcription errors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Validation logic and structured outputs improve data quality.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More reliable data → better case matching and analytics.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3. Intelligent Search &amp; Retrieval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Azure AI Search</a:t>
            </a:r>
            <a:r>
              <a:rPr lang="en-US" dirty="0">
                <a:solidFill>
                  <a:schemeClr val="bg1"/>
                </a:solidFill>
              </a:rPr>
              <a:t> enables: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Full-text search across all processed documents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Semantic search (finding meaning, not just keywords)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Investigators can instantly locate relevant cases, patterns, or entities.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Faster discovery of connections between cases.</a:t>
            </a:r>
          </a:p>
          <a:p>
            <a:pPr>
              <a:buNone/>
            </a:pP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4. End-to-End Automation of Workflows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Microsoft Power Automate</a:t>
            </a:r>
            <a:r>
              <a:rPr lang="en-US" dirty="0">
                <a:solidFill>
                  <a:schemeClr val="bg1"/>
                </a:solidFill>
              </a:rPr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Automatically populates Excel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Eliminates manual data entry steps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Desktop automation: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Interacts directly with NAMUS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Submits extracted data without manual input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Removes repetitive administrative work entirely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5. Natural Language Interaction with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Microsoft Copilot Studio</a:t>
            </a:r>
            <a:r>
              <a:rPr lang="en-US" dirty="0">
                <a:solidFill>
                  <a:schemeClr val="bg1"/>
                </a:solidFill>
              </a:rPr>
              <a:t> enables: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Conversational queries like: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“Show me cases with similar physical descriptions”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“Find reports mentioning specific locations or conditions”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Grounded in customer data → accurate, context-aware responses.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Democratizes access to insights for all users.</a:t>
            </a:r>
          </a:p>
          <a:p>
            <a:pPr>
              <a:buNone/>
            </a:pP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6. Scalability &amp; Continuous Improvement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System improves over time: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Better extraction models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Expanded data coverage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Can handle increasing document volume without adding staff. 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Impact: Future-proof solution for growing case loads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77AF66-25C1-49DF-9289-13DE181EB25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898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750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30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A66FF-5496-B9E3-1BF1-76104C9767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3C62E6-865B-80BB-3DB8-0774D09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476E0-1E09-F856-1121-C1C5FAA22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55E05-7B14-1339-A327-D76BE9B8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56EC4-B44A-EFCE-4678-FEFAF7FE7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18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EF1FD-1F3B-2C13-99C8-FAC3FDB84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685D7-D54B-631E-B915-8E0345662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6D06C2-C851-EE2C-4035-0EFF70170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3F2E4-5E3F-A7D3-627F-DA1B0BBD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19E0F-18D8-56EF-0C0A-D8A9F3DB7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09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9B7FA-BCB7-4122-3AAB-F58E3933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66FA1C-083D-6E6B-0D95-6C73FC2B7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50702-0F4E-6C38-7D55-653D02C6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A86F8-24D4-5EE6-331E-B506AA203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5D745-8A5C-481F-2CB4-F157950DF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70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0678D-BC85-E5A4-56CA-0D1942221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354D1-D440-C0B0-44E3-845BAEFE64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E1136-1B60-E9EE-DB05-49668CEAA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9B16F4-087E-400A-F0E5-CFEE942D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03CF4-7798-6E6A-5DE3-2AC2C847F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8684DB-3E72-1713-E5A2-4B1D1DDD2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62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0635-F53B-7710-0F18-A9054120C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A5B3E-5DAD-EC0F-1700-451665EEB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A3FFC-4C60-46B4-491B-3C69A5C04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0FA17B-3D44-7220-5F67-18701BF336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FDB50D-EFDC-5927-35CC-F8FF4620E1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2CACBE-E1A9-2974-0A3A-39DADB3B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AA75F5-8491-51AD-E4FC-8A4FAA6B4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00EB2B-D5D1-1C6D-796C-905E0246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549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E3CFE-108E-4445-6E9F-7EFFA7725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A86C22-8641-1F4A-A1F2-B04C37CD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01E29F-54B3-8DC2-1377-1DFB95A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5AE66-7F59-360D-A089-E932CCEF7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787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DBEBB5-8F5F-3B08-758D-9F33B3226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D60701-36FA-AF6C-115D-9D6166807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4EFBF-1668-4705-7A4A-BC6AFA55C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255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4FF1-E1C2-2F6D-218D-DF1990A29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566F8-F5E5-B7A2-B2F8-FE8FC8483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F1FA6-42B3-BFE6-7860-AFEB71219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FF167-DD02-733B-04B8-02EB67119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41611-4925-87A6-DD5E-329BD5EE9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75790-F0E3-ADC2-3C45-CB15F135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26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75063-D952-11DF-79C6-F39A20E23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EBAF79-185F-B8A1-52FB-49D55AD57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6F09FE-B8A6-80DF-B4E8-EECF301F3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6549CA-2251-2586-C124-EAC93064C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A595C-A3ED-4121-06EC-E8A354F3E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92E675-2CA8-ACEA-1467-A00509A90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9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2DAA8-00BC-679D-F1D4-17F721A82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A36FD5-D5C8-C04D-C5EB-1DC200FDF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46186-D315-3DE2-25F3-3903B036D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9BEE8-B22B-21BE-EDA6-A1ACFA96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47028-ADF9-F684-72E7-62BE2E777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626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453A18-4370-CD1D-BC7F-A8AB20FCC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8E7725-51E8-E147-9C65-518731F65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75C8F-AD57-B3D4-7F12-B62468E9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9CD5E-08ED-4017-2F7B-339E5BA22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BC6A4-A9EB-1247-0DEC-0B239D366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74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C675E-21BB-A07B-6998-3B0BA8DCA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E1A7-C8E7-D195-94F4-2257A73DB4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08BA1-8449-99C5-2DD9-323FC943A5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BE1F32-F38F-456D-9F23-3E1F4AB93CA6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D3BC7-F769-3959-7D77-8572927521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328C5-6FC4-368C-4777-C2D702B47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7E946-5C43-412A-B240-5854D5B56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864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A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D99A22"/>
                </a:solidFill>
                <a:latin typeface="Calibri"/>
              </a:defRPr>
            </a:pPr>
            <a:r>
              <a:t>GENERIC SOLUTION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Case document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D39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9A22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50749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Long case PDFs leave investigators re-keying facts and searching manually for evidence.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828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D39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201168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9A22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514600"/>
            <a:ext cx="50749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Select records and fields, analyze the documents, and inspect structured results before any downstream handoff.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9A22"/>
                </a:solidFill>
                <a:latin typeface="Calibri"/>
              </a:defRPr>
            </a:pPr>
            <a:r>
              <a:t>PRODUCTS AND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62272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FFFFFF"/>
                </a:solidFill>
                <a:latin typeface="Calibri"/>
              </a:defRPr>
            </a:pPr>
            <a:r>
              <a:t>Azure AI Document Intelligence | Azure OpenAI GPT-4.1 | Azure AI Search | Blob Storage | Logic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96128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4DAE8"/>
                </a:solidFill>
                <a:latin typeface="Calibri"/>
              </a:defRPr>
            </a:pPr>
            <a:r>
              <a:t>Captured: document/field selection and extraction results. Excel and registry automation are described, not shown executing. Hosting and deployment are not verified.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6B65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82337"/>
                </a:solidFill>
                <a:latin typeface="Calibri"/>
              </a:defRPr>
            </a:pPr>
            <a:r>
              <a:t>How the solution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099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6B65"/>
                </a:solidFill>
                <a:latin typeface="Calibri"/>
              </a:defRPr>
            </a:pPr>
            <a:r>
              <a:t>LOGICAL FLOW / REFERENCE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688336" cy="23774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D99A22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3639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82337"/>
                </a:solidFill>
                <a:latin typeface="Calibri"/>
              </a:defRPr>
            </a:pPr>
            <a:r>
              <a:t>Analyst web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82337"/>
                </a:solidFill>
                <a:latin typeface="Calibri"/>
              </a:defRPr>
            </a:pPr>
            <a:r>
              <a:t>Choose PDFs and fields</a:t>
            </a:r>
          </a:p>
        </p:txBody>
      </p:sp>
      <p:sp>
        <p:nvSpPr>
          <p:cNvPr id="9" name="Chevron 8"/>
          <p:cNvSpPr/>
          <p:nvPr/>
        </p:nvSpPr>
        <p:spPr>
          <a:xfrm>
            <a:off x="3163824" y="3264408"/>
            <a:ext cx="137160" cy="320040"/>
          </a:xfrm>
          <a:prstGeom prst="chevron">
            <a:avLst/>
          </a:prstGeom>
          <a:solidFill>
            <a:srgbClr val="006B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2286000"/>
            <a:ext cx="2688336" cy="23774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02152" y="24688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D99A22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313639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82337"/>
                </a:solidFill>
                <a:latin typeface="Calibri"/>
              </a:defRPr>
            </a:pPr>
            <a:r>
              <a:t>Document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38404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82337"/>
                </a:solidFill>
                <a:latin typeface="Calibri"/>
              </a:defRPr>
            </a:pPr>
            <a:r>
              <a:t>OCR and layout extraction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6025896" y="3264408"/>
            <a:ext cx="137160" cy="320040"/>
          </a:xfrm>
          <a:prstGeom prst="chevron">
            <a:avLst/>
          </a:prstGeom>
          <a:solidFill>
            <a:srgbClr val="006B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81344" y="2286000"/>
            <a:ext cx="2688336" cy="23774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64224" y="24688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D99A22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313639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82337"/>
                </a:solidFill>
                <a:latin typeface="Calibri"/>
              </a:defRPr>
            </a:pPr>
            <a:r>
              <a:t>Azure OpenAI +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8404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82337"/>
                </a:solidFill>
                <a:latin typeface="Calibri"/>
              </a:defRPr>
            </a:pPr>
            <a:r>
              <a:t>Interpret and retrieve facts</a:t>
            </a:r>
          </a:p>
        </p:txBody>
      </p:sp>
      <p:sp>
        <p:nvSpPr>
          <p:cNvPr id="19" name="Chevron 18"/>
          <p:cNvSpPr/>
          <p:nvPr/>
        </p:nvSpPr>
        <p:spPr>
          <a:xfrm>
            <a:off x="8887968" y="3264408"/>
            <a:ext cx="137160" cy="320040"/>
          </a:xfrm>
          <a:prstGeom prst="chevron">
            <a:avLst/>
          </a:prstGeom>
          <a:solidFill>
            <a:srgbClr val="006B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43416" y="2286000"/>
            <a:ext cx="2688336" cy="23774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26296" y="24688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D99A22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3136392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82337"/>
                </a:solidFill>
                <a:latin typeface="Calibri"/>
              </a:defRPr>
            </a:pPr>
            <a:r>
              <a:t>Review +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38404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82337"/>
                </a:solidFill>
                <a:latin typeface="Calibri"/>
              </a:defRPr>
            </a:pPr>
            <a:r>
              <a:t>Human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7492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337"/>
                </a:solidFill>
                <a:latin typeface="Calibri"/>
              </a:defRPr>
            </a:pPr>
            <a:r>
              <a:t>Reference design includes Blob and Logic Apps. Excel/registry automation is a proposed extension; source diagrams differ on App Service versus Static Web Apps.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72784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526176"/>
                </a:solidFill>
                <a:latin typeface="Calibri"/>
              </a:defRPr>
            </a:pPr>
            <a:r>
              <a:t>Generic labels and edited screenshots | Historical results are illustrative, not rerun</a:t>
            </a:r>
          </a:p>
        </p:txBody>
      </p:sp>
      <p:sp>
        <p:nvSpPr>
          <p:cNvPr id="26" name="TextBox 25">
            <a:hlinkClick r:id="rId3" action="ppaction://hlinksldjump"/>
          </p:cNvPr>
          <p:cNvSpPr txBox="1"/>
          <p:nvPr/>
        </p:nvSpPr>
        <p:spPr>
          <a:xfrm>
            <a:off x="10378440" y="623620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6B65"/>
                </a:solidFill>
                <a:latin typeface="Calibri"/>
              </a:defRPr>
            </a:pPr>
            <a:r>
              <a:t>START TOUR 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129D-82EA-730A-CDC3-BECA5F862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5D16B3-159A-B5C1-6E53-6039DEE0E50E}"/>
              </a:ext>
            </a:extLst>
          </p:cNvPr>
          <p:cNvSpPr txBox="1"/>
          <p:nvPr/>
        </p:nvSpPr>
        <p:spPr>
          <a:xfrm>
            <a:off x="342627" y="268979"/>
            <a:ext cx="11270253" cy="6647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🔍 Challenges of the Manual Process</a:t>
            </a: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1. Time &amp; Throughput Constraints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Result: Investigators spend more time processing data than analyzing it.</a:t>
            </a:r>
          </a:p>
          <a:p>
            <a:pPr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2. Human Error &amp; Data Quality Risks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Result: Poor data quality reduces effectiveness of downstream analysis and matching.</a:t>
            </a:r>
          </a:p>
          <a:p>
            <a:pPr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3. Cognitive Load &amp; Fatigue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Result: Mental fatigue → lower accuracy and slower decision-making.</a:t>
            </a:r>
          </a:p>
          <a:p>
            <a:pPr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4. Lack of Searchability &amp; Insight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Result: Investigators cannot easily identify patterns, trends, or connections across cases.</a:t>
            </a:r>
          </a:p>
          <a:p>
            <a:pPr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5. Inefficient System Interaction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Result: High friction in moving from </a:t>
            </a:r>
            <a:r>
              <a:rPr lang="en-US" sz="2400" b="1" dirty="0">
                <a:solidFill>
                  <a:schemeClr val="bg1"/>
                </a:solidFill>
              </a:rPr>
              <a:t>data → action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787F5E-C457-B7A9-B066-C3AC253C0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46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D8AB-B2DC-5ADB-E37D-BF28141C1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6DFC57-ECD1-E583-E6C6-B031B57F5BCF}"/>
              </a:ext>
            </a:extLst>
          </p:cNvPr>
          <p:cNvSpPr txBox="1"/>
          <p:nvPr/>
        </p:nvSpPr>
        <p:spPr>
          <a:xfrm>
            <a:off x="26895" y="0"/>
            <a:ext cx="10841402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⚡ Benefits of the Automated Solution</a:t>
            </a:r>
          </a:p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1. Massive Time Savings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Investigators can process </a:t>
            </a:r>
            <a:r>
              <a:rPr lang="en-US" sz="2400" b="1" dirty="0">
                <a:solidFill>
                  <a:schemeClr val="bg1"/>
                </a:solidFill>
              </a:rPr>
              <a:t>10–20x more cases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>
              <a:buNone/>
            </a:pP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2. Improved Accuracy &amp; Consistency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More reliable data → better case matching and analytics.</a:t>
            </a:r>
          </a:p>
          <a:p>
            <a:pPr>
              <a:buNone/>
            </a:pPr>
            <a:br>
              <a:rPr lang="en-US" sz="2400" b="1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3. Intelligent Search &amp; Retrieval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Faster discovery of connections between cases.</a:t>
            </a:r>
          </a:p>
          <a:p>
            <a:pPr>
              <a:buNone/>
            </a:pP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4. End-to-End Automation of Workflows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Removes repetitive administrative work entirely</a:t>
            </a:r>
            <a:br>
              <a:rPr lang="en-US" sz="2400" dirty="0">
                <a:solidFill>
                  <a:schemeClr val="bg1"/>
                </a:solidFill>
              </a:rPr>
            </a:b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5. Natural Language Interaction with Data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Democratizes access to insights for all users.</a:t>
            </a:r>
          </a:p>
          <a:p>
            <a:pPr>
              <a:buNone/>
            </a:pP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6. Scalability &amp; Continuous Improvement</a:t>
            </a:r>
          </a:p>
          <a:p>
            <a:pPr>
              <a:buNone/>
            </a:pPr>
            <a:r>
              <a:rPr lang="en-US" sz="2400" dirty="0">
                <a:solidFill>
                  <a:schemeClr val="bg1"/>
                </a:solidFill>
              </a:rPr>
              <a:t>👉 Impact: Future-proof solution for growing case loads</a:t>
            </a:r>
            <a:r>
              <a:rPr lang="en-US" sz="2400" dirty="0"/>
              <a:t>.</a:t>
            </a:r>
          </a:p>
          <a:p>
            <a:pPr>
              <a:buNone/>
            </a:pPr>
            <a:r>
              <a:rPr lang="en-US" dirty="0"/>
              <a:t>.</a:t>
            </a:r>
          </a:p>
          <a:p>
            <a:pPr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F10C9-C3FE-B015-FF44-7AE381482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682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A9D9B-D4A5-6F9D-6FCD-B5D174EDA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1F7BE3D-2515-D578-96CD-46AC6339CCF5}"/>
              </a:ext>
            </a:extLst>
          </p:cNvPr>
          <p:cNvSpPr txBox="1"/>
          <p:nvPr/>
        </p:nvSpPr>
        <p:spPr>
          <a:xfrm>
            <a:off x="26895" y="163404"/>
            <a:ext cx="12165105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🎯 Alignment to the Ultimate Goal: Solving Cold Cases: How This Directly Helps Investigations</a:t>
            </a:r>
            <a:br>
              <a:rPr lang="en-US" sz="2000" b="1" dirty="0">
                <a:solidFill>
                  <a:schemeClr val="bg1"/>
                </a:solidFill>
              </a:rPr>
            </a:br>
            <a:endParaRPr lang="en-US" sz="2000" b="1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1. More Cases Processed</a:t>
            </a:r>
          </a:p>
          <a:p>
            <a:r>
              <a:rPr lang="en-US" sz="2000" dirty="0">
                <a:solidFill>
                  <a:schemeClr val="bg1"/>
                </a:solidFill>
              </a:rPr>
              <a:t>👉 Backlog reduction → more historical cases digitized and searchable </a:t>
            </a:r>
          </a:p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2. Better Pattern Recognition</a:t>
            </a:r>
          </a:p>
          <a:p>
            <a:r>
              <a:rPr lang="en-US" sz="2000" dirty="0">
                <a:solidFill>
                  <a:schemeClr val="bg1"/>
                </a:solidFill>
              </a:rPr>
              <a:t>👉 AI + search enables: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Cross-case comparisons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Identification of similarities that humans may miss </a:t>
            </a:r>
          </a:p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3. Faster Time to Insight</a:t>
            </a:r>
          </a:p>
          <a:p>
            <a:r>
              <a:rPr lang="en-US" sz="2000" dirty="0">
                <a:solidFill>
                  <a:schemeClr val="bg1"/>
                </a:solidFill>
              </a:rPr>
              <a:t>👉 Investigators move from: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Manual processing → Immediate analysis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4. Higher Data Integrity</a:t>
            </a:r>
          </a:p>
          <a:p>
            <a:r>
              <a:rPr lang="en-US" sz="2000" dirty="0">
                <a:solidFill>
                  <a:schemeClr val="bg1"/>
                </a:solidFill>
              </a:rPr>
              <a:t>👉 Accurate, structured data improves: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Matching algorithms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Case linking </a:t>
            </a:r>
          </a:p>
          <a:p>
            <a:pPr>
              <a:buNone/>
            </a:pPr>
            <a:r>
              <a:rPr lang="en-US" sz="2000" b="1" dirty="0">
                <a:solidFill>
                  <a:schemeClr val="bg1"/>
                </a:solidFill>
              </a:rPr>
              <a:t>5. Focus on Investigation, Not Administration</a:t>
            </a:r>
          </a:p>
          <a:p>
            <a:r>
              <a:rPr lang="en-US" sz="2000" dirty="0">
                <a:solidFill>
                  <a:schemeClr val="bg1"/>
                </a:solidFill>
              </a:rPr>
              <a:t>👉 Investigators spend time 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Analysis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Decision-making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Collaboration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CEA35-73AB-DAB7-F6DD-7E4593FD08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079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099F9-C103-C702-FB5C-1CE42F1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B4C9AE-B45C-44E9-9966-0C7299EDB126}"/>
              </a:ext>
            </a:extLst>
          </p:cNvPr>
          <p:cNvSpPr txBox="1"/>
          <p:nvPr/>
        </p:nvSpPr>
        <p:spPr>
          <a:xfrm>
            <a:off x="300348" y="264070"/>
            <a:ext cx="9413696" cy="627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Executive Summary</a:t>
            </a: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Before:</a:t>
            </a:r>
            <a:endParaRPr lang="en-US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Labor-intensive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Error-prone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Slow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Data siloed and underutilized 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After:</a:t>
            </a:r>
            <a:endParaRPr lang="en-US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Automated ingestion and extraction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High-quality structured data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Intelligent search and AI insights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Seamless system integration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Conversational access to knowledge </a:t>
            </a:r>
          </a:p>
          <a:p>
            <a:pPr>
              <a:buNone/>
            </a:pP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🚀 Bottom Line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This solution transforms the process from </a:t>
            </a:r>
            <a:r>
              <a:rPr lang="en-US" b="1" dirty="0">
                <a:solidFill>
                  <a:schemeClr val="bg1"/>
                </a:solidFill>
              </a:rPr>
              <a:t>document handling</a:t>
            </a:r>
            <a:r>
              <a:rPr lang="en-US" dirty="0">
                <a:solidFill>
                  <a:schemeClr val="bg1"/>
                </a:solidFill>
              </a:rPr>
              <a:t> to </a:t>
            </a:r>
            <a:r>
              <a:rPr lang="en-US" b="1" dirty="0">
                <a:solidFill>
                  <a:schemeClr val="bg1"/>
                </a:solidFill>
              </a:rPr>
              <a:t>intelligence generation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</a:rPr>
              <a:t>👉 The real value isn’t just efficiency—it’s enabling investigators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Surface hidden connections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Act faster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Increase the probability of identifying victims and suspects </a:t>
            </a:r>
          </a:p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Ultimately: more cold cases solved, faster, with higher confidence.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0DBFEF-8CC5-E134-73F3-E27755590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2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55860-1315-69D5-DDA5-BC1EF3E47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8E287F-EFF9-4AA1-9361-24A134B2778A}"/>
              </a:ext>
            </a:extLst>
          </p:cNvPr>
          <p:cNvSpPr txBox="1"/>
          <p:nvPr/>
        </p:nvSpPr>
        <p:spPr>
          <a:xfrm>
            <a:off x="2767148" y="1720840"/>
            <a:ext cx="66577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chemeClr val="bg1"/>
                </a:solidFill>
              </a:rPr>
              <a:t>DEMO Flow and resources used.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D0D9B-9FA7-BD7B-085D-58FECAB0A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524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3AF7A-F98D-6E1B-4C2A-DF9F17E08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699329D-6D0A-7613-51B7-BE810C9508DB}"/>
              </a:ext>
            </a:extLst>
          </p:cNvPr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</a:rPr>
              <a:t>Day in the life: operational flow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440984B-B57D-6319-D608-91C9E3225099}"/>
              </a:ext>
            </a:extLst>
          </p:cNvPr>
          <p:cNvSpPr/>
          <p:nvPr/>
        </p:nvSpPr>
        <p:spPr>
          <a:xfrm>
            <a:off x="822960" y="149047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F9AA4DB-332E-1250-5625-425CE76E0D3A}"/>
              </a:ext>
            </a:extLst>
          </p:cNvPr>
          <p:cNvSpPr/>
          <p:nvPr/>
        </p:nvSpPr>
        <p:spPr>
          <a:xfrm>
            <a:off x="137160" y="118872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99A8933-1503-525E-73B6-97C4352B6239}"/>
              </a:ext>
            </a:extLst>
          </p:cNvPr>
          <p:cNvSpPr/>
          <p:nvPr/>
        </p:nvSpPr>
        <p:spPr>
          <a:xfrm>
            <a:off x="256032" y="127101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7858CCF3-B693-2D59-9E28-BC50043F0CF7}"/>
              </a:ext>
            </a:extLst>
          </p:cNvPr>
          <p:cNvSpPr/>
          <p:nvPr/>
        </p:nvSpPr>
        <p:spPr>
          <a:xfrm>
            <a:off x="1005840" y="111556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3DE1521-1499-AF9F-1F93-0B70763B6756}"/>
              </a:ext>
            </a:extLst>
          </p:cNvPr>
          <p:cNvSpPr/>
          <p:nvPr/>
        </p:nvSpPr>
        <p:spPr>
          <a:xfrm>
            <a:off x="1170432" y="122529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8:30 - Select case file</a:t>
            </a:r>
            <a:endParaRPr lang="en-US" sz="16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2EB946B-6418-6EFC-E27B-2E0E01A825CF}"/>
              </a:ext>
            </a:extLst>
          </p:cNvPr>
          <p:cNvSpPr/>
          <p:nvPr/>
        </p:nvSpPr>
        <p:spPr>
          <a:xfrm>
            <a:off x="1170432" y="152704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Investigator chooses a cold case PDF in the internal UI.</a:t>
            </a:r>
            <a:endParaRPr lang="en-US" sz="11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C1BEF19F-93DD-0B52-3B17-D82EC3802ED8}"/>
              </a:ext>
            </a:extLst>
          </p:cNvPr>
          <p:cNvSpPr/>
          <p:nvPr/>
        </p:nvSpPr>
        <p:spPr>
          <a:xfrm>
            <a:off x="822960" y="231343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140D339-077F-EA12-DEF2-5BDCCE08DAA0}"/>
              </a:ext>
            </a:extLst>
          </p:cNvPr>
          <p:cNvSpPr/>
          <p:nvPr/>
        </p:nvSpPr>
        <p:spPr>
          <a:xfrm>
            <a:off x="137160" y="201168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7B921DE-A772-AEE6-F9A7-3982A5173FD9}"/>
              </a:ext>
            </a:extLst>
          </p:cNvPr>
          <p:cNvSpPr/>
          <p:nvPr/>
        </p:nvSpPr>
        <p:spPr>
          <a:xfrm>
            <a:off x="256032" y="209397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8CCD3A8-C191-2FE7-3D18-9452D2C36275}"/>
              </a:ext>
            </a:extLst>
          </p:cNvPr>
          <p:cNvSpPr/>
          <p:nvPr/>
        </p:nvSpPr>
        <p:spPr>
          <a:xfrm>
            <a:off x="1005840" y="193852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1B1CD13-81D5-08B4-8958-C0F7D6952BB1}"/>
              </a:ext>
            </a:extLst>
          </p:cNvPr>
          <p:cNvSpPr/>
          <p:nvPr/>
        </p:nvSpPr>
        <p:spPr>
          <a:xfrm>
            <a:off x="1170432" y="204825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8:31 - Extract and analyze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76744FDB-9710-5164-3C7C-C41715239277}"/>
              </a:ext>
            </a:extLst>
          </p:cNvPr>
          <p:cNvSpPr/>
          <p:nvPr/>
        </p:nvSpPr>
        <p:spPr>
          <a:xfrm>
            <a:off x="1170432" y="235000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Azure Document Intelligence extracts text; AI maps it to required fields and emits JSON.</a:t>
            </a:r>
            <a:endParaRPr lang="en-US" sz="11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417A9B8-CEDA-8692-D55B-8801C65533E2}"/>
              </a:ext>
            </a:extLst>
          </p:cNvPr>
          <p:cNvSpPr/>
          <p:nvPr/>
        </p:nvSpPr>
        <p:spPr>
          <a:xfrm>
            <a:off x="822960" y="313639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F5D7D29-1DE2-7767-2856-EDEB62009D6C}"/>
              </a:ext>
            </a:extLst>
          </p:cNvPr>
          <p:cNvSpPr/>
          <p:nvPr/>
        </p:nvSpPr>
        <p:spPr>
          <a:xfrm>
            <a:off x="137160" y="283464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50A1F516-6332-FEE7-91D4-25A3C7A509FE}"/>
              </a:ext>
            </a:extLst>
          </p:cNvPr>
          <p:cNvSpPr/>
          <p:nvPr/>
        </p:nvSpPr>
        <p:spPr>
          <a:xfrm>
            <a:off x="256032" y="291693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5C62B03-16B2-068E-A209-2348CC35422D}"/>
              </a:ext>
            </a:extLst>
          </p:cNvPr>
          <p:cNvSpPr/>
          <p:nvPr/>
        </p:nvSpPr>
        <p:spPr>
          <a:xfrm>
            <a:off x="1005840" y="276148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1E33ED4-DABD-825B-B57F-F871496E31C1}"/>
              </a:ext>
            </a:extLst>
          </p:cNvPr>
          <p:cNvSpPr/>
          <p:nvPr/>
        </p:nvSpPr>
        <p:spPr>
          <a:xfrm>
            <a:off x="1170432" y="287121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8:32 - Trigger automation</a:t>
            </a:r>
            <a:endParaRPr lang="en-US" sz="16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59C493F-45A6-948F-35B3-1ECCA3F25D3B}"/>
              </a:ext>
            </a:extLst>
          </p:cNvPr>
          <p:cNvSpPr/>
          <p:nvPr/>
        </p:nvSpPr>
        <p:spPr>
          <a:xfrm>
            <a:off x="1170432" y="317296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Output landing in Azure storage triggers the cloud automation.</a:t>
            </a:r>
            <a:endParaRPr lang="en-US" sz="110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D4338979-B859-392B-B470-507CC95D8D30}"/>
              </a:ext>
            </a:extLst>
          </p:cNvPr>
          <p:cNvSpPr/>
          <p:nvPr/>
        </p:nvSpPr>
        <p:spPr>
          <a:xfrm>
            <a:off x="822960" y="395935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944D3833-DAB5-2F4C-637C-5AFB00A1385E}"/>
              </a:ext>
            </a:extLst>
          </p:cNvPr>
          <p:cNvSpPr/>
          <p:nvPr/>
        </p:nvSpPr>
        <p:spPr>
          <a:xfrm>
            <a:off x="137160" y="365760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DD08A7E-4755-8E9B-9A5E-D400273EA528}"/>
              </a:ext>
            </a:extLst>
          </p:cNvPr>
          <p:cNvSpPr/>
          <p:nvPr/>
        </p:nvSpPr>
        <p:spPr>
          <a:xfrm>
            <a:off x="256032" y="373989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2E617509-C017-1BE8-13B3-087D1E15DBB9}"/>
              </a:ext>
            </a:extLst>
          </p:cNvPr>
          <p:cNvSpPr/>
          <p:nvPr/>
        </p:nvSpPr>
        <p:spPr>
          <a:xfrm>
            <a:off x="1005840" y="358444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8A15D937-30F5-3B08-C55A-014FB45E0EF8}"/>
              </a:ext>
            </a:extLst>
          </p:cNvPr>
          <p:cNvSpPr/>
          <p:nvPr/>
        </p:nvSpPr>
        <p:spPr>
          <a:xfrm>
            <a:off x="1170432" y="369417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8:33 - Populate workbook</a:t>
            </a:r>
            <a:endParaRPr lang="en-US" sz="16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0693A6A-7419-9833-0010-FFF4158C7630}"/>
              </a:ext>
            </a:extLst>
          </p:cNvPr>
          <p:cNvSpPr/>
          <p:nvPr/>
        </p:nvSpPr>
        <p:spPr>
          <a:xfrm>
            <a:off x="1170432" y="399592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Automation writes values into the correct Excel columns for case tracking and NAMUS prep.</a:t>
            </a:r>
            <a:endParaRPr lang="en-US" sz="110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9A989944-ECE9-56C0-9217-41736A0AF259}"/>
              </a:ext>
            </a:extLst>
          </p:cNvPr>
          <p:cNvSpPr/>
          <p:nvPr/>
        </p:nvSpPr>
        <p:spPr>
          <a:xfrm>
            <a:off x="822960" y="478231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FCF32439-9784-1425-C399-730C68824223}"/>
              </a:ext>
            </a:extLst>
          </p:cNvPr>
          <p:cNvSpPr/>
          <p:nvPr/>
        </p:nvSpPr>
        <p:spPr>
          <a:xfrm>
            <a:off x="137160" y="4480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E3406F69-CE39-02FD-FFD4-8A856A49AF4B}"/>
              </a:ext>
            </a:extLst>
          </p:cNvPr>
          <p:cNvSpPr/>
          <p:nvPr/>
        </p:nvSpPr>
        <p:spPr>
          <a:xfrm>
            <a:off x="256032" y="456285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8CA6C53-5408-72DA-7B71-35561B861C94}"/>
              </a:ext>
            </a:extLst>
          </p:cNvPr>
          <p:cNvSpPr/>
          <p:nvPr/>
        </p:nvSpPr>
        <p:spPr>
          <a:xfrm>
            <a:off x="1005840" y="440740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D8183B48-06EA-7AD8-0E5C-A07D4ECD993F}"/>
              </a:ext>
            </a:extLst>
          </p:cNvPr>
          <p:cNvSpPr/>
          <p:nvPr/>
        </p:nvSpPr>
        <p:spPr>
          <a:xfrm>
            <a:off x="1170432" y="451713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8:35 - Run NAMUS search</a:t>
            </a:r>
            <a:endParaRPr lang="en-US" sz="160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F799F92-96F2-9E6E-65F9-30FE82013981}"/>
              </a:ext>
            </a:extLst>
          </p:cNvPr>
          <p:cNvSpPr/>
          <p:nvPr/>
        </p:nvSpPr>
        <p:spPr>
          <a:xfrm>
            <a:off x="1170432" y="481888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Desktop automation opens the NAMUS site: direct lookup if a NAMUS ID exists, otherwise criteria-based search.</a:t>
            </a:r>
            <a:endParaRPr lang="en-US" sz="110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0CDFB3AC-75FB-6103-127F-7291EED99DF5}"/>
              </a:ext>
            </a:extLst>
          </p:cNvPr>
          <p:cNvSpPr/>
          <p:nvPr/>
        </p:nvSpPr>
        <p:spPr>
          <a:xfrm>
            <a:off x="822960" y="5605272"/>
            <a:ext cx="7315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2">
            <a:extLst>
              <a:ext uri="{FF2B5EF4-FFF2-40B4-BE49-F238E27FC236}">
                <a16:creationId xmlns:a16="http://schemas.microsoft.com/office/drawing/2014/main" id="{F828022F-524D-7FB6-C3CB-B983F90F3EFA}"/>
              </a:ext>
            </a:extLst>
          </p:cNvPr>
          <p:cNvSpPr/>
          <p:nvPr/>
        </p:nvSpPr>
        <p:spPr>
          <a:xfrm>
            <a:off x="137160" y="530352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A7A66B85-78F0-5CA3-BCD7-A55D8FFD8D7A}"/>
              </a:ext>
            </a:extLst>
          </p:cNvPr>
          <p:cNvSpPr/>
          <p:nvPr/>
        </p:nvSpPr>
        <p:spPr>
          <a:xfrm>
            <a:off x="256032" y="538581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351A560-6AAC-5F6E-42B3-79FB5090E48B}"/>
              </a:ext>
            </a:extLst>
          </p:cNvPr>
          <p:cNvSpPr/>
          <p:nvPr/>
        </p:nvSpPr>
        <p:spPr>
          <a:xfrm>
            <a:off x="1005840" y="5230368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0ED03186-5F3A-A0D3-6719-4460B66DE52B}"/>
              </a:ext>
            </a:extLst>
          </p:cNvPr>
          <p:cNvSpPr/>
          <p:nvPr/>
        </p:nvSpPr>
        <p:spPr>
          <a:xfrm>
            <a:off x="1170432" y="5340096"/>
            <a:ext cx="95463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8:38 - Review leads</a:t>
            </a:r>
            <a:endParaRPr lang="en-US" sz="1600" dirty="0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5AA713A4-AE92-24F3-4A47-A979563D66E2}"/>
              </a:ext>
            </a:extLst>
          </p:cNvPr>
          <p:cNvSpPr/>
          <p:nvPr/>
        </p:nvSpPr>
        <p:spPr>
          <a:xfrm>
            <a:off x="1170432" y="5641848"/>
            <a:ext cx="9546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Investigator reviews likely matches and the supervisor prioritizes follow-up.</a:t>
            </a:r>
            <a:endParaRPr lang="en-US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6B3DA0-CFE8-E280-A29F-9603A3CFC4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082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2C163-4366-8E66-5B30-3C4FDD71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diagram illustrates a process where a user selects a document, Azure Document Intelligence analyzes it, Azure Open Al searches for data, and an Azure Logic app processes the results to update an Excel file.&#10;&#10;AI-generated content may be incorrect.">
            <a:extLst>
              <a:ext uri="{FF2B5EF4-FFF2-40B4-BE49-F238E27FC236}">
                <a16:creationId xmlns:a16="http://schemas.microsoft.com/office/drawing/2014/main" id="{A65E68BF-EABB-E2EC-F985-0EC831FCBD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176" y="0"/>
            <a:ext cx="3899647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13DA9CB-734F-EFC6-FA79-C21DDC472D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374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EE7C3-745F-8FED-E49E-F07B42B83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diagram illustrates a Microsoft Azure infrastructure deployment with various services such as Resource Group, OpenAl Service, BLOB Storage, Static Web Apps, Document Intelligence, Logic Apps, and Model deployments.&#10;&#10;AI-generated content may be incorrect.">
            <a:extLst>
              <a:ext uri="{FF2B5EF4-FFF2-40B4-BE49-F238E27FC236}">
                <a16:creationId xmlns:a16="http://schemas.microsoft.com/office/drawing/2014/main" id="{DC1A8CB9-06BA-23D6-191B-290E41D66B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162" y="0"/>
            <a:ext cx="385967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F7FEDC-E056-11FE-71E2-2B964532A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66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DD1E-1BE4-8E4E-0128-B44E5483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ENEWAL -(AUGUST 2025) Microsoft Copilot Studio Agents ...">
            <a:extLst>
              <a:ext uri="{FF2B5EF4-FFF2-40B4-BE49-F238E27FC236}">
                <a16:creationId xmlns:a16="http://schemas.microsoft.com/office/drawing/2014/main" id="{95B96B88-5E2D-C5AB-C0F9-8356C5C11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7438"/>
            <a:ext cx="5334000" cy="33680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502CBD-951B-AFE9-E8AA-704F4360AC3C}"/>
              </a:ext>
            </a:extLst>
          </p:cNvPr>
          <p:cNvSpPr txBox="1"/>
          <p:nvPr/>
        </p:nvSpPr>
        <p:spPr>
          <a:xfrm>
            <a:off x="187234" y="3936176"/>
            <a:ext cx="12004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A Microsoft CoPilot Agent was built grounded with the ME Office documents to enable Users to interactively perform queries.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6024D-D631-7C14-D99F-DD479D9E2A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28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402EC-B43F-49AE-E704-34B722D95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29D6FC-BB80-CBEF-6E7C-D88DBB1CF6E9}"/>
              </a:ext>
            </a:extLst>
          </p:cNvPr>
          <p:cNvSpPr txBox="1"/>
          <p:nvPr/>
        </p:nvSpPr>
        <p:spPr>
          <a:xfrm>
            <a:off x="4659085" y="2828835"/>
            <a:ext cx="28738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chemeClr val="bg1"/>
                </a:solidFill>
              </a:rPr>
              <a:t>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50F541-EF2E-CEA2-4A0D-627AF4D72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354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0D4A1-30DE-BF3B-01EF-2A88AA8A1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FF2166-E108-E64D-5BB9-2990B503F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77807B-386B-DD3C-6C9D-E09160CE1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5" y="0"/>
            <a:ext cx="11782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69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491B-C3B4-213A-6255-5F37093AC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9494E2-4059-B1BE-160D-8D638F4E0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3AA668-DA4B-0C2A-AF32-F3A0342260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57" y="0"/>
            <a:ext cx="118624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970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5A53E-0189-477D-AE03-CCC69DA38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04D370-A8C4-FDFB-C3B9-5E26FFD5B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A9C4F0E-C821-0960-4777-6FC69F7DC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82" y="0"/>
            <a:ext cx="116654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232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24520-6DA9-33EA-F1E0-DDFCD37F8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C33558-F712-FC3F-9BA0-DAC8C169B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D38691-A7FC-3BCA-1CAA-E36313DE5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782" y="0"/>
            <a:ext cx="115884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83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215DC-0448-D36F-B115-BEC7AE4C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16ED2A-D91D-FC8B-B880-B0361BC749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7270" y="5546464"/>
            <a:ext cx="850900" cy="1244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00491A-0C21-7B80-AF2E-F70E41A54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83" y="0"/>
            <a:ext cx="116654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64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1502</Words>
  <Application>Microsoft Office PowerPoint</Application>
  <PresentationFormat>Widescreen</PresentationFormat>
  <Paragraphs>213</Paragraphs>
  <Slides>17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document extraction</dc:title>
  <dc:subject>Generic solution click-through demonstration</dc:subject>
  <dc:creator>John Straumann</dc:creator>
  <cp:keywords>CaseDocumentExtraction</cp:keywords>
  <dc:description>Customer branding generalized. Edited historical captures; results not rerun.</dc:description>
  <cp:lastModifiedBy>John Straumann</cp:lastModifiedBy>
  <cp:revision>71</cp:revision>
  <dcterms:created xsi:type="dcterms:W3CDTF">2026-02-18T17:30:29Z</dcterms:created>
  <dcterms:modified xsi:type="dcterms:W3CDTF">2026-10-28T16:57:35Z</dcterms:modified>
  <dc:identifier/>
</cp:coreProperties>
</file>