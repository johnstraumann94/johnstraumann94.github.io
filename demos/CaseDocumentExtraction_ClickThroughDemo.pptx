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306" r:id="rId2"/>
    <p:sldId id="307" r:id="rId3"/>
    <p:sldId id="256" r:id="rId4"/>
    <p:sldId id="302" r:id="rId5"/>
    <p:sldId id="305" r:id="rId6"/>
    <p:sldId id="304" r:id="rId7"/>
    <p:sldId id="286" r:id="rId8"/>
    <p:sldId id="291" r:id="rId9"/>
    <p:sldId id="294" r:id="rId10"/>
    <p:sldId id="295" r:id="rId11"/>
    <p:sldId id="296" r:id="rId12"/>
    <p:sldId id="258" r:id="rId13"/>
    <p:sldId id="280" r:id="rId14"/>
    <p:sldId id="282" r:id="rId15"/>
    <p:sldId id="283" r:id="rId16"/>
    <p:sldId id="297" r:id="rId17"/>
    <p:sldId id="257" r:id="rId18"/>
    <p:sldId id="298" r:id="rId19"/>
    <p:sldId id="299" r:id="rId20"/>
    <p:sldId id="300" r:id="rId21"/>
    <p:sldId id="30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5500"/>
    <a:srgbClr val="0030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37" autoAdjust="0"/>
    <p:restoredTop sz="63837" autoAdjust="0"/>
  </p:normalViewPr>
  <p:slideViewPr>
    <p:cSldViewPr snapToGrid="0">
      <p:cViewPr varScale="1">
        <p:scale>
          <a:sx n="94" d="100"/>
          <a:sy n="94" d="100"/>
        </p:scale>
        <p:origin x="15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6795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 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Problem: Long case PDFs leave investigators re-keying facts and searching manually for evidence.</a:t>
            </a:r>
          </a:p>
          <a:p>
            <a:r>
              <a:t>Solution: Select records and fields, analyze the documents, and inspect structured results before any downstream handoff.</a:t>
            </a:r>
          </a:p>
          <a:p>
            <a:r>
              <a:t>Products: Azure AI Document Intelligence | Azure OpenAI GPT-4.1 | Azure AI Search | Blob Storage | Logic Apps</a:t>
            </a:r>
          </a:p>
          <a:p>
            <a:r>
              <a:t>Evidence status: Captured: document/field selection and extraction results. Excel and registry automation are described, not shown executing. Hosting and deployment are not verified.</a:t>
            </a:r>
          </a:p>
          <a:p>
            <a:r>
              <a:t>Customer branding, organization labels and resource identifiers have been generalized. Screenshots are edited historical captures; no service results were rerun.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 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Architecture: [['Analyst web UI', 'Choose PDFs and fields'], ['Document Intelligence', 'OCR and layout extraction'], ['Azure OpenAI + Search', 'Interpret and retrieve facts'], ['Review + export', 'Human verification']]</a:t>
            </a:r>
          </a:p>
          <a:p>
            <a:r>
              <a:t>Boundary: Reference design includes Blob and Logic Apps. Excel/registry automation is a proposed extension; source diagrams differ on App Service versus Static Web Apps.</a:t>
            </a:r>
          </a:p>
          <a:p>
            <a:r>
              <a:t>This is a logical diagram, not a verified deployment inventory. Arrows show the conceptual information flow.</a:t>
            </a:r>
          </a:p>
          <a:p>
            <a:r>
              <a:t>Customer names, logos and resource identifiers in subsequent captured screens have been generalized. Service brands and the solution's core workflow remain.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5BE4C-E1D1-4E7F-ED88-7E2F1CBAE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A3CCC9-EB31-2FDD-10EC-C0CD6EEFD0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01C373-A078-5BAA-6060-62BD8AA434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🔍 Challenges of the Manual Process</a:t>
            </a: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1. Time &amp; Throughput Constraints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Reviewing </a:t>
            </a:r>
            <a:r>
              <a:rPr lang="en-US" b="1" dirty="0">
                <a:solidFill>
                  <a:schemeClr val="bg1"/>
                </a:solidFill>
              </a:rPr>
              <a:t>100-page documents manually</a:t>
            </a:r>
            <a:r>
              <a:rPr lang="en-US" dirty="0">
                <a:solidFill>
                  <a:schemeClr val="bg1"/>
                </a:solidFill>
              </a:rPr>
              <a:t> is inherently slow (often 1–3 hours per document depending on complexity).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Data entry into Excel adds additional overhead (15–30+ minutes per document).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Re-keying data again into </a:t>
            </a:r>
            <a:r>
              <a:rPr lang="en-US" b="1" dirty="0">
                <a:solidFill>
                  <a:schemeClr val="bg1"/>
                </a:solidFill>
              </a:rPr>
              <a:t>NamUs</a:t>
            </a:r>
            <a:r>
              <a:rPr lang="en-US" dirty="0">
                <a:solidFill>
                  <a:schemeClr val="bg1"/>
                </a:solidFill>
              </a:rPr>
              <a:t> creates duplication of effort.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Overall throughput is severely limited → </a:t>
            </a:r>
            <a:r>
              <a:rPr lang="en-US" b="1" dirty="0">
                <a:solidFill>
                  <a:schemeClr val="bg1"/>
                </a:solidFill>
              </a:rPr>
              <a:t>case backlog grows continuously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👉 Result: Investigators spend more time processing data than analyzing it.</a:t>
            </a:r>
          </a:p>
          <a:p>
            <a:pPr>
              <a:buNone/>
            </a:pP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2. Human Error &amp; Data Quality Risks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Manual extraction leads to: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Missed fields (especially buried in long reports)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Misinterpretation of ambiguous language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Typographical errors during entry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Re-entry into multiple systems compounds error probability.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Inconsistent formatting across documents leads to </a:t>
            </a:r>
            <a:r>
              <a:rPr lang="en-US" b="1" dirty="0">
                <a:solidFill>
                  <a:schemeClr val="bg1"/>
                </a:solidFill>
              </a:rPr>
              <a:t>non-standardized data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👉 Result: Poor data quality reduces effectiveness of downstream analysis and matching.</a:t>
            </a:r>
          </a:p>
          <a:p>
            <a:pPr>
              <a:buNone/>
            </a:pP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3. Cognitive Load &amp; Fatigue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Reviewing long, repetitive documents causes: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Attention degradation over time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Increased likelihood of missing critical clues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Investigators must context-switch between: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Reading reports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Extracting data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Entering into Excel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Navigating external systems 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👉 Result: Mental fatigue → lower accuracy and slower decision-making.</a:t>
            </a:r>
          </a:p>
          <a:p>
            <a:pPr>
              <a:buNone/>
            </a:pPr>
            <a:br>
              <a:rPr lang="en-US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4. Lack of Searchability &amp; Insight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Data locked in documents is: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Not easily searchable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Not cross-referenced across cases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Excel files become static repositories rather than intelligence tools. 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👉 Result: Investigators cannot easily identify patterns, trends, or connections across cases.</a:t>
            </a:r>
          </a:p>
          <a:p>
            <a:pPr>
              <a:buNone/>
            </a:pP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5. Inefficient System Interaction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Manual navigation of the NAMUS system: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Repetitive form entry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No automation of workflows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No integration between document data and system inputs. 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👉 Result: High friction in moving from </a:t>
            </a:r>
            <a:r>
              <a:rPr lang="en-US" b="1" dirty="0">
                <a:solidFill>
                  <a:schemeClr val="bg1"/>
                </a:solidFill>
              </a:rPr>
              <a:t>data → action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>
              <a:buNone/>
            </a:pP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E7641-0461-7B70-E30E-157716D7ED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77AF66-25C1-49DF-9289-13DE181EB25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5448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8ED62-2EE3-E465-A8D2-C586850C9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1D9538-C1EA-B5B1-E3E0-0397CD8FD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FD7F5F-1EB7-4CDB-8DBB-D7EAD774AD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🔍 Challenges of the Manual Process</a:t>
            </a: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1. Time &amp; Throughput Constraints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Reviewing </a:t>
            </a:r>
            <a:r>
              <a:rPr lang="en-US" b="1" dirty="0">
                <a:solidFill>
                  <a:schemeClr val="bg1"/>
                </a:solidFill>
              </a:rPr>
              <a:t>100-page documents manually</a:t>
            </a:r>
            <a:r>
              <a:rPr lang="en-US" dirty="0">
                <a:solidFill>
                  <a:schemeClr val="bg1"/>
                </a:solidFill>
              </a:rPr>
              <a:t> is inherently slow (often 1–3 hours per document depending on complexity).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Data entry into Excel adds additional overhead (15–30+ minutes per document).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Re-keying data again into </a:t>
            </a:r>
            <a:r>
              <a:rPr lang="en-US" b="1" dirty="0">
                <a:solidFill>
                  <a:schemeClr val="bg1"/>
                </a:solidFill>
              </a:rPr>
              <a:t>NamUs</a:t>
            </a:r>
            <a:r>
              <a:rPr lang="en-US" dirty="0">
                <a:solidFill>
                  <a:schemeClr val="bg1"/>
                </a:solidFill>
              </a:rPr>
              <a:t> creates duplication of effort.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Overall throughput is severely limited → </a:t>
            </a:r>
            <a:r>
              <a:rPr lang="en-US" b="1" dirty="0">
                <a:solidFill>
                  <a:schemeClr val="bg1"/>
                </a:solidFill>
              </a:rPr>
              <a:t>case backlog grows continuously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👉 Result: Investigators spend more time processing data than analyzing it.</a:t>
            </a:r>
          </a:p>
          <a:p>
            <a:pPr>
              <a:buNone/>
            </a:pP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2. Human Error &amp; Data Quality Risks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Manual extraction leads to: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Missed fields (especially buried in long reports)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Misinterpretation of ambiguous language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Typographical errors during entry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Re-entry into multiple systems compounds error probability.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Inconsistent formatting across documents leads to </a:t>
            </a:r>
            <a:r>
              <a:rPr lang="en-US" b="1" dirty="0">
                <a:solidFill>
                  <a:schemeClr val="bg1"/>
                </a:solidFill>
              </a:rPr>
              <a:t>non-standardized data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👉 Result: Poor data quality reduces effectiveness of downstream analysis and matching.</a:t>
            </a:r>
          </a:p>
          <a:p>
            <a:pPr>
              <a:buNone/>
            </a:pP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3. Cognitive Load &amp; Fatigue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Reviewing long, repetitive documents causes: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Attention degradation over time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Increased likelihood of missing critical clues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Investigators must context-switch between: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Reading reports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Extracting data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Entering into Excel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Navigating external systems 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👉 Result: Mental fatigue → lower accuracy and slower decision-making.</a:t>
            </a:r>
          </a:p>
          <a:p>
            <a:pPr>
              <a:buNone/>
            </a:pPr>
            <a:br>
              <a:rPr lang="en-US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4. Lack of Searchability &amp; Insight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Data locked in documents is: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Not easily searchable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Not cross-referenced across cases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Excel files become static repositories rather than intelligence tools. 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👉 Result: Investigators cannot easily identify patterns, trends, or connections across cases.</a:t>
            </a:r>
          </a:p>
          <a:p>
            <a:pPr>
              <a:buNone/>
            </a:pP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5. Inefficient System Interaction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Manual navigation of the NAMUS system: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Repetitive form entry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No automation of workflows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No integration between document data and system inputs. 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👉 Result: High friction in moving from </a:t>
            </a:r>
            <a:r>
              <a:rPr lang="en-US" b="1" dirty="0">
                <a:solidFill>
                  <a:schemeClr val="bg1"/>
                </a:solidFill>
              </a:rPr>
              <a:t>data → action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>
              <a:buNone/>
            </a:pP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9BF16-029E-A1B5-3C46-968AF64256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77AF66-25C1-49DF-9289-13DE181EB25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4059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C8329-9CDA-C00E-FE18-887443E48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5C3A54-E811-3503-6C77-BEDAA3F74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E8AB89-4746-8FE6-B095-7F0F6A98C4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>
                <a:solidFill>
                  <a:schemeClr val="bg1"/>
                </a:solidFill>
              </a:rPr>
              <a:t>🔍 Challenges of the Manual Process</a:t>
            </a:r>
          </a:p>
          <a:p>
            <a:pPr>
              <a:buNone/>
            </a:pPr>
            <a:r>
              <a:rPr lang="en-US" b="1">
                <a:solidFill>
                  <a:schemeClr val="bg1"/>
                </a:solidFill>
              </a:rPr>
              <a:t>1. Time &amp; Throughput Constraints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Reviewing </a:t>
            </a:r>
            <a:r>
              <a:rPr lang="en-US" b="1">
                <a:solidFill>
                  <a:schemeClr val="bg1"/>
                </a:solidFill>
              </a:rPr>
              <a:t>100-page documents manually</a:t>
            </a:r>
            <a:r>
              <a:rPr lang="en-US">
                <a:solidFill>
                  <a:schemeClr val="bg1"/>
                </a:solidFill>
              </a:rPr>
              <a:t> is inherently slow (often 1–3 hours per document depending on complexity).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Data entry into Excel adds additional overhead (15–30+ minutes per document).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Re-keying data again into </a:t>
            </a:r>
            <a:r>
              <a:rPr lang="en-US" b="1">
                <a:solidFill>
                  <a:schemeClr val="bg1"/>
                </a:solidFill>
              </a:rPr>
              <a:t>NamUs</a:t>
            </a:r>
            <a:r>
              <a:rPr lang="en-US">
                <a:solidFill>
                  <a:schemeClr val="bg1"/>
                </a:solidFill>
              </a:rPr>
              <a:t> creates duplication of effort.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Overall throughput is severely limited → </a:t>
            </a:r>
            <a:r>
              <a:rPr lang="en-US" b="1">
                <a:solidFill>
                  <a:schemeClr val="bg1"/>
                </a:solidFill>
              </a:rPr>
              <a:t>case backlog grows continuously</a:t>
            </a:r>
            <a:r>
              <a:rPr lang="en-US">
                <a:solidFill>
                  <a:schemeClr val="bg1"/>
                </a:solidFill>
              </a:rPr>
              <a:t>. </a:t>
            </a:r>
          </a:p>
          <a:p>
            <a:pPr>
              <a:buNone/>
            </a:pPr>
            <a:r>
              <a:rPr lang="en-US">
                <a:solidFill>
                  <a:schemeClr val="bg1"/>
                </a:solidFill>
              </a:rPr>
              <a:t>👉 Result: Investigators spend more time processing data than analyzing it.</a:t>
            </a:r>
          </a:p>
          <a:p>
            <a:pPr>
              <a:buNone/>
            </a:pP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>
                <a:solidFill>
                  <a:schemeClr val="bg1"/>
                </a:solidFill>
              </a:rPr>
              <a:t>2. Human Error &amp; Data Quality Risks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Manual extraction leads to: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Missed fields (especially buried in long reports)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Misinterpretation of ambiguous language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Typographical errors during entry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Re-entry into multiple systems compounds error probability.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Inconsistent formatting across documents leads to </a:t>
            </a:r>
            <a:r>
              <a:rPr lang="en-US" b="1">
                <a:solidFill>
                  <a:schemeClr val="bg1"/>
                </a:solidFill>
              </a:rPr>
              <a:t>non-standardized data</a:t>
            </a:r>
            <a:r>
              <a:rPr lang="en-US">
                <a:solidFill>
                  <a:schemeClr val="bg1"/>
                </a:solidFill>
              </a:rPr>
              <a:t>. </a:t>
            </a:r>
          </a:p>
          <a:p>
            <a:pPr>
              <a:buNone/>
            </a:pPr>
            <a:r>
              <a:rPr lang="en-US">
                <a:solidFill>
                  <a:schemeClr val="bg1"/>
                </a:solidFill>
              </a:rPr>
              <a:t>👉 Result: Poor data quality reduces effectiveness of downstream analysis and matching.</a:t>
            </a:r>
          </a:p>
          <a:p>
            <a:pPr>
              <a:buNone/>
            </a:pP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>
                <a:solidFill>
                  <a:schemeClr val="bg1"/>
                </a:solidFill>
              </a:rPr>
              <a:t>3. Cognitive Load &amp; Fatigue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Reviewing long, repetitive documents causes: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Attention degradation over time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Increased likelihood of missing critical clues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Investigators must context-switch between: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Reading reports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Extracting data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Entering into Excel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Navigating external systems </a:t>
            </a:r>
          </a:p>
          <a:p>
            <a:pPr>
              <a:buNone/>
            </a:pPr>
            <a:r>
              <a:rPr lang="en-US">
                <a:solidFill>
                  <a:schemeClr val="bg1"/>
                </a:solidFill>
              </a:rPr>
              <a:t>👉 Result: Mental fatigue → lower accuracy and slower decision-making.</a:t>
            </a:r>
          </a:p>
          <a:p>
            <a:pPr>
              <a:buNone/>
            </a:pPr>
            <a:br>
              <a:rPr lang="en-US">
                <a:solidFill>
                  <a:schemeClr val="bg1"/>
                </a:solidFill>
              </a:rPr>
            </a:br>
            <a:r>
              <a:rPr lang="en-US" b="1">
                <a:solidFill>
                  <a:schemeClr val="bg1"/>
                </a:solidFill>
              </a:rPr>
              <a:t>4. Lack of Searchability &amp; Insight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Data locked in documents is: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Not easily searchable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Not cross-referenced across cases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Excel files become static repositories rather than intelligence tools. </a:t>
            </a:r>
          </a:p>
          <a:p>
            <a:pPr>
              <a:buNone/>
            </a:pPr>
            <a:r>
              <a:rPr lang="en-US">
                <a:solidFill>
                  <a:schemeClr val="bg1"/>
                </a:solidFill>
              </a:rPr>
              <a:t>👉 Result: Investigators cannot easily identify patterns, trends, or connections across cases.</a:t>
            </a:r>
          </a:p>
          <a:p>
            <a:pPr>
              <a:buNone/>
            </a:pP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>
                <a:solidFill>
                  <a:schemeClr val="bg1"/>
                </a:solidFill>
              </a:rPr>
              <a:t>5. Inefficient System Interaction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Manual navigation of the NAMUS system: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Repetitive form entry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No automation of workflows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No integration between document data and system inputs. </a:t>
            </a:r>
          </a:p>
          <a:p>
            <a:pPr>
              <a:buNone/>
            </a:pPr>
            <a:r>
              <a:rPr lang="en-US">
                <a:solidFill>
                  <a:schemeClr val="bg1"/>
                </a:solidFill>
              </a:rPr>
              <a:t>👉 Result: High friction in moving from </a:t>
            </a:r>
            <a:r>
              <a:rPr lang="en-US" b="1">
                <a:solidFill>
                  <a:schemeClr val="bg1"/>
                </a:solidFill>
              </a:rPr>
              <a:t>data → action</a:t>
            </a:r>
            <a:r>
              <a:rPr lang="en-US">
                <a:solidFill>
                  <a:schemeClr val="bg1"/>
                </a:solidFill>
              </a:rPr>
              <a:t>.</a:t>
            </a:r>
          </a:p>
          <a:p>
            <a:pPr>
              <a:buNone/>
            </a:pP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endParaRPr lang="en-US">
              <a:solidFill>
                <a:schemeClr val="bg1"/>
              </a:solidFill>
            </a:endParaRPr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B15651-CDFB-9085-9D33-EC7723BC3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77AF66-25C1-49DF-9289-13DE181EB25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9507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🔍 Challenges of the Manual Process</a:t>
            </a: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1. Time &amp; Throughput Constraints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Reviewing </a:t>
            </a:r>
            <a:r>
              <a:rPr lang="en-US" b="1" dirty="0">
                <a:solidFill>
                  <a:schemeClr val="bg1"/>
                </a:solidFill>
              </a:rPr>
              <a:t>100-page documents manually</a:t>
            </a:r>
            <a:r>
              <a:rPr lang="en-US" dirty="0">
                <a:solidFill>
                  <a:schemeClr val="bg1"/>
                </a:solidFill>
              </a:rPr>
              <a:t> is inherently slow (often 1–3 hours per document depending on complexity).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Data entry into Excel adds additional overhead (15–30+ minutes per document).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Re-keying data again into </a:t>
            </a:r>
            <a:r>
              <a:rPr lang="en-US" b="1" dirty="0">
                <a:solidFill>
                  <a:schemeClr val="bg1"/>
                </a:solidFill>
              </a:rPr>
              <a:t>NamUs</a:t>
            </a:r>
            <a:r>
              <a:rPr lang="en-US" dirty="0">
                <a:solidFill>
                  <a:schemeClr val="bg1"/>
                </a:solidFill>
              </a:rPr>
              <a:t> creates duplication of effort.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Overall throughput is severely limited → </a:t>
            </a:r>
            <a:r>
              <a:rPr lang="en-US" b="1" dirty="0">
                <a:solidFill>
                  <a:schemeClr val="bg1"/>
                </a:solidFill>
              </a:rPr>
              <a:t>case backlog grows continuously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👉 Result: Investigators spend more time processing data than analyzing it.</a:t>
            </a:r>
          </a:p>
          <a:p>
            <a:pPr>
              <a:buNone/>
            </a:pP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2. Human Error &amp; Data Quality Risks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Manual extraction leads to: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Missed fields (especially buried in long reports)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Misinterpretation of ambiguous language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Typographical errors during entry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Re-entry into multiple systems compounds error probability.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Inconsistent formatting across documents leads to </a:t>
            </a:r>
            <a:r>
              <a:rPr lang="en-US" b="1" dirty="0">
                <a:solidFill>
                  <a:schemeClr val="bg1"/>
                </a:solidFill>
              </a:rPr>
              <a:t>non-standardized data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👉 Result: Poor data quality reduces effectiveness of downstream analysis and matching.</a:t>
            </a:r>
          </a:p>
          <a:p>
            <a:pPr>
              <a:buNone/>
            </a:pP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3. Cognitive Load &amp; Fatigue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Reviewing long, repetitive documents causes: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Attention degradation over time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Increased likelihood of missing critical clues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Investigators must context-switch between: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Reading reports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Extracting data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Entering into Excel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Navigating external systems 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👉 Result: Mental fatigue → lower accuracy and slower decision-making.</a:t>
            </a:r>
          </a:p>
          <a:p>
            <a:pPr>
              <a:buNone/>
            </a:pPr>
            <a:br>
              <a:rPr lang="en-US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4. Lack of Searchability &amp; Insight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Data locked in documents is: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Not easily searchable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Not cross-referenced across cases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Excel files become static repositories rather than intelligence tools. 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👉 Result: Investigators cannot easily identify patterns, trends, or connections across cases.</a:t>
            </a:r>
          </a:p>
          <a:p>
            <a:pPr>
              <a:buNone/>
            </a:pP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5. Inefficient System Interaction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Manual navigation of the NAMUS system: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Repetitive form entry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No automation of workflows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No integration between document data and system inputs. 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👉 Result: High friction in moving from </a:t>
            </a:r>
            <a:r>
              <a:rPr lang="en-US" b="1" dirty="0">
                <a:solidFill>
                  <a:schemeClr val="bg1"/>
                </a:solidFill>
              </a:rPr>
              <a:t>data → action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>
              <a:buNone/>
            </a:pP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77AF66-25C1-49DF-9289-13DE181EB25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372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⚡ Benefits of the Automated Solution</a:t>
            </a: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1. Massive Time Savings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Azure Document Intelligence</a:t>
            </a:r>
            <a:r>
              <a:rPr lang="en-US" dirty="0">
                <a:solidFill>
                  <a:schemeClr val="bg1"/>
                </a:solidFill>
              </a:rPr>
              <a:t> automatically extracts structured data from long documents.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Azure OpenAI Service</a:t>
            </a:r>
            <a:r>
              <a:rPr lang="en-US" dirty="0">
                <a:solidFill>
                  <a:schemeClr val="bg1"/>
                </a:solidFill>
              </a:rPr>
              <a:t> interprets context and normalizes outputs.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End-to-end processing reduced from </a:t>
            </a:r>
            <a:r>
              <a:rPr lang="en-US" b="1" dirty="0">
                <a:solidFill>
                  <a:schemeClr val="bg1"/>
                </a:solidFill>
              </a:rPr>
              <a:t>hours → minutes per document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👉 Impact: Investigators can process </a:t>
            </a:r>
            <a:r>
              <a:rPr lang="en-US" b="1" dirty="0">
                <a:solidFill>
                  <a:schemeClr val="bg1"/>
                </a:solidFill>
              </a:rPr>
              <a:t>10–20x more cases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>
              <a:buNone/>
            </a:pPr>
            <a:br>
              <a:rPr lang="en-US" dirty="0">
                <a:solidFill>
                  <a:schemeClr val="bg1"/>
                </a:solidFill>
              </a:rPr>
            </a:br>
            <a:endParaRPr lang="en-US" i="1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i="1" dirty="0">
                <a:solidFill>
                  <a:schemeClr val="bg1"/>
                </a:solidFill>
              </a:rPr>
              <a:t>2. Improved Accuracy &amp; Consistency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bg1"/>
                </a:solidFill>
              </a:rPr>
              <a:t>AI-driven extraction ensures: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Standardized field mapping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Reduced human transcription errors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Validation logic and structured outputs improve data quality. 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👉 Impact: More reliable data → better case matching and analytics.</a:t>
            </a:r>
          </a:p>
          <a:p>
            <a:pPr>
              <a:buNone/>
            </a:pP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3. Intelligent Search &amp; Retrieval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Azure AI Search</a:t>
            </a:r>
            <a:r>
              <a:rPr lang="en-US" dirty="0">
                <a:solidFill>
                  <a:schemeClr val="bg1"/>
                </a:solidFill>
              </a:rPr>
              <a:t> enables: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Full-text search across all processed documents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Semantic search (finding meaning, not just keywords)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Investigators can instantly locate relevant cases, patterns, or entities. 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👉 Impact: Faster discovery of connections between cases.</a:t>
            </a:r>
          </a:p>
          <a:p>
            <a:pPr>
              <a:buNone/>
            </a:pP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4. End-to-End Automation of Workflows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Microsoft Power Automate</a:t>
            </a:r>
            <a:r>
              <a:rPr lang="en-US" dirty="0">
                <a:solidFill>
                  <a:schemeClr val="bg1"/>
                </a:solidFill>
              </a:rPr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Automatically populates Excel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Eliminates manual data entry steps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Desktop automation: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Interacts directly with NAMUS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Submits extracted data without manual input 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👉 Impact: Removes repetitive administrative work entirely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5. Natural Language Interaction with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Microsoft Copilot Studio</a:t>
            </a:r>
            <a:r>
              <a:rPr lang="en-US" dirty="0">
                <a:solidFill>
                  <a:schemeClr val="bg1"/>
                </a:solidFill>
              </a:rPr>
              <a:t> enables: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Conversational queries like: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“Show me cases with similar physical descriptions”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“Find reports mentioning specific locations or conditions”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Grounded in customer data → accurate, context-aware responses. 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👉 Impact: Democratizes access to insights for all users.</a:t>
            </a:r>
          </a:p>
          <a:p>
            <a:pPr>
              <a:buNone/>
            </a:pP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6. Scalability &amp; Continuous Improvement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System improves over time: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Better extraction models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Expanded data coverage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Can handle increasing document volume without adding staff. 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👉 Impact: Future-proof solution for growing case loads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77AF66-25C1-49DF-9289-13DE181EB25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8987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750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030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A66FF-5496-B9E3-1BF1-76104C9767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C62E6-865B-80BB-3DB8-0774D09B7F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476E0-1E09-F856-1121-C1C5FAA22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E1F32-F38F-456D-9F23-3E1F4AB93CA6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55E05-7B14-1339-A327-D76BE9B8F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56EC4-B44A-EFCE-4678-FEFAF7FE7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7E946-5C43-412A-B240-5854D5B56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718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EF1FD-1F3B-2C13-99C8-FAC3FDB84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685D7-D54B-631E-B915-8E0345662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D06C2-C851-EE2C-4035-0EFF70170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E1F32-F38F-456D-9F23-3E1F4AB93CA6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3F2E4-5E3F-A7D3-627F-DA1B0BBD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19E0F-18D8-56EF-0C0A-D8A9F3DB7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7E946-5C43-412A-B240-5854D5B56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809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9B7FA-BCB7-4122-3AAB-F58E39338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66FA1C-083D-6E6B-0D95-6C73FC2B7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50702-0F4E-6C38-7D55-653D02C6B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E1F32-F38F-456D-9F23-3E1F4AB93CA6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A86F8-24D4-5EE6-331E-B506AA203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5D745-8A5C-481F-2CB4-F157950DF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7E946-5C43-412A-B240-5854D5B56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706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0678D-BC85-E5A4-56CA-0D1942221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354D1-D440-C0B0-44E3-845BAEFE64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3E1136-1B60-E9EE-DB05-49668CEAA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9B16F4-087E-400A-F0E5-CFEE942DB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E1F32-F38F-456D-9F23-3E1F4AB93CA6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A03CF4-7798-6E6A-5DE3-2AC2C847F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8684DB-3E72-1713-E5A2-4B1D1DDD2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7E946-5C43-412A-B240-5854D5B56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624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F0635-F53B-7710-0F18-A9054120C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7A5B3E-5DAD-EC0F-1700-451665EEB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3A3FFC-4C60-46B4-491B-3C69A5C049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0FA17B-3D44-7220-5F67-18701BF336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FDB50D-EFDC-5927-35CC-F8FF4620E1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2CACBE-E1A9-2974-0A3A-39DADB3BC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E1F32-F38F-456D-9F23-3E1F4AB93CA6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AA75F5-8491-51AD-E4FC-8A4FAA6B4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00EB2B-D5D1-1C6D-796C-905E0246A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7E946-5C43-412A-B240-5854D5B56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549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E3CFE-108E-4445-6E9F-7EFFA7725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A86C22-8641-1F4A-A1F2-B04C37CDC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E1F32-F38F-456D-9F23-3E1F4AB93CA6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01E29F-54B3-8DC2-1377-1DFB95AA0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E5AE66-7F59-360D-A089-E932CCEF7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7E946-5C43-412A-B240-5854D5B56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787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DBEBB5-8F5F-3B08-758D-9F33B3226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E1F32-F38F-456D-9F23-3E1F4AB93CA6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D60701-36FA-AF6C-115D-9D6166807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54EFBF-1668-4705-7A4A-BC6AFA55C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7E946-5C43-412A-B240-5854D5B56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255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B4FF1-E1C2-2F6D-218D-DF1990A29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566F8-F5E5-B7A2-B2F8-FE8FC8483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6F1FA6-42B3-BFE6-7860-AFEB71219D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FF167-DD02-733B-04B8-02EB67119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E1F32-F38F-456D-9F23-3E1F4AB93CA6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D41611-4925-87A6-DD5E-329BD5EE9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75790-F0E3-ADC2-3C45-CB15F1351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7E946-5C43-412A-B240-5854D5B56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26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75063-D952-11DF-79C6-F39A20E23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EBAF79-185F-B8A1-52FB-49D55AD575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6F09FE-B8A6-80DF-B4E8-EECF301F3E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6549CA-2251-2586-C124-EAC93064C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E1F32-F38F-456D-9F23-3E1F4AB93CA6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A595C-A3ED-4121-06EC-E8A354F3E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92E675-2CA8-ACEA-1467-A00509A90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7E946-5C43-412A-B240-5854D5B56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393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2DAA8-00BC-679D-F1D4-17F721A82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A36FD5-D5C8-C04D-C5EB-1DC200FDF5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46186-D315-3DE2-25F3-3903B036D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E1F32-F38F-456D-9F23-3E1F4AB93CA6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9BEE8-B22B-21BE-EDA6-A1ACFA960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47028-ADF9-F684-72E7-62BE2E777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7E946-5C43-412A-B240-5854D5B56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626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453A18-4370-CD1D-BC7F-A8AB20FCC2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8E7725-51E8-E147-9C65-518731F65E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75C8F-AD57-B3D4-7F12-B62468E97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E1F32-F38F-456D-9F23-3E1F4AB93CA6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9CD5E-08ED-4017-2F7B-339E5BA22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BC6A4-A9EB-1247-0DEC-0B239D366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7E946-5C43-412A-B240-5854D5B56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74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AC675E-21BB-A07B-6998-3B0BA8DCA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8E1A7-C8E7-D195-94F4-2257A73DB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D08BA1-8449-99C5-2DD9-323FC943A5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BE1F32-F38F-456D-9F23-3E1F4AB93CA6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D3BC7-F769-3959-7D77-8572927521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328C5-6FC4-368C-4777-C2D702B473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17E946-5C43-412A-B240-5854D5B56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864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3.jpeg"/><Relationship Id="rId7" Type="http://schemas.openxmlformats.org/officeDocument/2006/relationships/image" Target="../media/image8.sv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png"/><Relationship Id="rId15" Type="http://schemas.openxmlformats.org/officeDocument/2006/relationships/image" Target="../media/image16.svg"/><Relationship Id="rId10" Type="http://schemas.openxmlformats.org/officeDocument/2006/relationships/image" Target="../media/image11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D99A22"/>
                </a:solidFill>
                <a:latin typeface="Calibri"/>
              </a:defRPr>
            </a:pPr>
            <a:r>
              <a:t>GENERIC SOLUTION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Case document extraction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2D3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99A22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50749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Long case PDFs leave investigators re-keying facts and searching manually for evidence.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82880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2D3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28232" y="201168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99A22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2" y="2514600"/>
            <a:ext cx="50749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Select records and fields, analyze the documents, and inspect structured results before any downstream handoff.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7764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99A22"/>
                </a:solidFill>
                <a:latin typeface="Calibri"/>
              </a:defRPr>
            </a:pPr>
            <a:r>
              <a:t>PRODUCTS AND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62272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FFFFFF"/>
                </a:solidFill>
                <a:latin typeface="Calibri"/>
              </a:defRPr>
            </a:pPr>
            <a:r>
              <a:t>Azure AI Document Intelligence | Azure OpenAI GPT-4.1 | Azure AI Search | Blob Storage | Logic Apps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596128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D4DAE8"/>
                </a:solidFill>
                <a:latin typeface="Calibri"/>
              </a:defRPr>
            </a:pPr>
            <a:r>
              <a:t>Captured: document/field selection and extraction results. Excel and registry automation are described, not shown executing. Hosting and deployment are not verified.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06B65"/>
                </a:solidFill>
                <a:latin typeface="Calibri"/>
              </a:defRPr>
            </a:pPr>
            <a:r>
              <a:t>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182337"/>
                </a:solidFill>
                <a:latin typeface="Calibri"/>
              </a:defRPr>
            </a:pPr>
            <a:r>
              <a:t>How the solution fits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09928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6B65"/>
                </a:solidFill>
                <a:latin typeface="Calibri"/>
              </a:defRPr>
            </a:pPr>
            <a:r>
              <a:t>LOGICAL FLOW / REFERENCE 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2688336" cy="237744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D99A22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3639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182337"/>
                </a:solidFill>
                <a:latin typeface="Calibri"/>
              </a:defRPr>
            </a:pPr>
            <a:r>
              <a:t>Analyst web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82337"/>
                </a:solidFill>
                <a:latin typeface="Calibri"/>
              </a:defRPr>
            </a:pPr>
            <a:r>
              <a:t>Choose PDFs and fields</a:t>
            </a:r>
          </a:p>
        </p:txBody>
      </p:sp>
      <p:sp>
        <p:nvSpPr>
          <p:cNvPr id="9" name="Chevron 8"/>
          <p:cNvSpPr/>
          <p:nvPr/>
        </p:nvSpPr>
        <p:spPr>
          <a:xfrm>
            <a:off x="3163824" y="3264408"/>
            <a:ext cx="137160" cy="320040"/>
          </a:xfrm>
          <a:prstGeom prst="chevron">
            <a:avLst/>
          </a:prstGeom>
          <a:solidFill>
            <a:srgbClr val="006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19272" y="2286000"/>
            <a:ext cx="2688336" cy="237744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02152" y="246888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D99A22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313639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182337"/>
                </a:solidFill>
                <a:latin typeface="Calibri"/>
              </a:defRPr>
            </a:pPr>
            <a:r>
              <a:t>Document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384048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82337"/>
                </a:solidFill>
                <a:latin typeface="Calibri"/>
              </a:defRPr>
            </a:pPr>
            <a:r>
              <a:t>OCR and layout extraction</a:t>
            </a:r>
          </a:p>
        </p:txBody>
      </p:sp>
      <p:sp>
        <p:nvSpPr>
          <p:cNvPr id="14" name="Chevron 13"/>
          <p:cNvSpPr/>
          <p:nvPr/>
        </p:nvSpPr>
        <p:spPr>
          <a:xfrm>
            <a:off x="6025896" y="3264408"/>
            <a:ext cx="137160" cy="320040"/>
          </a:xfrm>
          <a:prstGeom prst="chevron">
            <a:avLst/>
          </a:prstGeom>
          <a:solidFill>
            <a:srgbClr val="006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81344" y="2286000"/>
            <a:ext cx="2688336" cy="237744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64224" y="246888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D99A22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313639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182337"/>
                </a:solidFill>
                <a:latin typeface="Calibri"/>
              </a:defRPr>
            </a:pPr>
            <a:r>
              <a:t>Azure OpenAI +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384048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82337"/>
                </a:solidFill>
                <a:latin typeface="Calibri"/>
              </a:defRPr>
            </a:pPr>
            <a:r>
              <a:t>Interpret and retrieve facts</a:t>
            </a:r>
          </a:p>
        </p:txBody>
      </p:sp>
      <p:sp>
        <p:nvSpPr>
          <p:cNvPr id="19" name="Chevron 18"/>
          <p:cNvSpPr/>
          <p:nvPr/>
        </p:nvSpPr>
        <p:spPr>
          <a:xfrm>
            <a:off x="8887968" y="3264408"/>
            <a:ext cx="137160" cy="320040"/>
          </a:xfrm>
          <a:prstGeom prst="chevron">
            <a:avLst/>
          </a:prstGeom>
          <a:solidFill>
            <a:srgbClr val="006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043416" y="2286000"/>
            <a:ext cx="2688336" cy="237744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26296" y="246888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D99A22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6296" y="313639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182337"/>
                </a:solidFill>
                <a:latin typeface="Calibri"/>
              </a:defRPr>
            </a:pPr>
            <a:r>
              <a:t>Review + export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6296" y="384048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82337"/>
                </a:solidFill>
                <a:latin typeface="Calibri"/>
              </a:defRPr>
            </a:pPr>
            <a:r>
              <a:t>Human verification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07492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82337"/>
                </a:solidFill>
                <a:latin typeface="Calibri"/>
              </a:defRPr>
            </a:pPr>
            <a:r>
              <a:t>Reference design includes Blob and Logic Apps. Excel/registry automation is a proposed extension; source diagrams differ on App Service versus Static Web Apps.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72784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526176"/>
                </a:solidFill>
                <a:latin typeface="Calibri"/>
              </a:defRPr>
            </a:pPr>
            <a:r>
              <a:t>Generic labels and edited screenshots | Historical results are illustrative, not rerun</a:t>
            </a:r>
          </a:p>
        </p:txBody>
      </p:sp>
      <p:sp>
        <p:nvSpPr>
          <p:cNvPr id="26" name="TextBox 25">
            <a:hlinkClick r:id="rId3" action="ppaction://hlinksldjump"/>
          </p:cNvPr>
          <p:cNvSpPr txBox="1"/>
          <p:nvPr/>
        </p:nvSpPr>
        <p:spPr>
          <a:xfrm>
            <a:off x="10378440" y="623620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6B65"/>
                </a:solidFill>
                <a:latin typeface="Calibri"/>
              </a:defRPr>
            </a:pPr>
            <a:r>
              <a:t>START TOUR 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0DA880B-E13F-A813-3204-09BF719E20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1405" y="5874124"/>
            <a:ext cx="2933700" cy="952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14B04E-05B7-1F2D-3A43-A427892A70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6C31998-7629-9C40-5A66-00947AD20A29}"/>
              </a:ext>
            </a:extLst>
          </p:cNvPr>
          <p:cNvSpPr txBox="1"/>
          <p:nvPr/>
        </p:nvSpPr>
        <p:spPr>
          <a:xfrm>
            <a:off x="909918" y="4706470"/>
            <a:ext cx="10372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Presented by your Microsoft State and Local Government Team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B7743D-1BFB-A26D-7134-AB14B390AE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7270" y="5546464"/>
            <a:ext cx="850900" cy="124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812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14B5816-9681-0E72-5037-D432E6AE7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EB711E-E9C4-71E5-82DD-502D889722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7270" y="5546464"/>
            <a:ext cx="850900" cy="1244600"/>
          </a:xfrm>
          <a:prstGeom prst="rect">
            <a:avLst/>
          </a:prstGeom>
        </p:spPr>
      </p:pic>
      <p:pic>
        <p:nvPicPr>
          <p:cNvPr id="2" name="Picture 1" descr="microsoftazure #azure #cloudcomputing #cloudarchitecture #devops  #dataanalytics #artificialintelligence #cybersecurity #azuredevops  #microsoftfabric #cloudtechnology #learningjourney | krishnapradeep kumar  Duggaraju">
            <a:extLst>
              <a:ext uri="{FF2B5EF4-FFF2-40B4-BE49-F238E27FC236}">
                <a16:creationId xmlns:a16="http://schemas.microsoft.com/office/drawing/2014/main" id="{34865C73-9106-08C3-9501-8561096414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3603" y="559501"/>
            <a:ext cx="3811053" cy="5738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955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245BECF-5BFA-2E0A-3FB6-EF794DD6A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5415DD-904F-8EC2-CA37-1F513971CB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7270" y="5546464"/>
            <a:ext cx="850900" cy="1244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DBEB97-B8A7-2A76-589C-DFA96BD3EAD5}"/>
              </a:ext>
            </a:extLst>
          </p:cNvPr>
          <p:cNvSpPr txBox="1"/>
          <p:nvPr/>
        </p:nvSpPr>
        <p:spPr>
          <a:xfrm>
            <a:off x="1115568" y="713232"/>
            <a:ext cx="9957816" cy="10241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300" b="0">
                <a:solidFill>
                  <a:srgbClr val="FFFFFF"/>
                </a:solidFill>
                <a:latin typeface="Segoe UI Semibold"/>
              </a:rPr>
              <a:t>Azure provides the building blocks for secure, scalable digital solutions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C7673A-5D7E-5B98-2B54-EE8EB4BA254F}"/>
              </a:ext>
            </a:extLst>
          </p:cNvPr>
          <p:cNvSpPr txBox="1"/>
          <p:nvPr/>
        </p:nvSpPr>
        <p:spPr>
          <a:xfrm>
            <a:off x="1115568" y="1853917"/>
            <a:ext cx="9957816" cy="2423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75" b="0">
                <a:solidFill>
                  <a:srgbClr val="B8C0C8"/>
                </a:solidFill>
                <a:latin typeface="Segoe UI"/>
              </a:rPr>
              <a:t>Think of it as one cloud platform with specialist services you combine as needed.</a:t>
            </a:r>
          </a:p>
        </p:txBody>
      </p:sp>
      <p:cxnSp>
        <p:nvCxnSpPr>
          <p:cNvPr id="6" name="Connector 3">
            <a:extLst>
              <a:ext uri="{FF2B5EF4-FFF2-40B4-BE49-F238E27FC236}">
                <a16:creationId xmlns:a16="http://schemas.microsoft.com/office/drawing/2014/main" id="{64A905AD-656F-1574-16F3-DDC5A492A066}"/>
              </a:ext>
            </a:extLst>
          </p:cNvPr>
          <p:cNvCxnSpPr/>
          <p:nvPr/>
        </p:nvCxnSpPr>
        <p:spPr>
          <a:xfrm flipH="1" flipV="1">
            <a:off x="4112513" y="2670048"/>
            <a:ext cx="886236" cy="987552"/>
          </a:xfrm>
          <a:prstGeom prst="line">
            <a:avLst/>
          </a:prstGeom>
          <a:ln w="23812">
            <a:solidFill>
              <a:srgbClr val="4F5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4">
            <a:extLst>
              <a:ext uri="{FF2B5EF4-FFF2-40B4-BE49-F238E27FC236}">
                <a16:creationId xmlns:a16="http://schemas.microsoft.com/office/drawing/2014/main" id="{91E5B2BE-B31A-6C74-B629-9EA8469D98C2}"/>
              </a:ext>
            </a:extLst>
          </p:cNvPr>
          <p:cNvCxnSpPr/>
          <p:nvPr/>
        </p:nvCxnSpPr>
        <p:spPr>
          <a:xfrm flipH="1">
            <a:off x="4112513" y="3657600"/>
            <a:ext cx="886236" cy="0"/>
          </a:xfrm>
          <a:prstGeom prst="line">
            <a:avLst/>
          </a:prstGeom>
          <a:ln w="23812">
            <a:solidFill>
              <a:srgbClr val="4F5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95727255-B970-3117-D8F9-E2A2D36A1917}"/>
              </a:ext>
            </a:extLst>
          </p:cNvPr>
          <p:cNvCxnSpPr/>
          <p:nvPr/>
        </p:nvCxnSpPr>
        <p:spPr>
          <a:xfrm flipH="1">
            <a:off x="4112513" y="3657600"/>
            <a:ext cx="886236" cy="987552"/>
          </a:xfrm>
          <a:prstGeom prst="line">
            <a:avLst/>
          </a:prstGeom>
          <a:ln w="23812">
            <a:solidFill>
              <a:srgbClr val="4F5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6">
            <a:extLst>
              <a:ext uri="{FF2B5EF4-FFF2-40B4-BE49-F238E27FC236}">
                <a16:creationId xmlns:a16="http://schemas.microsoft.com/office/drawing/2014/main" id="{52CD5BC7-4D60-483C-0ADF-2F932E4CA289}"/>
              </a:ext>
            </a:extLst>
          </p:cNvPr>
          <p:cNvCxnSpPr/>
          <p:nvPr/>
        </p:nvCxnSpPr>
        <p:spPr>
          <a:xfrm flipV="1">
            <a:off x="7193310" y="2670048"/>
            <a:ext cx="886145" cy="987552"/>
          </a:xfrm>
          <a:prstGeom prst="line">
            <a:avLst/>
          </a:prstGeom>
          <a:ln w="23812">
            <a:solidFill>
              <a:srgbClr val="4F5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7">
            <a:extLst>
              <a:ext uri="{FF2B5EF4-FFF2-40B4-BE49-F238E27FC236}">
                <a16:creationId xmlns:a16="http://schemas.microsoft.com/office/drawing/2014/main" id="{2F916D29-5B7B-FCB4-7386-E20BE94C7B93}"/>
              </a:ext>
            </a:extLst>
          </p:cNvPr>
          <p:cNvCxnSpPr/>
          <p:nvPr/>
        </p:nvCxnSpPr>
        <p:spPr>
          <a:xfrm>
            <a:off x="7193310" y="3657600"/>
            <a:ext cx="886145" cy="0"/>
          </a:xfrm>
          <a:prstGeom prst="line">
            <a:avLst/>
          </a:prstGeom>
          <a:ln w="23812">
            <a:solidFill>
              <a:srgbClr val="4F5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8">
            <a:extLst>
              <a:ext uri="{FF2B5EF4-FFF2-40B4-BE49-F238E27FC236}">
                <a16:creationId xmlns:a16="http://schemas.microsoft.com/office/drawing/2014/main" id="{64076DFA-2984-61DF-76B0-22306C6A91F0}"/>
              </a:ext>
            </a:extLst>
          </p:cNvPr>
          <p:cNvCxnSpPr/>
          <p:nvPr/>
        </p:nvCxnSpPr>
        <p:spPr>
          <a:xfrm>
            <a:off x="7193310" y="3657600"/>
            <a:ext cx="886145" cy="987552"/>
          </a:xfrm>
          <a:prstGeom prst="line">
            <a:avLst/>
          </a:prstGeom>
          <a:ln w="23812">
            <a:solidFill>
              <a:srgbClr val="4F5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17085DD6-F79F-A87D-CDA0-92F3F400C60C}"/>
              </a:ext>
            </a:extLst>
          </p:cNvPr>
          <p:cNvSpPr/>
          <p:nvPr/>
        </p:nvSpPr>
        <p:spPr>
          <a:xfrm>
            <a:off x="4050791" y="2608326"/>
            <a:ext cx="123444" cy="123444"/>
          </a:xfrm>
          <a:prstGeom prst="ellipse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4407733-4D86-754E-6E9F-165CFB39B128}"/>
              </a:ext>
            </a:extLst>
          </p:cNvPr>
          <p:cNvSpPr/>
          <p:nvPr/>
        </p:nvSpPr>
        <p:spPr>
          <a:xfrm>
            <a:off x="4050791" y="3595878"/>
            <a:ext cx="123444" cy="123444"/>
          </a:xfrm>
          <a:prstGeom prst="ellipse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EA4D9E5-B02F-CFB0-F46B-651F05F9DF1C}"/>
              </a:ext>
            </a:extLst>
          </p:cNvPr>
          <p:cNvSpPr/>
          <p:nvPr/>
        </p:nvSpPr>
        <p:spPr>
          <a:xfrm>
            <a:off x="4050791" y="4583430"/>
            <a:ext cx="123444" cy="123444"/>
          </a:xfrm>
          <a:prstGeom prst="ellipse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2A572F8-0920-7453-10AE-13471EF7FDBB}"/>
              </a:ext>
            </a:extLst>
          </p:cNvPr>
          <p:cNvSpPr/>
          <p:nvPr/>
        </p:nvSpPr>
        <p:spPr>
          <a:xfrm>
            <a:off x="8017733" y="2608326"/>
            <a:ext cx="123444" cy="123444"/>
          </a:xfrm>
          <a:prstGeom prst="ellipse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C047C7E-8C7C-F82A-A924-49D7B450DDB8}"/>
              </a:ext>
            </a:extLst>
          </p:cNvPr>
          <p:cNvSpPr/>
          <p:nvPr/>
        </p:nvSpPr>
        <p:spPr>
          <a:xfrm>
            <a:off x="8017733" y="3595878"/>
            <a:ext cx="123444" cy="123444"/>
          </a:xfrm>
          <a:prstGeom prst="ellipse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E61178E-FE67-7DC3-457B-418C82926AC2}"/>
              </a:ext>
            </a:extLst>
          </p:cNvPr>
          <p:cNvSpPr/>
          <p:nvPr/>
        </p:nvSpPr>
        <p:spPr>
          <a:xfrm>
            <a:off x="8017733" y="4583430"/>
            <a:ext cx="123444" cy="123444"/>
          </a:xfrm>
          <a:prstGeom prst="ellipse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780C213-A75C-FE1A-0A61-C61F04368EC5}"/>
              </a:ext>
            </a:extLst>
          </p:cNvPr>
          <p:cNvSpPr/>
          <p:nvPr/>
        </p:nvSpPr>
        <p:spPr>
          <a:xfrm>
            <a:off x="4998750" y="2834640"/>
            <a:ext cx="2194560" cy="1645920"/>
          </a:xfrm>
          <a:prstGeom prst="ellipse">
            <a:avLst/>
          </a:prstGeom>
          <a:solidFill>
            <a:srgbClr val="0078D4"/>
          </a:solidFill>
          <a:ln w="16510">
            <a:solidFill>
              <a:srgbClr val="00A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lang="en-US" sz="2250">
                <a:solidFill>
                  <a:srgbClr val="FFFFFF"/>
                </a:solidFill>
                <a:latin typeface="Segoe UI Semibold"/>
              </a:rPr>
              <a:t>AZURE
CLOUD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B283BA-62D7-E1B6-6E96-4A8E6BD4E5B6}"/>
              </a:ext>
            </a:extLst>
          </p:cNvPr>
          <p:cNvSpPr txBox="1"/>
          <p:nvPr/>
        </p:nvSpPr>
        <p:spPr>
          <a:xfrm>
            <a:off x="438912" y="2342897"/>
            <a:ext cx="3511296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75" b="0">
                <a:solidFill>
                  <a:srgbClr val="FFFFFF"/>
                </a:solidFill>
                <a:latin typeface="Segoe UI Semibold"/>
              </a:rPr>
              <a:t>Compute &amp; containers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FCF240-E567-8BFE-DAA3-B1E06426E49E}"/>
              </a:ext>
            </a:extLst>
          </p:cNvPr>
          <p:cNvSpPr txBox="1"/>
          <p:nvPr/>
        </p:nvSpPr>
        <p:spPr>
          <a:xfrm>
            <a:off x="438912" y="2736535"/>
            <a:ext cx="3511296" cy="1962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75" b="0">
                <a:solidFill>
                  <a:srgbClr val="B8C0C8"/>
                </a:solidFill>
                <a:latin typeface="Segoe UI"/>
              </a:rPr>
              <a:t>Virtual Machines  •  AKS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3F7D0D-D6C8-4EEF-C594-1C0D7BFF4697}"/>
              </a:ext>
            </a:extLst>
          </p:cNvPr>
          <p:cNvSpPr txBox="1"/>
          <p:nvPr/>
        </p:nvSpPr>
        <p:spPr>
          <a:xfrm>
            <a:off x="438912" y="3330449"/>
            <a:ext cx="3511296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75" b="0">
                <a:solidFill>
                  <a:srgbClr val="FFFFFF"/>
                </a:solidFill>
                <a:latin typeface="Segoe UI Semibold"/>
              </a:rPr>
              <a:t>Data &amp; storage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825ACD-721A-077A-F317-6CDB3FDE9565}"/>
              </a:ext>
            </a:extLst>
          </p:cNvPr>
          <p:cNvSpPr txBox="1"/>
          <p:nvPr/>
        </p:nvSpPr>
        <p:spPr>
          <a:xfrm>
            <a:off x="438912" y="3724088"/>
            <a:ext cx="3511296" cy="1962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75" b="0">
                <a:solidFill>
                  <a:srgbClr val="B8C0C8"/>
                </a:solidFill>
                <a:latin typeface="Segoe UI"/>
              </a:rPr>
              <a:t>Azure SQL  •  Cosmos DB  •  Storage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FAD41C-00F3-A34A-1BCE-E2887C3A61F2}"/>
              </a:ext>
            </a:extLst>
          </p:cNvPr>
          <p:cNvSpPr txBox="1"/>
          <p:nvPr/>
        </p:nvSpPr>
        <p:spPr>
          <a:xfrm>
            <a:off x="438912" y="4318001"/>
            <a:ext cx="3511296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75" b="0">
                <a:solidFill>
                  <a:srgbClr val="FFFFFF"/>
                </a:solidFill>
                <a:latin typeface="Segoe UI Semibold"/>
              </a:rPr>
              <a:t>Networking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B64046-666A-7642-A1B0-0F4DDF6881DB}"/>
              </a:ext>
            </a:extLst>
          </p:cNvPr>
          <p:cNvSpPr txBox="1"/>
          <p:nvPr/>
        </p:nvSpPr>
        <p:spPr>
          <a:xfrm>
            <a:off x="438912" y="4711640"/>
            <a:ext cx="3511296" cy="1962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75" b="0">
                <a:solidFill>
                  <a:srgbClr val="B8C0C8"/>
                </a:solidFill>
                <a:latin typeface="Segoe UI"/>
              </a:rPr>
              <a:t>Virtual Network  •  Load Balancer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E62EFA-081C-C937-F908-24CD8E089AC8}"/>
              </a:ext>
            </a:extLst>
          </p:cNvPr>
          <p:cNvSpPr txBox="1"/>
          <p:nvPr/>
        </p:nvSpPr>
        <p:spPr>
          <a:xfrm>
            <a:off x="8211312" y="2342897"/>
            <a:ext cx="3511296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75" b="0">
                <a:solidFill>
                  <a:srgbClr val="FFFFFF"/>
                </a:solidFill>
                <a:latin typeface="Segoe UI Semibold"/>
              </a:rPr>
              <a:t>Apps &amp; integration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A309E3-73D2-B128-5186-269DADF3AC01}"/>
              </a:ext>
            </a:extLst>
          </p:cNvPr>
          <p:cNvSpPr txBox="1"/>
          <p:nvPr/>
        </p:nvSpPr>
        <p:spPr>
          <a:xfrm>
            <a:off x="8211312" y="2736535"/>
            <a:ext cx="3511296" cy="1962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75" b="0">
                <a:solidFill>
                  <a:srgbClr val="B8C0C8"/>
                </a:solidFill>
                <a:latin typeface="Segoe UI"/>
              </a:rPr>
              <a:t>App Service  •  Functions  •  APIs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40B216-C55F-75BD-8F18-26842BDEDD46}"/>
              </a:ext>
            </a:extLst>
          </p:cNvPr>
          <p:cNvSpPr txBox="1"/>
          <p:nvPr/>
        </p:nvSpPr>
        <p:spPr>
          <a:xfrm>
            <a:off x="8211312" y="3330449"/>
            <a:ext cx="3511296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75" b="0">
                <a:solidFill>
                  <a:srgbClr val="FFFFFF"/>
                </a:solidFill>
                <a:latin typeface="Segoe UI Semibold"/>
              </a:rPr>
              <a:t>AI &amp; analytics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AF975F-86EA-768A-666C-7623565C1BEB}"/>
              </a:ext>
            </a:extLst>
          </p:cNvPr>
          <p:cNvSpPr txBox="1"/>
          <p:nvPr/>
        </p:nvSpPr>
        <p:spPr>
          <a:xfrm>
            <a:off x="8211312" y="3724088"/>
            <a:ext cx="3511296" cy="1962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75" b="0">
                <a:solidFill>
                  <a:srgbClr val="B8C0C8"/>
                </a:solidFill>
                <a:latin typeface="Segoe UI"/>
              </a:rPr>
              <a:t>Azure AI  •  Machine Learning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8A3ED3-8052-45D5-18BB-C7EF7A4DBB7C}"/>
              </a:ext>
            </a:extLst>
          </p:cNvPr>
          <p:cNvSpPr txBox="1"/>
          <p:nvPr/>
        </p:nvSpPr>
        <p:spPr>
          <a:xfrm>
            <a:off x="8211312" y="4318001"/>
            <a:ext cx="3511296" cy="2885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75" b="0">
                <a:solidFill>
                  <a:srgbClr val="FFFFFF"/>
                </a:solidFill>
                <a:latin typeface="Segoe UI Semibold"/>
              </a:rPr>
              <a:t>Security &amp; management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28ACF8-7750-9DD8-990A-9E1598652CE3}"/>
              </a:ext>
            </a:extLst>
          </p:cNvPr>
          <p:cNvSpPr txBox="1"/>
          <p:nvPr/>
        </p:nvSpPr>
        <p:spPr>
          <a:xfrm>
            <a:off x="8211312" y="4711640"/>
            <a:ext cx="3511296" cy="1962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75" b="0">
                <a:solidFill>
                  <a:srgbClr val="B8C0C8"/>
                </a:solidFill>
                <a:latin typeface="Segoe UI"/>
              </a:rPr>
              <a:t>Entra ID  •  Defender  •  Monitor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8C2ADE-67BD-A701-CB11-ED485AAFD6A0}"/>
              </a:ext>
            </a:extLst>
          </p:cNvPr>
          <p:cNvSpPr txBox="1"/>
          <p:nvPr/>
        </p:nvSpPr>
        <p:spPr>
          <a:xfrm>
            <a:off x="1417320" y="5282917"/>
            <a:ext cx="9098280" cy="2423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75" b="0">
                <a:solidFill>
                  <a:srgbClr val="FFFFFF"/>
                </a:solidFill>
                <a:latin typeface="Segoe UI Semibold"/>
              </a:rPr>
              <a:t>Start with the business need — then combine only the services you need.</a:t>
            </a:r>
          </a:p>
        </p:txBody>
      </p:sp>
    </p:spTree>
    <p:extLst>
      <p:ext uri="{BB962C8B-B14F-4D97-AF65-F5344CB8AC3E}">
        <p14:creationId xmlns:p14="http://schemas.microsoft.com/office/powerpoint/2010/main" val="2381290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B539D53-E2F0-9F30-0E09-41359F51E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D4FCE3-6FB4-7533-2F06-868095CCA0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7270" y="5546464"/>
            <a:ext cx="850900" cy="1244600"/>
          </a:xfrm>
          <a:prstGeom prst="rect">
            <a:avLst/>
          </a:prstGeom>
        </p:spPr>
      </p:pic>
      <p:sp>
        <p:nvSpPr>
          <p:cNvPr id="4" name="CS box - replacement">
            <a:extLst>
              <a:ext uri="{FF2B5EF4-FFF2-40B4-BE49-F238E27FC236}">
                <a16:creationId xmlns:a16="http://schemas.microsoft.com/office/drawing/2014/main" id="{EEF8875F-154D-7B25-F23D-E702D6EB9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898987" y="1621273"/>
            <a:ext cx="6394027" cy="2858754"/>
          </a:xfrm>
          <a:prstGeom prst="roundRect">
            <a:avLst>
              <a:gd name="adj" fmla="val 7594"/>
            </a:avLst>
          </a:prstGeom>
          <a:noFill/>
          <a:ln w="28575" cap="rnd">
            <a:gradFill flip="none" rotWithShape="1">
              <a:gsLst>
                <a:gs pos="80000">
                  <a:srgbClr val="0A6BBA"/>
                </a:gs>
                <a:gs pos="0">
                  <a:srgbClr val="AC35AF"/>
                </a:gs>
              </a:gsLst>
              <a:path path="circle">
                <a:fillToRect l="100000" t="100000"/>
              </a:path>
              <a:tileRect r="-100000" b="-100000"/>
            </a:gra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54819" tIns="123855" rIns="154819" bIns="12385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894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93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Segoe UI Variable Display Semib" pitchFamily="2" charset="0"/>
              <a:ea typeface="+mn-ea"/>
              <a:cs typeface="Segoe UI" pitchFamily="34" charset="0"/>
            </a:endParaRPr>
          </a:p>
        </p:txBody>
      </p:sp>
      <p:pic>
        <p:nvPicPr>
          <p:cNvPr id="5" name="Picture 4" descr="A blue and pink ribbon">
            <a:extLst>
              <a:ext uri="{FF2B5EF4-FFF2-40B4-BE49-F238E27FC236}">
                <a16:creationId xmlns:a16="http://schemas.microsoft.com/office/drawing/2014/main" id="{1412D145-5256-1108-3AC1-761D760ECD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7112" y="759969"/>
            <a:ext cx="591951" cy="591951"/>
          </a:xfrm>
          <a:prstGeom prst="rect">
            <a:avLst/>
          </a:prstGeom>
        </p:spPr>
      </p:pic>
      <p:sp useBgFill="1">
        <p:nvSpPr>
          <p:cNvPr id="6" name="Title 1">
            <a:extLst>
              <a:ext uri="{FF2B5EF4-FFF2-40B4-BE49-F238E27FC236}">
                <a16:creationId xmlns:a16="http://schemas.microsoft.com/office/drawing/2014/main" id="{19E560AC-2676-FCAF-A0A4-ABB18A885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4942199" y="1557049"/>
            <a:ext cx="2232491" cy="196545"/>
          </a:xfrm>
          <a:prstGeom prst="rect">
            <a:avLst/>
          </a:prstGeom>
          <a:ln>
            <a:noFill/>
            <a:prstDash/>
          </a:ln>
          <a:effectLst/>
        </p:spPr>
        <p:txBody>
          <a:bodyPr rot="0" spcFirstLastPara="0" vertOverflow="overflow" horzOverflow="overflow" vert="horz" wrap="none" lIns="54187" tIns="0" rIns="54187" bIns="54187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2413689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2455604" algn="l"/>
              </a:tabLst>
              <a:defRPr lang="en-US" sz="11500" b="0" cap="none" spc="-50" baseline="0" dirty="0" smtClean="0">
                <a:ln w="3175">
                  <a:noFill/>
                </a:ln>
                <a:gradFill>
                  <a:gsLst>
                    <a:gs pos="94406">
                      <a:srgbClr val="FFFFFF">
                        <a:lumMod val="75000"/>
                        <a:lumOff val="25000"/>
                      </a:srgbClr>
                    </a:gs>
                    <a:gs pos="80000">
                      <a:srgbClr val="FFFFFF">
                        <a:lumMod val="75000"/>
                        <a:lumOff val="25000"/>
                      </a:srgbClr>
                    </a:gs>
                  </a:gsLst>
                  <a:path path="circle">
                    <a:fillToRect l="100000" t="100000"/>
                  </a:path>
                </a:gradFill>
                <a:effectLst/>
                <a:latin typeface="Segoe UI Variable Display Semib" pitchFamily="2" charset="0"/>
              </a:defRPr>
            </a:lvl1pPr>
          </a:lstStyle>
          <a:p>
            <a:pPr marL="0" marR="0" lvl="0" indent="0" algn="ctr" defTabSz="5362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45566" algn="l"/>
              </a:tabLst>
              <a:defRPr/>
            </a:pPr>
            <a:endParaRPr kumimoji="0" lang="en-CA" sz="2133" b="0" i="0" u="none" strike="noStrike" kern="1200" cap="none" spc="0" normalizeH="0" baseline="0" noProof="0">
              <a:ln w="3175">
                <a:noFill/>
              </a:ln>
              <a:noFill/>
              <a:effectLst/>
              <a:uLnTx/>
              <a:uFillTx/>
              <a:latin typeface="Segoe UI Variable Display Semib" pitchFamily="2" charset="0"/>
              <a:ea typeface="+mn-ea"/>
              <a:cs typeface="Segoe Sans Display Semibold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7A738EE-2E88-DEC7-15D7-E7F7CF05034D}"/>
              </a:ext>
            </a:extLst>
          </p:cNvPr>
          <p:cNvSpPr txBox="1">
            <a:spLocks/>
          </p:cNvSpPr>
          <p:nvPr/>
        </p:nvSpPr>
        <p:spPr>
          <a:xfrm>
            <a:off x="4851520" y="1416144"/>
            <a:ext cx="2436289" cy="38294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54187" tIns="0" rIns="54187" bIns="54187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24136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2455604" algn="l"/>
              </a:tabLst>
              <a:defRPr lang="en-US" sz="11500" b="0" kern="1200" cap="none" spc="-50" baseline="0" dirty="0" smtClean="0">
                <a:ln w="3175">
                  <a:noFill/>
                </a:ln>
                <a:gradFill>
                  <a:gsLst>
                    <a:gs pos="94406">
                      <a:srgbClr val="FFFFFF">
                        <a:lumMod val="75000"/>
                        <a:lumOff val="25000"/>
                      </a:srgbClr>
                    </a:gs>
                    <a:gs pos="80000">
                      <a:srgbClr val="FFFFFF">
                        <a:lumMod val="75000"/>
                        <a:lumOff val="25000"/>
                      </a:srgbClr>
                    </a:gs>
                  </a:gsLst>
                  <a:path path="circle">
                    <a:fillToRect l="100000" t="100000"/>
                  </a:path>
                </a:gradFill>
                <a:effectLst/>
                <a:latin typeface="Segoe UI Variable Display Semib" pitchFamily="2" charset="0"/>
                <a:ea typeface="+mj-ea"/>
                <a:cs typeface="+mj-cs"/>
              </a:defRPr>
            </a:lvl1pPr>
          </a:lstStyle>
          <a:p>
            <a:pPr defTabSz="536254">
              <a:tabLst>
                <a:tab pos="545566" algn="l"/>
              </a:tabLst>
              <a:defRPr/>
            </a:pPr>
            <a:r>
              <a:rPr lang="en-US" sz="2133" spc="0">
                <a:solidFill>
                  <a:schemeClr val="bg1"/>
                </a:solidFill>
                <a:ea typeface="+mn-ea"/>
                <a:cs typeface="Segoe Sans Display Semibold" pitchFamily="2" charset="0"/>
              </a:rPr>
              <a:t>Azure AI Foundry </a:t>
            </a:r>
          </a:p>
        </p:txBody>
      </p:sp>
      <p:sp useBgFill="1">
        <p:nvSpPr>
          <p:cNvPr id="8" name="TextBox 7">
            <a:extLst>
              <a:ext uri="{FF2B5EF4-FFF2-40B4-BE49-F238E27FC236}">
                <a16:creationId xmlns:a16="http://schemas.microsoft.com/office/drawing/2014/main" id="{EA3C7473-4D75-FF8D-A32E-A59D33FEB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712852" y="4354532"/>
            <a:ext cx="2760472" cy="250972"/>
          </a:xfrm>
          <a:prstGeom prst="roundRect">
            <a:avLst>
              <a:gd name="adj" fmla="val 34392"/>
            </a:avLst>
          </a:prstGeom>
        </p:spPr>
        <p:txBody>
          <a:bodyPr wrap="square" lIns="54187" tIns="10837" rIns="54187" bIns="21675" rtlCol="0" anchor="ctr" anchorCtr="0">
            <a:spAutoFit/>
          </a:bodyPr>
          <a:lstStyle/>
          <a:p>
            <a:pPr marL="0" marR="0" lvl="0" indent="0" algn="ctr" defTabSz="55276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 Variable Display Semibold" pitchFamily="2" charset="0"/>
                <a:ea typeface="+mn-ea"/>
                <a:cs typeface="Segoe Sans Display Semibold"/>
              </a:rPr>
              <a:t>Security &amp; Governance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9E01E57-DB14-D4A7-4EA3-D0E59557F2B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3076442" y="1904063"/>
            <a:ext cx="6065864" cy="594360"/>
          </a:xfrm>
          <a:prstGeom prst="roundRect">
            <a:avLst>
              <a:gd name="adj" fmla="val 35775"/>
            </a:avLst>
          </a:prstGeom>
          <a:gradFill flip="none" rotWithShape="1">
            <a:gsLst>
              <a:gs pos="14000">
                <a:srgbClr val="2263B8"/>
              </a:gs>
              <a:gs pos="91000">
                <a:srgbClr val="8642B1"/>
              </a:gs>
            </a:gsLst>
            <a:lin ang="2400000" scaled="0"/>
            <a:tileRect/>
          </a:gradFill>
        </p:spPr>
        <p:txBody>
          <a:bodyPr wrap="square" lIns="0" tIns="0" rIns="0" bIns="16256" rtlCol="0" anchor="ctr" anchorCtr="0">
            <a:noAutofit/>
          </a:bodyPr>
          <a:lstStyle>
            <a:defPPr>
              <a:defRPr lang="en-US"/>
            </a:defPPr>
            <a:lvl1pPr marL="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814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762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44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5252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9406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52877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1691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70503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418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81290" algn="l"/>
              </a:tabLst>
              <a:defRPr/>
            </a:pPr>
            <a:r>
              <a:rPr kumimoji="0" lang="en-US" sz="14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92661">
                      <a:srgbClr val="FFFFFF"/>
                    </a:gs>
                    <a:gs pos="7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Variable Display Semib" pitchFamily="2" charset="0"/>
                <a:ea typeface="+mn-ea"/>
                <a:cs typeface="Segoe UI" pitchFamily="34" charset="0"/>
              </a:rPr>
              <a:t>Foundry Models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C707154-16EA-624E-E182-9D96C3B5B75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3076442" y="2568793"/>
            <a:ext cx="6063090" cy="594360"/>
          </a:xfrm>
          <a:prstGeom prst="roundRect">
            <a:avLst>
              <a:gd name="adj" fmla="val 34867"/>
            </a:avLst>
          </a:prstGeom>
          <a:gradFill flip="none" rotWithShape="1">
            <a:gsLst>
              <a:gs pos="10000">
                <a:srgbClr val="2263B8"/>
              </a:gs>
              <a:gs pos="70000">
                <a:srgbClr val="8642B1"/>
              </a:gs>
            </a:gsLst>
            <a:lin ang="2400000" scaled="0"/>
            <a:tileRect/>
          </a:gradFill>
        </p:spPr>
        <p:txBody>
          <a:bodyPr wrap="square" lIns="0" tIns="0" rIns="0" bIns="16256" rtlCol="0" anchor="ctr" anchorCtr="0">
            <a:noAutofit/>
          </a:bodyPr>
          <a:lstStyle>
            <a:defPPr>
              <a:defRPr lang="en-US"/>
            </a:defPPr>
            <a:lvl1pPr marL="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814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762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44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5252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9406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52877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1691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70503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418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81290" algn="l"/>
              </a:tabLst>
              <a:defRPr/>
            </a:pPr>
            <a:r>
              <a:rPr kumimoji="0" lang="en-US" sz="14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92661">
                      <a:srgbClr val="FFFFFF"/>
                    </a:gs>
                    <a:gs pos="7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Variable Display Semib" pitchFamily="2" charset="0"/>
                <a:ea typeface="+mn-ea"/>
                <a:cs typeface="Segoe UI" pitchFamily="34" charset="0"/>
              </a:rPr>
              <a:t>Foundry Agent Service</a:t>
            </a:r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62E21C65-852C-D377-3F2B-5CDB65DE9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078057" y="3235710"/>
            <a:ext cx="1463040" cy="438912"/>
          </a:xfrm>
          <a:prstGeom prst="roundRect">
            <a:avLst>
              <a:gd name="adj" fmla="val 35749"/>
            </a:avLst>
          </a:prstGeom>
          <a:gradFill flip="none" rotWithShape="1">
            <a:gsLst>
              <a:gs pos="13000">
                <a:srgbClr val="2263B8"/>
              </a:gs>
              <a:gs pos="88073">
                <a:srgbClr val="2662B8"/>
              </a:gs>
            </a:gsLst>
            <a:lin ang="2400000" scaled="0"/>
            <a:tileRect/>
          </a:gradFill>
          <a:ln w="9525" cap="rnd">
            <a:noFill/>
          </a:ln>
        </p:spPr>
        <p:txBody>
          <a:bodyPr wrap="square" lIns="0" tIns="0" rIns="0" bIns="10837" rtlCol="0" anchor="ctr" anchorCtr="0">
            <a:noAutofit/>
          </a:bodyPr>
          <a:lstStyle/>
          <a:p>
            <a:pPr marL="0" marR="0" lvl="0" indent="0" algn="ctr" defTabSz="552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27523">
                      <a:srgbClr val="FFFFFF"/>
                    </a:gs>
                    <a:gs pos="73000">
                      <a:srgbClr val="FFFFFF"/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Segoe UI Variable Display Semib" pitchFamily="2" charset="0"/>
                <a:ea typeface="+mn-ea"/>
                <a:cs typeface="Segoe Sans Display Semibold"/>
              </a:rPr>
              <a:t>Azure AI </a:t>
            </a:r>
          </a:p>
          <a:p>
            <a:pPr marL="0" marR="0" lvl="0" indent="0" algn="ctr" defTabSz="552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27523">
                      <a:srgbClr val="FFFFFF"/>
                    </a:gs>
                    <a:gs pos="73000">
                      <a:srgbClr val="FFFFFF"/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Segoe UI Variable Display Semib" pitchFamily="2" charset="0"/>
                <a:ea typeface="+mn-ea"/>
                <a:cs typeface="Segoe Sans Display Semibold"/>
              </a:rPr>
              <a:t>Search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gradFill>
                <a:gsLst>
                  <a:gs pos="27523">
                    <a:srgbClr val="FFFFFF"/>
                  </a:gs>
                  <a:gs pos="73000">
                    <a:srgbClr val="FFFFFF"/>
                  </a:gs>
                </a:gsLst>
                <a:path path="circle">
                  <a:fillToRect r="100000" b="100000"/>
                </a:path>
              </a:gradFill>
              <a:effectLst/>
              <a:uLnTx/>
              <a:uFillTx/>
              <a:latin typeface="Segoe UI Variable Display Semib" pitchFamily="2" charset="0"/>
              <a:ea typeface="+mn-ea"/>
              <a:cs typeface="Segoe Sans Display Semibold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D9E1502-3406-53F2-F4A0-CB1ECD4017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3083891" y="3741116"/>
            <a:ext cx="6048192" cy="438912"/>
          </a:xfrm>
          <a:prstGeom prst="roundRect">
            <a:avLst>
              <a:gd name="adj" fmla="val 35536"/>
            </a:avLst>
          </a:prstGeom>
          <a:gradFill flip="none" rotWithShape="1">
            <a:gsLst>
              <a:gs pos="7000">
                <a:srgbClr val="2263B8"/>
              </a:gs>
              <a:gs pos="85000">
                <a:srgbClr val="A438B0"/>
              </a:gs>
            </a:gsLst>
            <a:lin ang="3600000" scaled="0"/>
            <a:tileRect/>
          </a:gradFill>
        </p:spPr>
        <p:txBody>
          <a:bodyPr wrap="square" lIns="0" tIns="0" rIns="0" bIns="10837" rtlCol="0" anchor="ctr" anchorCtr="0">
            <a:noAutofit/>
          </a:bodyPr>
          <a:lstStyle>
            <a:defPPr>
              <a:defRPr lang="en-US"/>
            </a:defPPr>
            <a:lvl1pPr marL="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814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762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44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5252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9406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52877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1691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70503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5418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81290" algn="l"/>
              </a:tabLst>
              <a:defRPr/>
            </a:pPr>
            <a:r>
              <a:rPr kumimoji="0" lang="en-US" sz="11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92661">
                      <a:srgbClr val="FFFFFF"/>
                    </a:gs>
                    <a:gs pos="7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Variable Display Semib" pitchFamily="2" charset="0"/>
                <a:ea typeface="+mn-ea"/>
                <a:cs typeface="Segoe UI" pitchFamily="34" charset="0"/>
              </a:rPr>
              <a:t>Foundry Observability</a:t>
            </a: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6E44F670-4F1D-D0F1-2310-3D33B0FBB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606625" y="3237980"/>
            <a:ext cx="1463040" cy="438912"/>
          </a:xfrm>
          <a:prstGeom prst="roundRect">
            <a:avLst>
              <a:gd name="adj" fmla="val 35749"/>
            </a:avLst>
          </a:prstGeom>
          <a:gradFill flip="none" rotWithShape="1">
            <a:gsLst>
              <a:gs pos="0">
                <a:srgbClr val="325EB7"/>
              </a:gs>
              <a:gs pos="39000">
                <a:srgbClr val="5353B5"/>
              </a:gs>
            </a:gsLst>
            <a:lin ang="2400000" scaled="0"/>
            <a:tileRect/>
          </a:gradFill>
          <a:ln w="9525" cap="rnd">
            <a:noFill/>
          </a:ln>
        </p:spPr>
        <p:txBody>
          <a:bodyPr wrap="square" lIns="0" tIns="0" rIns="0" bIns="10837" rtlCol="0" anchor="ctr" anchorCtr="0">
            <a:noAutofit/>
          </a:bodyPr>
          <a:lstStyle/>
          <a:p>
            <a:pPr marL="0" marR="0" lvl="0" indent="0" algn="ctr" defTabSz="552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27523">
                      <a:srgbClr val="FFFFFF"/>
                    </a:gs>
                    <a:gs pos="73000">
                      <a:srgbClr val="FFFFFF"/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Segoe UI Variable Display Semib" pitchFamily="2" charset="0"/>
                <a:ea typeface="+mn-ea"/>
                <a:cs typeface="Segoe Sans Display Semibold"/>
              </a:rPr>
              <a:t>Azure AI </a:t>
            </a:r>
          </a:p>
          <a:p>
            <a:pPr marL="0" marR="0" lvl="0" indent="0" algn="ctr" defTabSz="552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27523">
                      <a:srgbClr val="FFFFFF"/>
                    </a:gs>
                    <a:gs pos="73000">
                      <a:srgbClr val="FFFFFF"/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Segoe UI Variable Display Semib" pitchFamily="2" charset="0"/>
                <a:ea typeface="+mn-ea"/>
                <a:cs typeface="Segoe Sans Display Semibold"/>
              </a:rPr>
              <a:t>Services</a:t>
            </a:r>
          </a:p>
        </p:txBody>
      </p:sp>
      <p:sp>
        <p:nvSpPr>
          <p:cNvPr id="14" name="Rounded Rectangle 6">
            <a:extLst>
              <a:ext uri="{FF2B5EF4-FFF2-40B4-BE49-F238E27FC236}">
                <a16:creationId xmlns:a16="http://schemas.microsoft.com/office/drawing/2014/main" id="{D714E5F4-AF7A-35B2-B494-01E13C2C9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135193" y="3235710"/>
            <a:ext cx="1463040" cy="438912"/>
          </a:xfrm>
          <a:prstGeom prst="roundRect">
            <a:avLst>
              <a:gd name="adj" fmla="val 35749"/>
            </a:avLst>
          </a:prstGeom>
          <a:gradFill flip="none" rotWithShape="1">
            <a:gsLst>
              <a:gs pos="57000">
                <a:srgbClr val="8642B1"/>
              </a:gs>
              <a:gs pos="0">
                <a:srgbClr val="5951B4"/>
              </a:gs>
            </a:gsLst>
            <a:lin ang="2400000" scaled="0"/>
            <a:tileRect/>
          </a:gradFill>
          <a:ln w="9525" cap="rnd">
            <a:noFill/>
          </a:ln>
        </p:spPr>
        <p:txBody>
          <a:bodyPr wrap="square" lIns="0" tIns="0" rIns="0" bIns="10837" rtlCol="0" anchor="ctr" anchorCtr="0">
            <a:noAutofit/>
          </a:bodyPr>
          <a:lstStyle/>
          <a:p>
            <a:pPr marL="0" marR="0" lvl="0" indent="0" algn="ctr" defTabSz="552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27523">
                      <a:srgbClr val="FFFFFF"/>
                    </a:gs>
                    <a:gs pos="73000">
                      <a:srgbClr val="FFFFFF"/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Segoe UI Variable Display Semib" pitchFamily="2" charset="0"/>
                <a:ea typeface="+mn-ea"/>
                <a:cs typeface="Segoe Sans Display Semibold"/>
              </a:rPr>
              <a:t>Azure </a:t>
            </a:r>
          </a:p>
          <a:p>
            <a:pPr marL="0" marR="0" lvl="0" indent="0" algn="ctr" defTabSz="552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27523">
                      <a:srgbClr val="FFFFFF"/>
                    </a:gs>
                    <a:gs pos="73000">
                      <a:srgbClr val="FFFFFF"/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Segoe UI Variable Display Semib" pitchFamily="2" charset="0"/>
                <a:ea typeface="+mn-ea"/>
                <a:cs typeface="Segoe Sans Display Semibold"/>
              </a:rPr>
              <a:t>Machine Learning</a:t>
            </a:r>
          </a:p>
        </p:txBody>
      </p:sp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BD15CC1C-D015-8F82-7215-B5548E1228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663761" y="3237980"/>
            <a:ext cx="1463040" cy="438912"/>
          </a:xfrm>
          <a:prstGeom prst="roundRect">
            <a:avLst>
              <a:gd name="adj" fmla="val 35749"/>
            </a:avLst>
          </a:prstGeom>
          <a:gradFill flip="none" rotWithShape="1">
            <a:gsLst>
              <a:gs pos="80000">
                <a:srgbClr val="AC35AF"/>
              </a:gs>
              <a:gs pos="1000">
                <a:srgbClr val="8642B1"/>
              </a:gs>
            </a:gsLst>
            <a:lin ang="2400000" scaled="0"/>
            <a:tileRect/>
          </a:gradFill>
          <a:ln w="9525" cap="rnd">
            <a:noFill/>
          </a:ln>
        </p:spPr>
        <p:txBody>
          <a:bodyPr wrap="square" lIns="0" tIns="0" rIns="0" bIns="10837" rtlCol="0" anchor="ctr" anchorCtr="0">
            <a:noAutofit/>
          </a:bodyPr>
          <a:lstStyle/>
          <a:p>
            <a:pPr marL="0" marR="0" lvl="0" indent="0" algn="ctr" defTabSz="552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27523">
                      <a:srgbClr val="FFFFFF"/>
                    </a:gs>
                    <a:gs pos="73000">
                      <a:srgbClr val="FFFFFF"/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Segoe UI Variable Display Semib" pitchFamily="2" charset="0"/>
                <a:ea typeface="+mn-ea"/>
                <a:cs typeface="Segoe Sans Display Semibold"/>
              </a:rPr>
              <a:t>Azure AI</a:t>
            </a:r>
          </a:p>
          <a:p>
            <a:pPr marL="0" marR="0" lvl="0" indent="0" algn="ctr" defTabSz="552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27523">
                      <a:srgbClr val="FFFFFF"/>
                    </a:gs>
                    <a:gs pos="73000">
                      <a:srgbClr val="FFFFFF"/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Segoe UI Variable Display Semib" pitchFamily="2" charset="0"/>
                <a:ea typeface="+mn-ea"/>
                <a:cs typeface="Segoe Sans Display Semibold"/>
              </a:rPr>
              <a:t>Content Safety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539FED2-161D-906D-D477-98FF65AD9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050" y="1621264"/>
            <a:ext cx="1828800" cy="2858754"/>
            <a:chOff x="2232308" y="1724297"/>
            <a:chExt cx="1993574" cy="3383280"/>
          </a:xfrm>
        </p:grpSpPr>
        <p:sp>
          <p:nvSpPr>
            <p:cNvPr id="17" name="Rounded Rectangle 6">
              <a:extLst>
                <a:ext uri="{FF2B5EF4-FFF2-40B4-BE49-F238E27FC236}">
                  <a16:creationId xmlns:a16="http://schemas.microsoft.com/office/drawing/2014/main" id="{BFA1BC2D-81AA-7550-5FC6-36A5A11328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2232308" y="1724297"/>
              <a:ext cx="1993574" cy="3383280"/>
            </a:xfrm>
            <a:prstGeom prst="roundRect">
              <a:avLst>
                <a:gd name="adj" fmla="val 9110"/>
              </a:avLst>
            </a:prstGeom>
            <a:ln w="15875" cap="rnd">
              <a:solidFill>
                <a:srgbClr val="0A6BBA"/>
              </a:solidFill>
              <a:headEnd type="none" w="lg" len="sm"/>
              <a:tailEnd type="none" w="lg" len="sm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08345" tIns="86676" rIns="108345" bIns="8667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55246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67" b="1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srgbClr val="000000"/>
                    </a:gs>
                    <a:gs pos="99000">
                      <a:srgbClr val="000000"/>
                    </a:gs>
                  </a:gsLst>
                  <a:path path="circle">
                    <a:fillToRect r="100000" b="100000"/>
                  </a:path>
                </a:gradFill>
                <a:effectLst/>
                <a:uLnTx/>
                <a:uFillTx/>
                <a:latin typeface="Segoe UI Variable Display Semibold" pitchFamily="2" charset="0"/>
                <a:ea typeface="+mn-ea"/>
                <a:cs typeface="Segoe UI" pitchFamily="34" charset="0"/>
              </a:endParaRP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6F902DB0-CCAB-99FF-6DC9-5606B82C61B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/>
          </p:blipFill>
          <p:spPr>
            <a:xfrm>
              <a:off x="2501668" y="2185037"/>
              <a:ext cx="336279" cy="308827"/>
            </a:xfrm>
            <a:prstGeom prst="rect">
              <a:avLst/>
            </a:prstGeom>
            <a:effectLst/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1B73041-C17E-DC5C-6841-B857ED406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2976147" y="2139114"/>
              <a:ext cx="1097280" cy="40067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552765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Sans Display Semibold"/>
                </a:rPr>
                <a:t>Copilot </a:t>
              </a:r>
              <a:br>
                <a:rPr kumimoji="0" lang="en-US" sz="11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Sans Display Semibold"/>
                </a:rPr>
              </a:b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Sans Display Semibold"/>
                </a:rPr>
                <a:t>Studio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891DE82-0F9E-D9C5-832E-577542F9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81" r="20481"/>
            <a:stretch/>
          </p:blipFill>
          <p:spPr>
            <a:xfrm>
              <a:off x="2498875" y="2872321"/>
              <a:ext cx="345117" cy="365348"/>
            </a:xfrm>
            <a:prstGeom prst="rect">
              <a:avLst/>
            </a:prstGeom>
            <a:ln w="6657" cap="flat">
              <a:noFill/>
              <a:prstDash val="solid"/>
              <a:miter/>
            </a:ln>
            <a:effectLst/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A95A6C0-6DC7-5BF3-68F6-0B8736FF69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2976147" y="2854658"/>
              <a:ext cx="1097280" cy="40067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552765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Sans Display Semibold"/>
                </a:rPr>
                <a:t>Visual </a:t>
              </a:r>
              <a:br>
                <a:rPr kumimoji="0" lang="en-US" sz="11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Sans Display Semibold"/>
                </a:rPr>
              </a:b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Sans Display Semibold"/>
                </a:rPr>
                <a:t>Studio</a:t>
              </a:r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5209DA67-BEEF-D3C6-1337-3AF3E1C5AF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lum bright="-10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499640" y="3602703"/>
              <a:ext cx="340334" cy="33567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D7A2A7E-5C9B-473B-2579-ACEF32BC7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2976147" y="3670372"/>
              <a:ext cx="1097280" cy="20033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552765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Sans Display Semibold"/>
                </a:rPr>
                <a:t>GitHub</a:t>
              </a:r>
            </a:p>
          </p:txBody>
        </p:sp>
        <p:pic>
          <p:nvPicPr>
            <p:cNvPr id="24" name="Picture 23" descr="A blue and pink ribbon&#10;&#10;Description automatically generated">
              <a:extLst>
                <a:ext uri="{FF2B5EF4-FFF2-40B4-BE49-F238E27FC236}">
                  <a16:creationId xmlns:a16="http://schemas.microsoft.com/office/drawing/2014/main" id="{300EC6CA-3F20-7A04-27F7-2FCE070CE46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92842" y="4314265"/>
              <a:ext cx="363396" cy="335005"/>
            </a:xfrm>
            <a:prstGeom prst="rect">
              <a:avLst/>
            </a:prstGeom>
          </p:spPr>
        </p:pic>
        <p:sp>
          <p:nvSpPr>
            <p:cNvPr id="25" name="Rounded Rectangle 6">
              <a:extLst>
                <a:ext uri="{FF2B5EF4-FFF2-40B4-BE49-F238E27FC236}">
                  <a16:creationId xmlns:a16="http://schemas.microsoft.com/office/drawing/2014/main" id="{2716F7B6-B6ED-C665-48EF-A8696B5253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2976147" y="4285746"/>
              <a:ext cx="1097280" cy="40067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552765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Sans Display Semibold"/>
                </a:rPr>
                <a:t>Foundry </a:t>
              </a:r>
              <a:br>
                <a:rPr kumimoji="0" lang="en-US" sz="11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Sans Display Semibold"/>
                </a:rPr>
              </a:b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Sans Display Semibold"/>
                </a:rPr>
                <a:t>SDK</a:t>
              </a:r>
            </a:p>
          </p:txBody>
        </p:sp>
      </p:grpSp>
      <p:grpSp>
        <p:nvGrpSpPr>
          <p:cNvPr id="26" name="Group 25" descr="Azure Services">
            <a:extLst>
              <a:ext uri="{FF2B5EF4-FFF2-40B4-BE49-F238E27FC236}">
                <a16:creationId xmlns:a16="http://schemas.microsoft.com/office/drawing/2014/main" id="{9879CE5F-3F8A-D716-3F7E-52CBE19DE734}"/>
              </a:ext>
            </a:extLst>
          </p:cNvPr>
          <p:cNvGrpSpPr/>
          <p:nvPr/>
        </p:nvGrpSpPr>
        <p:grpSpPr>
          <a:xfrm>
            <a:off x="2896075" y="4883686"/>
            <a:ext cx="6394027" cy="345175"/>
            <a:chOff x="4708657" y="5147999"/>
            <a:chExt cx="11146536" cy="298985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17E3C111-B2AE-49EF-BC5F-9951EC951421}"/>
                </a:ext>
              </a:extLst>
            </p:cNvPr>
            <p:cNvSpPr/>
            <p:nvPr/>
          </p:nvSpPr>
          <p:spPr bwMode="auto">
            <a:xfrm>
              <a:off x="4708657" y="5147999"/>
              <a:ext cx="11146536" cy="298985"/>
            </a:xfrm>
            <a:prstGeom prst="roundRect">
              <a:avLst>
                <a:gd name="adj" fmla="val 31390"/>
              </a:avLst>
            </a:prstGeom>
            <a:gradFill flip="none" rotWithShape="1">
              <a:gsLst>
                <a:gs pos="0">
                  <a:srgbClr val="702573">
                    <a:alpha val="10000"/>
                  </a:srgbClr>
                </a:gs>
                <a:gs pos="80000">
                  <a:srgbClr val="2A446F">
                    <a:alpha val="1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373" tIns="86699" rIns="108373" bIns="86699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55258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37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Text"/>
                <a:ea typeface="Segoe UI" pitchFamily="34" charset="0"/>
                <a:cs typeface="Segoe UI" pitchFamily="34" charset="0"/>
              </a:endParaRPr>
            </a:p>
          </p:txBody>
        </p:sp>
        <p:cxnSp>
          <p:nvCxnSpPr>
            <p:cNvPr id="28" name="!!Straight Arrow Connector 50">
              <a:extLst>
                <a:ext uri="{FF2B5EF4-FFF2-40B4-BE49-F238E27FC236}">
                  <a16:creationId xmlns:a16="http://schemas.microsoft.com/office/drawing/2014/main" id="{63F3A490-0119-0FC1-EC92-CD0E513F24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49206" y="5300357"/>
              <a:ext cx="228601" cy="0"/>
            </a:xfrm>
            <a:prstGeom prst="straightConnector1">
              <a:avLst/>
            </a:prstGeom>
            <a:ln w="12700" cap="rnd">
              <a:solidFill>
                <a:schemeClr val="tx1">
                  <a:alpha val="50000"/>
                </a:schemeClr>
              </a:solidFill>
              <a:headEnd type="arrow" w="lg" len="sm"/>
              <a:tailEnd type="none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ounded Rectangle 6">
              <a:extLst>
                <a:ext uri="{FF2B5EF4-FFF2-40B4-BE49-F238E27FC236}">
                  <a16:creationId xmlns:a16="http://schemas.microsoft.com/office/drawing/2014/main" id="{5DB73A4B-D0D2-E1F5-E43B-B127FF5EE1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14705471" y="5214533"/>
              <a:ext cx="1052076" cy="171650"/>
            </a:xfrm>
            <a:prstGeom prst="roundRect">
              <a:avLst>
                <a:gd name="adj" fmla="val 37156"/>
              </a:avLst>
            </a:prstGeom>
            <a:gradFill flip="none" rotWithShape="1">
              <a:gsLst>
                <a:gs pos="0">
                  <a:srgbClr val="702573"/>
                </a:gs>
                <a:gs pos="80000">
                  <a:srgbClr val="2A446F"/>
                </a:gs>
              </a:gsLst>
              <a:path path="circle">
                <a:fillToRect l="100000" t="100000"/>
              </a:path>
              <a:tileRect r="-100000" b="-100000"/>
            </a:gradFill>
            <a:ln w="19050" cap="rnd">
              <a:noFill/>
              <a:headEnd type="none" w="lg" len="sm"/>
              <a:tailEnd type="none" w="lg" len="sm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none" lIns="54187" tIns="10837" rIns="54187" bIns="21675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552765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22018">
                        <a:srgbClr val="FFFFFF"/>
                      </a:gs>
                      <a:gs pos="44000">
                        <a:srgbClr val="FFFFFF"/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Segoe UI Variable Display Semib" pitchFamily="2" charset="0"/>
                  <a:ea typeface="+mn-ea"/>
                  <a:cs typeface="Segoe Sans Display Semibold"/>
                </a:rPr>
                <a:t>Serverless</a:t>
              </a:r>
            </a:p>
          </p:txBody>
        </p:sp>
        <p:sp>
          <p:nvSpPr>
            <p:cNvPr id="30" name="Rounded Rectangle 6">
              <a:extLst>
                <a:ext uri="{FF2B5EF4-FFF2-40B4-BE49-F238E27FC236}">
                  <a16:creationId xmlns:a16="http://schemas.microsoft.com/office/drawing/2014/main" id="{355EAD4C-D21C-9BD6-3451-3A013D5B4F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4798938" y="5214533"/>
              <a:ext cx="856475" cy="171650"/>
            </a:xfrm>
            <a:prstGeom prst="roundRect">
              <a:avLst>
                <a:gd name="adj" fmla="val 37156"/>
              </a:avLst>
            </a:prstGeom>
            <a:gradFill flip="none" rotWithShape="1">
              <a:gsLst>
                <a:gs pos="0">
                  <a:srgbClr val="702573"/>
                </a:gs>
                <a:gs pos="80000">
                  <a:srgbClr val="2A446F"/>
                </a:gs>
              </a:gsLst>
              <a:path path="circle">
                <a:fillToRect l="100000" t="100000"/>
              </a:path>
              <a:tileRect r="-100000" b="-100000"/>
            </a:gradFill>
            <a:ln w="19050" cap="rnd">
              <a:noFill/>
              <a:headEnd type="none" w="lg" len="sm"/>
              <a:tailEnd type="none" w="lg" len="sm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none" lIns="54187" tIns="10837" rIns="54187" bIns="21675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r" defTabSz="552765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22018">
                        <a:srgbClr val="FFFFFF"/>
                      </a:gs>
                      <a:gs pos="44000">
                        <a:srgbClr val="FFFFFF"/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Segoe UI Variable Display Semib" pitchFamily="2" charset="0"/>
                  <a:ea typeface="+mn-ea"/>
                  <a:cs typeface="Segoe Sans Display Semibold"/>
                </a:rPr>
                <a:t>Control</a:t>
              </a:r>
            </a:p>
          </p:txBody>
        </p:sp>
        <p:cxnSp>
          <p:nvCxnSpPr>
            <p:cNvPr id="31" name="!!Straight Arrow Connector 55">
              <a:extLst>
                <a:ext uri="{FF2B5EF4-FFF2-40B4-BE49-F238E27FC236}">
                  <a16:creationId xmlns:a16="http://schemas.microsoft.com/office/drawing/2014/main" id="{53DCC8FB-6D47-793F-7B33-E1DB78822E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383081" y="5300357"/>
              <a:ext cx="228601" cy="0"/>
            </a:xfrm>
            <a:prstGeom prst="straightConnector1">
              <a:avLst/>
            </a:prstGeom>
            <a:ln w="12700" cap="rnd">
              <a:solidFill>
                <a:schemeClr val="tx1">
                  <a:alpha val="50000"/>
                </a:schemeClr>
              </a:solidFill>
              <a:headEnd type="arrow" w="lg" len="sm"/>
              <a:tailEnd type="none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E2B56B3-1B9F-8B30-72A6-1B9C5F1AC728}"/>
                </a:ext>
              </a:extLst>
            </p:cNvPr>
            <p:cNvGrpSpPr/>
            <p:nvPr/>
          </p:nvGrpSpPr>
          <p:grpSpPr>
            <a:xfrm>
              <a:off x="6071599" y="5204313"/>
              <a:ext cx="2389153" cy="192084"/>
              <a:chOff x="5813453" y="5319110"/>
              <a:chExt cx="2389153" cy="192084"/>
            </a:xfrm>
          </p:grpSpPr>
          <p:sp useBgFill="1">
            <p:nvSpPr>
              <p:cNvPr id="42" name="Rounded Rectangle 6">
                <a:extLst>
                  <a:ext uri="{FF2B5EF4-FFF2-40B4-BE49-F238E27FC236}">
                    <a16:creationId xmlns:a16="http://schemas.microsoft.com/office/drawing/2014/main" id="{CA9EAE4F-B3A0-355E-7D23-6926B53CC2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 bwMode="auto">
              <a:xfrm>
                <a:off x="5813453" y="5319110"/>
                <a:ext cx="2389153" cy="192084"/>
              </a:xfrm>
              <a:prstGeom prst="roundRect">
                <a:avLst>
                  <a:gd name="adj" fmla="val 29733"/>
                </a:avLst>
              </a:prstGeom>
              <a:ln w="19050" cap="rnd">
                <a:noFill/>
                <a:headEnd type="none" w="lg" len="sm"/>
                <a:tailEnd type="none" w="lg" len="sm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none" lIns="243840" tIns="32512" rIns="54187" bIns="43349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552765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r>
                  <a:rPr kumimoji="0" lang="en-US" sz="7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Segoe UI Variable Display Semib" pitchFamily="2" charset="0"/>
                    <a:ea typeface="+mn-ea"/>
                    <a:cs typeface="Segoe Sans Display Semibold"/>
                  </a:rPr>
                  <a:t>Azure Kubernetes Service</a:t>
                </a:r>
              </a:p>
            </p:txBody>
          </p:sp>
          <p:pic>
            <p:nvPicPr>
              <p:cNvPr id="43" name="Graphic 42">
                <a:extLst>
                  <a:ext uri="{FF2B5EF4-FFF2-40B4-BE49-F238E27FC236}">
                    <a16:creationId xmlns:a16="http://schemas.microsoft.com/office/drawing/2014/main" id="{8AC1A792-F4A2-6A9F-BA9D-DC7345287B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/>
            </p:blipFill>
            <p:spPr>
              <a:xfrm>
                <a:off x="5997983" y="5336669"/>
                <a:ext cx="151241" cy="151241"/>
              </a:xfrm>
              <a:prstGeom prst="rect">
                <a:avLst/>
              </a:prstGeom>
              <a:effectLst/>
            </p:spPr>
          </p:pic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86BB087A-6FB4-34D4-09A7-5835A9C1B2E6}"/>
                </a:ext>
              </a:extLst>
            </p:cNvPr>
            <p:cNvGrpSpPr/>
            <p:nvPr/>
          </p:nvGrpSpPr>
          <p:grpSpPr>
            <a:xfrm>
              <a:off x="10419568" y="5204314"/>
              <a:ext cx="2138643" cy="192084"/>
              <a:chOff x="10439045" y="5319112"/>
              <a:chExt cx="2138643" cy="192084"/>
            </a:xfrm>
          </p:grpSpPr>
          <p:sp useBgFill="1">
            <p:nvSpPr>
              <p:cNvPr id="40" name="Rounded Rectangle 6">
                <a:extLst>
                  <a:ext uri="{FF2B5EF4-FFF2-40B4-BE49-F238E27FC236}">
                    <a16:creationId xmlns:a16="http://schemas.microsoft.com/office/drawing/2014/main" id="{EFD2C087-A520-7EB9-0191-7D46EE84CC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 bwMode="auto">
              <a:xfrm>
                <a:off x="10439045" y="5319112"/>
                <a:ext cx="2138643" cy="192084"/>
              </a:xfrm>
              <a:prstGeom prst="roundRect">
                <a:avLst>
                  <a:gd name="adj" fmla="val 29733"/>
                </a:avLst>
              </a:prstGeom>
              <a:ln w="19050" cap="rnd">
                <a:noFill/>
                <a:headEnd type="none" w="lg" len="sm"/>
                <a:tailEnd type="none" w="lg" len="sm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none" lIns="243840" tIns="32512" rIns="54187" bIns="43349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552765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r>
                  <a:rPr kumimoji="0" lang="en-US" sz="7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Segoe UI Variable Display Semib" pitchFamily="2" charset="0"/>
                    <a:ea typeface="+mn-ea"/>
                    <a:cs typeface="Segoe Sans Display Semibold"/>
                  </a:rPr>
                  <a:t>Azure Container Apps</a:t>
                </a:r>
              </a:p>
            </p:txBody>
          </p:sp>
          <p:pic>
            <p:nvPicPr>
              <p:cNvPr id="41" name="Graphic 40">
                <a:extLst>
                  <a:ext uri="{FF2B5EF4-FFF2-40B4-BE49-F238E27FC236}">
                    <a16:creationId xmlns:a16="http://schemas.microsoft.com/office/drawing/2014/main" id="{25217776-A281-7DA4-E7FE-263074AB5A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lum bright="-8000"/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/>
            </p:blipFill>
            <p:spPr>
              <a:xfrm>
                <a:off x="10608610" y="5323391"/>
                <a:ext cx="187803" cy="187803"/>
              </a:xfrm>
              <a:prstGeom prst="rect">
                <a:avLst/>
              </a:prstGeom>
              <a:effectLst/>
            </p:spPr>
          </p:pic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91CF53AF-4902-7E67-7BFF-56246DEEB4ED}"/>
                </a:ext>
              </a:extLst>
            </p:cNvPr>
            <p:cNvGrpSpPr/>
            <p:nvPr/>
          </p:nvGrpSpPr>
          <p:grpSpPr>
            <a:xfrm>
              <a:off x="8496796" y="5204314"/>
              <a:ext cx="1874092" cy="192084"/>
              <a:chOff x="8323727" y="5319111"/>
              <a:chExt cx="1874092" cy="192084"/>
            </a:xfrm>
          </p:grpSpPr>
          <p:sp useBgFill="1">
            <p:nvSpPr>
              <p:cNvPr id="38" name="Rounded Rectangle 6">
                <a:extLst>
                  <a:ext uri="{FF2B5EF4-FFF2-40B4-BE49-F238E27FC236}">
                    <a16:creationId xmlns:a16="http://schemas.microsoft.com/office/drawing/2014/main" id="{C3912803-8D52-7C8D-F3CF-04190CD921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 bwMode="auto">
              <a:xfrm>
                <a:off x="8323727" y="5319111"/>
                <a:ext cx="1874092" cy="192084"/>
              </a:xfrm>
              <a:prstGeom prst="roundRect">
                <a:avLst>
                  <a:gd name="adj" fmla="val 29733"/>
                </a:avLst>
              </a:prstGeom>
              <a:ln w="19050" cap="rnd">
                <a:noFill/>
                <a:headEnd type="none" w="lg" len="sm"/>
                <a:tailEnd type="none" w="lg" len="sm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none" lIns="243840" tIns="32512" rIns="54187" bIns="43349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552765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r>
                  <a:rPr kumimoji="0" lang="en-US" sz="7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Segoe UI Variable Display Semib" pitchFamily="2" charset="0"/>
                    <a:ea typeface="+mn-ea"/>
                    <a:cs typeface="Segoe Sans Display Semibold"/>
                  </a:rPr>
                  <a:t>Azure App Service</a:t>
                </a:r>
              </a:p>
            </p:txBody>
          </p:sp>
          <p:pic>
            <p:nvPicPr>
              <p:cNvPr id="39" name="Graphic 38">
                <a:extLst>
                  <a:ext uri="{FF2B5EF4-FFF2-40B4-BE49-F238E27FC236}">
                    <a16:creationId xmlns:a16="http://schemas.microsoft.com/office/drawing/2014/main" id="{EF63F330-7960-EA49-1E43-78F942D888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8524638" y="5336671"/>
                <a:ext cx="151238" cy="151238"/>
              </a:xfrm>
              <a:prstGeom prst="rect">
                <a:avLst/>
              </a:prstGeom>
            </p:spPr>
          </p:pic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961F730-5CDD-2FDF-BB86-D26E380C9E4A}"/>
                </a:ext>
              </a:extLst>
            </p:cNvPr>
            <p:cNvGrpSpPr/>
            <p:nvPr/>
          </p:nvGrpSpPr>
          <p:grpSpPr>
            <a:xfrm>
              <a:off x="12602962" y="5204313"/>
              <a:ext cx="1726261" cy="192084"/>
              <a:chOff x="12850678" y="5319111"/>
              <a:chExt cx="1726261" cy="192084"/>
            </a:xfrm>
          </p:grpSpPr>
          <p:sp useBgFill="1">
            <p:nvSpPr>
              <p:cNvPr id="36" name="Rounded Rectangle 6">
                <a:extLst>
                  <a:ext uri="{FF2B5EF4-FFF2-40B4-BE49-F238E27FC236}">
                    <a16:creationId xmlns:a16="http://schemas.microsoft.com/office/drawing/2014/main" id="{17740118-ADB5-8F4C-65A8-18712A5A45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 bwMode="auto">
              <a:xfrm>
                <a:off x="12850678" y="5319111"/>
                <a:ext cx="1726261" cy="192084"/>
              </a:xfrm>
              <a:prstGeom prst="roundRect">
                <a:avLst>
                  <a:gd name="adj" fmla="val 29733"/>
                </a:avLst>
              </a:prstGeom>
              <a:ln w="19050" cap="rnd">
                <a:noFill/>
                <a:headEnd type="none" w="lg" len="sm"/>
                <a:tailEnd type="none" w="lg" len="sm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none" lIns="243840" tIns="32512" rIns="54187" bIns="43349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552765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Pct val="90000"/>
                  <a:buFontTx/>
                  <a:buNone/>
                  <a:tabLst/>
                  <a:defRPr/>
                </a:pPr>
                <a:r>
                  <a:rPr kumimoji="0" lang="en-US" sz="7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Segoe UI Variable Display Semib" pitchFamily="2" charset="0"/>
                    <a:ea typeface="+mn-ea"/>
                    <a:cs typeface="Segoe Sans Display Semibold"/>
                  </a:rPr>
                  <a:t>Azure Functions</a:t>
                </a:r>
              </a:p>
            </p:txBody>
          </p:sp>
          <p:pic>
            <p:nvPicPr>
              <p:cNvPr id="37" name="Picture Placeholder 6">
                <a:extLst>
                  <a:ext uri="{FF2B5EF4-FFF2-40B4-BE49-F238E27FC236}">
                    <a16:creationId xmlns:a16="http://schemas.microsoft.com/office/drawing/2014/main" id="{02B4B1DC-84D9-1192-1010-C1396D01EF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 l="6" r="6"/>
              <a:stretch/>
            </p:blipFill>
            <p:spPr>
              <a:xfrm>
                <a:off x="12945360" y="5337071"/>
                <a:ext cx="322392" cy="150840"/>
              </a:xfrm>
              <a:prstGeom prst="rect">
                <a:avLst/>
              </a:prstGeom>
              <a:effectLst/>
            </p:spPr>
          </p:pic>
        </p:grpSp>
      </p:grpSp>
      <p:cxnSp>
        <p:nvCxnSpPr>
          <p:cNvPr id="44" name="!!Straight Arrow Connector 119">
            <a:extLst>
              <a:ext uri="{FF2B5EF4-FFF2-40B4-BE49-F238E27FC236}">
                <a16:creationId xmlns:a16="http://schemas.microsoft.com/office/drawing/2014/main" id="{76E09F83-2A2D-0024-DD30-69AC8BB07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453107" y="3070640"/>
            <a:ext cx="162420" cy="0"/>
          </a:xfrm>
          <a:prstGeom prst="straightConnector1">
            <a:avLst/>
          </a:prstGeom>
          <a:ln w="15875" cap="rnd">
            <a:solidFill>
              <a:schemeClr val="tx1"/>
            </a:solidFill>
            <a:headEnd type="arrow" w="lg" len="sm"/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!!Straight Arrow Connector 120">
            <a:extLst>
              <a:ext uri="{FF2B5EF4-FFF2-40B4-BE49-F238E27FC236}">
                <a16:creationId xmlns:a16="http://schemas.microsoft.com/office/drawing/2014/main" id="{59E9F49D-78E0-A3AD-22D2-FCE2B8905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396660" y="2967732"/>
            <a:ext cx="162420" cy="0"/>
          </a:xfrm>
          <a:prstGeom prst="straightConnector1">
            <a:avLst/>
          </a:prstGeom>
          <a:ln w="15875" cap="rnd">
            <a:solidFill>
              <a:schemeClr val="tx1"/>
            </a:solidFill>
            <a:headEnd type="arrow" w="lg" len="sm"/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!!Straight Arrow Connector 53">
            <a:extLst>
              <a:ext uri="{FF2B5EF4-FFF2-40B4-BE49-F238E27FC236}">
                <a16:creationId xmlns:a16="http://schemas.microsoft.com/office/drawing/2014/main" id="{43824FF7-470B-1582-585D-BFDA35363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600503" y="3096575"/>
            <a:ext cx="162420" cy="0"/>
          </a:xfrm>
          <a:prstGeom prst="straightConnector1">
            <a:avLst/>
          </a:prstGeom>
          <a:ln w="15875" cap="rnd">
            <a:solidFill>
              <a:schemeClr val="tx1"/>
            </a:solidFill>
            <a:headEnd type="arrow" w="lg" len="sm"/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!!Straight Arrow Connector 54">
            <a:extLst>
              <a:ext uri="{FF2B5EF4-FFF2-40B4-BE49-F238E27FC236}">
                <a16:creationId xmlns:a16="http://schemas.microsoft.com/office/drawing/2014/main" id="{5C71BB3F-D589-ECBC-12AF-5F371F4A5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44059" y="2993667"/>
            <a:ext cx="162420" cy="0"/>
          </a:xfrm>
          <a:prstGeom prst="straightConnector1">
            <a:avLst/>
          </a:prstGeom>
          <a:ln w="15875" cap="rnd">
            <a:solidFill>
              <a:schemeClr val="tx1"/>
            </a:solidFill>
            <a:headEnd type="arrow" w="lg" len="sm"/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8334DBC-F6E9-C003-0ECD-16E8FD6C9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750150" y="1621271"/>
            <a:ext cx="1828800" cy="2858747"/>
            <a:chOff x="16436156" y="1724296"/>
            <a:chExt cx="2249750" cy="3383280"/>
          </a:xfrm>
        </p:grpSpPr>
        <p:sp>
          <p:nvSpPr>
            <p:cNvPr id="49" name="Rounded Rectangle 6">
              <a:extLst>
                <a:ext uri="{FF2B5EF4-FFF2-40B4-BE49-F238E27FC236}">
                  <a16:creationId xmlns:a16="http://schemas.microsoft.com/office/drawing/2014/main" id="{575C681C-F1A5-B2E1-C4EB-D2F72635C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16436156" y="1724296"/>
              <a:ext cx="2249750" cy="3383280"/>
            </a:xfrm>
            <a:prstGeom prst="roundRect">
              <a:avLst>
                <a:gd name="adj" fmla="val 9110"/>
              </a:avLst>
            </a:prstGeom>
            <a:noFill/>
            <a:ln w="15875" cap="rnd">
              <a:solidFill>
                <a:srgbClr val="AC35AF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54819" tIns="123855" rIns="154819" bIns="123855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78942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93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Segoe UI Variable Display Semib" pitchFamily="2" charset="0"/>
                <a:ea typeface="+mn-ea"/>
                <a:cs typeface="Segoe UI" pitchFamily="34" charset="0"/>
              </a:endParaRPr>
            </a:p>
          </p:txBody>
        </p:sp>
        <p:sp>
          <p:nvSpPr>
            <p:cNvPr id="50" name="Rounded Rectangle 6">
              <a:extLst>
                <a:ext uri="{FF2B5EF4-FFF2-40B4-BE49-F238E27FC236}">
                  <a16:creationId xmlns:a16="http://schemas.microsoft.com/office/drawing/2014/main" id="{A0BA1E7A-93B8-97A8-DD2D-BABC6BDD6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16577852" y="1911855"/>
              <a:ext cx="648567" cy="292389"/>
            </a:xfrm>
            <a:prstGeom prst="roundRect">
              <a:avLst>
                <a:gd name="adj" fmla="val 37156"/>
              </a:avLst>
            </a:prstGeom>
            <a:gradFill flip="none" rotWithShape="1">
              <a:gsLst>
                <a:gs pos="0">
                  <a:srgbClr val="702573"/>
                </a:gs>
                <a:gs pos="80000">
                  <a:srgbClr val="2A446F"/>
                </a:gs>
              </a:gsLst>
              <a:path path="circle">
                <a:fillToRect l="100000" t="100000"/>
              </a:path>
              <a:tileRect r="-100000" b="-100000"/>
            </a:gradFill>
            <a:ln w="19050" cap="rnd">
              <a:noFill/>
              <a:headEnd type="none" w="lg" len="sm"/>
              <a:tailEnd type="none" w="lg" len="sm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none" lIns="54187" tIns="10837" rIns="54187" bIns="21675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552765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22018">
                        <a:srgbClr val="FFFFFF"/>
                      </a:gs>
                      <a:gs pos="44000">
                        <a:srgbClr val="FFFFFF"/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Segoe UI Variable Display Semib" pitchFamily="2" charset="0"/>
                  <a:ea typeface="+mn-ea"/>
                  <a:cs typeface="Segoe Sans Display Semibold"/>
                </a:rPr>
                <a:t>Cloud</a:t>
              </a:r>
            </a:p>
          </p:txBody>
        </p:sp>
        <p:cxnSp>
          <p:nvCxnSpPr>
            <p:cNvPr id="51" name="!!Straight Arrow Connector 18">
              <a:extLst>
                <a:ext uri="{FF2B5EF4-FFF2-40B4-BE49-F238E27FC236}">
                  <a16:creationId xmlns:a16="http://schemas.microsoft.com/office/drawing/2014/main" id="{F90E8B9B-51B9-E131-2AE3-467D414E3280}"/>
                </a:ext>
              </a:extLst>
            </p:cNvPr>
            <p:cNvCxnSpPr>
              <a:cxnSpLocks/>
            </p:cNvCxnSpPr>
            <p:nvPr/>
          </p:nvCxnSpPr>
          <p:spPr>
            <a:xfrm>
              <a:off x="16902133" y="2290320"/>
              <a:ext cx="0" cy="228600"/>
            </a:xfrm>
            <a:prstGeom prst="straightConnector1">
              <a:avLst/>
            </a:prstGeom>
            <a:ln w="12700" cap="rnd">
              <a:solidFill>
                <a:schemeClr val="tx1">
                  <a:alpha val="50000"/>
                </a:schemeClr>
              </a:solidFill>
              <a:headEnd type="arrow" w="lg" len="sm"/>
              <a:tailEnd type="none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 useBgFill="1">
          <p:nvSpPr>
            <p:cNvPr id="52" name="TextBox 51">
              <a:extLst>
                <a:ext uri="{FF2B5EF4-FFF2-40B4-BE49-F238E27FC236}">
                  <a16:creationId xmlns:a16="http://schemas.microsoft.com/office/drawing/2014/main" id="{99017BD0-D037-1E5C-9B12-C9BD35766D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17313105" y="2658199"/>
              <a:ext cx="1238313" cy="191231"/>
            </a:xfrm>
            <a:prstGeom prst="rect">
              <a:avLst/>
            </a:prstGeom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552765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Sans Display Semibold"/>
                </a:rPr>
                <a:t>Azure</a:t>
              </a:r>
            </a:p>
          </p:txBody>
        </p:sp>
        <p:cxnSp>
          <p:nvCxnSpPr>
            <p:cNvPr id="53" name="!!Straight Arrow Connector 46">
              <a:extLst>
                <a:ext uri="{FF2B5EF4-FFF2-40B4-BE49-F238E27FC236}">
                  <a16:creationId xmlns:a16="http://schemas.microsoft.com/office/drawing/2014/main" id="{B22168D3-1826-274B-EB6D-49480C7017BE}"/>
                </a:ext>
              </a:extLst>
            </p:cNvPr>
            <p:cNvCxnSpPr>
              <a:cxnSpLocks/>
            </p:cNvCxnSpPr>
            <p:nvPr/>
          </p:nvCxnSpPr>
          <p:spPr>
            <a:xfrm>
              <a:off x="16902134" y="2999820"/>
              <a:ext cx="0" cy="204311"/>
            </a:xfrm>
            <a:prstGeom prst="straightConnector1">
              <a:avLst/>
            </a:prstGeom>
            <a:ln w="12700" cap="rnd">
              <a:solidFill>
                <a:schemeClr val="tx1">
                  <a:alpha val="50000"/>
                </a:schemeClr>
              </a:solidFill>
              <a:headEnd type="none" w="lg" len="sm"/>
              <a:tailEnd type="none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7ED525D8-5257-9344-D04B-B61537D09BB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6727680" y="3280721"/>
              <a:ext cx="348907" cy="261293"/>
            </a:xfrm>
            <a:prstGeom prst="rect">
              <a:avLst/>
            </a:prstGeom>
          </p:spPr>
        </p:pic>
        <p:sp useBgFill="1">
          <p:nvSpPr>
            <p:cNvPr id="55" name="TextBox 54">
              <a:extLst>
                <a:ext uri="{FF2B5EF4-FFF2-40B4-BE49-F238E27FC236}">
                  <a16:creationId xmlns:a16="http://schemas.microsoft.com/office/drawing/2014/main" id="{AD704CA5-474B-349C-77F9-DCE989C648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17313105" y="3308879"/>
              <a:ext cx="822960" cy="191231"/>
            </a:xfrm>
            <a:prstGeom prst="rect">
              <a:avLst/>
            </a:prstGeom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552765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Sans Display Semibold"/>
                </a:rPr>
                <a:t>Azure Arc</a:t>
              </a:r>
            </a:p>
          </p:txBody>
        </p:sp>
        <p:cxnSp>
          <p:nvCxnSpPr>
            <p:cNvPr id="56" name="!!Straight Arrow Connector 50">
              <a:extLst>
                <a:ext uri="{FF2B5EF4-FFF2-40B4-BE49-F238E27FC236}">
                  <a16:creationId xmlns:a16="http://schemas.microsoft.com/office/drawing/2014/main" id="{042E2373-B86B-C8A0-A733-A71E6BD68BDC}"/>
                </a:ext>
              </a:extLst>
            </p:cNvPr>
            <p:cNvCxnSpPr>
              <a:cxnSpLocks/>
            </p:cNvCxnSpPr>
            <p:nvPr/>
          </p:nvCxnSpPr>
          <p:spPr>
            <a:xfrm>
              <a:off x="16902134" y="3629443"/>
              <a:ext cx="0" cy="215065"/>
            </a:xfrm>
            <a:prstGeom prst="straightConnector1">
              <a:avLst/>
            </a:prstGeom>
            <a:ln w="12700" cap="rnd">
              <a:solidFill>
                <a:schemeClr val="tx1">
                  <a:alpha val="50000"/>
                </a:schemeClr>
              </a:solidFill>
              <a:headEnd type="none" w="lg" len="sm"/>
              <a:tailEnd type="none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BFC53B6E-4678-B2F2-4901-AAD646B9AA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6739119" y="2609601"/>
              <a:ext cx="326029" cy="327916"/>
            </a:xfrm>
            <a:prstGeom prst="rect">
              <a:avLst/>
            </a:prstGeom>
          </p:spPr>
        </p:pic>
        <p:sp useBgFill="1">
          <p:nvSpPr>
            <p:cNvPr id="58" name="TextBox 57">
              <a:extLst>
                <a:ext uri="{FF2B5EF4-FFF2-40B4-BE49-F238E27FC236}">
                  <a16:creationId xmlns:a16="http://schemas.microsoft.com/office/drawing/2014/main" id="{E50ADD14-314F-3DB5-D490-D35BD86A3E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17313105" y="3959567"/>
              <a:ext cx="1075059" cy="191231"/>
            </a:xfrm>
            <a:prstGeom prst="rect">
              <a:avLst/>
            </a:prstGeom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552765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 Variable Display Semibold" pitchFamily="2" charset="0"/>
                  <a:ea typeface="+mn-ea"/>
                  <a:cs typeface="Segoe Sans Display Semibold"/>
                </a:rPr>
                <a:t>Foundry Local</a:t>
              </a:r>
            </a:p>
          </p:txBody>
        </p:sp>
        <p:cxnSp>
          <p:nvCxnSpPr>
            <p:cNvPr id="59" name="!!Straight Arrow Connector 45">
              <a:extLst>
                <a:ext uri="{FF2B5EF4-FFF2-40B4-BE49-F238E27FC236}">
                  <a16:creationId xmlns:a16="http://schemas.microsoft.com/office/drawing/2014/main" id="{34496E96-5C85-2174-7587-2B651BF4B6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902133" y="4316667"/>
              <a:ext cx="0" cy="228600"/>
            </a:xfrm>
            <a:prstGeom prst="straightConnector1">
              <a:avLst/>
            </a:prstGeom>
            <a:ln w="12700" cap="rnd">
              <a:solidFill>
                <a:schemeClr val="tx1">
                  <a:alpha val="50000"/>
                </a:schemeClr>
              </a:solidFill>
              <a:headEnd type="arrow" w="lg" len="sm"/>
              <a:tailEnd type="none" w="lg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ounded Rectangle 6">
              <a:extLst>
                <a:ext uri="{FF2B5EF4-FFF2-40B4-BE49-F238E27FC236}">
                  <a16:creationId xmlns:a16="http://schemas.microsoft.com/office/drawing/2014/main" id="{D3C03F6F-D03E-1651-D742-94C4F87BBD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16627676" y="4637121"/>
              <a:ext cx="598736" cy="292388"/>
            </a:xfrm>
            <a:prstGeom prst="roundRect">
              <a:avLst>
                <a:gd name="adj" fmla="val 37156"/>
              </a:avLst>
            </a:prstGeom>
            <a:gradFill flip="none" rotWithShape="1">
              <a:gsLst>
                <a:gs pos="0">
                  <a:srgbClr val="702573"/>
                </a:gs>
                <a:gs pos="80000">
                  <a:srgbClr val="2A446F"/>
                </a:gs>
              </a:gsLst>
              <a:path path="circle">
                <a:fillToRect l="100000" t="100000"/>
              </a:path>
              <a:tileRect r="-100000" b="-100000"/>
            </a:gradFill>
            <a:ln w="19050" cap="rnd">
              <a:noFill/>
              <a:headEnd type="none" w="lg" len="sm"/>
              <a:tailEnd type="none" w="lg" len="sm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54187" tIns="10837" rIns="54187" bIns="21675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552765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22018">
                        <a:srgbClr val="FFFFFF"/>
                      </a:gs>
                      <a:gs pos="44000">
                        <a:srgbClr val="FFFFFF"/>
                      </a:gs>
                    </a:gsLst>
                    <a:path path="circle">
                      <a:fillToRect r="100000" b="100000"/>
                    </a:path>
                  </a:gradFill>
                  <a:effectLst/>
                  <a:uLnTx/>
                  <a:uFillTx/>
                  <a:latin typeface="Segoe UI Variable Display Semib" pitchFamily="2" charset="0"/>
                  <a:ea typeface="+mn-ea"/>
                  <a:cs typeface="Segoe Sans Display Semibold"/>
                </a:rPr>
                <a:t>Edge</a:t>
              </a:r>
            </a:p>
          </p:txBody>
        </p:sp>
        <p:pic>
          <p:nvPicPr>
            <p:cNvPr id="61" name="Graphic 60">
              <a:extLst>
                <a:ext uri="{FF2B5EF4-FFF2-40B4-BE49-F238E27FC236}">
                  <a16:creationId xmlns:a16="http://schemas.microsoft.com/office/drawing/2014/main" id="{905E70EC-C78A-C4E2-9346-77BDE09AB71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6706009" y="3869178"/>
              <a:ext cx="398598" cy="398598"/>
            </a:xfrm>
            <a:prstGeom prst="rect">
              <a:avLst/>
            </a:prstGeom>
          </p:spPr>
        </p:pic>
      </p:grpSp>
      <p:cxnSp>
        <p:nvCxnSpPr>
          <p:cNvPr id="62" name="!!Straight Arrow Connector 53">
            <a:extLst>
              <a:ext uri="{FF2B5EF4-FFF2-40B4-BE49-F238E27FC236}">
                <a16:creationId xmlns:a16="http://schemas.microsoft.com/office/drawing/2014/main" id="{0E828E33-A899-0A8D-00FF-5713E7249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52692" y="4617040"/>
            <a:ext cx="4021" cy="167487"/>
          </a:xfrm>
          <a:prstGeom prst="straightConnector1">
            <a:avLst/>
          </a:prstGeom>
          <a:ln w="15875" cap="rnd">
            <a:solidFill>
              <a:schemeClr val="tx1"/>
            </a:solidFill>
            <a:headEnd type="arrow" w="lg" len="sm"/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!!Straight Arrow Connector 54">
            <a:extLst>
              <a:ext uri="{FF2B5EF4-FFF2-40B4-BE49-F238E27FC236}">
                <a16:creationId xmlns:a16="http://schemas.microsoft.com/office/drawing/2014/main" id="{75653E60-8BD0-74E3-AB64-A2009E5B15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6207847" y="4621560"/>
            <a:ext cx="0" cy="174922"/>
          </a:xfrm>
          <a:prstGeom prst="straightConnector1">
            <a:avLst/>
          </a:prstGeom>
          <a:ln w="15875" cap="rnd">
            <a:solidFill>
              <a:schemeClr val="tx1"/>
            </a:solidFill>
            <a:headEnd type="arrow" w="lg" len="sm"/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3895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85185E-6 L 0 0.03541 " pathEditMode="relative" rAng="0" ptsTypes="AA">
                                      <p:cBhvr>
                                        <p:cTn id="9" dur="70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7.40741E-7 L 0 0.03542 " pathEditMode="relative" rAng="0" ptsTypes="AA">
                                      <p:cBhvr>
                                        <p:cTn id="14" dur="70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6" presetClass="entr" presetSubtype="37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96296E-6 L 0 0.03541 " pathEditMode="relative" rAng="0" ptsTypes="AA">
                                      <p:cBhvr>
                                        <p:cTn id="22" dur="70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-7.40741E-7 L 0 0.03542 " pathEditMode="relative" rAng="0" ptsTypes="AA">
                                      <p:cBhvr>
                                        <p:cTn id="27" dur="70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-7.40741E-7 L 0 0.03542 " pathEditMode="relative" rAng="0" ptsTypes="AA">
                                      <p:cBhvr>
                                        <p:cTn id="32" dur="7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-7.40741E-7 L 0 0.03542 " pathEditMode="relative" rAng="0" ptsTypes="AA">
                                      <p:cBhvr>
                                        <p:cTn id="37" dur="7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-7.40741E-7 L 0 0.03542 " pathEditMode="relative" rAng="0" ptsTypes="AA">
                                      <p:cBhvr>
                                        <p:cTn id="42" dur="7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-7.40741E-7 L 0 0.03542 " pathEditMode="relative" rAng="0" ptsTypes="AA">
                                      <p:cBhvr>
                                        <p:cTn id="47" dur="7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-7.40741E-7 L 0 0.03542 " pathEditMode="relative" rAng="0" ptsTypes="AA">
                                      <p:cBhvr>
                                        <p:cTn id="52" dur="7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2" presetClass="path" presetSubtype="0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-7.40741E-7 L 0 0.03542 " pathEditMode="relative" rAng="0" ptsTypes="AA">
                                      <p:cBhvr>
                                        <p:cTn id="57" dur="7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2" presetClass="path" presetSubtype="0" decel="10000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-7.40741E-7 L 0 0.03542 " pathEditMode="relative" rAng="0" ptsTypes="AA">
                                      <p:cBhvr>
                                        <p:cTn id="62" dur="7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5" presetClass="path" presetSubtype="0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1.97531E-6 1.85185E-6 L -0.00702 1.85185E-6 " pathEditMode="relative" rAng="0" ptsTypes="AA">
                                      <p:cBhvr>
                                        <p:cTn id="67" dur="700" spd="-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5" y="0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22" presetClass="entr" presetSubtype="2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5" presetClass="path" presetSubtype="0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1.60494E-6 3.33333E-6 L 0.00733 3.33333E-6 " pathEditMode="relative" rAng="0" ptsTypes="AA">
                                      <p:cBhvr>
                                        <p:cTn id="72" dur="700" spd="-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3" y="0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5" presetClass="path" presetSubtype="0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1.60494E-6 1.85185E-6 L -0.00702 1.85185E-6 " pathEditMode="relative" rAng="0" ptsTypes="AA">
                                      <p:cBhvr>
                                        <p:cTn id="77" dur="70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5" y="0"/>
                                    </p:animMotion>
                                  </p:childTnLst>
                                </p:cTn>
                              </p:par>
                              <p:par>
                                <p:cTn id="78" presetID="22" presetClass="entr" presetSubtype="2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5" presetClass="path" presetSubtype="0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1.97531E-6 3.33333E-6 L 0.00756 3.33333E-6 " pathEditMode="relative" rAng="0" ptsTypes="AA">
                                      <p:cBhvr>
                                        <p:cTn id="82" dur="70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8" y="0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5" presetClass="path" presetSubtype="0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4.44444E-6 4.07407E-6 L -0.01797 4.07407E-6 " pathEditMode="relative" rAng="0" ptsTypes="AA">
                                      <p:cBhvr>
                                        <p:cTn id="87" dur="70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3" y="0"/>
                                    </p:animMotion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5" presetClass="path" presetSubtype="0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4.44444E-6 4.07407E-6 L 0.02199 4.07407E-6 " pathEditMode="relative" rAng="0" ptsTypes="AA">
                                      <p:cBhvr>
                                        <p:cTn id="92" dur="700" spd="-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96" y="0"/>
                                    </p:animMotion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35" presetClass="path" presetSubtype="0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1.97531E-6 1.85185E-6 L -0.00702 1.85185E-6 " pathEditMode="relative" rAng="0" ptsTypes="AA">
                                      <p:cBhvr>
                                        <p:cTn id="97" dur="700" spd="-100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5" y="0"/>
                                    </p:animMotion>
                                  </p:childTnLst>
                                </p:cTn>
                              </p:par>
                              <p:par>
                                <p:cTn id="98" presetID="22" presetClass="entr" presetSubtype="2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35" presetClass="path" presetSubtype="0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4.58333E-6 -4.07407E-6 L 0.0073 -4.07407E-6 " pathEditMode="relative" rAng="0" ptsTypes="AA">
                                      <p:cBhvr>
                                        <p:cTn id="102" dur="700" spd="-100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7" grpId="0"/>
      <p:bldP spid="7" grpId="1"/>
      <p:bldP spid="8" grpId="0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A129D-82EA-730A-CDC3-BECA5F862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5D16B3-159A-B5C1-6E53-6039DEE0E50E}"/>
              </a:ext>
            </a:extLst>
          </p:cNvPr>
          <p:cNvSpPr txBox="1"/>
          <p:nvPr/>
        </p:nvSpPr>
        <p:spPr>
          <a:xfrm>
            <a:off x="342627" y="268979"/>
            <a:ext cx="11270253" cy="6647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</a:rPr>
              <a:t>🔍 Challenges of the Manual Process</a:t>
            </a:r>
          </a:p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</a:rPr>
              <a:t>1. Time &amp; Throughput Constraints</a:t>
            </a:r>
          </a:p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👉 Result: Investigators spend more time processing data than analyzing it.</a:t>
            </a:r>
          </a:p>
          <a:p>
            <a:pPr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</a:rPr>
              <a:t>2. Human Error &amp; Data Quality Risks</a:t>
            </a:r>
          </a:p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👉 Result: Poor data quality reduces effectiveness of downstream analysis and matching.</a:t>
            </a:r>
          </a:p>
          <a:p>
            <a:pPr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</a:rPr>
              <a:t>3. Cognitive Load &amp; Fatigue</a:t>
            </a:r>
          </a:p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👉 Result: Mental fatigue → lower accuracy and slower decision-making.</a:t>
            </a:r>
          </a:p>
          <a:p>
            <a:pPr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</a:rPr>
              <a:t>4. Lack of Searchability &amp; Insight</a:t>
            </a:r>
          </a:p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👉 Result: Investigators cannot easily identify patterns, trends, or connections across cases.</a:t>
            </a:r>
          </a:p>
          <a:p>
            <a:pPr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</a:rPr>
              <a:t>5. Inefficient System Interaction</a:t>
            </a:r>
          </a:p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👉 Result: High friction in moving from </a:t>
            </a:r>
            <a:r>
              <a:rPr lang="en-US" sz="2400" b="1" dirty="0">
                <a:solidFill>
                  <a:schemeClr val="bg1"/>
                </a:solidFill>
              </a:rPr>
              <a:t>data → action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  <a:p>
            <a:pPr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787F5E-C457-B7A9-B066-C3AC253C0E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7270" y="5546464"/>
            <a:ext cx="850900" cy="124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346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FD8AB-B2DC-5ADB-E37D-BF28141C1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6DFC57-ECD1-E583-E6C6-B031B57F5BCF}"/>
              </a:ext>
            </a:extLst>
          </p:cNvPr>
          <p:cNvSpPr txBox="1"/>
          <p:nvPr/>
        </p:nvSpPr>
        <p:spPr>
          <a:xfrm>
            <a:off x="26895" y="0"/>
            <a:ext cx="10841402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</a:rPr>
              <a:t>⚡ Benefits of the Automated Solution</a:t>
            </a:r>
          </a:p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</a:rPr>
              <a:t>1. Massive Time Savings</a:t>
            </a:r>
          </a:p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👉 Impact: Investigators can process </a:t>
            </a:r>
            <a:r>
              <a:rPr lang="en-US" sz="2400" b="1" dirty="0">
                <a:solidFill>
                  <a:schemeClr val="bg1"/>
                </a:solidFill>
              </a:rPr>
              <a:t>10–20x more cases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  <a:p>
            <a:pPr>
              <a:buNone/>
            </a:pP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>2. Improved Accuracy &amp; Consistency</a:t>
            </a:r>
          </a:p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👉 Impact: More reliable data → better case matching and analytics.</a:t>
            </a:r>
          </a:p>
          <a:p>
            <a:pPr>
              <a:buNone/>
            </a:pP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>3. Intelligent Search &amp; Retrieval</a:t>
            </a:r>
          </a:p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👉 Impact: Faster discovery of connections between cases.</a:t>
            </a:r>
          </a:p>
          <a:p>
            <a:pPr>
              <a:buNone/>
            </a:pP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>4. End-to-End Automation of Workflows</a:t>
            </a:r>
          </a:p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👉 Impact: Removes repetitive administrative work entirely</a:t>
            </a: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>5. Natural Language Interaction with Data</a:t>
            </a:r>
          </a:p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👉 Impact: Democratizes access to insights for all users.</a:t>
            </a:r>
          </a:p>
          <a:p>
            <a:pPr>
              <a:buNone/>
            </a:pP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>6. Scalability &amp; Continuous Improvement</a:t>
            </a:r>
          </a:p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👉 Impact: Future-proof solution for growing case loads</a:t>
            </a:r>
            <a:r>
              <a:rPr lang="en-US" sz="2400" dirty="0"/>
              <a:t>.</a:t>
            </a:r>
          </a:p>
          <a:p>
            <a:pPr>
              <a:buNone/>
            </a:pPr>
            <a:r>
              <a:rPr lang="en-US" dirty="0"/>
              <a:t>.</a:t>
            </a:r>
          </a:p>
          <a:p>
            <a:pPr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6F10C9-C3FE-B015-FF44-7AE3814824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7270" y="5546464"/>
            <a:ext cx="850900" cy="124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682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A9D9B-D4A5-6F9D-6FCD-B5D174EDA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F7BE3D-2515-D578-96CD-46AC6339CCF5}"/>
              </a:ext>
            </a:extLst>
          </p:cNvPr>
          <p:cNvSpPr txBox="1"/>
          <p:nvPr/>
        </p:nvSpPr>
        <p:spPr>
          <a:xfrm>
            <a:off x="26895" y="163404"/>
            <a:ext cx="12165105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bg1"/>
                </a:solidFill>
              </a:rPr>
              <a:t>🎯 Alignment to the Ultimate Goal: Solving Cold Cases: How This Directly Helps Investigations</a:t>
            </a:r>
            <a:br>
              <a:rPr lang="en-US" sz="2000" b="1" dirty="0">
                <a:solidFill>
                  <a:schemeClr val="bg1"/>
                </a:solidFill>
              </a:rPr>
            </a:br>
            <a:endParaRPr lang="en-US" sz="2000" b="1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2000" b="1" dirty="0">
                <a:solidFill>
                  <a:schemeClr val="bg1"/>
                </a:solidFill>
              </a:rPr>
              <a:t>1. More Cases Processed</a:t>
            </a:r>
          </a:p>
          <a:p>
            <a:r>
              <a:rPr lang="en-US" sz="2000" dirty="0">
                <a:solidFill>
                  <a:schemeClr val="bg1"/>
                </a:solidFill>
              </a:rPr>
              <a:t>👉 Backlog reduction → more historical cases digitized and searchable </a:t>
            </a:r>
          </a:p>
          <a:p>
            <a:pPr>
              <a:buNone/>
            </a:pPr>
            <a:r>
              <a:rPr lang="en-US" sz="2000" b="1" dirty="0">
                <a:solidFill>
                  <a:schemeClr val="bg1"/>
                </a:solidFill>
              </a:rPr>
              <a:t>2. Better Pattern Recognition</a:t>
            </a:r>
          </a:p>
          <a:p>
            <a:r>
              <a:rPr lang="en-US" sz="2000" dirty="0">
                <a:solidFill>
                  <a:schemeClr val="bg1"/>
                </a:solidFill>
              </a:rPr>
              <a:t>👉 AI + search enables: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Cross-case comparisons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Identification of similarities that humans may miss </a:t>
            </a:r>
          </a:p>
          <a:p>
            <a:pPr>
              <a:buNone/>
            </a:pPr>
            <a:r>
              <a:rPr lang="en-US" sz="2000" b="1" dirty="0">
                <a:solidFill>
                  <a:schemeClr val="bg1"/>
                </a:solidFill>
              </a:rPr>
              <a:t>3. Faster Time to Insight</a:t>
            </a:r>
          </a:p>
          <a:p>
            <a:r>
              <a:rPr lang="en-US" sz="2000" dirty="0">
                <a:solidFill>
                  <a:schemeClr val="bg1"/>
                </a:solidFill>
              </a:rPr>
              <a:t>👉 Investigators move from: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Manual processing → Immediate analysis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pPr>
              <a:buNone/>
            </a:pPr>
            <a:r>
              <a:rPr lang="en-US" sz="2000" b="1" dirty="0">
                <a:solidFill>
                  <a:schemeClr val="bg1"/>
                </a:solidFill>
              </a:rPr>
              <a:t>4. Higher Data Integrity</a:t>
            </a:r>
          </a:p>
          <a:p>
            <a:r>
              <a:rPr lang="en-US" sz="2000" dirty="0">
                <a:solidFill>
                  <a:schemeClr val="bg1"/>
                </a:solidFill>
              </a:rPr>
              <a:t>👉 Accurate, structured data improves: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Matching algorithms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Case linking </a:t>
            </a:r>
          </a:p>
          <a:p>
            <a:pPr>
              <a:buNone/>
            </a:pPr>
            <a:r>
              <a:rPr lang="en-US" sz="2000" b="1" dirty="0">
                <a:solidFill>
                  <a:schemeClr val="bg1"/>
                </a:solidFill>
              </a:rPr>
              <a:t>5. Focus on Investigation, Not Administration</a:t>
            </a:r>
          </a:p>
          <a:p>
            <a:r>
              <a:rPr lang="en-US" sz="2000" dirty="0">
                <a:solidFill>
                  <a:schemeClr val="bg1"/>
                </a:solidFill>
              </a:rPr>
              <a:t>👉 Investigators spend time on: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Analysis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Decision-making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Collaboration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CCEA35-73AB-DAB7-F6DD-7E4593FD0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7270" y="5546464"/>
            <a:ext cx="850900" cy="124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079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099F9-C103-C702-FB5C-1CE42F1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B4C9AE-B45C-44E9-9966-0C7299EDB126}"/>
              </a:ext>
            </a:extLst>
          </p:cNvPr>
          <p:cNvSpPr txBox="1"/>
          <p:nvPr/>
        </p:nvSpPr>
        <p:spPr>
          <a:xfrm>
            <a:off x="300348" y="264070"/>
            <a:ext cx="9413696" cy="627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</a:rPr>
              <a:t>Executive Summary</a:t>
            </a: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Before:</a:t>
            </a: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Labor-intensive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Error-prone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Slow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Data siloed and underutilized 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After:</a:t>
            </a: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Automated ingestion and extraction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High-quality structured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Intelligent search and AI insights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Seamless system integration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Conversational access to knowledge </a:t>
            </a:r>
          </a:p>
          <a:p>
            <a:pPr>
              <a:buNone/>
            </a:pP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🚀 Bottom Line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This solution transforms the process from </a:t>
            </a:r>
            <a:r>
              <a:rPr lang="en-US" b="1" dirty="0">
                <a:solidFill>
                  <a:schemeClr val="bg1"/>
                </a:solidFill>
              </a:rPr>
              <a:t>document handling</a:t>
            </a:r>
            <a:r>
              <a:rPr lang="en-US" dirty="0">
                <a:solidFill>
                  <a:schemeClr val="bg1"/>
                </a:solidFill>
              </a:rPr>
              <a:t> to </a:t>
            </a:r>
            <a:r>
              <a:rPr lang="en-US" b="1" dirty="0">
                <a:solidFill>
                  <a:schemeClr val="bg1"/>
                </a:solidFill>
              </a:rPr>
              <a:t>intelligence generation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👉 The real value isn’t just efficiency—it’s enabling investigators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Surface hidden connections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Act faster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Increase the probability of identifying victims and suspects </a:t>
            </a: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Ultimately: more cold cases solved, faster, with higher confidence.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0DBFEF-8CC5-E134-73F3-E277555909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7270" y="5546464"/>
            <a:ext cx="850900" cy="124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522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55860-1315-69D5-DDA5-BC1EF3E47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8E287F-EFF9-4AA1-9361-24A134B2778A}"/>
              </a:ext>
            </a:extLst>
          </p:cNvPr>
          <p:cNvSpPr txBox="1"/>
          <p:nvPr/>
        </p:nvSpPr>
        <p:spPr>
          <a:xfrm>
            <a:off x="2767148" y="1720840"/>
            <a:ext cx="665770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</a:rPr>
              <a:t>DEMO Flow and resources used.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4D0D9B-9FA7-BD7B-085D-58FECAB0A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7270" y="5546464"/>
            <a:ext cx="850900" cy="124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524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3AF7A-F98D-6E1B-4C2A-DF9F17E08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699329D-6D0A-7613-51B7-BE810C9508DB}"/>
              </a:ext>
            </a:extLst>
          </p:cNvPr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</a:rPr>
              <a:t>Day in the life: operational flow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5440984B-B57D-6319-D608-91C9E3225099}"/>
              </a:ext>
            </a:extLst>
          </p:cNvPr>
          <p:cNvSpPr/>
          <p:nvPr/>
        </p:nvSpPr>
        <p:spPr>
          <a:xfrm>
            <a:off x="822960" y="1490472"/>
            <a:ext cx="731520" cy="0"/>
          </a:xfrm>
          <a:prstGeom prst="line">
            <a:avLst/>
          </a:prstGeom>
          <a:noFill/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7F9AA4DB-332E-1250-5625-425CE76E0D3A}"/>
              </a:ext>
            </a:extLst>
          </p:cNvPr>
          <p:cNvSpPr/>
          <p:nvPr/>
        </p:nvSpPr>
        <p:spPr>
          <a:xfrm>
            <a:off x="137160" y="1188720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699A8933-1503-525E-73B6-97C4352B6239}"/>
              </a:ext>
            </a:extLst>
          </p:cNvPr>
          <p:cNvSpPr/>
          <p:nvPr/>
        </p:nvSpPr>
        <p:spPr>
          <a:xfrm>
            <a:off x="256032" y="127101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7858CCF3-B693-2D59-9E28-BC50043F0CF7}"/>
              </a:ext>
            </a:extLst>
          </p:cNvPr>
          <p:cNvSpPr/>
          <p:nvPr/>
        </p:nvSpPr>
        <p:spPr>
          <a:xfrm>
            <a:off x="1005840" y="1115568"/>
            <a:ext cx="9875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23DE1521-1499-AF9F-1F93-0B70763B6756}"/>
              </a:ext>
            </a:extLst>
          </p:cNvPr>
          <p:cNvSpPr/>
          <p:nvPr/>
        </p:nvSpPr>
        <p:spPr>
          <a:xfrm>
            <a:off x="1170432" y="1225296"/>
            <a:ext cx="954633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8:30 - Select case file</a:t>
            </a:r>
            <a:endParaRPr lang="en-US" sz="16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22EB946B-6418-6EFC-E27B-2E0E01A825CF}"/>
              </a:ext>
            </a:extLst>
          </p:cNvPr>
          <p:cNvSpPr/>
          <p:nvPr/>
        </p:nvSpPr>
        <p:spPr>
          <a:xfrm>
            <a:off x="1170432" y="1527048"/>
            <a:ext cx="95463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Investigator chooses a cold case PDF in the internal UI.</a:t>
            </a:r>
            <a:endParaRPr lang="en-US" sz="11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C1BEF19F-93DD-0B52-3B17-D82EC3802ED8}"/>
              </a:ext>
            </a:extLst>
          </p:cNvPr>
          <p:cNvSpPr/>
          <p:nvPr/>
        </p:nvSpPr>
        <p:spPr>
          <a:xfrm>
            <a:off x="822960" y="2313432"/>
            <a:ext cx="731520" cy="0"/>
          </a:xfrm>
          <a:prstGeom prst="line">
            <a:avLst/>
          </a:prstGeom>
          <a:noFill/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F140D339-077F-EA12-DEF2-5BDCCE08DAA0}"/>
              </a:ext>
            </a:extLst>
          </p:cNvPr>
          <p:cNvSpPr/>
          <p:nvPr/>
        </p:nvSpPr>
        <p:spPr>
          <a:xfrm>
            <a:off x="137160" y="2011680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7B921DE-A772-AEE6-F9A7-3982A5173FD9}"/>
              </a:ext>
            </a:extLst>
          </p:cNvPr>
          <p:cNvSpPr/>
          <p:nvPr/>
        </p:nvSpPr>
        <p:spPr>
          <a:xfrm>
            <a:off x="256032" y="209397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68CCD3A8-C191-2FE7-3D18-9452D2C36275}"/>
              </a:ext>
            </a:extLst>
          </p:cNvPr>
          <p:cNvSpPr/>
          <p:nvPr/>
        </p:nvSpPr>
        <p:spPr>
          <a:xfrm>
            <a:off x="1005840" y="1938528"/>
            <a:ext cx="9875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71B1CD13-81D5-08B4-8958-C0F7D6952BB1}"/>
              </a:ext>
            </a:extLst>
          </p:cNvPr>
          <p:cNvSpPr/>
          <p:nvPr/>
        </p:nvSpPr>
        <p:spPr>
          <a:xfrm>
            <a:off x="1170432" y="2048256"/>
            <a:ext cx="954633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8:31 - Extract and analyze</a:t>
            </a:r>
            <a:endParaRPr lang="en-US" sz="16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76744FDB-9710-5164-3C7C-C41715239277}"/>
              </a:ext>
            </a:extLst>
          </p:cNvPr>
          <p:cNvSpPr/>
          <p:nvPr/>
        </p:nvSpPr>
        <p:spPr>
          <a:xfrm>
            <a:off x="1170432" y="2350008"/>
            <a:ext cx="95463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Azure Document Intelligence extracts text; AI maps it to required fields and emits JSON.</a:t>
            </a:r>
            <a:endParaRPr lang="en-US" sz="1100" dirty="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A417A9B8-CEDA-8692-D55B-8801C65533E2}"/>
              </a:ext>
            </a:extLst>
          </p:cNvPr>
          <p:cNvSpPr/>
          <p:nvPr/>
        </p:nvSpPr>
        <p:spPr>
          <a:xfrm>
            <a:off x="822960" y="3136392"/>
            <a:ext cx="731520" cy="0"/>
          </a:xfrm>
          <a:prstGeom prst="line">
            <a:avLst/>
          </a:prstGeom>
          <a:noFill/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9F5D7D29-1DE2-7767-2856-EDEB62009D6C}"/>
              </a:ext>
            </a:extLst>
          </p:cNvPr>
          <p:cNvSpPr/>
          <p:nvPr/>
        </p:nvSpPr>
        <p:spPr>
          <a:xfrm>
            <a:off x="137160" y="2834640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50A1F516-6332-FEE7-91D4-25A3C7A509FE}"/>
              </a:ext>
            </a:extLst>
          </p:cNvPr>
          <p:cNvSpPr/>
          <p:nvPr/>
        </p:nvSpPr>
        <p:spPr>
          <a:xfrm>
            <a:off x="256032" y="291693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35C62B03-16B2-068E-A209-2348CC35422D}"/>
              </a:ext>
            </a:extLst>
          </p:cNvPr>
          <p:cNvSpPr/>
          <p:nvPr/>
        </p:nvSpPr>
        <p:spPr>
          <a:xfrm>
            <a:off x="1005840" y="2761488"/>
            <a:ext cx="9875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61E33ED4-DABD-825B-B57F-F871496E31C1}"/>
              </a:ext>
            </a:extLst>
          </p:cNvPr>
          <p:cNvSpPr/>
          <p:nvPr/>
        </p:nvSpPr>
        <p:spPr>
          <a:xfrm>
            <a:off x="1170432" y="2871216"/>
            <a:ext cx="954633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8:32 - Trigger automation</a:t>
            </a:r>
            <a:endParaRPr lang="en-US" sz="1600" dirty="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759C493F-45A6-948F-35B3-1ECCA3F25D3B}"/>
              </a:ext>
            </a:extLst>
          </p:cNvPr>
          <p:cNvSpPr/>
          <p:nvPr/>
        </p:nvSpPr>
        <p:spPr>
          <a:xfrm>
            <a:off x="1170432" y="3172968"/>
            <a:ext cx="95463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Output landing in Azure storage triggers the cloud automation.</a:t>
            </a:r>
            <a:endParaRPr lang="en-US" sz="1100" dirty="0"/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D4338979-B859-392B-B470-507CC95D8D30}"/>
              </a:ext>
            </a:extLst>
          </p:cNvPr>
          <p:cNvSpPr/>
          <p:nvPr/>
        </p:nvSpPr>
        <p:spPr>
          <a:xfrm>
            <a:off x="822960" y="3959352"/>
            <a:ext cx="731520" cy="0"/>
          </a:xfrm>
          <a:prstGeom prst="line">
            <a:avLst/>
          </a:prstGeom>
          <a:noFill/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944D3833-DAB5-2F4C-637C-5AFB00A1385E}"/>
              </a:ext>
            </a:extLst>
          </p:cNvPr>
          <p:cNvSpPr/>
          <p:nvPr/>
        </p:nvSpPr>
        <p:spPr>
          <a:xfrm>
            <a:off x="137160" y="3657600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1DD08A7E-4755-8E9B-9A5E-D400273EA528}"/>
              </a:ext>
            </a:extLst>
          </p:cNvPr>
          <p:cNvSpPr/>
          <p:nvPr/>
        </p:nvSpPr>
        <p:spPr>
          <a:xfrm>
            <a:off x="256032" y="373989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2E617509-C017-1BE8-13B3-087D1E15DBB9}"/>
              </a:ext>
            </a:extLst>
          </p:cNvPr>
          <p:cNvSpPr/>
          <p:nvPr/>
        </p:nvSpPr>
        <p:spPr>
          <a:xfrm>
            <a:off x="1005840" y="3584448"/>
            <a:ext cx="9875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8A15D937-30F5-3B08-C55A-014FB45E0EF8}"/>
              </a:ext>
            </a:extLst>
          </p:cNvPr>
          <p:cNvSpPr/>
          <p:nvPr/>
        </p:nvSpPr>
        <p:spPr>
          <a:xfrm>
            <a:off x="1170432" y="3694176"/>
            <a:ext cx="954633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8:33 - Populate workbook</a:t>
            </a:r>
            <a:endParaRPr lang="en-US" sz="1600" dirty="0"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50693A6A-7419-9833-0010-FFF4158C7630}"/>
              </a:ext>
            </a:extLst>
          </p:cNvPr>
          <p:cNvSpPr/>
          <p:nvPr/>
        </p:nvSpPr>
        <p:spPr>
          <a:xfrm>
            <a:off x="1170432" y="3995928"/>
            <a:ext cx="95463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Automation writes values into the correct Excel columns for case tracking and NAMUS prep.</a:t>
            </a:r>
            <a:endParaRPr lang="en-US" sz="1100" dirty="0"/>
          </a:p>
        </p:txBody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9A989944-ECE9-56C0-9217-41736A0AF259}"/>
              </a:ext>
            </a:extLst>
          </p:cNvPr>
          <p:cNvSpPr/>
          <p:nvPr/>
        </p:nvSpPr>
        <p:spPr>
          <a:xfrm>
            <a:off x="822960" y="4782312"/>
            <a:ext cx="731520" cy="0"/>
          </a:xfrm>
          <a:prstGeom prst="line">
            <a:avLst/>
          </a:prstGeom>
          <a:noFill/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6">
            <a:extLst>
              <a:ext uri="{FF2B5EF4-FFF2-40B4-BE49-F238E27FC236}">
                <a16:creationId xmlns:a16="http://schemas.microsoft.com/office/drawing/2014/main" id="{FCF32439-9784-1425-C399-730C68824223}"/>
              </a:ext>
            </a:extLst>
          </p:cNvPr>
          <p:cNvSpPr/>
          <p:nvPr/>
        </p:nvSpPr>
        <p:spPr>
          <a:xfrm>
            <a:off x="137160" y="4480560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E3406F69-CE39-02FD-FFD4-8A856A49AF4B}"/>
              </a:ext>
            </a:extLst>
          </p:cNvPr>
          <p:cNvSpPr/>
          <p:nvPr/>
        </p:nvSpPr>
        <p:spPr>
          <a:xfrm>
            <a:off x="256032" y="456285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18CA6C53-5408-72DA-7B71-35561B861C94}"/>
              </a:ext>
            </a:extLst>
          </p:cNvPr>
          <p:cNvSpPr/>
          <p:nvPr/>
        </p:nvSpPr>
        <p:spPr>
          <a:xfrm>
            <a:off x="1005840" y="4407408"/>
            <a:ext cx="9875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D8183B48-06EA-7AD8-0E5C-A07D4ECD993F}"/>
              </a:ext>
            </a:extLst>
          </p:cNvPr>
          <p:cNvSpPr/>
          <p:nvPr/>
        </p:nvSpPr>
        <p:spPr>
          <a:xfrm>
            <a:off x="1170432" y="4517136"/>
            <a:ext cx="954633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8:35 - Run NAMUS search</a:t>
            </a:r>
            <a:endParaRPr lang="en-US" sz="1600" dirty="0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EF799F92-96F2-9E6E-65F9-30FE82013981}"/>
              </a:ext>
            </a:extLst>
          </p:cNvPr>
          <p:cNvSpPr/>
          <p:nvPr/>
        </p:nvSpPr>
        <p:spPr>
          <a:xfrm>
            <a:off x="1170432" y="4818888"/>
            <a:ext cx="95463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Desktop automation opens the NAMUS site: direct lookup if a NAMUS ID exists, otherwise criteria-based search.</a:t>
            </a:r>
            <a:endParaRPr lang="en-US" sz="1100" dirty="0"/>
          </a:p>
        </p:txBody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0CDFB3AC-75FB-6103-127F-7291EED99DF5}"/>
              </a:ext>
            </a:extLst>
          </p:cNvPr>
          <p:cNvSpPr/>
          <p:nvPr/>
        </p:nvSpPr>
        <p:spPr>
          <a:xfrm>
            <a:off x="822960" y="5605272"/>
            <a:ext cx="731520" cy="0"/>
          </a:xfrm>
          <a:prstGeom prst="line">
            <a:avLst/>
          </a:prstGeom>
          <a:noFill/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2">
            <a:extLst>
              <a:ext uri="{FF2B5EF4-FFF2-40B4-BE49-F238E27FC236}">
                <a16:creationId xmlns:a16="http://schemas.microsoft.com/office/drawing/2014/main" id="{F828022F-524D-7FB6-C3CB-B983F90F3EFA}"/>
              </a:ext>
            </a:extLst>
          </p:cNvPr>
          <p:cNvSpPr/>
          <p:nvPr/>
        </p:nvSpPr>
        <p:spPr>
          <a:xfrm>
            <a:off x="137160" y="5303520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A7A66B85-78F0-5CA3-BCD7-A55D8FFD8D7A}"/>
              </a:ext>
            </a:extLst>
          </p:cNvPr>
          <p:cNvSpPr/>
          <p:nvPr/>
        </p:nvSpPr>
        <p:spPr>
          <a:xfrm>
            <a:off x="256032" y="538581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8" name="Shape 34">
            <a:extLst>
              <a:ext uri="{FF2B5EF4-FFF2-40B4-BE49-F238E27FC236}">
                <a16:creationId xmlns:a16="http://schemas.microsoft.com/office/drawing/2014/main" id="{0351A560-6AAC-5F6E-42B3-79FB5090E48B}"/>
              </a:ext>
            </a:extLst>
          </p:cNvPr>
          <p:cNvSpPr/>
          <p:nvPr/>
        </p:nvSpPr>
        <p:spPr>
          <a:xfrm>
            <a:off x="1005840" y="5230368"/>
            <a:ext cx="9875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5">
            <a:extLst>
              <a:ext uri="{FF2B5EF4-FFF2-40B4-BE49-F238E27FC236}">
                <a16:creationId xmlns:a16="http://schemas.microsoft.com/office/drawing/2014/main" id="{0ED03186-5F3A-A0D3-6719-4460B66DE52B}"/>
              </a:ext>
            </a:extLst>
          </p:cNvPr>
          <p:cNvSpPr/>
          <p:nvPr/>
        </p:nvSpPr>
        <p:spPr>
          <a:xfrm>
            <a:off x="1170432" y="5340096"/>
            <a:ext cx="954633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8:38 - Review leads</a:t>
            </a:r>
            <a:endParaRPr lang="en-US" sz="1600" dirty="0"/>
          </a:p>
        </p:txBody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5AA713A4-AE92-24F3-4A47-A979563D66E2}"/>
              </a:ext>
            </a:extLst>
          </p:cNvPr>
          <p:cNvSpPr/>
          <p:nvPr/>
        </p:nvSpPr>
        <p:spPr>
          <a:xfrm>
            <a:off x="1170432" y="5641848"/>
            <a:ext cx="95463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Investigator reviews likely matches and the supervisor prioritizes follow-up.</a:t>
            </a:r>
            <a:endParaRPr lang="en-US" sz="11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6B3DA0-CFE8-E280-A29F-9603A3CFC4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7270" y="5546464"/>
            <a:ext cx="850900" cy="124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082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2C163-4366-8E66-5B30-3C4FDD71B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diagram illustrates a process where a user selects a document, Azure Document Intelligence analyzes it, Azure Open Al searches for data, and an Azure Logic app processes the results to update an Excel file.&#10;&#10;AI-generated content may be incorrect.">
            <a:extLst>
              <a:ext uri="{FF2B5EF4-FFF2-40B4-BE49-F238E27FC236}">
                <a16:creationId xmlns:a16="http://schemas.microsoft.com/office/drawing/2014/main" id="{A65E68BF-EABB-E2EC-F985-0EC831FCBD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176" y="0"/>
            <a:ext cx="3899647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13DA9CB-734F-EFC6-FA79-C21DDC472D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7270" y="5546464"/>
            <a:ext cx="850900" cy="124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374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EE7C3-745F-8FED-E49E-F07B42B83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diagram illustrates a Microsoft Azure infrastructure deployment with various services such as Resource Group, OpenAl Service, BLOB Storage, Static Web Apps, Document Intelligence, Logic Apps, and Model deployments.&#10;&#10;AI-generated content may be incorrect.">
            <a:extLst>
              <a:ext uri="{FF2B5EF4-FFF2-40B4-BE49-F238E27FC236}">
                <a16:creationId xmlns:a16="http://schemas.microsoft.com/office/drawing/2014/main" id="{DC1A8CB9-06BA-23D6-191B-290E41D66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6162" y="0"/>
            <a:ext cx="3859676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F7FEDC-E056-11FE-71E2-2B964532AC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7270" y="5546464"/>
            <a:ext cx="850900" cy="124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66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7DD1E-1BE4-8E4E-0128-B44E54831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RENEWAL -(AUGUST 2025) Microsoft Copilot Studio Agents ...">
            <a:extLst>
              <a:ext uri="{FF2B5EF4-FFF2-40B4-BE49-F238E27FC236}">
                <a16:creationId xmlns:a16="http://schemas.microsoft.com/office/drawing/2014/main" id="{95B96B88-5E2D-C5AB-C0F9-8356C5C11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77438"/>
            <a:ext cx="5334000" cy="33680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502CBD-951B-AFE9-E8AA-704F4360AC3C}"/>
              </a:ext>
            </a:extLst>
          </p:cNvPr>
          <p:cNvSpPr txBox="1"/>
          <p:nvPr/>
        </p:nvSpPr>
        <p:spPr>
          <a:xfrm>
            <a:off x="187234" y="3936176"/>
            <a:ext cx="1200476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</a:rPr>
              <a:t>A Microsoft CoPilot Agent was built grounded with the ME Office documents to enable Users to interactively perform queries.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06024D-D631-7C14-D99F-DD479D9E2A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7270" y="5546464"/>
            <a:ext cx="850900" cy="124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286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402EC-B43F-49AE-E704-34B722D95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29D6FC-BB80-CBEF-6E7C-D88DBB1CF6E9}"/>
              </a:ext>
            </a:extLst>
          </p:cNvPr>
          <p:cNvSpPr txBox="1"/>
          <p:nvPr/>
        </p:nvSpPr>
        <p:spPr>
          <a:xfrm>
            <a:off x="4659085" y="2828835"/>
            <a:ext cx="28738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</a:rPr>
              <a:t>DEMO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50F541-EF2E-CEA2-4A0D-627AF4D725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7270" y="5546464"/>
            <a:ext cx="850900" cy="124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3543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0D4A1-30DE-BF3B-01EF-2A88AA8A1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FF2166-E108-E64D-5BB9-2990B503F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7270" y="5546464"/>
            <a:ext cx="850900" cy="1244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77807B-386B-DD3C-6C9D-E09160CE1C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65" y="0"/>
            <a:ext cx="117828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695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F491B-C3B4-213A-6255-5F37093AC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9494E2-4059-B1BE-160D-8D638F4E0D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7270" y="5546464"/>
            <a:ext cx="850900" cy="1244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3AA668-DA4B-0C2A-AF32-F3A0342260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57" y="0"/>
            <a:ext cx="118624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9704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5A53E-0189-477D-AE03-CCC69DA38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04D370-A8C4-FDFB-C3B9-5E26FFD5B6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7270" y="5546464"/>
            <a:ext cx="850900" cy="1244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A9C4F0E-C821-0960-4777-6FC69F7DC0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282" y="0"/>
            <a:ext cx="116654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2328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24520-6DA9-33EA-F1E0-DDFCD37F8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C33558-F712-FC3F-9BA0-DAC8C169B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7270" y="5546464"/>
            <a:ext cx="850900" cy="1244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0D38691-A7FC-3BCA-1CAA-E36313DE5B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82" y="0"/>
            <a:ext cx="115884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3839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215DC-0448-D36F-B115-BEC7AE4C9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16ED2A-D91D-FC8B-B880-B0361BC749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7270" y="5546464"/>
            <a:ext cx="850900" cy="1244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E00491A-0C21-7B80-AF2E-F70E41A549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283" y="0"/>
            <a:ext cx="116654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364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2487</Words>
  <Application>Microsoft Office PowerPoint</Application>
  <PresentationFormat>Widescreen</PresentationFormat>
  <Paragraphs>387</Paragraphs>
  <Slides>21</Slides>
  <Notes>8</Notes>
  <HiddenSlides>3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Aptos</vt:lpstr>
      <vt:lpstr>Aptos Display</vt:lpstr>
      <vt:lpstr>Arial</vt:lpstr>
      <vt:lpstr>Segoe Sans Display Semibold</vt:lpstr>
      <vt:lpstr>Segoe Sans Text</vt:lpstr>
      <vt:lpstr>Segoe UI</vt:lpstr>
      <vt:lpstr>Segoe UI Semibold</vt:lpstr>
      <vt:lpstr>Segoe UI Variable Display Semib</vt:lpstr>
      <vt:lpstr>Segoe UI Variable Display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document extraction</dc:title>
  <dc:subject>Generic solution click-through demonstration</dc:subject>
  <dc:creator>John Straumann</dc:creator>
  <cp:keywords>CaseDocumentExtraction</cp:keywords>
  <dc:description>Customer branding generalized. Edited historical captures; results not rerun.</dc:description>
  <cp:lastModifiedBy>John Straumann</cp:lastModifiedBy>
  <cp:revision>70</cp:revision>
  <dcterms:created xsi:type="dcterms:W3CDTF">2026-02-18T17:30:29Z</dcterms:created>
  <dcterms:modified xsi:type="dcterms:W3CDTF">2026-10-28T13:23:07Z</dcterms:modified>
  <dc:identifier/>
</cp:coreProperties>
</file>