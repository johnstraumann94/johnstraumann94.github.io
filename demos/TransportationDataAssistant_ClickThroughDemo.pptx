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1" r:id="rId2"/>
    <p:sldId id="262" r:id="rId3"/>
    <p:sldId id="256" r:id="rId4"/>
    <p:sldId id="257" r:id="rId5"/>
    <p:sldId id="258" r:id="rId6"/>
    <p:sldId id="259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Problem: Roadway project questions need exact facts, authorized access and explainable answers across structured and narrative data.</a:t>
            </a:r>
          </a:p>
          <a:p>
            <a:r>
              <a:t>Solution: Design a conversational assistant that uses approved SQL tools for authoritative facts and Search for comments/documents.</a:t>
            </a:r>
          </a:p>
          <a:p>
            <a:r>
              <a:t>Products: Azure SQL | Azure AI Search | Azure OpenAI / Foundry | Functions / Container Apps | Entra ID | APIM</a:t>
            </a:r>
          </a:p>
          <a:p>
            <a:r>
              <a:t>Evidence status: Proposed architecture briefing, not a captured running UI. A separate local RAG prototype queries Search, not SQL at runtime.</a:t>
            </a:r>
          </a:p>
          <a:p>
            <a:r>
              <a:t>Customer branding, organization labels and resource identifiers have been generalized. Screenshots are edited historical captures; no service results were rerun.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Architecture: [['Authorized chat UI', 'User question + context'], ['Controlled tools', 'Approved SQL operations'], ['Semantic retrieval', 'AI Search for narratives'], ['Grounded answer', 'Records + filters + citations']]</a:t>
            </a:r>
          </a:p>
          <a:p>
            <a:r>
              <a:t>Boundary: SQL tools and Search are complementary branches selected by the assistant, not a mandatory serial chain. Private networking, Key Vault and monitoring are proposed.</a:t>
            </a:r>
          </a:p>
          <a:p>
            <a:r>
              <a:t>This is a logical diagram, not a verified deployment inventory. Cards represent separate workflows or branches; do not read them as one serial pipeline.</a:t>
            </a:r>
          </a:p>
          <a:p>
            <a:r>
              <a:t>Customer names, logos and resource identifiers in subsequent captured screens have been generalized. Service brands and the solution's core workflow remain.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88" y="320032"/>
            <a:ext cx="11246838" cy="2743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99" b="1">
                <a:solidFill>
                  <a:srgbClr val="D99A22"/>
                </a:solidFill>
                <a:latin typeface="Calibri"/>
              </a:defRPr>
            </a:pPr>
            <a:r>
              <a:t>GENERIC SOLUTION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88" y="868658"/>
            <a:ext cx="11246838" cy="7315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399" b="1">
                <a:solidFill>
                  <a:srgbClr val="FFFFFF"/>
                </a:solidFill>
                <a:latin typeface="Calibri"/>
              </a:defRPr>
            </a:pPr>
            <a:r>
              <a:t>Transportation data assistant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188" y="1828754"/>
            <a:ext cx="5486262" cy="1828754"/>
          </a:xfrm>
          <a:prstGeom prst="roundRect">
            <a:avLst>
              <a:gd name="adj" fmla="val 5000"/>
            </a:avLst>
          </a:prstGeom>
          <a:solidFill>
            <a:srgbClr val="2D3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64" y="2011629"/>
            <a:ext cx="5120512" cy="2743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99" b="1">
                <a:solidFill>
                  <a:srgbClr val="D99A22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64" y="2514537"/>
            <a:ext cx="5074793" cy="960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99" b="0">
                <a:solidFill>
                  <a:srgbClr val="FFFFFF"/>
                </a:solidFill>
                <a:latin typeface="Calibri"/>
              </a:defRPr>
            </a:pPr>
            <a:r>
              <a:t>Roadway project questions need exact facts, authorized access and explainable answers across structured and narrative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195" y="1828754"/>
            <a:ext cx="5486262" cy="1828754"/>
          </a:xfrm>
          <a:prstGeom prst="roundRect">
            <a:avLst>
              <a:gd name="adj" fmla="val 5000"/>
            </a:avLst>
          </a:prstGeom>
          <a:solidFill>
            <a:srgbClr val="2D3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28071" y="2011629"/>
            <a:ext cx="5120512" cy="2743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99" b="1">
                <a:solidFill>
                  <a:srgbClr val="D99A22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071" y="2514537"/>
            <a:ext cx="5074793" cy="960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99" b="0">
                <a:solidFill>
                  <a:srgbClr val="FFFFFF"/>
                </a:solidFill>
                <a:latin typeface="Calibri"/>
              </a:defRPr>
            </a:pPr>
            <a:r>
              <a:t>Design a conversational assistant that uses approved SQL tools for authoritative facts and Search for comments/documents.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88" y="3977540"/>
            <a:ext cx="10972525" cy="2743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99" b="1">
                <a:solidFill>
                  <a:srgbClr val="D99A22"/>
                </a:solidFill>
                <a:latin typeface="Calibri"/>
              </a:defRPr>
            </a:pPr>
            <a:r>
              <a:t>PRODUCTS AND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88" y="4462160"/>
            <a:ext cx="11155401" cy="8229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099" b="0">
                <a:solidFill>
                  <a:srgbClr val="FFFFFF"/>
                </a:solidFill>
                <a:latin typeface="Calibri"/>
              </a:defRPr>
            </a:pPr>
            <a:r>
              <a:t>Azure SQL | Azure AI Search | Azure OpenAI / Foundry | Functions / Container Apps | Entra ID | APIM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88" y="5595988"/>
            <a:ext cx="11155401" cy="640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99" b="0">
                <a:solidFill>
                  <a:srgbClr val="D4DAE8"/>
                </a:solidFill>
                <a:latin typeface="Calibri"/>
              </a:defRPr>
            </a:pPr>
            <a:r>
              <a:t>Proposed architecture briefing, not a captured running UI. A separate local RAG prototype queries Search, not SQL at runtime.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88" y="320032"/>
            <a:ext cx="11246838" cy="2743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99" b="1">
                <a:solidFill>
                  <a:srgbClr val="006B65"/>
                </a:solidFill>
                <a:latin typeface="Calibri"/>
              </a:defRPr>
            </a:pPr>
            <a: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88" y="868658"/>
            <a:ext cx="11246838" cy="640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399" b="1">
                <a:solidFill>
                  <a:srgbClr val="182337"/>
                </a:solidFill>
                <a:latin typeface="Calibri"/>
              </a:defRPr>
            </a:pPr>
            <a:r>
              <a:t>How the solution fits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88" y="1709885"/>
            <a:ext cx="11246838" cy="2743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99" b="1">
                <a:solidFill>
                  <a:srgbClr val="006B65"/>
                </a:solidFill>
                <a:latin typeface="Calibri"/>
              </a:defRPr>
            </a:pPr>
            <a:r>
              <a:t>RELATED WORKFLOWS / BRANCHES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188" y="2285942"/>
            <a:ext cx="2688268" cy="237738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64" y="2468818"/>
            <a:ext cx="2285942" cy="502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999" b="1">
                <a:solidFill>
                  <a:srgbClr val="D99A22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64" y="3136313"/>
            <a:ext cx="2285942" cy="502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099" b="1">
                <a:solidFill>
                  <a:srgbClr val="182337"/>
                </a:solidFill>
                <a:latin typeface="Calibri"/>
              </a:defRPr>
            </a:pPr>
            <a:r>
              <a:t>Authorized chat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64" y="3840384"/>
            <a:ext cx="2285942" cy="640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99" b="0">
                <a:solidFill>
                  <a:srgbClr val="182337"/>
                </a:solidFill>
                <a:latin typeface="Calibri"/>
              </a:defRPr>
            </a:pPr>
            <a:r>
              <a:t>User question +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189" y="2285942"/>
            <a:ext cx="2688268" cy="237738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02064" y="2468818"/>
            <a:ext cx="2285942" cy="502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999" b="1">
                <a:solidFill>
                  <a:srgbClr val="D99A22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064" y="3136313"/>
            <a:ext cx="2285942" cy="502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099" b="1">
                <a:solidFill>
                  <a:srgbClr val="182337"/>
                </a:solidFill>
                <a:latin typeface="Calibri"/>
              </a:defRPr>
            </a:pPr>
            <a:r>
              <a:t>Controlled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064" y="3840384"/>
            <a:ext cx="2285942" cy="640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99" b="0">
                <a:solidFill>
                  <a:srgbClr val="182337"/>
                </a:solidFill>
                <a:latin typeface="Calibri"/>
              </a:defRPr>
            </a:pPr>
            <a:r>
              <a:t>Approved SQL operations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189" y="2285942"/>
            <a:ext cx="2688268" cy="237738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064" y="2468818"/>
            <a:ext cx="2285942" cy="502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999" b="1">
                <a:solidFill>
                  <a:srgbClr val="D99A22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064" y="3136313"/>
            <a:ext cx="2285942" cy="502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099" b="1">
                <a:solidFill>
                  <a:srgbClr val="182337"/>
                </a:solidFill>
                <a:latin typeface="Calibri"/>
              </a:defRPr>
            </a:pPr>
            <a:r>
              <a:t>Semantic 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064" y="3840384"/>
            <a:ext cx="2285942" cy="640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99" b="0">
                <a:solidFill>
                  <a:srgbClr val="182337"/>
                </a:solidFill>
                <a:latin typeface="Calibri"/>
              </a:defRPr>
            </a:pPr>
            <a:r>
              <a:t>AI Search for narratives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189" y="2285942"/>
            <a:ext cx="2688268" cy="237738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26065" y="2468818"/>
            <a:ext cx="2285942" cy="502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999" b="1">
                <a:solidFill>
                  <a:srgbClr val="D99A22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065" y="3136313"/>
            <a:ext cx="2285942" cy="502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099" b="1">
                <a:solidFill>
                  <a:srgbClr val="182337"/>
                </a:solidFill>
                <a:latin typeface="Calibri"/>
              </a:defRPr>
            </a:pPr>
            <a:r>
              <a:t>Grounded 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065" y="3840384"/>
            <a:ext cx="2285942" cy="640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99" b="0">
                <a:solidFill>
                  <a:srgbClr val="182337"/>
                </a:solidFill>
                <a:latin typeface="Calibri"/>
              </a:defRPr>
            </a:pPr>
            <a:r>
              <a:t>Records + filters + citations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88" y="5074793"/>
            <a:ext cx="11155401" cy="7315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99" b="0">
                <a:solidFill>
                  <a:srgbClr val="182337"/>
                </a:solidFill>
                <a:latin typeface="Calibri"/>
              </a:defRPr>
            </a:pPr>
            <a:r>
              <a:t>SQL tools and Search are complementary branches selected by the assistant, not a mandatory serial chain. Private networking, Key Vault and monitoring are proposed.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88" y="6272627"/>
            <a:ext cx="9692397" cy="2743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99" b="0">
                <a:solidFill>
                  <a:srgbClr val="526176"/>
                </a:solidFill>
                <a:latin typeface="Calibri"/>
              </a:defRPr>
            </a:pPr>
            <a:r>
              <a:t>Generic labels and edited screenshots | Historical results are illustrative, not rerun</a:t>
            </a:r>
          </a:p>
        </p:txBody>
      </p:sp>
      <p:sp>
        <p:nvSpPr>
          <p:cNvPr id="23" name="TextBox 22">
            <a:hlinkClick r:id="rId3" action="ppaction://hlinksldjump"/>
          </p:cNvPr>
          <p:cNvSpPr txBox="1"/>
          <p:nvPr/>
        </p:nvSpPr>
        <p:spPr>
          <a:xfrm>
            <a:off x="10378180" y="6236052"/>
            <a:ext cx="1371565" cy="320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99" b="1">
                <a:solidFill>
                  <a:srgbClr val="006B65"/>
                </a:solidFill>
                <a:latin typeface="Calibri"/>
              </a:defRPr>
            </a:pPr>
            <a:r>
              <a:t>START TOUR 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726680" y="-1325880"/>
            <a:ext cx="5760720" cy="5760720"/>
          </a:xfrm>
          <a:prstGeom prst="arc">
            <a:avLst/>
          </a:prstGeom>
          <a:solidFill>
            <a:srgbClr val="FF8200">
              <a:alpha val="96000"/>
            </a:srgbClr>
          </a:solidFill>
          <a:ln w="12700">
            <a:solidFill>
              <a:srgbClr val="FF82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76688" y="4590288"/>
            <a:ext cx="1664208" cy="1664208"/>
          </a:xfrm>
          <a:prstGeom prst="ellipse">
            <a:avLst/>
          </a:prstGeom>
          <a:solidFill>
            <a:srgbClr val="00A3E0">
              <a:alpha val="90000"/>
            </a:srgbClr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5303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FF8200"/>
                </a:solidFill>
              </a:rPr>
              <a:t>THE CUSTOMER ASK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987552"/>
            <a:ext cx="6446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 Project360 data into trusted, conversational answers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587752"/>
            <a:ext cx="5897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9E5EF"/>
                </a:solidFill>
              </a:rPr>
              <a:t>Prove that Azure can power secure, configurable chatbots across Project systems—starting with roadway project data in Azure SQL.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3739896"/>
            <a:ext cx="256032" cy="256032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3721608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Accurate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2011680" y="3721608"/>
            <a:ext cx="4800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9E5EF"/>
                </a:solidFill>
              </a:rPr>
              <a:t>Answer exact questions about projects, geography, schedules, finances, and comments.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4325112"/>
            <a:ext cx="256032" cy="256032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4306824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Explainable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2011680" y="4306824"/>
            <a:ext cx="4800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9E5EF"/>
                </a:solidFill>
              </a:rPr>
              <a:t>Show the source records, filters, citations, and data timestamp behind every answer.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4910328"/>
            <a:ext cx="256032" cy="256032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892040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Secure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2011680" y="4892040"/>
            <a:ext cx="4800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9E5EF"/>
                </a:solidFill>
              </a:rPr>
              <a:t>Respect employee identity, permissions, and data boundaries.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5495544"/>
            <a:ext cx="256032" cy="256032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5477256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Reusable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2011680" y="5477256"/>
            <a:ext cx="4800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9E5EF"/>
                </a:solidFill>
              </a:rPr>
              <a:t>Establish a pattern for multiple Project chatbots and business domains.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42048" y="1152144"/>
            <a:ext cx="4160520" cy="4498848"/>
          </a:xfrm>
          <a:prstGeom prst="roundRect">
            <a:avLst>
              <a:gd name="adj" fmla="val 1758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80376" y="1481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Representative employee questions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580376" y="2121408"/>
            <a:ext cx="502920" cy="502920"/>
          </a:xfrm>
          <a:prstGeom prst="roundRect">
            <a:avLst>
              <a:gd name="adj" fmla="val 9091"/>
            </a:avLst>
          </a:prstGeom>
          <a:solidFill>
            <a:srgbClr val="FFE3C2"/>
          </a:solidFill>
          <a:ln w="12700">
            <a:solidFill>
              <a:srgbClr val="FFE3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0376" y="226771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5473D"/>
                </a:solidFill>
              </a:rPr>
              <a:t>01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75320" y="2139696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72536"/>
                </a:solidFill>
              </a:rPr>
              <a:t>What active projects are in Davidson County?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7580376" y="2907792"/>
            <a:ext cx="502920" cy="502920"/>
          </a:xfrm>
          <a:prstGeom prst="roundRect">
            <a:avLst>
              <a:gd name="adj" fmla="val 9091"/>
            </a:avLst>
          </a:prstGeom>
          <a:solidFill>
            <a:srgbClr val="FFE3C2"/>
          </a:solidFill>
          <a:ln w="12700">
            <a:solidFill>
              <a:srgbClr val="FFE3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0376" y="305409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5473D"/>
                </a:solidFill>
              </a:rPr>
              <a:t>02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75320" y="292608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72536"/>
                </a:solidFill>
              </a:rPr>
              <a:t>How many resurfacing projects are active?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7580376" y="3694176"/>
            <a:ext cx="502920" cy="502920"/>
          </a:xfrm>
          <a:prstGeom prst="roundRect">
            <a:avLst>
              <a:gd name="adj" fmla="val 9091"/>
            </a:avLst>
          </a:prstGeom>
          <a:solidFill>
            <a:srgbClr val="DDF4FC"/>
          </a:solidFill>
          <a:ln w="12700">
            <a:solidFill>
              <a:srgbClr val="DDF4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0376" y="3840480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3A5F"/>
                </a:solidFill>
              </a:rPr>
              <a:t>03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75320" y="3712464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72536"/>
                </a:solidFill>
              </a:rPr>
              <a:t>What recent comments exist for bridge projects?</a:t>
            </a:r>
            <a:endParaRPr lang="en-US" sz="1240" dirty="0"/>
          </a:p>
        </p:txBody>
      </p:sp>
      <p:sp>
        <p:nvSpPr>
          <p:cNvPr id="30" name="Shape 28"/>
          <p:cNvSpPr/>
          <p:nvPr/>
        </p:nvSpPr>
        <p:spPr>
          <a:xfrm>
            <a:off x="7580376" y="448056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FFE3C2"/>
          </a:solidFill>
          <a:ln w="12700">
            <a:solidFill>
              <a:srgbClr val="FFE3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0376" y="4626864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5473D"/>
                </a:solidFill>
              </a:rPr>
              <a:t>04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275320" y="4498848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72536"/>
                </a:solidFill>
              </a:rPr>
              <a:t>Which projects have a Turn In Date within 60 days?</a:t>
            </a:r>
            <a:endParaRPr lang="en-US" sz="1240" dirty="0"/>
          </a:p>
        </p:txBody>
      </p:sp>
      <p:sp>
        <p:nvSpPr>
          <p:cNvPr id="33" name="Shape 31"/>
          <p:cNvSpPr/>
          <p:nvPr/>
        </p:nvSpPr>
        <p:spPr>
          <a:xfrm>
            <a:off x="7580376" y="5266944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0376" y="531723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AZURE SQL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878824" y="5266944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DDF4FC"/>
          </a:solidFill>
          <a:ln w="12700">
            <a:solidFill>
              <a:srgbClr val="DDF4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78824" y="531723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3"/>
                </a:solidFill>
              </a:rPr>
              <a:t>COMMENTS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049256" y="5266944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FFE3C2"/>
          </a:solidFill>
          <a:ln w="12700">
            <a:solidFill>
              <a:srgbClr val="FFE3C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49256" y="531723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5473D"/>
                </a:solidFill>
              </a:rPr>
              <a:t>DATES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2700">
            <a:solidFill>
              <a:srgbClr val="31506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91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34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77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20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63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06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49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692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835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" y="646480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ED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Project360 Azure AI proof of concept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1009376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82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FF82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Six decisions define the recommended POC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456432" cy="1353312"/>
          </a:xfrm>
          <a:prstGeom prst="roundRect">
            <a:avLst>
              <a:gd name="adj" fmla="val 4054"/>
            </a:avLst>
          </a:prstGeom>
          <a:solidFill>
            <a:srgbClr val="FFE3C2"/>
          </a:solidFill>
          <a:ln w="12700">
            <a:solidFill>
              <a:srgbClr val="FFE3C2"/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682496"/>
            <a:ext cx="310896" cy="310896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76479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97864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B1F33"/>
                </a:solidFill>
              </a:rPr>
              <a:t>Azure is sufficient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768096" y="2103120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72536"/>
                </a:solidFill>
              </a:rPr>
              <a:t>The platform can support the Project360 chatbot and a reusable pattern for additional Project domains.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297680" y="1481328"/>
            <a:ext cx="3456432" cy="1353312"/>
          </a:xfrm>
          <a:prstGeom prst="roundRect">
            <a:avLst>
              <a:gd name="adj" fmla="val 4054"/>
            </a:avLst>
          </a:prstGeom>
          <a:solidFill>
            <a:srgbClr val="DDF3EA"/>
          </a:solidFill>
          <a:ln w="12700">
            <a:solidFill>
              <a:srgbClr val="DDF3EA"/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98848" y="1682496"/>
            <a:ext cx="310896" cy="310896"/>
          </a:xfrm>
          <a:prstGeom prst="ellipse">
            <a:avLst/>
          </a:prstGeom>
          <a:solidFill>
            <a:srgbClr val="16825D"/>
          </a:solidFill>
          <a:ln w="12700">
            <a:solidFill>
              <a:srgbClr val="1682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176479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28616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B1F33"/>
                </a:solidFill>
              </a:rPr>
              <a:t>SQL for authoritative facts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4498848" y="2103120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72536"/>
                </a:solidFill>
              </a:rPr>
              <a:t>Use controlled API tools over Azure SQL for exact counts, dates, statuses, financials, and project lists.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8028432" y="1481328"/>
            <a:ext cx="3456432" cy="1353312"/>
          </a:xfrm>
          <a:prstGeom prst="roundRect">
            <a:avLst>
              <a:gd name="adj" fmla="val 4054"/>
            </a:avLst>
          </a:prstGeom>
          <a:solidFill>
            <a:srgbClr val="DDF4FC"/>
          </a:solidFill>
          <a:ln w="12700">
            <a:solidFill>
              <a:srgbClr val="DDF4FC"/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682496"/>
            <a:ext cx="310896" cy="310896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76479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659368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B1F33"/>
                </a:solidFill>
              </a:rPr>
              <a:t>Search for semantic knowledge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8229600" y="2103120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72536"/>
                </a:solidFill>
              </a:rPr>
              <a:t>Use Azure AI Search for comments and documents. Blob Storage is useful for files, but Search can also index Azure SQL.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566928" y="3090672"/>
            <a:ext cx="3456432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6DDE3"/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3291840"/>
            <a:ext cx="310896" cy="310896"/>
          </a:xfrm>
          <a:prstGeom prst="ellipse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337413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97864" y="32552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B1F33"/>
                </a:solidFill>
              </a:rPr>
              <a:t>Identity enforced end to end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768096" y="3712464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72536"/>
                </a:solidFill>
              </a:rPr>
              <a:t>Use Entra ID, managed identities, RBAC, private endpoints, read-only permissions, and optional row-level security.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4297680" y="3090672"/>
            <a:ext cx="3456432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6DDE3"/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98848" y="3291840"/>
            <a:ext cx="310896" cy="310896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8848" y="337413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28616" y="32552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B1F33"/>
                </a:solidFill>
              </a:rPr>
              <a:t>Evidence with every answer</a:t>
            </a:r>
            <a:endParaRPr lang="en-US" sz="1520" dirty="0"/>
          </a:p>
        </p:txBody>
      </p:sp>
      <p:sp>
        <p:nvSpPr>
          <p:cNvPr id="28" name="Text 26"/>
          <p:cNvSpPr/>
          <p:nvPr/>
        </p:nvSpPr>
        <p:spPr>
          <a:xfrm>
            <a:off x="4498848" y="3712464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72536"/>
                </a:solidFill>
              </a:rPr>
              <a:t>Return source records, filters, data timestamp, project IDs, and citations so employees can validate reliability.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8028432" y="3090672"/>
            <a:ext cx="3456432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6DDE3"/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0" y="3291840"/>
            <a:ext cx="310896" cy="310896"/>
          </a:xfrm>
          <a:prstGeom prst="ellipse">
            <a:avLst/>
          </a:prstGeom>
          <a:solidFill>
            <a:srgbClr val="B5473D"/>
          </a:solidFill>
          <a:ln w="12700">
            <a:solidFill>
              <a:srgbClr val="B547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337413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659368" y="32552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B1F33"/>
                </a:solidFill>
              </a:rPr>
              <a:t>Preview is optional</a:t>
            </a:r>
            <a:endParaRPr lang="en-US" sz="1520" dirty="0"/>
          </a:p>
        </p:txBody>
      </p:sp>
      <p:sp>
        <p:nvSpPr>
          <p:cNvPr id="33" name="Text 31"/>
          <p:cNvSpPr/>
          <p:nvPr/>
        </p:nvSpPr>
        <p:spPr>
          <a:xfrm>
            <a:off x="8229600" y="3712464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72536"/>
                </a:solidFill>
              </a:rPr>
              <a:t>Keep preview-only answer synthesis and portal capabilities as POC comparisons—not production dependencies.</a:t>
            </a:r>
            <a:endParaRPr lang="en-US" sz="1070" dirty="0"/>
          </a:p>
        </p:txBody>
      </p:sp>
      <p:sp>
        <p:nvSpPr>
          <p:cNvPr id="34" name="Shape 32"/>
          <p:cNvSpPr/>
          <p:nvPr/>
        </p:nvSpPr>
        <p:spPr>
          <a:xfrm>
            <a:off x="566928" y="4892040"/>
            <a:ext cx="11055096" cy="786384"/>
          </a:xfrm>
          <a:prstGeom prst="roundRect">
            <a:avLst>
              <a:gd name="adj" fmla="val 5814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" y="50932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FF8200"/>
                </a:solidFill>
              </a:rPr>
              <a:t>Recommended POC principle</a:t>
            </a:r>
            <a:endParaRPr lang="en-US" sz="1140" dirty="0"/>
          </a:p>
        </p:txBody>
      </p:sp>
      <p:sp>
        <p:nvSpPr>
          <p:cNvPr id="36" name="Text 34"/>
          <p:cNvSpPr/>
          <p:nvPr/>
        </p:nvSpPr>
        <p:spPr>
          <a:xfrm>
            <a:off x="2944368" y="504748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FFFFF"/>
                </a:solidFill>
              </a:rPr>
              <a:t>The model selects a small set of audited read-only operations; it never receives unrestricted SQL access.</a:t>
            </a:r>
            <a:endParaRPr lang="en-US" sz="1420" dirty="0"/>
          </a:p>
        </p:txBody>
      </p:sp>
      <p:sp>
        <p:nvSpPr>
          <p:cNvPr id="37" name="Shape 35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91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34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977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20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63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06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49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92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835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" y="646480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80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Project360 Azure AI proof of concept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1009376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FF82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SOLUTION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secure Azure pattern for facts + semantic knowledge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847088"/>
            <a:ext cx="1417320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0D8DF"/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984248"/>
            <a:ext cx="292608" cy="292608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2061972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51560" y="2002536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B1F33"/>
                </a:solidFill>
              </a:rPr>
              <a:t>Project user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731520" y="2532888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6B78"/>
                </a:solidFill>
              </a:rPr>
              <a:t>Employee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77440" y="1847088"/>
            <a:ext cx="1572768" cy="1152144"/>
          </a:xfrm>
          <a:prstGeom prst="roundRect">
            <a:avLst>
              <a:gd name="adj" fmla="val 4762"/>
            </a:avLst>
          </a:prstGeom>
          <a:solidFill>
            <a:srgbClr val="DDF4FC"/>
          </a:solidFill>
          <a:ln w="12700">
            <a:solidFill>
              <a:srgbClr val="D0D8DF"/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05456" y="1984248"/>
            <a:ext cx="292608" cy="292608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5456" y="2061972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862072" y="2002536"/>
            <a:ext cx="9692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B1F33"/>
                </a:solidFill>
              </a:rPr>
              <a:t>Entra ID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2542032" y="253288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6B78"/>
                </a:solidFill>
              </a:rPr>
              <a:t>Identity + roles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70832" y="1847088"/>
            <a:ext cx="1828800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0D8DF"/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98848" y="1984248"/>
            <a:ext cx="292608" cy="292608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2061972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55464" y="2002536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B1F33"/>
                </a:solidFill>
              </a:rPr>
              <a:t>Chat app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535424" y="253288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6B78"/>
                </a:solidFill>
              </a:rPr>
              <a:t>App Service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20256" y="1847088"/>
            <a:ext cx="2148840" cy="1152144"/>
          </a:xfrm>
          <a:prstGeom prst="roundRect">
            <a:avLst>
              <a:gd name="adj" fmla="val 4762"/>
            </a:avLst>
          </a:prstGeom>
          <a:solidFill>
            <a:srgbClr val="FFE3C2"/>
          </a:solidFill>
          <a:ln w="12700">
            <a:solidFill>
              <a:srgbClr val="D0D8DF"/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48272" y="1984248"/>
            <a:ext cx="292608" cy="292608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2061972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104888" y="2002536"/>
            <a:ext cx="1545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B1F33"/>
                </a:solidFill>
              </a:rPr>
              <a:t>Foundry agent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6784848" y="253288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6B78"/>
                </a:solidFill>
              </a:rPr>
              <a:t>Azure OpenAI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02536" y="2231136"/>
            <a:ext cx="310896" cy="365760"/>
          </a:xfrm>
          <a:prstGeom prst="chevron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68496" y="2231136"/>
            <a:ext cx="310896" cy="365760"/>
          </a:xfrm>
          <a:prstGeom prst="chevron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6208" y="2231136"/>
            <a:ext cx="310896" cy="365760"/>
          </a:xfrm>
          <a:prstGeom prst="chevron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96528" y="2423160"/>
            <a:ext cx="301752" cy="0"/>
          </a:xfrm>
          <a:prstGeom prst="line">
            <a:avLst/>
          </a:prstGeom>
          <a:noFill/>
          <a:ln w="19050">
            <a:solidFill>
              <a:srgbClr val="16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79992" y="1591056"/>
            <a:ext cx="0" cy="2560320"/>
          </a:xfrm>
          <a:prstGeom prst="line">
            <a:avLst/>
          </a:prstGeom>
          <a:noFill/>
          <a:ln w="19050">
            <a:solidFill>
              <a:srgbClr val="16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79992" y="1591056"/>
            <a:ext cx="365760" cy="0"/>
          </a:xfrm>
          <a:prstGeom prst="line">
            <a:avLst/>
          </a:prstGeom>
          <a:noFill/>
          <a:ln w="19050">
            <a:solidFill>
              <a:srgbClr val="16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79992" y="4151376"/>
            <a:ext cx="365760" cy="0"/>
          </a:xfrm>
          <a:prstGeom prst="line">
            <a:avLst/>
          </a:prstGeom>
          <a:noFill/>
          <a:ln w="19050">
            <a:solidFill>
              <a:srgbClr val="16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27464" y="1161288"/>
            <a:ext cx="2057400" cy="1298448"/>
          </a:xfrm>
          <a:prstGeom prst="roundRect">
            <a:avLst>
              <a:gd name="adj" fmla="val 4225"/>
            </a:avLst>
          </a:prstGeom>
          <a:solidFill>
            <a:srgbClr val="DDF3EA"/>
          </a:solidFill>
          <a:ln w="12700">
            <a:solidFill>
              <a:srgbClr val="9ACCB8"/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665208" y="13807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825D"/>
                </a:solidFill>
              </a:rPr>
              <a:t>Exact facts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65208" y="173736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72536"/>
                </a:solidFill>
              </a:rPr>
              <a:t>OpenAPI tool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72536"/>
                </a:solidFill>
              </a:rPr>
              <a:t>Azure Functions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72536"/>
                </a:solidFill>
              </a:rPr>
              <a:t>Azure SQL Database</a:t>
            </a:r>
            <a:endParaRPr lang="en-US" sz="1070" dirty="0"/>
          </a:p>
        </p:txBody>
      </p:sp>
      <p:sp>
        <p:nvSpPr>
          <p:cNvPr id="34" name="Shape 32"/>
          <p:cNvSpPr/>
          <p:nvPr/>
        </p:nvSpPr>
        <p:spPr>
          <a:xfrm>
            <a:off x="9427464" y="3511296"/>
            <a:ext cx="2057400" cy="1298448"/>
          </a:xfrm>
          <a:prstGeom prst="roundRect">
            <a:avLst>
              <a:gd name="adj" fmla="val 4225"/>
            </a:avLst>
          </a:prstGeom>
          <a:solidFill>
            <a:srgbClr val="DDF4FC"/>
          </a:solidFill>
          <a:ln w="12700">
            <a:solidFill>
              <a:srgbClr val="A6DDED"/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665208" y="373075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63A5F"/>
                </a:solidFill>
              </a:rPr>
              <a:t>Semantic search</a:t>
            </a:r>
            <a:endParaRPr lang="en-US" sz="1520" dirty="0"/>
          </a:p>
        </p:txBody>
      </p:sp>
      <p:sp>
        <p:nvSpPr>
          <p:cNvPr id="36" name="Text 34"/>
          <p:cNvSpPr/>
          <p:nvPr/>
        </p:nvSpPr>
        <p:spPr>
          <a:xfrm>
            <a:off x="9665208" y="407822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2536"/>
                </a:solidFill>
              </a:rPr>
              <a:t>Azure AI Search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2536"/>
                </a:solidFill>
              </a:rPr>
              <a:t>Vector + hybrid retrieval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2536"/>
                </a:solidFill>
              </a:rPr>
              <a:t>Blob documents + comments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928" y="3794760"/>
            <a:ext cx="8202168" cy="1335024"/>
          </a:xfrm>
          <a:prstGeom prst="roundRect">
            <a:avLst>
              <a:gd name="adj" fmla="val 342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9536" y="4105656"/>
            <a:ext cx="301752" cy="301752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80160" y="406908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Managed identity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59536" y="449884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BED0E0"/>
                </a:solidFill>
              </a:rPr>
              <a:t>No embedded Azure credentials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825496" y="4105656"/>
            <a:ext cx="301752" cy="301752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46120" y="406908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Private endpoints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2825496" y="449884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BED0E0"/>
                </a:solidFill>
              </a:rPr>
              <a:t>Approved network paths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91456" y="4105656"/>
            <a:ext cx="301752" cy="301752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0" y="406908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RBAC + SQL controls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791456" y="449884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BED0E0"/>
                </a:solidFill>
              </a:rPr>
              <a:t>Least privilege and row filtering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757416" y="4105656"/>
            <a:ext cx="301752" cy="301752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78040" y="406908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Monitor + Insights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757416" y="449884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BED0E0"/>
                </a:solidFill>
              </a:rPr>
              <a:t>Trace every answer and tool call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58368" y="560527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200"/>
                </a:solidFill>
              </a:rPr>
              <a:t>Design principle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783080" y="5541264"/>
            <a:ext cx="8366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1F33"/>
                </a:solidFill>
              </a:rPr>
              <a:t>The model chooses approved tools—it never receives unrestricted database access or invents Project facts.</a:t>
            </a:r>
            <a:endParaRPr lang="en-US" sz="1420" dirty="0"/>
          </a:p>
        </p:txBody>
      </p:sp>
      <p:sp>
        <p:nvSpPr>
          <p:cNvPr id="52" name="Shape 50"/>
          <p:cNvSpPr/>
          <p:nvPr/>
        </p:nvSpPr>
        <p:spPr>
          <a:xfrm>
            <a:off x="10287000" y="553212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287000" y="558241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EVIDENCE FIRST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8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691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834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977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120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63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406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549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692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835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6928" y="646480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80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Project360 Azure AI proof of concept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1009376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FF82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PRODUCT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Logical architecture: products mapped to clear roles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55096" cy="749808"/>
          </a:xfrm>
          <a:prstGeom prst="roundRect">
            <a:avLst>
              <a:gd name="adj" fmla="val 6098"/>
            </a:avLst>
          </a:prstGeom>
          <a:solidFill>
            <a:srgbClr val="DDF4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89888"/>
            <a:ext cx="1481328" cy="749808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EXPERIENCE + IDENTITY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0" y="1508760"/>
            <a:ext cx="4443984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3DA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14016" y="1600200"/>
            <a:ext cx="4187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B1F33"/>
                </a:solidFill>
              </a:rPr>
              <a:t>App Service / Static Web Apps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2414016" y="1828800"/>
            <a:ext cx="4187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B78"/>
                </a:solidFill>
              </a:rPr>
              <a:t>Project-branded chat and evidence UI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94576" y="1508760"/>
            <a:ext cx="4443984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3DA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22592" y="1600200"/>
            <a:ext cx="4187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B1F33"/>
                </a:solidFill>
              </a:rPr>
              <a:t>Microsoft Entra ID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7022592" y="1828800"/>
            <a:ext cx="4187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B78"/>
                </a:solidFill>
              </a:rPr>
              <a:t>Employee authentication, roles, and groups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340864"/>
            <a:ext cx="11055096" cy="1078992"/>
          </a:xfrm>
          <a:prstGeom prst="roundRect">
            <a:avLst>
              <a:gd name="adj" fmla="val 4237"/>
            </a:avLst>
          </a:prstGeom>
          <a:solidFill>
            <a:srgbClr val="FFE3C2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40864"/>
            <a:ext cx="1481328" cy="1078992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505456"/>
            <a:ext cx="1143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FFFFF"/>
                </a:solidFill>
              </a:rPr>
              <a:t>AGENT + BUSINESS TOOLS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2286000" y="2459736"/>
            <a:ext cx="2139696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3DA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14016" y="2551176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B1F33"/>
                </a:solidFill>
              </a:rPr>
              <a:t>Foundry Agent Service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2414016" y="2898648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</a:rPr>
              <a:t>Instructions, tools, state, and evaluation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590288" y="2459736"/>
            <a:ext cx="2139696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3DA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2551176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B1F33"/>
                </a:solidFill>
              </a:rPr>
              <a:t>Azure OpenAI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4718304" y="2898648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</a:rPr>
              <a:t>Intent, tool selection, and grounded summaries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894576" y="2459736"/>
            <a:ext cx="2139696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3DA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22592" y="2551176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B1F33"/>
                </a:solidFill>
              </a:rPr>
              <a:t>Functions / Container Apps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7022592" y="2898648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</a:rPr>
              <a:t>Validated read-only OpenAPI operations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9198864" y="2459736"/>
            <a:ext cx="2139696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3DA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0" y="2551176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B1F33"/>
                </a:solidFill>
              </a:rPr>
              <a:t>API Management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9326880" y="2898648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E6B78"/>
                </a:solidFill>
              </a:rPr>
              <a:t>JWT policy, throttling, versioning, and reuse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566928" y="3621024"/>
            <a:ext cx="11055096" cy="1078992"/>
          </a:xfrm>
          <a:prstGeom prst="roundRect">
            <a:avLst>
              <a:gd name="adj" fmla="val 4237"/>
            </a:avLst>
          </a:prstGeom>
          <a:solidFill>
            <a:srgbClr val="DDF3EA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3621024"/>
            <a:ext cx="1481328" cy="1078992"/>
          </a:xfrm>
          <a:prstGeom prst="rect">
            <a:avLst/>
          </a:prstGeom>
          <a:solidFill>
            <a:srgbClr val="16825D"/>
          </a:solidFill>
          <a:ln w="12700">
            <a:solidFill>
              <a:srgbClr val="1682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785616"/>
            <a:ext cx="1143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FFFFF"/>
                </a:solidFill>
              </a:rPr>
              <a:t>DATA + KNOWLEDGE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2286000" y="3739896"/>
            <a:ext cx="2907792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3DA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14016" y="38313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B1F33"/>
                </a:solidFill>
              </a:rPr>
              <a:t>Azure SQL Database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2414016" y="41788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B78"/>
                </a:solidFill>
              </a:rPr>
              <a:t>Authoritative Project360 project facts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358384" y="3739896"/>
            <a:ext cx="2907792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3DA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38313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B1F33"/>
                </a:solidFill>
              </a:rPr>
              <a:t>Azure AI Search</a:t>
            </a:r>
            <a:endParaRPr lang="en-US" sz="1180" dirty="0"/>
          </a:p>
        </p:txBody>
      </p:sp>
      <p:sp>
        <p:nvSpPr>
          <p:cNvPr id="36" name="Text 34"/>
          <p:cNvSpPr/>
          <p:nvPr/>
        </p:nvSpPr>
        <p:spPr>
          <a:xfrm>
            <a:off x="5486400" y="41788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B78"/>
                </a:solidFill>
              </a:rPr>
              <a:t>Keyword, vector, hybrid, and semantic retrieval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430768" y="3739896"/>
            <a:ext cx="2907792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3DA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58784" y="38313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0B1F33"/>
                </a:solidFill>
              </a:rPr>
              <a:t>Azure Blob Storage</a:t>
            </a:r>
            <a:endParaRPr lang="en-US" sz="1180" dirty="0"/>
          </a:p>
        </p:txBody>
      </p:sp>
      <p:sp>
        <p:nvSpPr>
          <p:cNvPr id="39" name="Text 37"/>
          <p:cNvSpPr/>
          <p:nvPr/>
        </p:nvSpPr>
        <p:spPr>
          <a:xfrm>
            <a:off x="8558784" y="41788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B78"/>
                </a:solidFill>
              </a:rPr>
              <a:t>Glossary, policies, definitions, and project files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" y="4901184"/>
            <a:ext cx="11055096" cy="822960"/>
          </a:xfrm>
          <a:prstGeom prst="roundRect">
            <a:avLst>
              <a:gd name="adj" fmla="val 5556"/>
            </a:avLst>
          </a:prstGeom>
          <a:solidFill>
            <a:srgbClr val="0B1F33"/>
          </a:solidFill>
          <a:ln w="12700">
            <a:solidFill>
              <a:srgbClr val="31506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6928" y="4901184"/>
            <a:ext cx="1481328" cy="822960"/>
          </a:xfrm>
          <a:prstGeom prst="rect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065776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SECURITY + OPERATIONS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286000" y="5020056"/>
            <a:ext cx="2907792" cy="585216"/>
          </a:xfrm>
          <a:prstGeom prst="roundRect">
            <a:avLst>
              <a:gd name="adj" fmla="val 6250"/>
            </a:avLst>
          </a:prstGeom>
          <a:solidFill>
            <a:srgbClr val="163A5F"/>
          </a:solidFill>
          <a:ln w="10160">
            <a:solidFill>
              <a:srgbClr val="49647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14016" y="51114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FFFFFF"/>
                </a:solidFill>
              </a:rPr>
              <a:t>Key Vault</a:t>
            </a:r>
            <a:endParaRPr lang="en-US" sz="1180" dirty="0"/>
          </a:p>
        </p:txBody>
      </p:sp>
      <p:sp>
        <p:nvSpPr>
          <p:cNvPr id="45" name="Text 43"/>
          <p:cNvSpPr/>
          <p:nvPr/>
        </p:nvSpPr>
        <p:spPr>
          <a:xfrm>
            <a:off x="2414016" y="534009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ED0E0"/>
                </a:solidFill>
              </a:rPr>
              <a:t>Secrets and certificates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358384" y="5020056"/>
            <a:ext cx="2907792" cy="585216"/>
          </a:xfrm>
          <a:prstGeom prst="roundRect">
            <a:avLst>
              <a:gd name="adj" fmla="val 6250"/>
            </a:avLst>
          </a:prstGeom>
          <a:solidFill>
            <a:srgbClr val="163A5F"/>
          </a:solidFill>
          <a:ln w="10160">
            <a:solidFill>
              <a:srgbClr val="49647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0" y="51114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FFFFFF"/>
                </a:solidFill>
              </a:rPr>
              <a:t>VNet + Private Link + DNS</a:t>
            </a:r>
            <a:endParaRPr lang="en-US" sz="1180" dirty="0"/>
          </a:p>
        </p:txBody>
      </p:sp>
      <p:sp>
        <p:nvSpPr>
          <p:cNvPr id="48" name="Text 46"/>
          <p:cNvSpPr/>
          <p:nvPr/>
        </p:nvSpPr>
        <p:spPr>
          <a:xfrm>
            <a:off x="5486400" y="534009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ED0E0"/>
                </a:solidFill>
              </a:rPr>
              <a:t>Approved private network paths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430768" y="5020056"/>
            <a:ext cx="2907792" cy="585216"/>
          </a:xfrm>
          <a:prstGeom prst="roundRect">
            <a:avLst>
              <a:gd name="adj" fmla="val 6250"/>
            </a:avLst>
          </a:prstGeom>
          <a:solidFill>
            <a:srgbClr val="163A5F"/>
          </a:solidFill>
          <a:ln w="10160">
            <a:solidFill>
              <a:srgbClr val="49647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58784" y="51114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FFFFFF"/>
                </a:solidFill>
              </a:rPr>
              <a:t>Monitor + App Insights + Logs</a:t>
            </a:r>
            <a:endParaRPr lang="en-US" sz="1180" dirty="0"/>
          </a:p>
        </p:txBody>
      </p:sp>
      <p:sp>
        <p:nvSpPr>
          <p:cNvPr id="51" name="Text 49"/>
          <p:cNvSpPr/>
          <p:nvPr/>
        </p:nvSpPr>
        <p:spPr>
          <a:xfrm>
            <a:off x="8558784" y="534009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ED0E0"/>
                </a:solidFill>
              </a:rPr>
              <a:t>Tracing, latency, errors, and correlation IDs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 rot="5400000">
            <a:off x="5824728" y="2157984"/>
            <a:ext cx="310896" cy="146304"/>
          </a:xfrm>
          <a:prstGeom prst="chevron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5400000">
            <a:off x="5824728" y="3438144"/>
            <a:ext cx="310896" cy="146304"/>
          </a:xfrm>
          <a:prstGeom prst="chevron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5400000">
            <a:off x="5824728" y="4718304"/>
            <a:ext cx="310896" cy="146304"/>
          </a:xfrm>
          <a:prstGeom prst="chevron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" y="59161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200"/>
                </a:solidFill>
              </a:rPr>
              <a:t>Runtime pattern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938528" y="5861304"/>
            <a:ext cx="9061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B1F33"/>
                </a:solidFill>
              </a:rPr>
              <a:t>Exact facts route to approved SQL operations; semantic questions route to Azure AI Search; mixed questions may use both.</a:t>
            </a:r>
            <a:endParaRPr lang="en-US" sz="1220" dirty="0"/>
          </a:p>
        </p:txBody>
      </p:sp>
      <p:sp>
        <p:nvSpPr>
          <p:cNvPr id="57" name="Shape 55"/>
          <p:cNvSpPr/>
          <p:nvPr/>
        </p:nvSpPr>
        <p:spPr>
          <a:xfrm>
            <a:off x="0" y="6291072"/>
            <a:ext cx="12191695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8640" y="630936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691640" y="630936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834640" y="630936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977640" y="630936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120640" y="630936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63640" y="630936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406640" y="630936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549640" y="630936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92640" y="630936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835640" y="630936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6928" y="646480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80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Project360 Azure AI proof of concept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11009376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FF82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TO Project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trusted AI foundation that can scale across Project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264408" cy="3456432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37360"/>
            <a:ext cx="621792" cy="438912"/>
          </a:xfrm>
          <a:prstGeom prst="roundRect">
            <a:avLst>
              <a:gd name="adj" fmla="val 10417"/>
            </a:avLst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869948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95528" y="2423160"/>
            <a:ext cx="2770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3"/>
                </a:solidFill>
              </a:rPr>
              <a:t>Faster project insight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95528" y="3172968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5E6B78"/>
                </a:solidFill>
              </a:rPr>
              <a:t>Employees ask natural-language questions instead of navigating reports, schemas, or multiple systems.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795528" y="405079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200"/>
                </a:solidFill>
              </a:rPr>
              <a:t>Seconds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5528" y="447141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</a:rPr>
              <a:t>to answer routine project questions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142232" y="1481328"/>
            <a:ext cx="3264408" cy="3456432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61688" y="1737360"/>
            <a:ext cx="621792" cy="438912"/>
          </a:xfrm>
          <a:prstGeom prst="roundRect">
            <a:avLst>
              <a:gd name="adj" fmla="val 10417"/>
            </a:avLst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1688" y="1869948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70832" y="2423160"/>
            <a:ext cx="2770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3"/>
                </a:solidFill>
              </a:rPr>
              <a:t>Trust through evidence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370832" y="3172968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5E6B78"/>
                </a:solidFill>
              </a:rPr>
              <a:t>Every response can show filters, source records, citations, data freshness, and a correlation ID.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4370832" y="405079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3E0"/>
                </a:solidFill>
              </a:rPr>
              <a:t>100%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370832" y="447141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</a:rPr>
              <a:t>of factual answers grounded in sources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717536" y="1481328"/>
            <a:ext cx="3264408" cy="3456432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36992" y="1737360"/>
            <a:ext cx="621792" cy="438912"/>
          </a:xfrm>
          <a:prstGeom prst="roundRect">
            <a:avLst>
              <a:gd name="adj" fmla="val 10417"/>
            </a:avLst>
          </a:prstGeom>
          <a:solidFill>
            <a:srgbClr val="16825D"/>
          </a:solidFill>
          <a:ln w="12700">
            <a:solidFill>
              <a:srgbClr val="1682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36992" y="1869948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46136" y="2423160"/>
            <a:ext cx="2770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B1F33"/>
                </a:solidFill>
              </a:rPr>
              <a:t>Secure, reusable platform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946136" y="3172968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5E6B78"/>
                </a:solidFill>
              </a:rPr>
              <a:t>Shared identity, networking, monitoring, and tool patterns support new domain agents without mixing permissions.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7946136" y="405079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825D"/>
                </a:solidFill>
              </a:rPr>
              <a:t>1 pattern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946136" y="447141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E6B78"/>
                </a:solidFill>
              </a:rPr>
              <a:t>for many Project business chatbots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566928" y="5166360"/>
            <a:ext cx="10415016" cy="658368"/>
          </a:xfrm>
          <a:prstGeom prst="roundRect">
            <a:avLst>
              <a:gd name="adj" fmla="val 6944"/>
            </a:avLst>
          </a:prstGeom>
          <a:solidFill>
            <a:srgbClr val="163A5F"/>
          </a:solidFill>
          <a:ln w="12700">
            <a:solidFill>
              <a:srgbClr val="3150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385816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200"/>
                </a:solidFill>
              </a:rPr>
              <a:t>POC outcome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38528" y="5330952"/>
            <a:ext cx="8065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FFFFFF"/>
                </a:solidFill>
              </a:rPr>
              <a:t>Validate accuracy, authorization, latency, and search quality before production—using the four Project360 questions and a repeatable evaluation set.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10341864" y="5330952"/>
            <a:ext cx="329184" cy="310896"/>
          </a:xfrm>
          <a:prstGeom prst="chevron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2700">
            <a:solidFill>
              <a:srgbClr val="3150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91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34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77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20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06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49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92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835640" y="6217920"/>
            <a:ext cx="475488" cy="0"/>
          </a:xfrm>
          <a:prstGeom prst="line">
            <a:avLst/>
          </a:prstGeom>
          <a:noFill/>
          <a:ln w="27940">
            <a:solidFill>
              <a:srgbClr val="FF8200">
                <a:alpha val="9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646480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ED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Project360 Azure AI proof of concept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009376" y="64282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82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1158</Words>
  <Application>Microsoft Office PowerPoint</Application>
  <PresentationFormat>Widescreen</PresentationFormat>
  <Paragraphs>180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Transportation data assistant</dc:title>
  <dc:subject>Generic solution click-through demonstration</dc:subject>
  <dc:creator>GitHub Copilot</dc:creator>
  <cp:keywords>TransportationDataAssistant</cp:keywords>
  <dc:description>Customer branding generalized. Edited historical captures; results not rerun.</dc:description>
  <cp:lastModifiedBy>John Straumann</cp:lastModifiedBy>
  <cp:revision>6</cp:revision>
  <dcterms:created xsi:type="dcterms:W3CDTF">2026-07-30T20:30:38Z</dcterms:created>
  <dcterms:modified xsi:type="dcterms:W3CDTF">2026-10-28T13:23:29Z</dcterms:modified>
  <dc:identifier/>
</cp:coreProperties>
</file>