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0" r:id="rId2"/>
    <p:sldId id="261" r:id="rId3"/>
    <p:sldId id="256" r:id="rId4"/>
    <p:sldId id="257" r:id="rId5"/>
    <p:sldId id="258" r:id="rId6"/>
    <p:sldId id="25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2791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Problem: Nontechnical staff need to add documents and receive cited answers without managing the Azure portal.</a:t>
            </a:r>
          </a:p>
          <a:p>
            <a:r>
              <a:t>Solution: Upload documents through an app library, refresh the search index, and retrieve grounded answers with source references.</a:t>
            </a:r>
          </a:p>
          <a:p>
            <a:r>
              <a:t>Products: Windows .NET MAUI | Blob Storage | Azure AI Search | Azure OpenAI GPT-4.1 | text-embedding-3-small | Entra ID</a:t>
            </a:r>
          </a:p>
          <a:p>
            <a:r>
              <a:t>Evidence status: The chat shell is captured. Upload/reindex proof is a presenter sequence; implementation exists, but packaged-stack deployment is not verified.</a:t>
            </a:r>
          </a:p>
          <a:p>
            <a:r>
              <a:t>Customer branding, organization labels and resource identifiers have been generalized. Screenshots are edited historical captures; no service results were rerun.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Architecture: [['App Library', 'Multi-file upload to Blob'], ['Search indexer', 'Chunk + embed + refresh'], ['Hybrid retrieval', 'Semantic / vector Search'], ['Grounded chat', 'Direct OpenAI + citations']]</a:t>
            </a:r>
          </a:p>
          <a:p>
            <a:r>
              <a:t>Boundary: The implemented RAG path uses direct model calls, not Foundry Agent Service. Web hosting and SharePoint ingestion are alternative patterns, not the UI captured.</a:t>
            </a:r>
          </a:p>
          <a:p>
            <a:r>
              <a:t>This is a logical diagram, not a verified deployment inventory. Arrows show the conceptual information flow.</a:t>
            </a:r>
          </a:p>
          <a:p>
            <a:r>
              <a:t>Customer names, logos and resource identifiers in subsequent captured screens have been generalized. Service brands and the solution's core workflow remain.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37960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5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Organization  |  Knowledge Assistant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3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3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D99A22"/>
                </a:solidFill>
                <a:latin typeface="Calibri"/>
              </a:defRPr>
            </a:pPr>
            <a:r>
              <a:t>GENERIC SOLUTION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Calibri"/>
              </a:defRPr>
            </a:pPr>
            <a:r>
              <a:t>Document knowledge assistant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D3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9A22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5074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Nontechnical staff need to add documents and receive cited answers without managing the Azure portal.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828800"/>
            <a:ext cx="5486400" cy="1828800"/>
          </a:xfrm>
          <a:prstGeom prst="roundRect">
            <a:avLst>
              <a:gd name="adj" fmla="val 5000"/>
            </a:avLst>
          </a:prstGeom>
          <a:solidFill>
            <a:srgbClr val="2D39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232" y="20116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9A22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514600"/>
            <a:ext cx="5074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Upload documents through an app library, refresh the search index, and retrieve grounded answers with source references.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9A22"/>
                </a:solidFill>
                <a:latin typeface="Calibri"/>
              </a:defRPr>
            </a:pPr>
            <a:r>
              <a:t>PRODUCTS AND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62272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FFFFFF"/>
                </a:solidFill>
                <a:latin typeface="Calibri"/>
              </a:defRPr>
            </a:pPr>
            <a:r>
              <a:t>Windows .NET MAUI | Blob Storage | Azure AI Search | Azure OpenAI GPT-4.1 | text-embedding-3-small | Entra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9612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D4DAE8"/>
                </a:solidFill>
                <a:latin typeface="Calibri"/>
              </a:defRPr>
            </a:pPr>
            <a:r>
              <a:t>The chat shell is captured. Upload/reindex proof is a presenter sequence; implementation exists, but packaged-stack deployment is not verified.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6B65"/>
                </a:solidFill>
                <a:latin typeface="Calibri"/>
              </a:defRPr>
            </a:pPr>
            <a:r>
              <a:t>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82337"/>
                </a:solidFill>
                <a:latin typeface="Calibri"/>
              </a:defRPr>
            </a:pPr>
            <a:r>
              <a:t>How the solution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09928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6B65"/>
                </a:solidFill>
                <a:latin typeface="Calibri"/>
              </a:defRPr>
            </a:pPr>
            <a:r>
              <a:t>LOGICAL FLOW / REFERENCE 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App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Multi-file upload to Blob</a:t>
            </a:r>
          </a:p>
        </p:txBody>
      </p:sp>
      <p:sp>
        <p:nvSpPr>
          <p:cNvPr id="9" name="Chevron 8"/>
          <p:cNvSpPr/>
          <p:nvPr/>
        </p:nvSpPr>
        <p:spPr>
          <a:xfrm>
            <a:off x="3163824" y="3264408"/>
            <a:ext cx="137160" cy="320040"/>
          </a:xfrm>
          <a:prstGeom prst="chevron">
            <a:avLst/>
          </a:prstGeom>
          <a:solidFill>
            <a:srgbClr val="00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19272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02152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Search indexer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Chunk + embed + refresh</a:t>
            </a:r>
          </a:p>
        </p:txBody>
      </p:sp>
      <p:sp>
        <p:nvSpPr>
          <p:cNvPr id="14" name="Chevron 13"/>
          <p:cNvSpPr/>
          <p:nvPr/>
        </p:nvSpPr>
        <p:spPr>
          <a:xfrm>
            <a:off x="6025896" y="3264408"/>
            <a:ext cx="137160" cy="320040"/>
          </a:xfrm>
          <a:prstGeom prst="chevron">
            <a:avLst/>
          </a:prstGeom>
          <a:solidFill>
            <a:srgbClr val="00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81344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4224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Hybrid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Semantic / vector Search</a:t>
            </a:r>
          </a:p>
        </p:txBody>
      </p:sp>
      <p:sp>
        <p:nvSpPr>
          <p:cNvPr id="19" name="Chevron 18"/>
          <p:cNvSpPr/>
          <p:nvPr/>
        </p:nvSpPr>
        <p:spPr>
          <a:xfrm>
            <a:off x="8887968" y="3264408"/>
            <a:ext cx="137160" cy="320040"/>
          </a:xfrm>
          <a:prstGeom prst="chevron">
            <a:avLst/>
          </a:prstGeom>
          <a:solidFill>
            <a:srgbClr val="006B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43416" y="2286000"/>
            <a:ext cx="2688336" cy="237744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26296" y="2468880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D99A22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1363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82337"/>
                </a:solidFill>
                <a:latin typeface="Calibri"/>
              </a:defRPr>
            </a:pPr>
            <a:r>
              <a:t>Grounded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384048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82337"/>
                </a:solidFill>
                <a:latin typeface="Calibri"/>
              </a:defRPr>
            </a:pPr>
            <a:r>
              <a:t>Direct OpenAI + citations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7492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82337"/>
                </a:solidFill>
                <a:latin typeface="Calibri"/>
              </a:defRPr>
            </a:pPr>
            <a:r>
              <a:t>The implemented RAG path uses direct model calls, not Foundry Agent Service. Web hosting and SharePoint ingestion are alternative patterns, not the UI captured.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72784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526176"/>
                </a:solidFill>
                <a:latin typeface="Calibri"/>
              </a:defRPr>
            </a:pPr>
            <a:r>
              <a:t>Generic labels and edited screenshots | Historical results are illustrative, not rerun</a:t>
            </a:r>
          </a:p>
        </p:txBody>
      </p:sp>
      <p:sp>
        <p:nvSpPr>
          <p:cNvPr id="26" name="TextBox 25">
            <a:hlinkClick r:id="rId3" action="ppaction://hlinksldjump"/>
          </p:cNvPr>
          <p:cNvSpPr txBox="1"/>
          <p:nvPr/>
        </p:nvSpPr>
        <p:spPr>
          <a:xfrm>
            <a:off x="10378440" y="623620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6B65"/>
                </a:solidFill>
                <a:latin typeface="Calibri"/>
              </a:defRPr>
            </a:pPr>
            <a:r>
              <a:t>START TOUR 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005840"/>
            <a:ext cx="3383280" cy="3383280"/>
          </a:xfrm>
          <a:prstGeom prst="ellipse">
            <a:avLst/>
          </a:prstGeom>
          <a:solidFill>
            <a:srgbClr val="0078D4">
              <a:alpha val="75000"/>
            </a:srgbClr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44200" y="5074920"/>
            <a:ext cx="2011680" cy="2011680"/>
          </a:xfrm>
          <a:prstGeom prst="ellipse">
            <a:avLst/>
          </a:prstGeom>
          <a:solidFill>
            <a:srgbClr val="C6A15B">
              <a:alpha val="90000"/>
            </a:srgbClr>
          </a:solidFill>
          <a:ln w="12700">
            <a:solidFill>
              <a:srgbClr val="C6A15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02920"/>
            <a:ext cx="2788920" cy="310896"/>
          </a:xfrm>
          <a:prstGeom prst="roundRect">
            <a:avLst>
              <a:gd name="adj" fmla="val 23529"/>
            </a:avLst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51206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 DOCUMENT KNOWLEDGE ASSISTANT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" y="1078992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trusted guidance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 easy to use as chat.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2889504"/>
            <a:ext cx="6172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7E4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basic MVP that removes Azure complexity from the end-user experience while keeping answers grounded in Organization-controlled documents.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52360" y="1097280"/>
            <a:ext cx="3886200" cy="4480560"/>
          </a:xfrm>
          <a:prstGeom prst="roundRect">
            <a:avLst>
              <a:gd name="adj" fmla="val 1882"/>
            </a:avLst>
          </a:prstGeom>
          <a:solidFill>
            <a:srgbClr val="153B59">
              <a:alpha val="98000"/>
            </a:srgbClr>
          </a:solidFill>
          <a:ln w="13970">
            <a:solidFill>
              <a:srgbClr val="4B70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4447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Organization ask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799832" y="2057400"/>
            <a:ext cx="502920" cy="502920"/>
          </a:xfrm>
          <a:prstGeom prst="ellipse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9832" y="21945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76488" y="20299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Familiar intake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76488" y="2340864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non-technical users select or drop documents without signing in to the Azure portal.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99832" y="3081528"/>
            <a:ext cx="502920" cy="502920"/>
          </a:xfrm>
          <a:prstGeom prst="ellipse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9832" y="32186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476488" y="305409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Automatic knowledge refresh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76488" y="336499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once, then index, chunk, vectorize, and make the content searchable.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99832" y="4105656"/>
            <a:ext cx="502920" cy="502920"/>
          </a:xfrm>
          <a:prstGeom prst="ellipse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832" y="42428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76488" y="40782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Grounded answers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76488" y="4389120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6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natural-language questions and receive concise answers with source citations.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6062472"/>
            <a:ext cx="6080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F2E6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principle: simple for users, governed by Azure.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built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working, reusable path from document upload to cited AI response.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46920" y="46634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MVP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" y="1353312"/>
            <a:ext cx="6492240" cy="4224528"/>
          </a:xfrm>
          <a:prstGeom prst="roundRect">
            <a:avLst>
              <a:gd name="adj" fmla="val 1299"/>
            </a:avLst>
          </a:prstGeom>
          <a:solidFill>
            <a:srgbClr val="141414"/>
          </a:solidFill>
          <a:ln w="15240">
            <a:solidFill>
              <a:srgbClr val="273846"/>
            </a:solidFill>
            <a:prstDash val="solid"/>
          </a:ln>
          <a:effectLst>
            <a:outerShdw blurRad="25400" dist="50800" dir="2700000" algn="bl" rotWithShape="0">
              <a:srgbClr val="71808A">
                <a:alpha val="22000"/>
              </a:srgbClr>
            </a:outerShdw>
          </a:effectLst>
        </p:spPr>
      </p:sp>
      <p:pic>
        <p:nvPicPr>
          <p:cNvPr id="7" name="Image 0" descr="C:\Users\jostraumann\.copilot\session-state\828574bc-4d47-4af7-bd01-7eb9d9a5584f\files\Knowledge Assistant-app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630936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5358384"/>
            <a:ext cx="5989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5DE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.NET MAUI experience: Chat + Library upload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388352" y="1344168"/>
            <a:ext cx="4133088" cy="914400"/>
          </a:xfrm>
          <a:prstGeom prst="roundRect">
            <a:avLst>
              <a:gd name="adj" fmla="val 5000"/>
            </a:avLst>
          </a:prstGeom>
          <a:solidFill>
            <a:srgbClr val="DCEEFF"/>
          </a:solidFill>
          <a:ln w="11430">
            <a:solidFill>
              <a:srgbClr val="0078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71232" y="1536192"/>
            <a:ext cx="493776" cy="493776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71232" y="1673352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11312" y="14813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Assistant app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211312" y="1773936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Windows chat UI with suggested prompts, citations, and multi-file Library upload.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7388352" y="2414016"/>
            <a:ext cx="4133088" cy="914400"/>
          </a:xfrm>
          <a:prstGeom prst="roundRect">
            <a:avLst>
              <a:gd name="adj" fmla="val 5000"/>
            </a:avLst>
          </a:prstGeom>
          <a:solidFill>
            <a:srgbClr val="E5F7FC"/>
          </a:solidFill>
          <a:ln w="11430">
            <a:solidFill>
              <a:srgbClr val="00A4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71232" y="2606040"/>
            <a:ext cx="493776" cy="493776"/>
          </a:xfrm>
          <a:prstGeom prst="ellipse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71232" y="2743200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211312" y="25511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document pipeline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211312" y="2843784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Blob Storage feeds an Azure AI Search indexer, integrated chunking, and vectorization.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7388352" y="3483864"/>
            <a:ext cx="4133088" cy="914400"/>
          </a:xfrm>
          <a:prstGeom prst="roundRect">
            <a:avLst>
              <a:gd name="adj" fmla="val 5000"/>
            </a:avLst>
          </a:prstGeom>
          <a:solidFill>
            <a:srgbClr val="F6F0E2"/>
          </a:solidFill>
          <a:ln w="11430">
            <a:solidFill>
              <a:srgbClr val="C6A15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571232" y="3675888"/>
            <a:ext cx="493776" cy="493776"/>
          </a:xfrm>
          <a:prstGeom prst="ellipse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71232" y="3813048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211312" y="36210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Grounded AI response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211312" y="3913632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semantic/vector retrieval supplies relevant passages to GPT-4.1 for cited answers.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7388352" y="4553712"/>
            <a:ext cx="4133088" cy="914400"/>
          </a:xfrm>
          <a:prstGeom prst="roundRect">
            <a:avLst>
              <a:gd name="adj" fmla="val 5000"/>
            </a:avLst>
          </a:prstGeom>
          <a:solidFill>
            <a:srgbClr val="E7EDF2"/>
          </a:solidFill>
          <a:ln w="11430">
            <a:solidFill>
              <a:srgbClr val="102A4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571232" y="4745736"/>
            <a:ext cx="493776" cy="49377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71232" y="4882896"/>
            <a:ext cx="493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11312" y="469087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Secure customer handoff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8211312" y="4983480"/>
            <a:ext cx="2990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ID, RBAC, cloud-aware PowerShell deployment, sample data, and a full build guide.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7388352" y="5687568"/>
            <a:ext cx="4133088" cy="530352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589520" y="5852160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Deliverables: guide  |  scripts  |  15 synthetic PDFs  |  application source</a:t>
            </a:r>
            <a:endParaRPr lang="en-US" sz="92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3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Assistant reference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896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simple user journeys share the same governed Azure foundation.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298448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307592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INGESTION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1792" y="3794760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803904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+ ANSWER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10512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5240">
            <a:solidFill>
              <a:srgbClr val="102A43"/>
            </a:solidFill>
            <a:prstDash val="solid"/>
          </a:ln>
          <a:effectLst>
            <a:outerShdw blurRad="19050" dist="50800" dir="2700000" algn="bl" rotWithShape="0">
              <a:srgbClr val="9BA9B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1975104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07111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53312" y="1956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Library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53312" y="2276856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Multi-file picker for Organization users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15768" y="2350008"/>
            <a:ext cx="347472" cy="0"/>
          </a:xfrm>
          <a:prstGeom prst="line">
            <a:avLst/>
          </a:prstGeom>
          <a:noFill/>
          <a:ln w="2794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81528" y="1810512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6F0E2"/>
          </a:solidFill>
          <a:ln w="15240">
            <a:solidFill>
              <a:srgbClr val="C6A15B"/>
            </a:solidFill>
            <a:prstDash val="solid"/>
          </a:ln>
          <a:effectLst>
            <a:outerShdw blurRad="19050" dist="50800" dir="2700000" algn="bl" rotWithShape="0">
              <a:srgbClr val="9BA9B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975104"/>
            <a:ext cx="438912" cy="438912"/>
          </a:xfrm>
          <a:prstGeom prst="ellipse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07111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94760" y="1956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Blob Storage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794760" y="2276856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Organization-controlled source documents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57216" y="2350008"/>
            <a:ext cx="347472" cy="0"/>
          </a:xfrm>
          <a:prstGeom prst="line">
            <a:avLst/>
          </a:prstGeom>
          <a:noFill/>
          <a:ln w="2794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22976" y="1810512"/>
            <a:ext cx="2331720" cy="1115568"/>
          </a:xfrm>
          <a:prstGeom prst="roundRect">
            <a:avLst>
              <a:gd name="adj" fmla="val 6557"/>
            </a:avLst>
          </a:prstGeom>
          <a:solidFill>
            <a:srgbClr val="E5F7FC"/>
          </a:solidFill>
          <a:ln w="15240">
            <a:solidFill>
              <a:srgbClr val="00A4EF"/>
            </a:solidFill>
            <a:prstDash val="solid"/>
          </a:ln>
          <a:effectLst>
            <a:outerShdw blurRad="19050" dist="50800" dir="2700000" algn="bl" rotWithShape="0">
              <a:srgbClr val="9BA9B4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87568" y="1975104"/>
            <a:ext cx="438912" cy="438912"/>
          </a:xfrm>
          <a:prstGeom prst="ellipse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207111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36208" y="1956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Search indexer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236208" y="2276856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Extracts, chunks, and enriches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72984" y="2350008"/>
            <a:ext cx="347472" cy="0"/>
          </a:xfrm>
          <a:prstGeom prst="line">
            <a:avLst/>
          </a:prstGeom>
          <a:noFill/>
          <a:ln w="2794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38744" y="1810512"/>
            <a:ext cx="2862072" cy="1115568"/>
          </a:xfrm>
          <a:prstGeom prst="roundRect">
            <a:avLst>
              <a:gd name="adj" fmla="val 6557"/>
            </a:avLst>
          </a:prstGeom>
          <a:solidFill>
            <a:srgbClr val="DCEEFF"/>
          </a:solidFill>
          <a:ln w="15240">
            <a:solidFill>
              <a:srgbClr val="0078D4"/>
            </a:solidFill>
            <a:prstDash val="solid"/>
          </a:ln>
          <a:effectLst>
            <a:outerShdw blurRad="19050" dist="50800" dir="2700000" algn="bl" rotWithShape="0">
              <a:srgbClr val="9BA9B4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403336" y="1975104"/>
            <a:ext cx="438912" cy="43891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03336" y="2071116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951976" y="195681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7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Vector + semantic index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8951976" y="2276856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 passages and source metadata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0080" y="4315968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5240">
            <a:solidFill>
              <a:srgbClr val="102A43"/>
            </a:solidFill>
            <a:prstDash val="solid"/>
          </a:ln>
          <a:effectLst>
            <a:outerShdw blurRad="19050" dist="50800" dir="2700000" algn="bl" rotWithShape="0">
              <a:srgbClr val="9BA9B4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4672" y="4480560"/>
            <a:ext cx="438912" cy="43891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57657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53312" y="4462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353312" y="4782312"/>
            <a:ext cx="1179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Natural-language question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15768" y="4855464"/>
            <a:ext cx="347472" cy="0"/>
          </a:xfrm>
          <a:prstGeom prst="line">
            <a:avLst/>
          </a:prstGeom>
          <a:noFill/>
          <a:ln w="2794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081528" y="4315968"/>
            <a:ext cx="2331720" cy="1115568"/>
          </a:xfrm>
          <a:prstGeom prst="roundRect">
            <a:avLst>
              <a:gd name="adj" fmla="val 6557"/>
            </a:avLst>
          </a:prstGeom>
          <a:solidFill>
            <a:srgbClr val="DCEEFF"/>
          </a:solidFill>
          <a:ln w="15240">
            <a:solidFill>
              <a:srgbClr val="0078D4"/>
            </a:solidFill>
            <a:prstDash val="solid"/>
          </a:ln>
          <a:effectLst>
            <a:outerShdw blurRad="19050" dist="50800" dir="2700000" algn="bl" rotWithShape="0">
              <a:srgbClr val="9BA9B4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46120" y="4480560"/>
            <a:ext cx="438912" cy="43891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46120" y="457657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4462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Hybrid retrieval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3794760" y="4782312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+ keyword + semantic ranking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31536" y="4855464"/>
            <a:ext cx="347472" cy="0"/>
          </a:xfrm>
          <a:prstGeom prst="line">
            <a:avLst/>
          </a:prstGeom>
          <a:noFill/>
          <a:ln w="2794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797296" y="4315968"/>
            <a:ext cx="2331720" cy="1115568"/>
          </a:xfrm>
          <a:prstGeom prst="roundRect">
            <a:avLst>
              <a:gd name="adj" fmla="val 6557"/>
            </a:avLst>
          </a:prstGeom>
          <a:solidFill>
            <a:srgbClr val="F6F0E2"/>
          </a:solidFill>
          <a:ln w="15240">
            <a:solidFill>
              <a:srgbClr val="C6A15B"/>
            </a:solidFill>
            <a:prstDash val="solid"/>
          </a:ln>
          <a:effectLst>
            <a:outerShdw blurRad="19050" dist="50800" dir="2700000" algn="bl" rotWithShape="0">
              <a:srgbClr val="9BA9B4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961888" y="4480560"/>
            <a:ext cx="438912" cy="438912"/>
          </a:xfrm>
          <a:prstGeom prst="ellipse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61888" y="457657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10528" y="44622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GPT-4.1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6510528" y="4782312"/>
            <a:ext cx="1453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answer from retrieved passages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147304" y="4855464"/>
            <a:ext cx="347472" cy="0"/>
          </a:xfrm>
          <a:prstGeom prst="line">
            <a:avLst/>
          </a:prstGeom>
          <a:noFill/>
          <a:ln w="27940">
            <a:solidFill>
              <a:srgbClr val="0078D4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8513064" y="4315968"/>
            <a:ext cx="2587752" cy="1115568"/>
          </a:xfrm>
          <a:prstGeom prst="roundRect">
            <a:avLst>
              <a:gd name="adj" fmla="val 6557"/>
            </a:avLst>
          </a:prstGeom>
          <a:solidFill>
            <a:srgbClr val="E8F3EB"/>
          </a:solidFill>
          <a:ln w="15240">
            <a:solidFill>
              <a:srgbClr val="2D7D46"/>
            </a:solidFill>
            <a:prstDash val="solid"/>
          </a:ln>
          <a:effectLst>
            <a:outerShdw blurRad="19050" dist="50800" dir="2700000" algn="bl" rotWithShape="0">
              <a:srgbClr val="9BA9B4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677656" y="4480560"/>
            <a:ext cx="438912" cy="438912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77656" y="4576572"/>
            <a:ext cx="438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226296" y="44622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B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+ citations</a:t>
            </a:r>
            <a:endParaRPr lang="en-US" sz="1550" dirty="0"/>
          </a:p>
        </p:txBody>
      </p:sp>
      <p:sp>
        <p:nvSpPr>
          <p:cNvPr id="53" name="Text 51"/>
          <p:cNvSpPr/>
          <p:nvPr/>
        </p:nvSpPr>
        <p:spPr>
          <a:xfrm>
            <a:off x="9226296" y="4782312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5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Filename and source path returned to the user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623560" y="3182112"/>
            <a:ext cx="2606040" cy="621792"/>
          </a:xfrm>
          <a:prstGeom prst="roundRect">
            <a:avLst>
              <a:gd name="adj" fmla="val 7353"/>
            </a:avLst>
          </a:prstGeom>
          <a:solidFill>
            <a:srgbClr val="071A2B"/>
          </a:solidFill>
          <a:ln w="12700">
            <a:solidFill>
              <a:srgbClr val="071A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797296" y="331012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Foundry model deployments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text-embedding-3-small  |  GPT-4.1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19088" y="2944368"/>
            <a:ext cx="0" cy="228600"/>
          </a:xfrm>
          <a:prstGeom prst="line">
            <a:avLst/>
          </a:prstGeom>
          <a:noFill/>
          <a:ln w="20320">
            <a:solidFill>
              <a:srgbClr val="C6A15B"/>
            </a:solidFill>
            <a:prstDash val="solid"/>
            <a:headEnd type="triangl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7296912" y="3813048"/>
            <a:ext cx="0" cy="484632"/>
          </a:xfrm>
          <a:prstGeom prst="line">
            <a:avLst/>
          </a:prstGeom>
          <a:noFill/>
          <a:ln w="20320">
            <a:solidFill>
              <a:srgbClr val="C6A15B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40080" y="5806440"/>
            <a:ext cx="10460736" cy="429768"/>
          </a:xfrm>
          <a:prstGeom prst="roundRect">
            <a:avLst>
              <a:gd name="adj" fmla="val 8511"/>
            </a:avLst>
          </a:prstGeom>
          <a:solidFill>
            <a:srgbClr val="E7EDF2"/>
          </a:solidFill>
          <a:ln w="10160">
            <a:solidFill>
              <a:srgbClr val="AFC0C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32688" y="5943600"/>
            <a:ext cx="9857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Entra ID + Azure RBAC provide passwordless access across the app, Storage, Search, and Foundry.</a:t>
            </a:r>
            <a:endParaRPr lang="en-US" sz="105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967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573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93776"/>
            <a:ext cx="1298448" cy="310896"/>
          </a:xfrm>
          <a:prstGeom prst="roundRect">
            <a:avLst>
              <a:gd name="adj" fmla="val 23529"/>
            </a:avLst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TO Organization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6903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foundation for trusted,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repeatable document intelligence.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20574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8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MVP proves the workflow without forcing document contributors to become Azure operators.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58368" y="2770632"/>
            <a:ext cx="3401568" cy="960120"/>
          </a:xfrm>
          <a:prstGeom prst="roundRect">
            <a:avLst>
              <a:gd name="adj" fmla="val 4762"/>
            </a:avLst>
          </a:prstGeom>
          <a:solidFill>
            <a:srgbClr val="123852"/>
          </a:solidFill>
          <a:ln w="12700">
            <a:solidFill>
              <a:srgbClr val="355C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9352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A4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288950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adoption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280160" y="31912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C2D2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Library upload and conversational search fit familiar user behavior.</a:t>
            </a:r>
            <a:endParaRPr lang="en-US" sz="1010" dirty="0"/>
          </a:p>
        </p:txBody>
      </p:sp>
      <p:sp>
        <p:nvSpPr>
          <p:cNvPr id="10" name="Shape 8"/>
          <p:cNvSpPr/>
          <p:nvPr/>
        </p:nvSpPr>
        <p:spPr>
          <a:xfrm>
            <a:off x="4425696" y="2770632"/>
            <a:ext cx="3401568" cy="960120"/>
          </a:xfrm>
          <a:prstGeom prst="roundRect">
            <a:avLst>
              <a:gd name="adj" fmla="val 4762"/>
            </a:avLst>
          </a:prstGeom>
          <a:solidFill>
            <a:srgbClr val="123852"/>
          </a:solidFill>
          <a:ln w="12700">
            <a:solidFill>
              <a:srgbClr val="355C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29352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A4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47488" y="288950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discovery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47488" y="31912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C2D2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locate relevant guidance across many documents in seconds.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>
            <a:off x="8193024" y="2770632"/>
            <a:ext cx="3401568" cy="960120"/>
          </a:xfrm>
          <a:prstGeom prst="roundRect">
            <a:avLst>
              <a:gd name="adj" fmla="val 4762"/>
            </a:avLst>
          </a:prstGeom>
          <a:solidFill>
            <a:srgbClr val="123852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29352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6A1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814816" y="288950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Traceable answers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814816" y="319125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C2D2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Citations keep the original source visible and reviewable.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2542032" y="3986784"/>
            <a:ext cx="3401568" cy="960120"/>
          </a:xfrm>
          <a:prstGeom prst="roundRect">
            <a:avLst>
              <a:gd name="adj" fmla="val 4762"/>
            </a:avLst>
          </a:prstGeom>
          <a:solidFill>
            <a:srgbClr val="173248"/>
          </a:solidFill>
          <a:ln w="12700">
            <a:solidFill>
              <a:srgbClr val="355C7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415137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A4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63824" y="410565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Identity-first security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163824" y="44074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C2D2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 ID and RBAC avoid embedded keys and shared credentials.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6309360" y="3986784"/>
            <a:ext cx="3401568" cy="960120"/>
          </a:xfrm>
          <a:prstGeom prst="roundRect">
            <a:avLst>
              <a:gd name="adj" fmla="val 4762"/>
            </a:avLst>
          </a:prstGeom>
          <a:solidFill>
            <a:srgbClr val="173248"/>
          </a:solidFill>
          <a:ln w="12700">
            <a:solidFill>
              <a:srgbClr val="355C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15137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A4E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31152" y="410565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Reusable platform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931152" y="440740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10" dirty="0">
                <a:solidFill>
                  <a:srgbClr val="C2D2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Scripts, configuration, and sample data accelerate the next environment.</a:t>
            </a:r>
            <a:endParaRPr lang="en-US" sz="1010" dirty="0"/>
          </a:p>
        </p:txBody>
      </p:sp>
      <p:sp>
        <p:nvSpPr>
          <p:cNvPr id="26" name="Text 24"/>
          <p:cNvSpPr/>
          <p:nvPr/>
        </p:nvSpPr>
        <p:spPr>
          <a:xfrm>
            <a:off x="658368" y="555955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A1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MVP PROOF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28800" y="5321808"/>
            <a:ext cx="1600200" cy="658368"/>
          </a:xfrm>
          <a:prstGeom prst="roundRect">
            <a:avLst>
              <a:gd name="adj" fmla="val 6944"/>
            </a:avLst>
          </a:prstGeom>
          <a:solidFill>
            <a:srgbClr val="153B59"/>
          </a:solidFill>
          <a:ln w="13970">
            <a:solidFill>
              <a:srgbClr val="C6A1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5486400"/>
            <a:ext cx="329184" cy="329184"/>
          </a:xfrm>
          <a:prstGeom prst="ellipse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5568696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395728" y="55138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Upload PDF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483864" y="5650992"/>
            <a:ext cx="256032" cy="0"/>
          </a:xfrm>
          <a:prstGeom prst="line">
            <a:avLst/>
          </a:prstGeom>
          <a:noFill/>
          <a:ln w="22860">
            <a:solidFill>
              <a:srgbClr val="C6A15B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794760" y="5321808"/>
            <a:ext cx="1444752" cy="658368"/>
          </a:xfrm>
          <a:prstGeom prst="roundRect">
            <a:avLst>
              <a:gd name="adj" fmla="val 6944"/>
            </a:avLst>
          </a:prstGeom>
          <a:solidFill>
            <a:srgbClr val="153B59"/>
          </a:solidFill>
          <a:ln w="13970">
            <a:solidFill>
              <a:srgbClr val="C6A1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41064" y="5486400"/>
            <a:ext cx="329184" cy="329184"/>
          </a:xfrm>
          <a:prstGeom prst="ellipse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41064" y="5568696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361688" y="5513832"/>
            <a:ext cx="758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Reindex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294376" y="5650992"/>
            <a:ext cx="256032" cy="0"/>
          </a:xfrm>
          <a:prstGeom prst="line">
            <a:avLst/>
          </a:prstGeom>
          <a:noFill/>
          <a:ln w="22860">
            <a:solidFill>
              <a:srgbClr val="C6A15B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614416" y="5321808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153B59"/>
          </a:solidFill>
          <a:ln w="13970">
            <a:solidFill>
              <a:srgbClr val="C6A15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60720" y="5486400"/>
            <a:ext cx="329184" cy="329184"/>
          </a:xfrm>
          <a:prstGeom prst="ellipse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5568696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81344" y="55138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BLUE-CYPRESS-27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7772400" y="5650992"/>
            <a:ext cx="256032" cy="0"/>
          </a:xfrm>
          <a:prstGeom prst="line">
            <a:avLst/>
          </a:prstGeom>
          <a:noFill/>
          <a:ln w="22860">
            <a:solidFill>
              <a:srgbClr val="C6A15B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101584" y="5321808"/>
            <a:ext cx="2240280" cy="658368"/>
          </a:xfrm>
          <a:prstGeom prst="roundRect">
            <a:avLst>
              <a:gd name="adj" fmla="val 6944"/>
            </a:avLst>
          </a:prstGeom>
          <a:solidFill>
            <a:srgbClr val="153B59"/>
          </a:solidFill>
          <a:ln w="13970">
            <a:solidFill>
              <a:srgbClr val="C6A15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47888" y="5486400"/>
            <a:ext cx="329184" cy="329184"/>
          </a:xfrm>
          <a:prstGeom prst="ellipse">
            <a:avLst/>
          </a:prstGeom>
          <a:solidFill>
            <a:srgbClr val="C6A15B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47888" y="5568696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1A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668512" y="55138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Receive cited fact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2231136" y="6291072"/>
            <a:ext cx="7726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B7C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Customer-ready package: deployment guide, automation scripts, synthetic corpus, and source code.</a:t>
            </a:r>
            <a:endParaRPr lang="en-US" sz="10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</Words>
  <Application>Microsoft Office PowerPoint</Application>
  <PresentationFormat>Widescreen</PresentationFormat>
  <Paragraphs>134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knowledge assistant</dc:title>
  <dc:subject>Generic solution click-through demonstration</dc:subject>
  <dc:creator>Microsoft</dc:creator>
  <cp:keywords>DocumentKnowledgeAssistant</cp:keywords>
  <dc:description>Customer branding generalized. Edited historical captures; results not rerun.</dc:description>
  <cp:lastModifiedBy>John Straumann</cp:lastModifiedBy>
  <cp:revision>5</cp:revision>
  <dcterms:created xsi:type="dcterms:W3CDTF">2026-08-04T17:18:29Z</dcterms:created>
  <dcterms:modified xsi:type="dcterms:W3CDTF">2026-10-28T13:23:16Z</dcterms:modified>
  <dc:identifier/>
</cp:coreProperties>
</file>