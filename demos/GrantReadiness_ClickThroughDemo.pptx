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09DDEF-A4E0-49EA-96ED-3E63BD7D1AB4}"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002C3-5B73-4D94-B161-2D9FAEE6C63B}" type="slidenum">
              <a:rPr lang="en-US" smtClean="0"/>
              <a:t>‹#›</a:t>
            </a:fld>
            <a:endParaRPr lang="en-US"/>
          </a:p>
        </p:txBody>
      </p:sp>
    </p:spTree>
    <p:extLst>
      <p:ext uri="{BB962C8B-B14F-4D97-AF65-F5344CB8AC3E}">
        <p14:creationId xmlns:p14="http://schemas.microsoft.com/office/powerpoint/2010/main" val="1551394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Small nonprofits lose time assembling narratives, budgets and attachments against complex funding guidelines. Missing evidence and internal budget inconsistencies are discovered near deadlines.</a:t>
            </a:r>
          </a:p>
          <a:p>
            <a:r>
              <a:rPr lang="en-US"/>
              <a:t>Business value: Produce a cited readiness gap list, budget-check report and writing-task plan. Measure required-item coverage and preparation time, not a predicted award probability.</a:t>
            </a:r>
          </a:p>
          <a:p>
            <a:r>
              <a:rPr lang="en-US"/>
              <a:t>Measurement targets are hypotheses: no analyst-time baseline or monetary savings was measured. MVP: MVP boundary: One fictional funder and two programs. Evaluate completeness and arithmetic against seeded guidelines; no award ranking, automatic submission or claims of funder approval.</a:t>
            </a:r>
          </a:p>
          <a:p>
            <a:r>
              <a:rPr lang="en-US"/>
              <a:t>Boundary: Human boundary: The model must not invent organizational outcomes, partners, credentials or impact figures. Staff assess actual eligibility and approve narrative claims.</a:t>
            </a:r>
          </a:p>
        </p:txBody>
      </p:sp>
      <p:sp>
        <p:nvSpPr>
          <p:cNvPr id="4" name="Slide Number Placeholder 3"/>
          <p:cNvSpPr>
            <a:spLocks noGrp="1"/>
          </p:cNvSpPr>
          <p:nvPr>
            <p:ph type="sldNum" sz="quarter" idx="5"/>
          </p:nvPr>
        </p:nvSpPr>
        <p:spPr/>
        <p:txBody>
          <a:bodyPr/>
          <a:lstStyle/>
          <a:p>
            <a:fld id="{F86002C3-5B73-4D94-B161-2D9FAEE6C63B}" type="slidenum">
              <a:rPr lang="en-US" smtClean="0"/>
              <a:t>1</a:t>
            </a:fld>
            <a:endParaRPr lang="en-US"/>
          </a:p>
        </p:txBody>
      </p:sp>
    </p:spTree>
    <p:extLst>
      <p:ext uri="{BB962C8B-B14F-4D97-AF65-F5344CB8AC3E}">
        <p14:creationId xmlns:p14="http://schemas.microsoft.com/office/powerpoint/2010/main" val="392817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F86002C3-5B73-4D94-B161-2D9FAEE6C63B}" type="slidenum">
              <a:rPr lang="en-US" smtClean="0"/>
              <a:t>2</a:t>
            </a:fld>
            <a:endParaRPr lang="en-US"/>
          </a:p>
        </p:txBody>
      </p:sp>
    </p:spTree>
    <p:extLst>
      <p:ext uri="{BB962C8B-B14F-4D97-AF65-F5344CB8AC3E}">
        <p14:creationId xmlns:p14="http://schemas.microsoft.com/office/powerpoint/2010/main" val="1672335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Select a program and open the corresponding required-evidence checklist.</a:t>
            </a:r>
          </a:p>
          <a:p>
            <a:r>
              <a:rPr lang="en-US"/>
              <a:t>Fixture: normal-01. Capture timestamp: 2026-10-28T15:35:56.5453956Z. State: ReviewReady. Rule findings: .</a:t>
            </a:r>
          </a:p>
          <a:p>
            <a:r>
              <a:rPr lang="en-US"/>
              <a:t>Business value and benefits: Produce a cited readiness gap list, budget-check report and writing-task plan. Measure required-item coverage and preparation time, not a predicted award probability. This step makes the evidence, uncertainty or human boundary visible. Human boundary: The model must not invent organizational outcomes, partners, credentials or impact figures. Staff assess actual eligibility and approve narrative claims.</a:t>
            </a:r>
          </a:p>
          <a:p>
            <a:r>
              <a:rPr lang="en-US"/>
              <a:t>What the user sees: Exact fixture facts and deterministic checks, a source-linked internal AI draft, and explicit human-review limits.</a:t>
            </a:r>
          </a:p>
          <a:p>
            <a:r>
              <a:rPr lang="en-US"/>
              <a:t>Evidence: saved live run 2026-10-28T15:22:06.2182632+00:00,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The model must not invent organizational outcomes, partners, credentials or impact figures. Staff assess actual eligibility and approve narrative claims.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F86002C3-5B73-4D94-B161-2D9FAEE6C63B}" type="slidenum">
              <a:rPr lang="en-US" smtClean="0"/>
              <a:t>3</a:t>
            </a:fld>
            <a:endParaRPr lang="en-US"/>
          </a:p>
        </p:txBody>
      </p:sp>
    </p:spTree>
    <p:extLst>
      <p:ext uri="{BB962C8B-B14F-4D97-AF65-F5344CB8AC3E}">
        <p14:creationId xmlns:p14="http://schemas.microsoft.com/office/powerpoint/2010/main" val="4126722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a near-complete application and inspect its missing budget narrative.</a:t>
            </a:r>
          </a:p>
          <a:p>
            <a:r>
              <a:rPr lang="en-US"/>
              <a:t>Fixture: incomplete-01. Capture timestamp: 2026-10-28T15:35:57.5543966Z. State: NeedsInformation. Rule findings: MISSING_NARRATIVE.</a:t>
            </a:r>
          </a:p>
          <a:p>
            <a:r>
              <a:rPr lang="en-US"/>
              <a:t>Business value and benefits: Produce a cited readiness gap list, budget-check report and writing-task plan. Measure required-item coverage and preparation time, not a predicted award probability. This step makes the evidence, uncertainty or human boundary visible. Human boundary: The model must not invent organizational outcomes, partners, credentials or impact figures. Staff assess actual eligibility and approve narrative claims.</a:t>
            </a:r>
          </a:p>
          <a:p>
            <a:r>
              <a:rPr lang="en-US"/>
              <a:t>What the user sees: NeedsInformation: MISSING_NARRATIVE. The finding remains visible beside the evidence and approved sources.</a:t>
            </a:r>
          </a:p>
          <a:p>
            <a:r>
              <a:rPr lang="en-US"/>
              <a:t>Evidence: saved live run 2026-10-28T15:22:08.3970789+00:00,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The model must not invent organizational outcomes, partners, credentials or impact figures. Staff assess actual eligibility and approve narrative claims.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F86002C3-5B73-4D94-B161-2D9FAEE6C63B}" type="slidenum">
              <a:rPr lang="en-US" smtClean="0"/>
              <a:t>4</a:t>
            </a:fld>
            <a:endParaRPr lang="en-US"/>
          </a:p>
        </p:txBody>
      </p:sp>
    </p:spTree>
    <p:extLst>
      <p:ext uri="{BB962C8B-B14F-4D97-AF65-F5344CB8AC3E}">
        <p14:creationId xmlns:p14="http://schemas.microsoft.com/office/powerpoint/2010/main" val="923851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the exact requirement citation and effective version.</a:t>
            </a:r>
          </a:p>
          <a:p>
            <a:r>
              <a:rPr lang="en-US"/>
              <a:t>Fixture: normal-01. Capture timestamp: 2026-10-28T15:35:58.5456106Z. State: ReviewReady. Rule findings: .</a:t>
            </a:r>
          </a:p>
          <a:p>
            <a:r>
              <a:rPr lang="en-US"/>
              <a:t>Business value and benefits: Produce a cited readiness gap list, budget-check report and writing-task plan. Measure required-item coverage and preparation time, not a predicted award probability. This step makes the evidence, uncertainty or human boundary visible. Human boundary: The model must not invent organizational outcomes, partners, credentials or impact figures. Staff assess actual eligibility and approve narrative claims.</a:t>
            </a:r>
          </a:p>
          <a:p>
            <a:r>
              <a:rPr lang="en-US"/>
              <a:t>What the user sees: Exact fixture facts and deterministic checks, a source-linked internal AI draft, and explicit human-review limits.</a:t>
            </a:r>
          </a:p>
          <a:p>
            <a:r>
              <a:rPr lang="en-US"/>
              <a:t>Evidence: saved live run 2026-10-28T15:22:06.2182632+00:00,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The model must not invent organizational outcomes, partners, credentials or impact figures. Staff assess actual eligibility and approve narrative claims.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F86002C3-5B73-4D94-B161-2D9FAEE6C63B}" type="slidenum">
              <a:rPr lang="en-US" smtClean="0"/>
              <a:t>5</a:t>
            </a:fld>
            <a:endParaRPr lang="en-US"/>
          </a:p>
        </p:txBody>
      </p:sp>
    </p:spTree>
    <p:extLst>
      <p:ext uri="{BB962C8B-B14F-4D97-AF65-F5344CB8AC3E}">
        <p14:creationId xmlns:p14="http://schemas.microsoft.com/office/powerpoint/2010/main" val="1894878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Change a budget line and show a deterministic total mismatch.</a:t>
            </a:r>
          </a:p>
          <a:p>
            <a:r>
              <a:rPr lang="en-US"/>
              <a:t>Fixture: contradictory-01. Capture timestamp: 2026-10-28T15:35:59.5460205Z. State: NeedsInformation. Rule findings: BUDGET_MISMATCH.</a:t>
            </a:r>
          </a:p>
          <a:p>
            <a:r>
              <a:rPr lang="en-US"/>
              <a:t>Business value and benefits: Produce a cited readiness gap list, budget-check report and writing-task plan. Measure required-item coverage and preparation time, not a predicted award probability. This step makes the evidence, uncertainty or human boundary visible. Human boundary: The model must not invent organizational outcomes, partners, credentials or impact figures. Staff assess actual eligibility and approve narrative claims.</a:t>
            </a:r>
          </a:p>
          <a:p>
            <a:r>
              <a:rPr lang="en-US"/>
              <a:t>What the user sees: NeedsInformation: BUDGET_MISMATCH. The finding remains visible beside the evidence and approved sources.</a:t>
            </a:r>
          </a:p>
          <a:p>
            <a:r>
              <a:rPr lang="en-US"/>
              <a:t>Evidence: saved live run 2026-10-28T15:22:11.75434+00:00,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The model must not invent organizational outcomes, partners, credentials or impact figures. Staff assess actual eligibility and approve narrative claims.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F86002C3-5B73-4D94-B161-2D9FAEE6C63B}" type="slidenum">
              <a:rPr lang="en-US" smtClean="0"/>
              <a:t>6</a:t>
            </a:fld>
            <a:endParaRPr lang="en-US"/>
          </a:p>
        </p:txBody>
      </p:sp>
    </p:spTree>
    <p:extLst>
      <p:ext uri="{BB962C8B-B14F-4D97-AF65-F5344CB8AC3E}">
        <p14:creationId xmlns:p14="http://schemas.microsoft.com/office/powerpoint/2010/main" val="2602067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Ask for an unsupported success statistic; demonstrate abstention and an evidence request.</a:t>
            </a:r>
          </a:p>
          <a:p>
            <a:r>
              <a:rPr lang="en-US"/>
              <a:t>Fixture: domain-01. Capture timestamp: 2026-10-28T15:36:00.5473851Z. State: NeedsInformation. Rule findings: EVIDENCE_REQUEST.</a:t>
            </a:r>
          </a:p>
          <a:p>
            <a:r>
              <a:rPr lang="en-US"/>
              <a:t>Business value and benefits: Produce a cited readiness gap list, budget-check report and writing-task plan. Measure required-item coverage and preparation time, not a predicted award probability. This step makes the evidence, uncertainty or human boundary visible. Human boundary: The model must not invent organizational outcomes, partners, credentials or impact figures. Staff assess actual eligibility and approve narrative claims.</a:t>
            </a:r>
          </a:p>
          <a:p>
            <a:r>
              <a:rPr lang="en-US"/>
              <a:t>What the user sees: NeedsInformation: EVIDENCE_REQUEST. The finding remains visible beside the evidence and approved sources.</a:t>
            </a:r>
          </a:p>
          <a:p>
            <a:r>
              <a:rPr lang="en-US"/>
              <a:t>Evidence: saved live run 2026-10-28T15:22:14.0966782+00:00,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The model must not invent organizational outcomes, partners, credentials or impact figures. Staff assess actual eligibility and approve narrative claims.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F86002C3-5B73-4D94-B161-2D9FAEE6C63B}" type="slidenum">
              <a:rPr lang="en-US" smtClean="0"/>
              <a:t>7</a:t>
            </a:fld>
            <a:endParaRPr lang="en-US"/>
          </a:p>
        </p:txBody>
      </p:sp>
    </p:spTree>
    <p:extLst>
      <p:ext uri="{BB962C8B-B14F-4D97-AF65-F5344CB8AC3E}">
        <p14:creationId xmlns:p14="http://schemas.microsoft.com/office/powerpoint/2010/main" val="930835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drafting work plan and export the internal packet.</a:t>
            </a:r>
          </a:p>
          <a:p>
            <a:r>
              <a:rPr lang="en-US"/>
              <a:t>Fixture: normal-01. Capture timestamp: 2026-10-28T15:36:01.5589534Z. State: ReviewReady. Rule findings: .</a:t>
            </a:r>
          </a:p>
          <a:p>
            <a:r>
              <a:rPr lang="en-US"/>
              <a:t>Business value and benefits: Produce a cited readiness gap list, budget-check report and writing-task plan. Measure required-item coverage and preparation time, not a predicted award probability. This step makes the evidence, uncertainty or human boundary visible. Human boundary: The model must not invent organizational outcomes, partners, credentials or impact figures. Staff assess actual eligibility and approve narrative claims.</a:t>
            </a:r>
          </a:p>
          <a:p>
            <a:r>
              <a:rPr lang="en-US"/>
              <a:t>What the user sees: A persisted internal approval, duplicate-safe operation key, audit timeline and explicitly Simulated handoff.</a:t>
            </a:r>
          </a:p>
          <a:p>
            <a:r>
              <a:rPr lang="en-US"/>
              <a:t>Evidence: saved live run 2026-10-28T15:22:06.2182632+00:00,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The model must not invent organizational outcomes, partners, credentials or impact figures. Staff assess actual eligibility and approve narrative claims.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F86002C3-5B73-4D94-B161-2D9FAEE6C63B}" type="slidenum">
              <a:rPr lang="en-US" smtClean="0"/>
              <a:t>8</a:t>
            </a:fld>
            <a:endParaRPr lang="en-US"/>
          </a:p>
        </p:txBody>
      </p:sp>
    </p:spTree>
    <p:extLst>
      <p:ext uri="{BB962C8B-B14F-4D97-AF65-F5344CB8AC3E}">
        <p14:creationId xmlns:p14="http://schemas.microsoft.com/office/powerpoint/2010/main" val="1706191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F86002C3-5B73-4D94-B161-2D9FAEE6C63B}" type="slidenum">
              <a:rPr lang="en-US" smtClean="0"/>
              <a:t>9</a:t>
            </a:fld>
            <a:endParaRPr lang="en-US"/>
          </a:p>
        </p:txBody>
      </p:sp>
    </p:spTree>
    <p:extLst>
      <p:ext uri="{BB962C8B-B14F-4D97-AF65-F5344CB8AC3E}">
        <p14:creationId xmlns:p14="http://schemas.microsoft.com/office/powerpoint/2010/main" val="410366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5149A-55EA-A23A-D7E6-B1541064C015}"/>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81BA84-9CEA-F969-9DFE-1F56A35D4B58}"/>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59F742-C91D-E6E0-2BD2-242D9438BCE8}"/>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5" name="Footer Placeholder 4">
            <a:extLst>
              <a:ext uri="{FF2B5EF4-FFF2-40B4-BE49-F238E27FC236}">
                <a16:creationId xmlns:a16="http://schemas.microsoft.com/office/drawing/2014/main" id="{EF31FB53-72C2-88EF-B0C7-76506380D9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6FEEFB-D40E-515B-416E-8376332F5259}"/>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2772719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515A-73E9-398C-EC0D-9B24A29016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F12DB0-D880-53DA-8E5C-E294B42F01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D94442-0155-0196-59E4-8EC2084CF22E}"/>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5" name="Footer Placeholder 4">
            <a:extLst>
              <a:ext uri="{FF2B5EF4-FFF2-40B4-BE49-F238E27FC236}">
                <a16:creationId xmlns:a16="http://schemas.microsoft.com/office/drawing/2014/main" id="{A036F3B4-FCF3-40E6-DD47-57396A5B0B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8A7DFF-FD3B-2FB0-5DF7-EEBD908FB01B}"/>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1504921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078DE-1F2C-5A78-AAEF-D4845351548E}"/>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CC9AFB-2772-CBE8-0821-5FA23D1B6A03}"/>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5FDFDA-7DA1-8916-9B9A-FA176F3558AA}"/>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5" name="Footer Placeholder 4">
            <a:extLst>
              <a:ext uri="{FF2B5EF4-FFF2-40B4-BE49-F238E27FC236}">
                <a16:creationId xmlns:a16="http://schemas.microsoft.com/office/drawing/2014/main" id="{486CCD5A-DB2A-E7E9-93D0-17FFAE7105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E599A-36C7-2B63-4B84-6F0D5D6CE9F6}"/>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3878637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6672A-E087-35B2-5612-3D6EDFD0AA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1C5B18-C1F3-381C-AC0E-FDDA57A9940E}"/>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469255-07D4-D74D-F258-7E82C65F0CE7}"/>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0332A5-FDD6-127F-F040-8BBDDDE19BAD}"/>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6" name="Footer Placeholder 5">
            <a:extLst>
              <a:ext uri="{FF2B5EF4-FFF2-40B4-BE49-F238E27FC236}">
                <a16:creationId xmlns:a16="http://schemas.microsoft.com/office/drawing/2014/main" id="{6D650344-F828-8B5F-E231-CCF42B2178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DC7F2E-25F3-6278-68DF-6015FB4434A4}"/>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1137124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1B26-B161-8E72-8A7D-148FC27A46AB}"/>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8A8BC8-9FC5-D8EE-EE5B-38A5ABCBD2D8}"/>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52F41B-6CEC-787C-B722-1A68599C683E}"/>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36CD20-6271-4C27-BCA8-30717DB8086F}"/>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10D968-B790-D33B-7659-3C3BFB74AFC4}"/>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F2F202-3852-2E6A-A228-485AA3A9175E}"/>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8" name="Footer Placeholder 7">
            <a:extLst>
              <a:ext uri="{FF2B5EF4-FFF2-40B4-BE49-F238E27FC236}">
                <a16:creationId xmlns:a16="http://schemas.microsoft.com/office/drawing/2014/main" id="{8174975D-4319-1842-F72E-3FB7898943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E8B7FA-B43E-02BF-C9DB-CF3B04FF0E80}"/>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37965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4975E-CC07-BB6B-C243-A122707668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EB730E-867E-CABE-E52F-28FB5CB34348}"/>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4" name="Footer Placeholder 3">
            <a:extLst>
              <a:ext uri="{FF2B5EF4-FFF2-40B4-BE49-F238E27FC236}">
                <a16:creationId xmlns:a16="http://schemas.microsoft.com/office/drawing/2014/main" id="{7D82D46B-C80B-077C-2ED6-C1BD937856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657F80-F1C3-9748-C5D4-D90346F7E4D3}"/>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2095558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78AA9-3593-5636-FFE9-E19E3A42E18B}"/>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3" name="Footer Placeholder 2">
            <a:extLst>
              <a:ext uri="{FF2B5EF4-FFF2-40B4-BE49-F238E27FC236}">
                <a16:creationId xmlns:a16="http://schemas.microsoft.com/office/drawing/2014/main" id="{44BF8DE8-F943-6373-FA99-0A49793B63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FF08D0-0E8C-BA45-7B34-E4F7876AEA76}"/>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134094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64F78-D9F8-9C0C-2B7C-681E44160B8B}"/>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9AFC68-B958-3C2D-C26E-B4931D9CC4FB}"/>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4C25DE-1119-6024-E418-FBD5DBD10E5C}"/>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71817-4BDA-7E4F-E1C2-AA64E8C9D000}"/>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6" name="Footer Placeholder 5">
            <a:extLst>
              <a:ext uri="{FF2B5EF4-FFF2-40B4-BE49-F238E27FC236}">
                <a16:creationId xmlns:a16="http://schemas.microsoft.com/office/drawing/2014/main" id="{DE6F7F99-534D-3262-16DE-152BF4C0DB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C0188-5E92-3260-703B-BF3F5CC4A800}"/>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3089616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3304A-34F5-574B-EB7C-8FAA51CCB62F}"/>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FBFAD5-F54C-AE4A-0BBC-B5B7EC56E093}"/>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930461-C78A-24D9-A065-D696DAE23C98}"/>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34029A-C86A-1DAF-52E5-7D91B9C6ED56}"/>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6" name="Footer Placeholder 5">
            <a:extLst>
              <a:ext uri="{FF2B5EF4-FFF2-40B4-BE49-F238E27FC236}">
                <a16:creationId xmlns:a16="http://schemas.microsoft.com/office/drawing/2014/main" id="{84CE2120-9762-5C78-EED3-0ED6E4B215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56D8BD-D6FE-8D9D-A0F0-C8A61ABCD714}"/>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743371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45872-D6A5-CB38-2F51-0A1D8F42D3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8F09D4-BD53-600B-EDD0-61D290F533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A03B5F-40BB-EAFE-3E3E-A31133D015CD}"/>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5" name="Footer Placeholder 4">
            <a:extLst>
              <a:ext uri="{FF2B5EF4-FFF2-40B4-BE49-F238E27FC236}">
                <a16:creationId xmlns:a16="http://schemas.microsoft.com/office/drawing/2014/main" id="{BB35FB36-18B9-5E49-87F7-33C36E2649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A92B1-23F3-9445-3A75-E055BADCC9FD}"/>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2834057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652CBC-4823-422F-601F-7FEB801441CC}"/>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2BFAB9-41FD-5D77-BCEE-D6D56A82ABA3}"/>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A7F55A-863D-44E9-4D68-EAF77CBB4AE8}"/>
              </a:ext>
            </a:extLst>
          </p:cNvPr>
          <p:cNvSpPr>
            <a:spLocks noGrp="1"/>
          </p:cNvSpPr>
          <p:nvPr>
            <p:ph type="dt" sz="half" idx="10"/>
          </p:nvPr>
        </p:nvSpPr>
        <p:spPr/>
        <p:txBody>
          <a:bodyPr/>
          <a:lstStyle/>
          <a:p>
            <a:fld id="{291FBB74-FDCA-4A7A-A895-4C431BD86DFE}" type="datetimeFigureOut">
              <a:rPr lang="en-US" smtClean="0"/>
              <a:t>10/28/2026</a:t>
            </a:fld>
            <a:endParaRPr lang="en-US"/>
          </a:p>
        </p:txBody>
      </p:sp>
      <p:sp>
        <p:nvSpPr>
          <p:cNvPr id="5" name="Footer Placeholder 4">
            <a:extLst>
              <a:ext uri="{FF2B5EF4-FFF2-40B4-BE49-F238E27FC236}">
                <a16:creationId xmlns:a16="http://schemas.microsoft.com/office/drawing/2014/main" id="{7A258BAF-FC38-B8E8-BCAE-0163FEFEA6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63208-CF41-0954-BB75-F5B14DA5E8A8}"/>
              </a:ext>
            </a:extLst>
          </p:cNvPr>
          <p:cNvSpPr>
            <a:spLocks noGrp="1"/>
          </p:cNvSpPr>
          <p:nvPr>
            <p:ph type="sldNum" sz="quarter" idx="12"/>
          </p:nvPr>
        </p:nvSpPr>
        <p:spPr/>
        <p:txBody>
          <a:bodyPr/>
          <a:lstStyle/>
          <a:p>
            <a:fld id="{30F2072E-CE7C-4683-84AC-5EBF3C257F11}" type="slidenum">
              <a:rPr lang="en-US" smtClean="0"/>
              <a:t>‹#›</a:t>
            </a:fld>
            <a:endParaRPr lang="en-US"/>
          </a:p>
        </p:txBody>
      </p:sp>
    </p:spTree>
    <p:extLst>
      <p:ext uri="{BB962C8B-B14F-4D97-AF65-F5344CB8AC3E}">
        <p14:creationId xmlns:p14="http://schemas.microsoft.com/office/powerpoint/2010/main" val="55014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DBF775-6791-20F1-F5D3-6F5E743D348A}"/>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423798-9ED7-58DC-FF15-DDBC3572142F}"/>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85E5C-2CD6-2DBE-DFD4-2B81668883B3}"/>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291FBB74-FDCA-4A7A-A895-4C431BD86DFE}" type="datetimeFigureOut">
              <a:rPr lang="en-US" smtClean="0"/>
              <a:t>10/28/2026</a:t>
            </a:fld>
            <a:endParaRPr lang="en-US"/>
          </a:p>
        </p:txBody>
      </p:sp>
      <p:sp>
        <p:nvSpPr>
          <p:cNvPr id="5" name="Footer Placeholder 4">
            <a:extLst>
              <a:ext uri="{FF2B5EF4-FFF2-40B4-BE49-F238E27FC236}">
                <a16:creationId xmlns:a16="http://schemas.microsoft.com/office/drawing/2014/main" id="{B613D387-F1B2-ABAC-0385-120A5688FAF0}"/>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512F1C-EC9D-4352-731F-07684A3B0106}"/>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30F2072E-CE7C-4683-84AC-5EBF3C257F11}" type="slidenum">
              <a:rPr lang="en-US" smtClean="0"/>
              <a:t>‹#›</a:t>
            </a:fld>
            <a:endParaRPr lang="en-US"/>
          </a:p>
        </p:txBody>
      </p:sp>
    </p:spTree>
    <p:extLst>
      <p:ext uri="{BB962C8B-B14F-4D97-AF65-F5344CB8AC3E}">
        <p14:creationId xmlns:p14="http://schemas.microsoft.com/office/powerpoint/2010/main" val="4223028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E03BA4-CCC1-24A9-F923-BA9C047875B2}"/>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86888315-8E22-3538-9297-6BDA66E1B7C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Nonprofit Grant Application Readiness</a:t>
            </a:r>
          </a:p>
        </p:txBody>
      </p:sp>
      <p:sp>
        <p:nvSpPr>
          <p:cNvPr id="4" name="TextBox 3">
            <a:extLst>
              <a:ext uri="{FF2B5EF4-FFF2-40B4-BE49-F238E27FC236}">
                <a16:creationId xmlns:a16="http://schemas.microsoft.com/office/drawing/2014/main" id="{C2891BDE-33AF-7182-D88B-3A94E5871EB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F9DCA923-54C2-B527-BC48-C91C12CCF08A}"/>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2FC35A0-6642-4521-ECC3-7D731D6C1553}"/>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44B17AF7-E1E3-1CA6-9CD2-4E755921E04A}"/>
              </a:ext>
            </a:extLst>
          </p:cNvPr>
          <p:cNvSpPr txBox="1"/>
          <p:nvPr/>
        </p:nvSpPr>
        <p:spPr>
          <a:xfrm>
            <a:off x="762000" y="2565400"/>
            <a:ext cx="10287000" cy="1246495"/>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Small nonprofits lose time assembling narratives, budgets and attachments against complex funding guidelines. Missing evidence and internal budget inconsistencies are discovered near deadlines.</a:t>
            </a:r>
          </a:p>
        </p:txBody>
      </p:sp>
      <p:sp>
        <p:nvSpPr>
          <p:cNvPr id="8" name="TextBox 7">
            <a:extLst>
              <a:ext uri="{FF2B5EF4-FFF2-40B4-BE49-F238E27FC236}">
                <a16:creationId xmlns:a16="http://schemas.microsoft.com/office/drawing/2014/main" id="{CD6FF42A-3EB7-DAF0-73D2-84B253B92ABB}"/>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C8B14FAA-B1A9-D257-2419-0835D44DAD68}"/>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Produce a cited readiness gap list, budget-check report and writing-task plan. Measure required-item coverage and preparation time, not a predicted award probability.</a:t>
            </a:r>
          </a:p>
        </p:txBody>
      </p:sp>
      <p:sp>
        <p:nvSpPr>
          <p:cNvPr id="10" name="TextBox 9">
            <a:extLst>
              <a:ext uri="{FF2B5EF4-FFF2-40B4-BE49-F238E27FC236}">
                <a16:creationId xmlns:a16="http://schemas.microsoft.com/office/drawing/2014/main" id="{86D1FAB4-F880-BEB2-54A5-18C2B251FE64}"/>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1B3BFAF3-59E8-699B-1DDA-2C0B497C3329}"/>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The model must not invent organizational outcomes, partners, credentials or impact figures. Staff assess actual eligibility and approve narrative claims.</a:t>
            </a:r>
          </a:p>
        </p:txBody>
      </p:sp>
      <p:sp>
        <p:nvSpPr>
          <p:cNvPr id="12" name="TextBox 11">
            <a:extLst>
              <a:ext uri="{FF2B5EF4-FFF2-40B4-BE49-F238E27FC236}">
                <a16:creationId xmlns:a16="http://schemas.microsoft.com/office/drawing/2014/main" id="{0DB9903B-0462-1BA6-D940-A6977E3A3AA6}"/>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82F67FBA-12FE-89FC-6C09-AE69EC60CF4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06A3CEE6-9A62-51BF-EF90-C0FBAAA6285D}"/>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6AA38F1E-D47A-9A13-B84B-89CBFAF37264}"/>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37269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AF33EC-9122-733C-8DCA-00F527F2F26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59B0CE10-3B9D-614B-2F82-C9E27D7F4E54}"/>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2B43C97C-445E-C635-8155-43D038213FC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8740DC7C-7A84-18B0-13D2-CD8F82D2A379}"/>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C08D4A-A97B-C109-D045-6EE5BD44CEA0}"/>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40F3B39E-F31B-E126-EBA4-3AC727889162}"/>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3CA2B77A-2D95-C04F-966D-B6FF721729D5}"/>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E7CE7AB8-1567-8F6A-9624-B422B0F7BA42}"/>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867380-2C70-08C6-35C7-FDC366DE9114}"/>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19FFEA2E-530B-101F-CD84-E9B8E22F3562}"/>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6F631123-0264-6311-B6CE-1E6F74E98A80}"/>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F65CC7F7-FEF6-F81F-A986-748B333912D3}"/>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CF073A2-3809-3762-0401-AA503CA3332B}"/>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3FD01B37-9C9F-1943-4A74-26221CFEFBA1}"/>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288C0FBA-9946-C50A-72DC-9550DFF13DBA}"/>
              </a:ext>
            </a:extLst>
          </p:cNvPr>
          <p:cNvSpPr txBox="1"/>
          <p:nvPr/>
        </p:nvSpPr>
        <p:spPr>
          <a:xfrm>
            <a:off x="96012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 + filtered AI Search + Document Intelligence</a:t>
            </a:r>
          </a:p>
        </p:txBody>
      </p:sp>
      <p:sp>
        <p:nvSpPr>
          <p:cNvPr id="17" name="Rectangle: Rounded Corners 16">
            <a:extLst>
              <a:ext uri="{FF2B5EF4-FFF2-40B4-BE49-F238E27FC236}">
                <a16:creationId xmlns:a16="http://schemas.microsoft.com/office/drawing/2014/main" id="{C459E75E-02DB-5D1C-ACDC-1B231F08E423}"/>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D00B6A-C2BE-5213-743E-0D08DA320263}"/>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A0F939EC-1099-76BA-4CB3-820DE50C37F4}"/>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80A1E875-0107-5913-9B0F-E15C456526AD}"/>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1473D49C-52B1-0F69-4FD8-7BD2AFB1BD3D}"/>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2026-10-28T15:22:17.4483355+00:00
Resource group: rg-demo-grants
Model deployment: brief / gpt-4.1-mini | Tokens: 6951 in / 1104 out</a:t>
            </a:r>
          </a:p>
        </p:txBody>
      </p:sp>
      <p:sp>
        <p:nvSpPr>
          <p:cNvPr id="22" name="TextBox 21">
            <a:extLst>
              <a:ext uri="{FF2B5EF4-FFF2-40B4-BE49-F238E27FC236}">
                <a16:creationId xmlns:a16="http://schemas.microsoft.com/office/drawing/2014/main" id="{D9B503FF-F563-1FDC-40AD-44CC6E03C106}"/>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D76795D1-DAE6-13BB-0309-DE324A2FAE23}"/>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18CB75B6-EB96-B878-89D7-20AE4108E458}"/>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F222E925-55AC-46F0-4D1A-FBD8E2324DC4}"/>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13AD92AE-C1FA-DD2A-22FC-D54C2A0FF897}"/>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225268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DEFF98-5011-F12F-33FB-6FF9FD1D80CB}"/>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1F1E7864-04AF-E60F-3809-6C25242B017F}"/>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Program checklist</a:t>
            </a:r>
          </a:p>
        </p:txBody>
      </p:sp>
      <p:sp>
        <p:nvSpPr>
          <p:cNvPr id="4" name="TextBox 3">
            <a:extLst>
              <a:ext uri="{FF2B5EF4-FFF2-40B4-BE49-F238E27FC236}">
                <a16:creationId xmlns:a16="http://schemas.microsoft.com/office/drawing/2014/main" id="{A28A9747-7E61-E907-0721-25742855D523}"/>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82C28A75-394E-0264-CAB4-CFA96071A63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A8A4A423-9737-01D9-DD28-8D36BE904D2A}"/>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E9C2D02-59C0-19AD-62E0-C7FBDFE6BC4D}"/>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2CC7360B-829F-94FF-6901-F0F5A7FA8BEF}"/>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658B60E6-0A03-E4E5-EC4C-C6507C908F8A}"/>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4D426C6F-C4DD-17A3-332F-C9E568C1F4AA}"/>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074ABC0B-9402-9B0B-8395-C6FC085D2045}"/>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D1A6D847-42F0-E36E-E811-DBEA9DECA172}"/>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DE4FF4F6-A995-D688-C43D-9E35AF5D211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9DCD420E-EF0D-69CB-4598-5EB66CF54E55}"/>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B0C455DB-2605-0D75-790E-E44EDCBB57E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847260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0EA135-EE1E-7D5B-123B-A9457814E853}"/>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6A9E2332-E1A2-1995-B594-46A976FD4F9E}"/>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Budget narrative</a:t>
            </a:r>
          </a:p>
        </p:txBody>
      </p:sp>
      <p:sp>
        <p:nvSpPr>
          <p:cNvPr id="4" name="TextBox 3">
            <a:extLst>
              <a:ext uri="{FF2B5EF4-FFF2-40B4-BE49-F238E27FC236}">
                <a16:creationId xmlns:a16="http://schemas.microsoft.com/office/drawing/2014/main" id="{F903520B-7A39-5175-CBB3-5059C0AAFE89}"/>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E26CA8D5-AE2E-088A-6C2C-FB7AAAFA7EE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8E999D6D-AB42-27FF-8A34-5CDBEDB63C10}"/>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6CD34C6-F195-FC83-BB6E-06A56EDA6667}"/>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1DE9C4D6-0C08-1967-0E7E-C47749BF9C8E}"/>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DA428917-0FA7-F622-0C47-4ABD516AE8E9}"/>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DF1E6BCB-CDD3-576C-977B-D1C73CAC8381}"/>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MISSING_NARRATIVE. The finding remains visible beside the evidence and approved sources.</a:t>
            </a:r>
          </a:p>
        </p:txBody>
      </p:sp>
      <p:sp>
        <p:nvSpPr>
          <p:cNvPr id="12" name="TextBox 11">
            <a:extLst>
              <a:ext uri="{FF2B5EF4-FFF2-40B4-BE49-F238E27FC236}">
                <a16:creationId xmlns:a16="http://schemas.microsoft.com/office/drawing/2014/main" id="{F7E29282-0025-F241-219B-D7DA25BF9264}"/>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13B0F801-41FE-7D97-8061-F71B874577E1}"/>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116E3C14-63C6-9D7A-7AF9-0CB6FDDD7C9F}"/>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7FFED463-81FF-5C1A-24B0-D7640994220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A0C9B715-49AA-1A12-7109-FC5DCF46E18E}"/>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58007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7D8D26-C05A-680C-572F-864017C7AD03}"/>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653A1123-A38A-B90B-98C9-165F7ECA019F}"/>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Dated requirement</a:t>
            </a:r>
          </a:p>
        </p:txBody>
      </p:sp>
      <p:sp>
        <p:nvSpPr>
          <p:cNvPr id="4" name="TextBox 3">
            <a:extLst>
              <a:ext uri="{FF2B5EF4-FFF2-40B4-BE49-F238E27FC236}">
                <a16:creationId xmlns:a16="http://schemas.microsoft.com/office/drawing/2014/main" id="{9FBF160D-4A55-7D08-B490-29B3B4D4CCC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320A95E-6BE2-2B19-07A2-27BB648723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DBB8DF9A-AE6F-54F5-F330-D0C09F05F562}"/>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904720D-222A-9423-4168-1462F33DA1F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6A6C53A6-5181-5B1F-4D86-8DB3D814ACDF}"/>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DED1C227-BEF4-E41A-DD88-D79CDDEE825D}"/>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335E3AAC-4A60-BBF3-9125-F6C5088A6198}"/>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AFABA831-B5FF-94FF-7A08-9B8FE3963AB2}"/>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C5E46E05-EADC-1F45-DCFB-FBB5F21C388E}"/>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B130ECCD-8B3D-452B-D7BC-4179F634803C}"/>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DEBFE92C-41BD-AA4A-3073-70E81B24BCE7}"/>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504629F9-2BE8-D157-453B-A3434FD944A4}"/>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244877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B41BFA-DED5-076B-A050-ED80C5AC492C}"/>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3D3B1040-40DB-70E1-07B0-EA0FE18E0B42}"/>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Budget mismatch</a:t>
            </a:r>
          </a:p>
        </p:txBody>
      </p:sp>
      <p:sp>
        <p:nvSpPr>
          <p:cNvPr id="4" name="TextBox 3">
            <a:extLst>
              <a:ext uri="{FF2B5EF4-FFF2-40B4-BE49-F238E27FC236}">
                <a16:creationId xmlns:a16="http://schemas.microsoft.com/office/drawing/2014/main" id="{9B86A350-38C0-ED0E-9409-5DA7FA8947D7}"/>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14FE4DDC-04E1-357E-4697-51E0F1DB5B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A4ECF14D-D683-F7D8-424C-DF6C1324E9D2}"/>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1FA0B51-C3CB-E391-0BC3-4AD293E52E70}"/>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1B0DA2F3-FC25-45CF-C0F9-3B45639092CC}"/>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CCFF9510-06D1-1473-F919-EE2CCA34EFA2}"/>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C1015EBE-C4CA-839B-882D-780A78CD47AC}"/>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BUDGET_MISMATCH. The finding remains visible beside the evidence and approved sources.</a:t>
            </a:r>
          </a:p>
        </p:txBody>
      </p:sp>
      <p:sp>
        <p:nvSpPr>
          <p:cNvPr id="12" name="TextBox 11">
            <a:extLst>
              <a:ext uri="{FF2B5EF4-FFF2-40B4-BE49-F238E27FC236}">
                <a16:creationId xmlns:a16="http://schemas.microsoft.com/office/drawing/2014/main" id="{4105B2A6-E582-10E8-4419-0D8E324EF19D}"/>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858932A4-36DD-D6F6-DE95-9868C2826EE1}"/>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B955DD92-38BC-06D3-A42F-BA708D922F78}"/>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55D43B25-3BC2-96A3-1639-FC41252BFEC5}"/>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1BA96873-1B55-9C33-8E6D-DBD26EE15D1C}"/>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149366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49C17D-F55D-38F2-7187-D4D7A168AA19}"/>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A351227E-45A8-B349-F3C0-1E9887C370A7}"/>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Evidence request</a:t>
            </a:r>
          </a:p>
        </p:txBody>
      </p:sp>
      <p:sp>
        <p:nvSpPr>
          <p:cNvPr id="4" name="TextBox 3">
            <a:extLst>
              <a:ext uri="{FF2B5EF4-FFF2-40B4-BE49-F238E27FC236}">
                <a16:creationId xmlns:a16="http://schemas.microsoft.com/office/drawing/2014/main" id="{AF43DA96-DC65-9D30-CA28-6532F656737D}"/>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EC377F21-08E2-36A9-AFD6-AA3DE01739B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61604F22-1FB7-7CD2-DFE8-2AAC8E7FDF97}"/>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0A45DB4-DB18-F968-E5F0-2AC5B050FEB6}"/>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4E5920A6-CCD8-D961-14B1-3F2A34054B58}"/>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047932BB-89FD-5334-A056-AFBED9EC1E7D}"/>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CC0C74D5-9D9D-C9AE-8CF1-D7B45E153F85}"/>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EVIDENCE_REQUEST. The finding remains visible beside the evidence and approved sources.</a:t>
            </a:r>
          </a:p>
        </p:txBody>
      </p:sp>
      <p:sp>
        <p:nvSpPr>
          <p:cNvPr id="12" name="TextBox 11">
            <a:extLst>
              <a:ext uri="{FF2B5EF4-FFF2-40B4-BE49-F238E27FC236}">
                <a16:creationId xmlns:a16="http://schemas.microsoft.com/office/drawing/2014/main" id="{8BEE36E2-8270-F77B-3C62-87DFE4249671}"/>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220C4FBA-BD4B-860E-8F25-76F17D50DEF9}"/>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A963837C-5041-FFEC-2CA3-1EA45143A544}"/>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2B232B29-F6B7-0BFF-B5A6-66080BEE0618}"/>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DF9A1C32-9B22-3551-96CB-BF388ACDEE1B}"/>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038884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C4512F-ACE2-1DF3-A3D5-1A5A09DEA94C}"/>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F8EF12E2-90BF-B43E-5CCA-205FDB69133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Export work plan</a:t>
            </a:r>
          </a:p>
        </p:txBody>
      </p:sp>
      <p:sp>
        <p:nvSpPr>
          <p:cNvPr id="4" name="TextBox 3">
            <a:extLst>
              <a:ext uri="{FF2B5EF4-FFF2-40B4-BE49-F238E27FC236}">
                <a16:creationId xmlns:a16="http://schemas.microsoft.com/office/drawing/2014/main" id="{50B00E69-DC86-150E-7795-CBEF330408B7}"/>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2594E66B-6F6D-12CB-6ECE-7A806214F3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C40DD2D1-2F20-3D23-1F17-57B3564B29B6}"/>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94BCC7D-F1F0-FED3-01A9-DF0884F27CDF}"/>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ED30CCE6-72B8-A0AB-A07E-9C4E7D449CB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1B7A6798-2129-DABA-4B53-8D235989AD0A}"/>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2E7BA785-1295-3A75-6652-58AC49FE6E98}"/>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20BAAD20-7880-3DE1-4CCA-F83467DB7979}"/>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A40BD95C-D302-6488-6FBE-44DC4BFF8E96}"/>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00F507DB-57E1-EB37-B14D-F175486EF2A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681B8942-9E17-2DD1-BA6F-E496B944DFC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7487FDC3-0BC0-868E-C262-ACC3C95335AF}"/>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640551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49B58A-21F5-E4FB-51E9-119F30E1EDF9}"/>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3886EEA9-0620-0BEE-2FE8-311AECE999D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1DC303C0-DFBD-7463-7FA8-98478D84ECDF}"/>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1114280E-003D-7077-AE0B-B2166D2DE315}"/>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20 recorded service requests
6951 input / 1104 output tokens
1 extracted document pages
SQL approval + duplicate, owner, stale-input and expiry guards</a:t>
            </a:r>
          </a:p>
        </p:txBody>
      </p:sp>
      <p:sp>
        <p:nvSpPr>
          <p:cNvPr id="6" name="TextBox 5">
            <a:extLst>
              <a:ext uri="{FF2B5EF4-FFF2-40B4-BE49-F238E27FC236}">
                <a16:creationId xmlns:a16="http://schemas.microsoft.com/office/drawing/2014/main" id="{36B5E103-3419-20CF-E0E9-EE2A5995AF3D}"/>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813A053F-15E6-9B97-26B9-21A0324BA413}"/>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2E800D82-EBDB-7626-A57F-FB9279853918}"/>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60DD9434-F3BA-E4DE-E812-39A56C4609B0}"/>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77A59ED0-644C-1BDB-378A-74390462D993}"/>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994707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2650</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2026-10-28T15:37:17Z</dcterms:created>
  <dcterms:modified xsi:type="dcterms:W3CDTF">2026-10-28T15:37:18Z</dcterms:modified>
</cp:coreProperties>
</file>