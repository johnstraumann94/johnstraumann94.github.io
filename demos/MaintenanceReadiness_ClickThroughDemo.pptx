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D34C46-2DB1-4765-8762-EB65908ACBC7}"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AF0947-49EA-4B93-ACC5-69D6598FA356}" type="slidenum">
              <a:rPr lang="en-US" smtClean="0"/>
              <a:t>‹#›</a:t>
            </a:fld>
            <a:endParaRPr lang="en-US"/>
          </a:p>
        </p:txBody>
      </p:sp>
    </p:spTree>
    <p:extLst>
      <p:ext uri="{BB962C8B-B14F-4D97-AF65-F5344CB8AC3E}">
        <p14:creationId xmlns:p14="http://schemas.microsoft.com/office/powerpoint/2010/main" val="6149430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challenge: Fault reports arrive without asset identity, useful symptoms or service history. Planners repeatedly ask for missing details and locate the correct approved manual before scheduling work.</a:t>
            </a:r>
          </a:p>
          <a:p>
            <a:r>
              <a:rPr lang="en-US"/>
              <a:t>Business value: Prepare a planner-ready work-order draft with verified asset context, missing questions and cited manual sections. Measure completeness and preparation time, not diagnostic accuracy or equipment uptime.</a:t>
            </a:r>
          </a:p>
          <a:p>
            <a:r>
              <a:rPr lang="en-US"/>
              <a:t>Measurement targets are hypotheses: no analyst-time baseline or monetary savings was measured. MVP: MVP boundary: Three fictional machines and operator-submitted text reports. Recommend administrative readiness and specialist escalation only; no diagnosis, repair procedure generation or equipment control.</a:t>
            </a:r>
          </a:p>
          <a:p>
            <a:r>
              <a:rPr lang="en-US"/>
              <a:t>Boundary: Human boundary: Safety-related input displays the approved site emergency/escalation notice and requires a responsible supervisor. Never produce hazardous troubleshooting instructions or claim the machine is safe to operate.</a:t>
            </a:r>
          </a:p>
        </p:txBody>
      </p:sp>
      <p:sp>
        <p:nvSpPr>
          <p:cNvPr id="4" name="Slide Number Placeholder 3"/>
          <p:cNvSpPr>
            <a:spLocks noGrp="1"/>
          </p:cNvSpPr>
          <p:nvPr>
            <p:ph type="sldNum" sz="quarter" idx="5"/>
          </p:nvPr>
        </p:nvSpPr>
        <p:spPr/>
        <p:txBody>
          <a:bodyPr/>
          <a:lstStyle/>
          <a:p>
            <a:fld id="{6BAF0947-49EA-4B93-ACC5-69D6598FA356}" type="slidenum">
              <a:rPr lang="en-US" smtClean="0"/>
              <a:t>1</a:t>
            </a:fld>
            <a:endParaRPr lang="en-US"/>
          </a:p>
        </p:txBody>
      </p:sp>
    </p:spTree>
    <p:extLst>
      <p:ext uri="{BB962C8B-B14F-4D97-AF65-F5344CB8AC3E}">
        <p14:creationId xmlns:p14="http://schemas.microsoft.com/office/powerpoint/2010/main" val="248942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deployed Azure inventory is in Infrastructure\deployed-resources.json. Each use case has a separate resource group in subscription dfc418e8-191e-453b-ad84-a10e863314ca. A shared private execution network lives in the invoice resource group; SQL private endpoints live with each demo. The temporary container is deleted after execution. Azure CLI operator tokens are supplied as secure container environment values, not embedded credentials. This desktop demo does not claim hosted managed-identity APIs or production app roles. Business benefit: a repeatable, evidence-visible workflow with exact rules outside the model. Screenshots are replay of saved live service output, not fresh calls from PowerPoint. Existing Key Vault is unnecessary because the app has no stored secrets.</a:t>
            </a:r>
          </a:p>
        </p:txBody>
      </p:sp>
      <p:sp>
        <p:nvSpPr>
          <p:cNvPr id="4" name="Slide Number Placeholder 3"/>
          <p:cNvSpPr>
            <a:spLocks noGrp="1"/>
          </p:cNvSpPr>
          <p:nvPr>
            <p:ph type="sldNum" sz="quarter" idx="5"/>
          </p:nvPr>
        </p:nvSpPr>
        <p:spPr/>
        <p:txBody>
          <a:bodyPr/>
          <a:lstStyle/>
          <a:p>
            <a:fld id="{6BAF0947-49EA-4B93-ACC5-69D6598FA356}" type="slidenum">
              <a:rPr lang="en-US" smtClean="0"/>
              <a:t>2</a:t>
            </a:fld>
            <a:endParaRPr lang="en-US"/>
          </a:p>
        </p:txBody>
      </p:sp>
    </p:spTree>
    <p:extLst>
      <p:ext uri="{BB962C8B-B14F-4D97-AF65-F5344CB8AC3E}">
        <p14:creationId xmlns:p14="http://schemas.microsoft.com/office/powerpoint/2010/main" val="3577917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Select an asset and load its verified model and recent service events.</a:t>
            </a:r>
          </a:p>
          <a:p>
            <a:r>
              <a:rPr lang="en-US"/>
              <a:t>Fixture: normal-01. Capture timestamp: 2026-10-28T15:35:08.6151266Z. State: ReviewReady. Rule findings: .</a:t>
            </a:r>
          </a:p>
          <a:p>
            <a:r>
              <a:rPr lang="en-US"/>
              <a:t>Business value and benefits: Prepare a planner-ready work-order draft with verified asset context, missing questions and cited manual sections. Measure completeness and preparation time, not diagnostic accuracy or equipment uptime. This step makes the evidence, uncertainty or human boundary visible. Human boundary: Safety-related input displays the approved site emergency/escalation notice and requires a responsible supervisor. Never produce hazardous troubleshooting instructions or claim the machine is safe to operate.</a:t>
            </a:r>
          </a:p>
          <a:p>
            <a:r>
              <a:rPr lang="en-US"/>
              <a:t>What the user sees: Exact fixture facts and deterministic checks, a source-linked internal AI draft, and explicit human-review limits.</a:t>
            </a:r>
          </a:p>
          <a:p>
            <a:r>
              <a:rPr lang="en-US"/>
              <a:t>Evidence: saved live run 2026-10-28T15:22:04.1964336+00:00,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Safety-related input displays the approved site emergency/escalation notice and requires a responsible supervisor. Never produce hazardous troubleshooting instructions or claim the machine is safe to operate.</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6BAF0947-49EA-4B93-ACC5-69D6598FA356}" type="slidenum">
              <a:rPr lang="en-US" smtClean="0"/>
              <a:t>3</a:t>
            </a:fld>
            <a:endParaRPr lang="en-US"/>
          </a:p>
        </p:txBody>
      </p:sp>
    </p:spTree>
    <p:extLst>
      <p:ext uri="{BB962C8B-B14F-4D97-AF65-F5344CB8AC3E}">
        <p14:creationId xmlns:p14="http://schemas.microsoft.com/office/powerpoint/2010/main" val="17123704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Enter an incomplete fault report and show the required clarification questions.</a:t>
            </a:r>
          </a:p>
          <a:p>
            <a:r>
              <a:rPr lang="en-US"/>
              <a:t>Fixture: incomplete-01. Capture timestamp: 2026-10-28T15:35:09.6247170Z. State: NeedsInformation. Rule findings: MISSING_SYMPTOMS.</a:t>
            </a:r>
          </a:p>
          <a:p>
            <a:r>
              <a:rPr lang="en-US"/>
              <a:t>Business value and benefits: Prepare a planner-ready work-order draft with verified asset context, missing questions and cited manual sections. Measure completeness and preparation time, not diagnostic accuracy or equipment uptime. This step makes the evidence, uncertainty or human boundary visible. Human boundary: Safety-related input displays the approved site emergency/escalation notice and requires a responsible supervisor. Never produce hazardous troubleshooting instructions or claim the machine is safe to operate.</a:t>
            </a:r>
          </a:p>
          <a:p>
            <a:r>
              <a:rPr lang="en-US"/>
              <a:t>What the user sees: NeedsInformation: MISSING_SYMPTOMS. The finding remains visible beside the evidence and approved sources.</a:t>
            </a:r>
          </a:p>
          <a:p>
            <a:r>
              <a:rPr lang="en-US"/>
              <a:t>Evidence: saved live run 2026-10-28T15:22:07.8817383+00:00,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Safety-related input displays the approved site emergency/escalation notice and requires a responsible supervisor. Never produce hazardous troubleshooting instructions or claim the machine is safe to operate.</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6BAF0947-49EA-4B93-ACC5-69D6598FA356}" type="slidenum">
              <a:rPr lang="en-US" smtClean="0"/>
              <a:t>4</a:t>
            </a:fld>
            <a:endParaRPr lang="en-US"/>
          </a:p>
        </p:txBody>
      </p:sp>
    </p:spTree>
    <p:extLst>
      <p:ext uri="{BB962C8B-B14F-4D97-AF65-F5344CB8AC3E}">
        <p14:creationId xmlns:p14="http://schemas.microsoft.com/office/powerpoint/2010/main" val="38340941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Open a cited manual section and verify its exact model/revision.</a:t>
            </a:r>
          </a:p>
          <a:p>
            <a:r>
              <a:rPr lang="en-US"/>
              <a:t>Fixture: normal-01. Capture timestamp: 2026-10-28T15:35:10.6457126Z. State: ReviewReady. Rule findings: .</a:t>
            </a:r>
          </a:p>
          <a:p>
            <a:r>
              <a:rPr lang="en-US"/>
              <a:t>Business value and benefits: Prepare a planner-ready work-order draft with verified asset context, missing questions and cited manual sections. Measure completeness and preparation time, not diagnostic accuracy or equipment uptime. This step makes the evidence, uncertainty or human boundary visible. Human boundary: Safety-related input displays the approved site emergency/escalation notice and requires a responsible supervisor. Never produce hazardous troubleshooting instructions or claim the machine is safe to operate.</a:t>
            </a:r>
          </a:p>
          <a:p>
            <a:r>
              <a:rPr lang="en-US"/>
              <a:t>What the user sees: Exact fixture facts and deterministic checks, a source-linked internal AI draft, and explicit human-review limits.</a:t>
            </a:r>
          </a:p>
          <a:p>
            <a:r>
              <a:rPr lang="en-US"/>
              <a:t>Evidence: saved live run 2026-10-28T15:22:04.1964336+00:00,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Safety-related input displays the approved site emergency/escalation notice and requires a responsible supervisor. Never produce hazardous troubleshooting instructions or claim the machine is safe to operate.</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6BAF0947-49EA-4B93-ACC5-69D6598FA356}" type="slidenum">
              <a:rPr lang="en-US" smtClean="0"/>
              <a:t>5</a:t>
            </a:fld>
            <a:endParaRPr lang="en-US"/>
          </a:p>
        </p:txBody>
      </p:sp>
    </p:spTree>
    <p:extLst>
      <p:ext uri="{BB962C8B-B14F-4D97-AF65-F5344CB8AC3E}">
        <p14:creationId xmlns:p14="http://schemas.microsoft.com/office/powerpoint/2010/main" val="31962052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Choose an unknown asset; demonstrate clarification instead of guessed recommendations.</a:t>
            </a:r>
          </a:p>
          <a:p>
            <a:r>
              <a:rPr lang="en-US"/>
              <a:t>Fixture: incomplete-02. Capture timestamp: 2026-10-28T15:35:11.6347616Z. State: NeedsInformation. Rule findings: UNKNOWN_ASSET.</a:t>
            </a:r>
          </a:p>
          <a:p>
            <a:r>
              <a:rPr lang="en-US"/>
              <a:t>Business value and benefits: Prepare a planner-ready work-order draft with verified asset context, missing questions and cited manual sections. Measure completeness and preparation time, not diagnostic accuracy or equipment uptime. This step makes the evidence, uncertainty or human boundary visible. Human boundary: Safety-related input displays the approved site emergency/escalation notice and requires a responsible supervisor. Never produce hazardous troubleshooting instructions or claim the machine is safe to operate.</a:t>
            </a:r>
          </a:p>
          <a:p>
            <a:r>
              <a:rPr lang="en-US"/>
              <a:t>What the user sees: NeedsInformation: UNKNOWN_ASSET. The finding remains visible beside the evidence and approved sources.</a:t>
            </a:r>
          </a:p>
          <a:p>
            <a:r>
              <a:rPr lang="en-US"/>
              <a:t>Evidence: saved live run 2026-10-28T15:22:11.5567987+00:00,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Safety-related input displays the approved site emergency/escalation notice and requires a responsible supervisor. Never produce hazardous troubleshooting instructions or claim the machine is safe to operate.</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6BAF0947-49EA-4B93-ACC5-69D6598FA356}" type="slidenum">
              <a:rPr lang="en-US" smtClean="0"/>
              <a:t>6</a:t>
            </a:fld>
            <a:endParaRPr lang="en-US"/>
          </a:p>
        </p:txBody>
      </p:sp>
    </p:spTree>
    <p:extLst>
      <p:ext uri="{BB962C8B-B14F-4D97-AF65-F5344CB8AC3E}">
        <p14:creationId xmlns:p14="http://schemas.microsoft.com/office/powerpoint/2010/main" val="524619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Load the safety-related fixture and show the supervisor escalation gate.</a:t>
            </a:r>
          </a:p>
          <a:p>
            <a:r>
              <a:rPr lang="en-US"/>
              <a:t>Fixture: domain-01. Capture timestamp: 2026-10-28T15:35:12.6645416Z. State: HumanReviewRequired. Rule findings: SUPERVISOR_ESCALATION.</a:t>
            </a:r>
          </a:p>
          <a:p>
            <a:r>
              <a:rPr lang="en-US"/>
              <a:t>Business value and benefits: Prepare a planner-ready work-order draft with verified asset context, missing questions and cited manual sections. Measure completeness and preparation time, not diagnostic accuracy or equipment uptime. This step makes the evidence, uncertainty or human boundary visible. Human boundary: Safety-related input displays the approved site emergency/escalation notice and requires a responsible supervisor. Never produce hazardous troubleshooting instructions or claim the machine is safe to operate.</a:t>
            </a:r>
          </a:p>
          <a:p>
            <a:r>
              <a:rPr lang="en-US"/>
              <a:t>What the user sees: HumanReviewRequired: SUPERVISOR_ESCALATION. The finding remains visible beside the evidence and approved sources.</a:t>
            </a:r>
          </a:p>
          <a:p>
            <a:r>
              <a:rPr lang="en-US"/>
              <a:t>Evidence: saved live run 2026-10-28T15:22:14.0968093+00:00,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Safety-related input displays the approved site emergency/escalation notice and requires a responsible supervisor. Never produce hazardous troubleshooting instructions or claim the machine is safe to operate.</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6BAF0947-49EA-4B93-ACC5-69D6598FA356}" type="slidenum">
              <a:rPr lang="en-US" smtClean="0"/>
              <a:t>7</a:t>
            </a:fld>
            <a:endParaRPr lang="en-US"/>
          </a:p>
        </p:txBody>
      </p:sp>
    </p:spTree>
    <p:extLst>
      <p:ext uri="{BB962C8B-B14F-4D97-AF65-F5344CB8AC3E}">
        <p14:creationId xmlns:p14="http://schemas.microsoft.com/office/powerpoint/2010/main" val="419613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Approve a work-order draft and inspect the simulated CMMS payload.</a:t>
            </a:r>
          </a:p>
          <a:p>
            <a:r>
              <a:rPr lang="en-US"/>
              <a:t>Fixture: normal-01. Capture timestamp: 2026-10-28T15:35:13.7026263Z. State: ReviewReady. Rule findings: .</a:t>
            </a:r>
          </a:p>
          <a:p>
            <a:r>
              <a:rPr lang="en-US"/>
              <a:t>Business value and benefits: Prepare a planner-ready work-order draft with verified asset context, missing questions and cited manual sections. Measure completeness and preparation time, not diagnostic accuracy or equipment uptime. This step makes the evidence, uncertainty or human boundary visible. Human boundary: Safety-related input displays the approved site emergency/escalation notice and requires a responsible supervisor. Never produce hazardous troubleshooting instructions or claim the machine is safe to operate.</a:t>
            </a:r>
          </a:p>
          <a:p>
            <a:r>
              <a:rPr lang="en-US"/>
              <a:t>What the user sees: A persisted internal approval, duplicate-safe operation key, audit timeline and explicitly Simulated handoff.</a:t>
            </a:r>
          </a:p>
          <a:p>
            <a:r>
              <a:rPr lang="en-US"/>
              <a:t>Evidence: saved live run 2026-10-28T15:22:04.1964336+00:00,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Safety-related input displays the approved site emergency/escalation notice and requires a responsible supervisor. Never produce hazardous troubleshooting instructions or claim the machine is safe to operate.</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6BAF0947-49EA-4B93-ACC5-69D6598FA356}" type="slidenum">
              <a:rPr lang="en-US" smtClean="0"/>
              <a:t>8</a:t>
            </a:fld>
            <a:endParaRPr lang="en-US"/>
          </a:p>
        </p:txBody>
      </p:sp>
    </p:spTree>
    <p:extLst>
      <p:ext uri="{BB962C8B-B14F-4D97-AF65-F5344CB8AC3E}">
        <p14:creationId xmlns:p14="http://schemas.microsoft.com/office/powerpoint/2010/main" val="34219210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value: staff receive a reproducible internal review packet with source provenance, exact calculations where relevant, visible uncertainty and a traceable human decision. Benefits are demonstrated workflow properties, not measured economic gains. Setup, source, fixtures, raw Azure evidence, screenshots and IaC are retained in the demo folder. The source blueprint contains a larger production backlog; these deliverables intentionally do not claim a public intake service, malware-scanned upload path, durable background worker or operational integration. Azure SQL, Search and shared NAT/private networking have recurring costs until deliberately decommissioned.</a:t>
            </a:r>
          </a:p>
        </p:txBody>
      </p:sp>
      <p:sp>
        <p:nvSpPr>
          <p:cNvPr id="4" name="Slide Number Placeholder 3"/>
          <p:cNvSpPr>
            <a:spLocks noGrp="1"/>
          </p:cNvSpPr>
          <p:nvPr>
            <p:ph type="sldNum" sz="quarter" idx="5"/>
          </p:nvPr>
        </p:nvSpPr>
        <p:spPr/>
        <p:txBody>
          <a:bodyPr/>
          <a:lstStyle/>
          <a:p>
            <a:fld id="{6BAF0947-49EA-4B93-ACC5-69D6598FA356}" type="slidenum">
              <a:rPr lang="en-US" smtClean="0"/>
              <a:t>9</a:t>
            </a:fld>
            <a:endParaRPr lang="en-US"/>
          </a:p>
        </p:txBody>
      </p:sp>
    </p:spTree>
    <p:extLst>
      <p:ext uri="{BB962C8B-B14F-4D97-AF65-F5344CB8AC3E}">
        <p14:creationId xmlns:p14="http://schemas.microsoft.com/office/powerpoint/2010/main" val="1203517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0C8B3-7F8A-F9F6-1197-14C40247F944}"/>
              </a:ext>
            </a:extLst>
          </p:cNvPr>
          <p:cNvSpPr>
            <a:spLocks noGrp="1"/>
          </p:cNvSpPr>
          <p:nvPr>
            <p:ph type="ctrTitle"/>
          </p:nvPr>
        </p:nvSpPr>
        <p:spPr>
          <a:xfrm>
            <a:off x="2286000" y="1683545"/>
            <a:ext cx="13716000" cy="35814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9BC25F-8E1D-B7C3-2566-5BE68D863050}"/>
              </a:ext>
            </a:extLst>
          </p:cNvPr>
          <p:cNvSpPr>
            <a:spLocks noGrp="1"/>
          </p:cNvSpPr>
          <p:nvPr>
            <p:ph type="subTitle" idx="1"/>
          </p:nvPr>
        </p:nvSpPr>
        <p:spPr>
          <a:xfrm>
            <a:off x="2286000" y="5403057"/>
            <a:ext cx="13716000" cy="248364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432242-8AFD-BF2E-E13B-4345435BBF07}"/>
              </a:ext>
            </a:extLst>
          </p:cNvPr>
          <p:cNvSpPr>
            <a:spLocks noGrp="1"/>
          </p:cNvSpPr>
          <p:nvPr>
            <p:ph type="dt" sz="half" idx="10"/>
          </p:nvPr>
        </p:nvSpPr>
        <p:spPr/>
        <p:txBody>
          <a:bodyPr/>
          <a:lstStyle/>
          <a:p>
            <a:fld id="{3F68FF7A-41A2-4DFC-949B-80E1E109E57C}" type="datetimeFigureOut">
              <a:rPr lang="en-US" smtClean="0"/>
              <a:t>10/28/2026</a:t>
            </a:fld>
            <a:endParaRPr lang="en-US"/>
          </a:p>
        </p:txBody>
      </p:sp>
      <p:sp>
        <p:nvSpPr>
          <p:cNvPr id="5" name="Footer Placeholder 4">
            <a:extLst>
              <a:ext uri="{FF2B5EF4-FFF2-40B4-BE49-F238E27FC236}">
                <a16:creationId xmlns:a16="http://schemas.microsoft.com/office/drawing/2014/main" id="{AC2A9FFF-5EF8-C849-ABD5-60A14A0A3D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CAE8F0-5775-BA47-C534-6B95CA819D5B}"/>
              </a:ext>
            </a:extLst>
          </p:cNvPr>
          <p:cNvSpPr>
            <a:spLocks noGrp="1"/>
          </p:cNvSpPr>
          <p:nvPr>
            <p:ph type="sldNum" sz="quarter" idx="12"/>
          </p:nvPr>
        </p:nvSpPr>
        <p:spPr/>
        <p:txBody>
          <a:bodyPr/>
          <a:lstStyle/>
          <a:p>
            <a:fld id="{F4C9F8D3-D64E-4F3F-A662-6461CF557F34}" type="slidenum">
              <a:rPr lang="en-US" smtClean="0"/>
              <a:t>‹#›</a:t>
            </a:fld>
            <a:endParaRPr lang="en-US"/>
          </a:p>
        </p:txBody>
      </p:sp>
    </p:spTree>
    <p:extLst>
      <p:ext uri="{BB962C8B-B14F-4D97-AF65-F5344CB8AC3E}">
        <p14:creationId xmlns:p14="http://schemas.microsoft.com/office/powerpoint/2010/main" val="1962040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77C0C-0C0F-E20F-5AC6-A49DD75F6D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02D5F7-FE33-85B4-6CA9-B73F1C48F1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B81B58-2056-2652-ED41-BC86DA145903}"/>
              </a:ext>
            </a:extLst>
          </p:cNvPr>
          <p:cNvSpPr>
            <a:spLocks noGrp="1"/>
          </p:cNvSpPr>
          <p:nvPr>
            <p:ph type="dt" sz="half" idx="10"/>
          </p:nvPr>
        </p:nvSpPr>
        <p:spPr/>
        <p:txBody>
          <a:bodyPr/>
          <a:lstStyle/>
          <a:p>
            <a:fld id="{3F68FF7A-41A2-4DFC-949B-80E1E109E57C}" type="datetimeFigureOut">
              <a:rPr lang="en-US" smtClean="0"/>
              <a:t>10/28/2026</a:t>
            </a:fld>
            <a:endParaRPr lang="en-US"/>
          </a:p>
        </p:txBody>
      </p:sp>
      <p:sp>
        <p:nvSpPr>
          <p:cNvPr id="5" name="Footer Placeholder 4">
            <a:extLst>
              <a:ext uri="{FF2B5EF4-FFF2-40B4-BE49-F238E27FC236}">
                <a16:creationId xmlns:a16="http://schemas.microsoft.com/office/drawing/2014/main" id="{32A3522F-7920-DF6F-373C-53D9F69FF1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35A870-CBAA-4B63-E813-FB5D8ABA673F}"/>
              </a:ext>
            </a:extLst>
          </p:cNvPr>
          <p:cNvSpPr>
            <a:spLocks noGrp="1"/>
          </p:cNvSpPr>
          <p:nvPr>
            <p:ph type="sldNum" sz="quarter" idx="12"/>
          </p:nvPr>
        </p:nvSpPr>
        <p:spPr/>
        <p:txBody>
          <a:bodyPr/>
          <a:lstStyle/>
          <a:p>
            <a:fld id="{F4C9F8D3-D64E-4F3F-A662-6461CF557F34}" type="slidenum">
              <a:rPr lang="en-US" smtClean="0"/>
              <a:t>‹#›</a:t>
            </a:fld>
            <a:endParaRPr lang="en-US"/>
          </a:p>
        </p:txBody>
      </p:sp>
    </p:spTree>
    <p:extLst>
      <p:ext uri="{BB962C8B-B14F-4D97-AF65-F5344CB8AC3E}">
        <p14:creationId xmlns:p14="http://schemas.microsoft.com/office/powerpoint/2010/main" val="2581315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706F2-C1D0-F778-C001-89DE0A0A6973}"/>
              </a:ext>
            </a:extLst>
          </p:cNvPr>
          <p:cNvSpPr>
            <a:spLocks noGrp="1"/>
          </p:cNvSpPr>
          <p:nvPr>
            <p:ph type="title"/>
          </p:nvPr>
        </p:nvSpPr>
        <p:spPr>
          <a:xfrm>
            <a:off x="1247775" y="2564609"/>
            <a:ext cx="15773400" cy="427910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964A59-2533-7D84-3F50-37516CA31BFE}"/>
              </a:ext>
            </a:extLst>
          </p:cNvPr>
          <p:cNvSpPr>
            <a:spLocks noGrp="1"/>
          </p:cNvSpPr>
          <p:nvPr>
            <p:ph type="body" idx="1"/>
          </p:nvPr>
        </p:nvSpPr>
        <p:spPr>
          <a:xfrm>
            <a:off x="1247775" y="6884197"/>
            <a:ext cx="15773400" cy="2250281"/>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CCDD00-9E8C-4705-B967-EF4E5C8A9767}"/>
              </a:ext>
            </a:extLst>
          </p:cNvPr>
          <p:cNvSpPr>
            <a:spLocks noGrp="1"/>
          </p:cNvSpPr>
          <p:nvPr>
            <p:ph type="dt" sz="half" idx="10"/>
          </p:nvPr>
        </p:nvSpPr>
        <p:spPr/>
        <p:txBody>
          <a:bodyPr/>
          <a:lstStyle/>
          <a:p>
            <a:fld id="{3F68FF7A-41A2-4DFC-949B-80E1E109E57C}" type="datetimeFigureOut">
              <a:rPr lang="en-US" smtClean="0"/>
              <a:t>10/28/2026</a:t>
            </a:fld>
            <a:endParaRPr lang="en-US"/>
          </a:p>
        </p:txBody>
      </p:sp>
      <p:sp>
        <p:nvSpPr>
          <p:cNvPr id="5" name="Footer Placeholder 4">
            <a:extLst>
              <a:ext uri="{FF2B5EF4-FFF2-40B4-BE49-F238E27FC236}">
                <a16:creationId xmlns:a16="http://schemas.microsoft.com/office/drawing/2014/main" id="{4EAE58BB-6E98-EA15-5A41-5CB9E0D5A0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E37D84-52E6-FDA5-5AA7-3EDCB1AD0073}"/>
              </a:ext>
            </a:extLst>
          </p:cNvPr>
          <p:cNvSpPr>
            <a:spLocks noGrp="1"/>
          </p:cNvSpPr>
          <p:nvPr>
            <p:ph type="sldNum" sz="quarter" idx="12"/>
          </p:nvPr>
        </p:nvSpPr>
        <p:spPr/>
        <p:txBody>
          <a:bodyPr/>
          <a:lstStyle/>
          <a:p>
            <a:fld id="{F4C9F8D3-D64E-4F3F-A662-6461CF557F34}" type="slidenum">
              <a:rPr lang="en-US" smtClean="0"/>
              <a:t>‹#›</a:t>
            </a:fld>
            <a:endParaRPr lang="en-US"/>
          </a:p>
        </p:txBody>
      </p:sp>
    </p:spTree>
    <p:extLst>
      <p:ext uri="{BB962C8B-B14F-4D97-AF65-F5344CB8AC3E}">
        <p14:creationId xmlns:p14="http://schemas.microsoft.com/office/powerpoint/2010/main" val="1869271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A0DBC-F62B-A639-E45F-23D36F9D77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63B717-4F3C-939D-BDB0-5EE8D0520FB8}"/>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D301833-F799-AD22-7F6F-C217A78FEAE3}"/>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D2CDDC-67B5-9AB8-8137-5EA6E5EC4F83}"/>
              </a:ext>
            </a:extLst>
          </p:cNvPr>
          <p:cNvSpPr>
            <a:spLocks noGrp="1"/>
          </p:cNvSpPr>
          <p:nvPr>
            <p:ph type="dt" sz="half" idx="10"/>
          </p:nvPr>
        </p:nvSpPr>
        <p:spPr/>
        <p:txBody>
          <a:bodyPr/>
          <a:lstStyle/>
          <a:p>
            <a:fld id="{3F68FF7A-41A2-4DFC-949B-80E1E109E57C}" type="datetimeFigureOut">
              <a:rPr lang="en-US" smtClean="0"/>
              <a:t>10/28/2026</a:t>
            </a:fld>
            <a:endParaRPr lang="en-US"/>
          </a:p>
        </p:txBody>
      </p:sp>
      <p:sp>
        <p:nvSpPr>
          <p:cNvPr id="6" name="Footer Placeholder 5">
            <a:extLst>
              <a:ext uri="{FF2B5EF4-FFF2-40B4-BE49-F238E27FC236}">
                <a16:creationId xmlns:a16="http://schemas.microsoft.com/office/drawing/2014/main" id="{73003F9F-87BE-5BA7-DB0E-526A057DB3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D81676-8C35-9F40-BD82-10C098F062F4}"/>
              </a:ext>
            </a:extLst>
          </p:cNvPr>
          <p:cNvSpPr>
            <a:spLocks noGrp="1"/>
          </p:cNvSpPr>
          <p:nvPr>
            <p:ph type="sldNum" sz="quarter" idx="12"/>
          </p:nvPr>
        </p:nvSpPr>
        <p:spPr/>
        <p:txBody>
          <a:bodyPr/>
          <a:lstStyle/>
          <a:p>
            <a:fld id="{F4C9F8D3-D64E-4F3F-A662-6461CF557F34}" type="slidenum">
              <a:rPr lang="en-US" smtClean="0"/>
              <a:t>‹#›</a:t>
            </a:fld>
            <a:endParaRPr lang="en-US"/>
          </a:p>
        </p:txBody>
      </p:sp>
    </p:spTree>
    <p:extLst>
      <p:ext uri="{BB962C8B-B14F-4D97-AF65-F5344CB8AC3E}">
        <p14:creationId xmlns:p14="http://schemas.microsoft.com/office/powerpoint/2010/main" val="2117204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6E520-E9EB-8E51-0681-B1E84A9361EE}"/>
              </a:ext>
            </a:extLst>
          </p:cNvPr>
          <p:cNvSpPr>
            <a:spLocks noGrp="1"/>
          </p:cNvSpPr>
          <p:nvPr>
            <p:ph type="title"/>
          </p:nvPr>
        </p:nvSpPr>
        <p:spPr>
          <a:xfrm>
            <a:off x="1259682" y="547690"/>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B78597-2E12-8F90-A0F4-C708D74DBF73}"/>
              </a:ext>
            </a:extLst>
          </p:cNvPr>
          <p:cNvSpPr>
            <a:spLocks noGrp="1"/>
          </p:cNvSpPr>
          <p:nvPr>
            <p:ph type="body" idx="1"/>
          </p:nvPr>
        </p:nvSpPr>
        <p:spPr>
          <a:xfrm>
            <a:off x="1259684" y="2521745"/>
            <a:ext cx="7736681"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71DC01-0F15-2EEE-1835-5C3082B81B7E}"/>
              </a:ext>
            </a:extLst>
          </p:cNvPr>
          <p:cNvSpPr>
            <a:spLocks noGrp="1"/>
          </p:cNvSpPr>
          <p:nvPr>
            <p:ph sz="half" idx="2"/>
          </p:nvPr>
        </p:nvSpPr>
        <p:spPr>
          <a:xfrm>
            <a:off x="1259684"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DCDB72A-BF8C-2E6E-9504-484E4A3A5E3A}"/>
              </a:ext>
            </a:extLst>
          </p:cNvPr>
          <p:cNvSpPr>
            <a:spLocks noGrp="1"/>
          </p:cNvSpPr>
          <p:nvPr>
            <p:ph type="body" sz="quarter" idx="3"/>
          </p:nvPr>
        </p:nvSpPr>
        <p:spPr>
          <a:xfrm>
            <a:off x="9258300" y="2521745"/>
            <a:ext cx="7774782"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7DB62B-51B8-878B-2E81-0258240A2A4F}"/>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FE7E08-33A0-0ED1-DB80-816090EE7B4F}"/>
              </a:ext>
            </a:extLst>
          </p:cNvPr>
          <p:cNvSpPr>
            <a:spLocks noGrp="1"/>
          </p:cNvSpPr>
          <p:nvPr>
            <p:ph type="dt" sz="half" idx="10"/>
          </p:nvPr>
        </p:nvSpPr>
        <p:spPr/>
        <p:txBody>
          <a:bodyPr/>
          <a:lstStyle/>
          <a:p>
            <a:fld id="{3F68FF7A-41A2-4DFC-949B-80E1E109E57C}" type="datetimeFigureOut">
              <a:rPr lang="en-US" smtClean="0"/>
              <a:t>10/28/2026</a:t>
            </a:fld>
            <a:endParaRPr lang="en-US"/>
          </a:p>
        </p:txBody>
      </p:sp>
      <p:sp>
        <p:nvSpPr>
          <p:cNvPr id="8" name="Footer Placeholder 7">
            <a:extLst>
              <a:ext uri="{FF2B5EF4-FFF2-40B4-BE49-F238E27FC236}">
                <a16:creationId xmlns:a16="http://schemas.microsoft.com/office/drawing/2014/main" id="{C88CA6FF-3815-AD6A-BE68-C5D0F70C25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2FFC458-28EF-B29F-684F-7D16EC54B438}"/>
              </a:ext>
            </a:extLst>
          </p:cNvPr>
          <p:cNvSpPr>
            <a:spLocks noGrp="1"/>
          </p:cNvSpPr>
          <p:nvPr>
            <p:ph type="sldNum" sz="quarter" idx="12"/>
          </p:nvPr>
        </p:nvSpPr>
        <p:spPr/>
        <p:txBody>
          <a:bodyPr/>
          <a:lstStyle/>
          <a:p>
            <a:fld id="{F4C9F8D3-D64E-4F3F-A662-6461CF557F34}" type="slidenum">
              <a:rPr lang="en-US" smtClean="0"/>
              <a:t>‹#›</a:t>
            </a:fld>
            <a:endParaRPr lang="en-US"/>
          </a:p>
        </p:txBody>
      </p:sp>
    </p:spTree>
    <p:extLst>
      <p:ext uri="{BB962C8B-B14F-4D97-AF65-F5344CB8AC3E}">
        <p14:creationId xmlns:p14="http://schemas.microsoft.com/office/powerpoint/2010/main" val="1263278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EE964-C9AE-A4BA-05BC-401400F8D78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09CCFF6-F1B0-07A3-4A9E-8A4847F0B246}"/>
              </a:ext>
            </a:extLst>
          </p:cNvPr>
          <p:cNvSpPr>
            <a:spLocks noGrp="1"/>
          </p:cNvSpPr>
          <p:nvPr>
            <p:ph type="dt" sz="half" idx="10"/>
          </p:nvPr>
        </p:nvSpPr>
        <p:spPr/>
        <p:txBody>
          <a:bodyPr/>
          <a:lstStyle/>
          <a:p>
            <a:fld id="{3F68FF7A-41A2-4DFC-949B-80E1E109E57C}" type="datetimeFigureOut">
              <a:rPr lang="en-US" smtClean="0"/>
              <a:t>10/28/2026</a:t>
            </a:fld>
            <a:endParaRPr lang="en-US"/>
          </a:p>
        </p:txBody>
      </p:sp>
      <p:sp>
        <p:nvSpPr>
          <p:cNvPr id="4" name="Footer Placeholder 3">
            <a:extLst>
              <a:ext uri="{FF2B5EF4-FFF2-40B4-BE49-F238E27FC236}">
                <a16:creationId xmlns:a16="http://schemas.microsoft.com/office/drawing/2014/main" id="{E7A0B997-ED4F-5EF6-3111-273476A9A8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2CA578-E91C-3357-47A0-CD7457CD8424}"/>
              </a:ext>
            </a:extLst>
          </p:cNvPr>
          <p:cNvSpPr>
            <a:spLocks noGrp="1"/>
          </p:cNvSpPr>
          <p:nvPr>
            <p:ph type="sldNum" sz="quarter" idx="12"/>
          </p:nvPr>
        </p:nvSpPr>
        <p:spPr/>
        <p:txBody>
          <a:bodyPr/>
          <a:lstStyle/>
          <a:p>
            <a:fld id="{F4C9F8D3-D64E-4F3F-A662-6461CF557F34}" type="slidenum">
              <a:rPr lang="en-US" smtClean="0"/>
              <a:t>‹#›</a:t>
            </a:fld>
            <a:endParaRPr lang="en-US"/>
          </a:p>
        </p:txBody>
      </p:sp>
    </p:spTree>
    <p:extLst>
      <p:ext uri="{BB962C8B-B14F-4D97-AF65-F5344CB8AC3E}">
        <p14:creationId xmlns:p14="http://schemas.microsoft.com/office/powerpoint/2010/main" val="1080501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17E551-6C01-18CE-409E-67DD39FE8E06}"/>
              </a:ext>
            </a:extLst>
          </p:cNvPr>
          <p:cNvSpPr>
            <a:spLocks noGrp="1"/>
          </p:cNvSpPr>
          <p:nvPr>
            <p:ph type="dt" sz="half" idx="10"/>
          </p:nvPr>
        </p:nvSpPr>
        <p:spPr/>
        <p:txBody>
          <a:bodyPr/>
          <a:lstStyle/>
          <a:p>
            <a:fld id="{3F68FF7A-41A2-4DFC-949B-80E1E109E57C}" type="datetimeFigureOut">
              <a:rPr lang="en-US" smtClean="0"/>
              <a:t>10/28/2026</a:t>
            </a:fld>
            <a:endParaRPr lang="en-US"/>
          </a:p>
        </p:txBody>
      </p:sp>
      <p:sp>
        <p:nvSpPr>
          <p:cNvPr id="3" name="Footer Placeholder 2">
            <a:extLst>
              <a:ext uri="{FF2B5EF4-FFF2-40B4-BE49-F238E27FC236}">
                <a16:creationId xmlns:a16="http://schemas.microsoft.com/office/drawing/2014/main" id="{C71ADC1C-0EDD-C564-A6EC-43CE15374F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F138E6-8B3E-3B00-031B-AFACDE1B49D5}"/>
              </a:ext>
            </a:extLst>
          </p:cNvPr>
          <p:cNvSpPr>
            <a:spLocks noGrp="1"/>
          </p:cNvSpPr>
          <p:nvPr>
            <p:ph type="sldNum" sz="quarter" idx="12"/>
          </p:nvPr>
        </p:nvSpPr>
        <p:spPr/>
        <p:txBody>
          <a:bodyPr/>
          <a:lstStyle/>
          <a:p>
            <a:fld id="{F4C9F8D3-D64E-4F3F-A662-6461CF557F34}" type="slidenum">
              <a:rPr lang="en-US" smtClean="0"/>
              <a:t>‹#›</a:t>
            </a:fld>
            <a:endParaRPr lang="en-US"/>
          </a:p>
        </p:txBody>
      </p:sp>
    </p:spTree>
    <p:extLst>
      <p:ext uri="{BB962C8B-B14F-4D97-AF65-F5344CB8AC3E}">
        <p14:creationId xmlns:p14="http://schemas.microsoft.com/office/powerpoint/2010/main" val="2159540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08845-C608-39F7-9B19-398E9BFAF0DF}"/>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6AD66DA-AE51-36C9-8A83-F0ABAC2A35F5}"/>
              </a:ext>
            </a:extLst>
          </p:cNvPr>
          <p:cNvSpPr>
            <a:spLocks noGrp="1"/>
          </p:cNvSpPr>
          <p:nvPr>
            <p:ph idx="1"/>
          </p:nvPr>
        </p:nvSpPr>
        <p:spPr>
          <a:xfrm>
            <a:off x="7774782" y="1481140"/>
            <a:ext cx="9258300" cy="73104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E57DC2D-127F-E8F4-B176-6BEAAFC091BC}"/>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2F1073-1221-AF55-C340-8392705D7ADB}"/>
              </a:ext>
            </a:extLst>
          </p:cNvPr>
          <p:cNvSpPr>
            <a:spLocks noGrp="1"/>
          </p:cNvSpPr>
          <p:nvPr>
            <p:ph type="dt" sz="half" idx="10"/>
          </p:nvPr>
        </p:nvSpPr>
        <p:spPr/>
        <p:txBody>
          <a:bodyPr/>
          <a:lstStyle/>
          <a:p>
            <a:fld id="{3F68FF7A-41A2-4DFC-949B-80E1E109E57C}" type="datetimeFigureOut">
              <a:rPr lang="en-US" smtClean="0"/>
              <a:t>10/28/2026</a:t>
            </a:fld>
            <a:endParaRPr lang="en-US"/>
          </a:p>
        </p:txBody>
      </p:sp>
      <p:sp>
        <p:nvSpPr>
          <p:cNvPr id="6" name="Footer Placeholder 5">
            <a:extLst>
              <a:ext uri="{FF2B5EF4-FFF2-40B4-BE49-F238E27FC236}">
                <a16:creationId xmlns:a16="http://schemas.microsoft.com/office/drawing/2014/main" id="{FE245487-22C6-1E87-8301-378B8C2E54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529A35-E4AC-ADF8-6467-CDDD76127E5E}"/>
              </a:ext>
            </a:extLst>
          </p:cNvPr>
          <p:cNvSpPr>
            <a:spLocks noGrp="1"/>
          </p:cNvSpPr>
          <p:nvPr>
            <p:ph type="sldNum" sz="quarter" idx="12"/>
          </p:nvPr>
        </p:nvSpPr>
        <p:spPr/>
        <p:txBody>
          <a:bodyPr/>
          <a:lstStyle/>
          <a:p>
            <a:fld id="{F4C9F8D3-D64E-4F3F-A662-6461CF557F34}" type="slidenum">
              <a:rPr lang="en-US" smtClean="0"/>
              <a:t>‹#›</a:t>
            </a:fld>
            <a:endParaRPr lang="en-US"/>
          </a:p>
        </p:txBody>
      </p:sp>
    </p:spTree>
    <p:extLst>
      <p:ext uri="{BB962C8B-B14F-4D97-AF65-F5344CB8AC3E}">
        <p14:creationId xmlns:p14="http://schemas.microsoft.com/office/powerpoint/2010/main" val="2281477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1BA43-79C1-4627-9555-73775F6353C1}"/>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3BCEBB-50BE-B898-0466-04D4FA3506BF}"/>
              </a:ext>
            </a:extLst>
          </p:cNvPr>
          <p:cNvSpPr>
            <a:spLocks noGrp="1" noChangeAspect="1"/>
          </p:cNvSpPr>
          <p:nvPr>
            <p:ph type="pic" idx="1"/>
          </p:nvPr>
        </p:nvSpPr>
        <p:spPr>
          <a:xfrm>
            <a:off x="7774782" y="1481140"/>
            <a:ext cx="9258300" cy="73104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837994B-1C52-6FB8-611A-8202C55514BD}"/>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6031D7-738E-F279-CD40-BD26CC8FAD41}"/>
              </a:ext>
            </a:extLst>
          </p:cNvPr>
          <p:cNvSpPr>
            <a:spLocks noGrp="1"/>
          </p:cNvSpPr>
          <p:nvPr>
            <p:ph type="dt" sz="half" idx="10"/>
          </p:nvPr>
        </p:nvSpPr>
        <p:spPr/>
        <p:txBody>
          <a:bodyPr/>
          <a:lstStyle/>
          <a:p>
            <a:fld id="{3F68FF7A-41A2-4DFC-949B-80E1E109E57C}" type="datetimeFigureOut">
              <a:rPr lang="en-US" smtClean="0"/>
              <a:t>10/28/2026</a:t>
            </a:fld>
            <a:endParaRPr lang="en-US"/>
          </a:p>
        </p:txBody>
      </p:sp>
      <p:sp>
        <p:nvSpPr>
          <p:cNvPr id="6" name="Footer Placeholder 5">
            <a:extLst>
              <a:ext uri="{FF2B5EF4-FFF2-40B4-BE49-F238E27FC236}">
                <a16:creationId xmlns:a16="http://schemas.microsoft.com/office/drawing/2014/main" id="{1AE7B082-4B61-F944-024F-081F138B5A9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3B48DE-4419-9026-763B-A24184CBE7C8}"/>
              </a:ext>
            </a:extLst>
          </p:cNvPr>
          <p:cNvSpPr>
            <a:spLocks noGrp="1"/>
          </p:cNvSpPr>
          <p:nvPr>
            <p:ph type="sldNum" sz="quarter" idx="12"/>
          </p:nvPr>
        </p:nvSpPr>
        <p:spPr/>
        <p:txBody>
          <a:bodyPr/>
          <a:lstStyle/>
          <a:p>
            <a:fld id="{F4C9F8D3-D64E-4F3F-A662-6461CF557F34}" type="slidenum">
              <a:rPr lang="en-US" smtClean="0"/>
              <a:t>‹#›</a:t>
            </a:fld>
            <a:endParaRPr lang="en-US"/>
          </a:p>
        </p:txBody>
      </p:sp>
    </p:spTree>
    <p:extLst>
      <p:ext uri="{BB962C8B-B14F-4D97-AF65-F5344CB8AC3E}">
        <p14:creationId xmlns:p14="http://schemas.microsoft.com/office/powerpoint/2010/main" val="2815247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C310D-4848-C5F2-BCB6-0B53EF72172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31DC5E-2C2A-A94F-A765-3DEC315169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4AE39E-A3D3-5CC7-F05C-5C3582668BA2}"/>
              </a:ext>
            </a:extLst>
          </p:cNvPr>
          <p:cNvSpPr>
            <a:spLocks noGrp="1"/>
          </p:cNvSpPr>
          <p:nvPr>
            <p:ph type="dt" sz="half" idx="10"/>
          </p:nvPr>
        </p:nvSpPr>
        <p:spPr/>
        <p:txBody>
          <a:bodyPr/>
          <a:lstStyle/>
          <a:p>
            <a:fld id="{3F68FF7A-41A2-4DFC-949B-80E1E109E57C}" type="datetimeFigureOut">
              <a:rPr lang="en-US" smtClean="0"/>
              <a:t>10/28/2026</a:t>
            </a:fld>
            <a:endParaRPr lang="en-US"/>
          </a:p>
        </p:txBody>
      </p:sp>
      <p:sp>
        <p:nvSpPr>
          <p:cNvPr id="5" name="Footer Placeholder 4">
            <a:extLst>
              <a:ext uri="{FF2B5EF4-FFF2-40B4-BE49-F238E27FC236}">
                <a16:creationId xmlns:a16="http://schemas.microsoft.com/office/drawing/2014/main" id="{71398AC6-4E9F-5010-2C0E-6B8822B335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E06CA0-C824-48D3-9B4B-DE0DC8C168A4}"/>
              </a:ext>
            </a:extLst>
          </p:cNvPr>
          <p:cNvSpPr>
            <a:spLocks noGrp="1"/>
          </p:cNvSpPr>
          <p:nvPr>
            <p:ph type="sldNum" sz="quarter" idx="12"/>
          </p:nvPr>
        </p:nvSpPr>
        <p:spPr/>
        <p:txBody>
          <a:bodyPr/>
          <a:lstStyle/>
          <a:p>
            <a:fld id="{F4C9F8D3-D64E-4F3F-A662-6461CF557F34}" type="slidenum">
              <a:rPr lang="en-US" smtClean="0"/>
              <a:t>‹#›</a:t>
            </a:fld>
            <a:endParaRPr lang="en-US"/>
          </a:p>
        </p:txBody>
      </p:sp>
    </p:spTree>
    <p:extLst>
      <p:ext uri="{BB962C8B-B14F-4D97-AF65-F5344CB8AC3E}">
        <p14:creationId xmlns:p14="http://schemas.microsoft.com/office/powerpoint/2010/main" val="137144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B53D46-934C-00BF-F582-FA6FAFA13DC5}"/>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D67A892-2130-AB0A-F0EC-2E6B30EBF631}"/>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DC0B8F-9571-FDC6-2D3E-E0595F35CEFE}"/>
              </a:ext>
            </a:extLst>
          </p:cNvPr>
          <p:cNvSpPr>
            <a:spLocks noGrp="1"/>
          </p:cNvSpPr>
          <p:nvPr>
            <p:ph type="dt" sz="half" idx="10"/>
          </p:nvPr>
        </p:nvSpPr>
        <p:spPr/>
        <p:txBody>
          <a:bodyPr/>
          <a:lstStyle/>
          <a:p>
            <a:fld id="{3F68FF7A-41A2-4DFC-949B-80E1E109E57C}" type="datetimeFigureOut">
              <a:rPr lang="en-US" smtClean="0"/>
              <a:t>10/28/2026</a:t>
            </a:fld>
            <a:endParaRPr lang="en-US"/>
          </a:p>
        </p:txBody>
      </p:sp>
      <p:sp>
        <p:nvSpPr>
          <p:cNvPr id="5" name="Footer Placeholder 4">
            <a:extLst>
              <a:ext uri="{FF2B5EF4-FFF2-40B4-BE49-F238E27FC236}">
                <a16:creationId xmlns:a16="http://schemas.microsoft.com/office/drawing/2014/main" id="{48119596-AF4E-A695-44C9-C219A3CA77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6FEB93-98E0-C3D9-A6D7-FBF4FE5DF55C}"/>
              </a:ext>
            </a:extLst>
          </p:cNvPr>
          <p:cNvSpPr>
            <a:spLocks noGrp="1"/>
          </p:cNvSpPr>
          <p:nvPr>
            <p:ph type="sldNum" sz="quarter" idx="12"/>
          </p:nvPr>
        </p:nvSpPr>
        <p:spPr/>
        <p:txBody>
          <a:bodyPr/>
          <a:lstStyle/>
          <a:p>
            <a:fld id="{F4C9F8D3-D64E-4F3F-A662-6461CF557F34}" type="slidenum">
              <a:rPr lang="en-US" smtClean="0"/>
              <a:t>‹#›</a:t>
            </a:fld>
            <a:endParaRPr lang="en-US"/>
          </a:p>
        </p:txBody>
      </p:sp>
    </p:spTree>
    <p:extLst>
      <p:ext uri="{BB962C8B-B14F-4D97-AF65-F5344CB8AC3E}">
        <p14:creationId xmlns:p14="http://schemas.microsoft.com/office/powerpoint/2010/main" val="4187352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40D20F-E7E7-8268-3CC0-C58F4932F348}"/>
              </a:ext>
            </a:extLst>
          </p:cNvPr>
          <p:cNvSpPr>
            <a:spLocks noGrp="1"/>
          </p:cNvSpPr>
          <p:nvPr>
            <p:ph type="title"/>
          </p:nvPr>
        </p:nvSpPr>
        <p:spPr>
          <a:xfrm>
            <a:off x="1257300" y="547690"/>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68C9379-EF4A-3069-C7B4-AC8A7785DE75}"/>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0DAB66-0850-3EBC-FD98-F139B447A58D}"/>
              </a:ext>
            </a:extLst>
          </p:cNvPr>
          <p:cNvSpPr>
            <a:spLocks noGrp="1"/>
          </p:cNvSpPr>
          <p:nvPr>
            <p:ph type="dt" sz="half" idx="2"/>
          </p:nvPr>
        </p:nvSpPr>
        <p:spPr>
          <a:xfrm>
            <a:off x="1257300" y="9534527"/>
            <a:ext cx="4114800" cy="547688"/>
          </a:xfrm>
          <a:prstGeom prst="rect">
            <a:avLst/>
          </a:prstGeom>
        </p:spPr>
        <p:txBody>
          <a:bodyPr vert="horz" lIns="91440" tIns="45720" rIns="91440" bIns="45720" rtlCol="0" anchor="ctr"/>
          <a:lstStyle>
            <a:lvl1pPr algn="l">
              <a:defRPr sz="1200">
                <a:solidFill>
                  <a:schemeClr val="tx1">
                    <a:tint val="82000"/>
                  </a:schemeClr>
                </a:solidFill>
              </a:defRPr>
            </a:lvl1pPr>
          </a:lstStyle>
          <a:p>
            <a:fld id="{3F68FF7A-41A2-4DFC-949B-80E1E109E57C}" type="datetimeFigureOut">
              <a:rPr lang="en-US" smtClean="0"/>
              <a:t>10/28/2026</a:t>
            </a:fld>
            <a:endParaRPr lang="en-US"/>
          </a:p>
        </p:txBody>
      </p:sp>
      <p:sp>
        <p:nvSpPr>
          <p:cNvPr id="5" name="Footer Placeholder 4">
            <a:extLst>
              <a:ext uri="{FF2B5EF4-FFF2-40B4-BE49-F238E27FC236}">
                <a16:creationId xmlns:a16="http://schemas.microsoft.com/office/drawing/2014/main" id="{FB4AC1D7-BB20-4DF1-B82D-343C81FCA2C3}"/>
              </a:ext>
            </a:extLst>
          </p:cNvPr>
          <p:cNvSpPr>
            <a:spLocks noGrp="1"/>
          </p:cNvSpPr>
          <p:nvPr>
            <p:ph type="ftr" sz="quarter" idx="3"/>
          </p:nvPr>
        </p:nvSpPr>
        <p:spPr>
          <a:xfrm>
            <a:off x="6057900" y="9534527"/>
            <a:ext cx="6172200" cy="54768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3F3FF33-FC1B-F6B9-0990-0DE043E68A3E}"/>
              </a:ext>
            </a:extLst>
          </p:cNvPr>
          <p:cNvSpPr>
            <a:spLocks noGrp="1"/>
          </p:cNvSpPr>
          <p:nvPr>
            <p:ph type="sldNum" sz="quarter" idx="4"/>
          </p:nvPr>
        </p:nvSpPr>
        <p:spPr>
          <a:xfrm>
            <a:off x="12915900" y="9534527"/>
            <a:ext cx="4114800" cy="547688"/>
          </a:xfrm>
          <a:prstGeom prst="rect">
            <a:avLst/>
          </a:prstGeom>
        </p:spPr>
        <p:txBody>
          <a:bodyPr vert="horz" lIns="91440" tIns="45720" rIns="91440" bIns="45720" rtlCol="0" anchor="ctr"/>
          <a:lstStyle>
            <a:lvl1pPr algn="r">
              <a:defRPr sz="1200">
                <a:solidFill>
                  <a:schemeClr val="tx1">
                    <a:tint val="82000"/>
                  </a:schemeClr>
                </a:solidFill>
              </a:defRPr>
            </a:lvl1pPr>
          </a:lstStyle>
          <a:p>
            <a:fld id="{F4C9F8D3-D64E-4F3F-A662-6461CF557F34}" type="slidenum">
              <a:rPr lang="en-US" smtClean="0"/>
              <a:t>‹#›</a:t>
            </a:fld>
            <a:endParaRPr lang="en-US"/>
          </a:p>
        </p:txBody>
      </p:sp>
    </p:spTree>
    <p:extLst>
      <p:ext uri="{BB962C8B-B14F-4D97-AF65-F5344CB8AC3E}">
        <p14:creationId xmlns:p14="http://schemas.microsoft.com/office/powerpoint/2010/main" val="27247427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slide" Target="slide3.xml"/><Relationship Id="rId4" Type="http://schemas.openxmlformats.org/officeDocument/2006/relationships/slide" Target="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slide" Target="slide4.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slide" Target="slide5.xml"/><Relationship Id="rId5" Type="http://schemas.openxmlformats.org/officeDocument/2006/relationships/slide" Target="slide2.xml"/><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slide" Target="slide6.xml"/><Relationship Id="rId5" Type="http://schemas.openxmlformats.org/officeDocument/2006/relationships/slide" Target="slide2.xml"/><Relationship Id="rId4" Type="http://schemas.openxmlformats.org/officeDocument/2006/relationships/slide" Target="slide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slide" Target="slide2.xml"/><Relationship Id="rId4" Type="http://schemas.openxmlformats.org/officeDocument/2006/relationships/slide" Target="slide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2.xml"/><Relationship Id="rId4" Type="http://schemas.openxmlformats.org/officeDocument/2006/relationships/slide" Target="slide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slide" Target="slide7.xml"/></Relationships>
</file>

<file path=ppt/slides/_rels/slide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slide" Target="slide9.xml"/><Relationship Id="rId4"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BF50BA-9D7F-D22D-2236-C48F79999FFE}"/>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01 / BUSINESS CONTEXT</a:t>
            </a:r>
          </a:p>
        </p:txBody>
      </p:sp>
      <p:sp>
        <p:nvSpPr>
          <p:cNvPr id="3" name="TextBox 2">
            <a:extLst>
              <a:ext uri="{FF2B5EF4-FFF2-40B4-BE49-F238E27FC236}">
                <a16:creationId xmlns:a16="http://schemas.microsoft.com/office/drawing/2014/main" id="{AB863305-8276-303C-2805-ACD33A767EAC}"/>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Maintenance Work-Order Readiness</a:t>
            </a:r>
          </a:p>
        </p:txBody>
      </p:sp>
      <p:sp>
        <p:nvSpPr>
          <p:cNvPr id="4" name="TextBox 3">
            <a:extLst>
              <a:ext uri="{FF2B5EF4-FFF2-40B4-BE49-F238E27FC236}">
                <a16:creationId xmlns:a16="http://schemas.microsoft.com/office/drawing/2014/main" id="{54FF0656-FB86-8DA9-CB24-DF1F5C42C274}"/>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Rectangle: Rounded Corners 4">
            <a:extLst>
              <a:ext uri="{FF2B5EF4-FFF2-40B4-BE49-F238E27FC236}">
                <a16:creationId xmlns:a16="http://schemas.microsoft.com/office/drawing/2014/main" id="{3B231263-203D-13A1-A3D0-9072321EC0D6}"/>
              </a:ext>
            </a:extLst>
          </p:cNvPr>
          <p:cNvSpPr/>
          <p:nvPr/>
        </p:nvSpPr>
        <p:spPr>
          <a:xfrm>
            <a:off x="406400" y="1651000"/>
            <a:ext cx="11049000" cy="7175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87103AD-08BA-C663-AADA-768FC5223807}"/>
              </a:ext>
            </a:extLst>
          </p:cNvPr>
          <p:cNvSpPr txBox="1"/>
          <p:nvPr/>
        </p:nvSpPr>
        <p:spPr>
          <a:xfrm>
            <a:off x="762000" y="2006600"/>
            <a:ext cx="10287000" cy="276999"/>
          </a:xfrm>
          <a:prstGeom prst="rect">
            <a:avLst/>
          </a:prstGeom>
          <a:noFill/>
        </p:spPr>
        <p:txBody>
          <a:bodyPr vert="horz" wrap="square" lIns="0" tIns="0" rIns="0" bIns="0" rtlCol="0">
            <a:spAutoFit/>
          </a:bodyPr>
          <a:lstStyle/>
          <a:p>
            <a:r>
              <a:rPr lang="en-US" b="1">
                <a:solidFill>
                  <a:srgbClr val="007F85"/>
                </a:solidFill>
                <a:latin typeface="Aptos" panose="020B0004020202020204" pitchFamily="34" charset="0"/>
              </a:rPr>
              <a:t>THE CHALLENGE</a:t>
            </a:r>
          </a:p>
        </p:txBody>
      </p:sp>
      <p:sp>
        <p:nvSpPr>
          <p:cNvPr id="7" name="TextBox 6">
            <a:extLst>
              <a:ext uri="{FF2B5EF4-FFF2-40B4-BE49-F238E27FC236}">
                <a16:creationId xmlns:a16="http://schemas.microsoft.com/office/drawing/2014/main" id="{9B71D92D-887C-F6B0-69CB-C9950E8DEF29}"/>
              </a:ext>
            </a:extLst>
          </p:cNvPr>
          <p:cNvSpPr txBox="1"/>
          <p:nvPr/>
        </p:nvSpPr>
        <p:spPr>
          <a:xfrm>
            <a:off x="762000" y="2565400"/>
            <a:ext cx="10287000" cy="1246495"/>
          </a:xfrm>
          <a:prstGeom prst="rect">
            <a:avLst/>
          </a:prstGeom>
          <a:noFill/>
        </p:spPr>
        <p:txBody>
          <a:bodyPr vert="horz" wrap="square" lIns="0" tIns="0" rIns="0" bIns="0" rtlCol="0">
            <a:spAutoFit/>
          </a:bodyPr>
          <a:lstStyle/>
          <a:p>
            <a:r>
              <a:rPr lang="en-US" sz="2700">
                <a:solidFill>
                  <a:srgbClr val="122D46"/>
                </a:solidFill>
                <a:latin typeface="Aptos" panose="020B0004020202020204" pitchFamily="34" charset="0"/>
              </a:rPr>
              <a:t>Fault reports arrive without asset identity, useful symptoms or service history. Planners repeatedly ask for missing details and locate the correct approved manual before scheduling work.</a:t>
            </a:r>
          </a:p>
        </p:txBody>
      </p:sp>
      <p:sp>
        <p:nvSpPr>
          <p:cNvPr id="8" name="TextBox 7">
            <a:extLst>
              <a:ext uri="{FF2B5EF4-FFF2-40B4-BE49-F238E27FC236}">
                <a16:creationId xmlns:a16="http://schemas.microsoft.com/office/drawing/2014/main" id="{AF270EB5-F7E6-1FE9-6C26-9723BAEB36A8}"/>
              </a:ext>
            </a:extLst>
          </p:cNvPr>
          <p:cNvSpPr txBox="1"/>
          <p:nvPr/>
        </p:nvSpPr>
        <p:spPr>
          <a:xfrm>
            <a:off x="762000" y="4800600"/>
            <a:ext cx="10287000" cy="276999"/>
          </a:xfrm>
          <a:prstGeom prst="rect">
            <a:avLst/>
          </a:prstGeom>
          <a:noFill/>
        </p:spPr>
        <p:txBody>
          <a:bodyPr vert="horz" wrap="square" lIns="0" tIns="0" rIns="0" bIns="0" rtlCol="0">
            <a:spAutoFit/>
          </a:bodyPr>
          <a:lstStyle/>
          <a:p>
            <a:r>
              <a:rPr lang="en-US" b="1">
                <a:solidFill>
                  <a:srgbClr val="007F85"/>
                </a:solidFill>
                <a:latin typeface="Aptos" panose="020B0004020202020204" pitchFamily="34" charset="0"/>
              </a:rPr>
              <a:t>THE REVIEWABLE OUTCOME</a:t>
            </a:r>
          </a:p>
        </p:txBody>
      </p:sp>
      <p:sp>
        <p:nvSpPr>
          <p:cNvPr id="9" name="TextBox 8">
            <a:extLst>
              <a:ext uri="{FF2B5EF4-FFF2-40B4-BE49-F238E27FC236}">
                <a16:creationId xmlns:a16="http://schemas.microsoft.com/office/drawing/2014/main" id="{E2FFFB1D-03B6-38E5-D3AF-EF4DEE6BA580}"/>
              </a:ext>
            </a:extLst>
          </p:cNvPr>
          <p:cNvSpPr txBox="1"/>
          <p:nvPr/>
        </p:nvSpPr>
        <p:spPr>
          <a:xfrm>
            <a:off x="762000" y="5397500"/>
            <a:ext cx="10287000" cy="1154162"/>
          </a:xfrm>
          <a:prstGeom prst="rect">
            <a:avLst/>
          </a:prstGeom>
          <a:noFill/>
        </p:spPr>
        <p:txBody>
          <a:bodyPr vert="horz" wrap="square" lIns="0" tIns="0" rIns="0" bIns="0" rtlCol="0">
            <a:spAutoFit/>
          </a:bodyPr>
          <a:lstStyle/>
          <a:p>
            <a:r>
              <a:rPr lang="en-US" sz="2500">
                <a:solidFill>
                  <a:srgbClr val="122D46"/>
                </a:solidFill>
                <a:latin typeface="Aptos" panose="020B0004020202020204" pitchFamily="34" charset="0"/>
              </a:rPr>
              <a:t>Prepare a planner-ready work-order draft with verified asset context, missing questions and cited manual sections. Measure completeness and preparation time, not diagnostic accuracy or equipment uptime.</a:t>
            </a:r>
          </a:p>
        </p:txBody>
      </p:sp>
      <p:sp>
        <p:nvSpPr>
          <p:cNvPr id="10" name="TextBox 9">
            <a:extLst>
              <a:ext uri="{FF2B5EF4-FFF2-40B4-BE49-F238E27FC236}">
                <a16:creationId xmlns:a16="http://schemas.microsoft.com/office/drawing/2014/main" id="{A4F994D2-EDC3-4F6C-50E4-18C28CAA5F48}"/>
              </a:ext>
            </a:extLst>
          </p:cNvPr>
          <p:cNvSpPr txBox="1"/>
          <p:nvPr/>
        </p:nvSpPr>
        <p:spPr>
          <a:xfrm>
            <a:off x="12065000" y="2006600"/>
            <a:ext cx="546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TRUST BOUNDARY</a:t>
            </a:r>
          </a:p>
        </p:txBody>
      </p:sp>
      <p:sp>
        <p:nvSpPr>
          <p:cNvPr id="11" name="TextBox 10">
            <a:extLst>
              <a:ext uri="{FF2B5EF4-FFF2-40B4-BE49-F238E27FC236}">
                <a16:creationId xmlns:a16="http://schemas.microsoft.com/office/drawing/2014/main" id="{FE6A3833-CCD4-D32E-EC50-21AA7180CB1A}"/>
              </a:ext>
            </a:extLst>
          </p:cNvPr>
          <p:cNvSpPr txBox="1"/>
          <p:nvPr/>
        </p:nvSpPr>
        <p:spPr>
          <a:xfrm>
            <a:off x="12065000" y="2628900"/>
            <a:ext cx="5461000" cy="2123658"/>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Human boundary: Safety-related input displays the approved site emergency/escalation notice and requires a responsible supervisor. Never produce hazardous troubleshooting instructions or claim the machine is safe to operate.</a:t>
            </a:r>
          </a:p>
        </p:txBody>
      </p:sp>
      <p:sp>
        <p:nvSpPr>
          <p:cNvPr id="12" name="TextBox 11">
            <a:extLst>
              <a:ext uri="{FF2B5EF4-FFF2-40B4-BE49-F238E27FC236}">
                <a16:creationId xmlns:a16="http://schemas.microsoft.com/office/drawing/2014/main" id="{335D5613-CCDB-C328-E406-4AEBEE99CD2C}"/>
              </a:ext>
            </a:extLst>
          </p:cNvPr>
          <p:cNvSpPr txBox="1"/>
          <p:nvPr/>
        </p:nvSpPr>
        <p:spPr>
          <a:xfrm>
            <a:off x="12065000" y="6731000"/>
            <a:ext cx="5461000" cy="1015663"/>
          </a:xfrm>
          <a:prstGeom prst="rect">
            <a:avLst/>
          </a:prstGeom>
          <a:noFill/>
        </p:spPr>
        <p:txBody>
          <a:bodyPr vert="horz" wrap="square" lIns="0" tIns="0" rIns="0" bIns="0" rtlCol="0">
            <a:spAutoFit/>
          </a:bodyPr>
          <a:lstStyle/>
          <a:p>
            <a:r>
              <a:rPr lang="en-US" sz="2200">
                <a:solidFill>
                  <a:srgbClr val="516478"/>
                </a:solidFill>
                <a:latin typeface="Aptos" panose="020B0004020202020204" pitchFamily="34" charset="0"/>
              </a:rPr>
              <a:t>Six-step native .NET MAUI walkthrough. All people, records, policies and evidence are fictional.</a:t>
            </a:r>
          </a:p>
        </p:txBody>
      </p:sp>
      <p:sp>
        <p:nvSpPr>
          <p:cNvPr id="13" name="TextBox 12">
            <a:hlinkClick r:id="rId3" action="ppaction://hlinksldjump"/>
            <a:extLst>
              <a:ext uri="{FF2B5EF4-FFF2-40B4-BE49-F238E27FC236}">
                <a16:creationId xmlns:a16="http://schemas.microsoft.com/office/drawing/2014/main" id="{0FB418A7-E8D9-9C52-2514-D65E8BBCFD26}"/>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4" name="TextBox 13">
            <a:hlinkClick r:id="rId4" action="ppaction://hlinksldjump"/>
            <a:extLst>
              <a:ext uri="{FF2B5EF4-FFF2-40B4-BE49-F238E27FC236}">
                <a16:creationId xmlns:a16="http://schemas.microsoft.com/office/drawing/2014/main" id="{7D1C2733-118E-4A47-3B8D-32FE82FC8EBB}"/>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5" name="TextBox 14">
            <a:hlinkClick r:id="rId4" action="ppaction://hlinksldjump"/>
            <a:extLst>
              <a:ext uri="{FF2B5EF4-FFF2-40B4-BE49-F238E27FC236}">
                <a16:creationId xmlns:a16="http://schemas.microsoft.com/office/drawing/2014/main" id="{494C24B6-0AE5-7501-2DBB-6525679BCE9F}"/>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920448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2C260D-1801-5820-100C-13AF46E5E11F}"/>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02 / PRODUCTS, FLOW AND EVIDENCE</a:t>
            </a:r>
          </a:p>
        </p:txBody>
      </p:sp>
      <p:sp>
        <p:nvSpPr>
          <p:cNvPr id="3" name="TextBox 2">
            <a:extLst>
              <a:ext uri="{FF2B5EF4-FFF2-40B4-BE49-F238E27FC236}">
                <a16:creationId xmlns:a16="http://schemas.microsoft.com/office/drawing/2014/main" id="{9844FE9F-695C-B0B0-BDAF-FE53B82D590E}"/>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How this demo is implemented</a:t>
            </a:r>
          </a:p>
        </p:txBody>
      </p:sp>
      <p:sp>
        <p:nvSpPr>
          <p:cNvPr id="4" name="TextBox 3">
            <a:extLst>
              <a:ext uri="{FF2B5EF4-FFF2-40B4-BE49-F238E27FC236}">
                <a16:creationId xmlns:a16="http://schemas.microsoft.com/office/drawing/2014/main" id="{D7DFB7A7-D2AA-2BA7-E46C-6C989C46AE87}"/>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Rectangle: Rounded Corners 4">
            <a:extLst>
              <a:ext uri="{FF2B5EF4-FFF2-40B4-BE49-F238E27FC236}">
                <a16:creationId xmlns:a16="http://schemas.microsoft.com/office/drawing/2014/main" id="{5C0BEF33-4CBC-48F5-2501-16B8621D5C7E}"/>
              </a:ext>
            </a:extLst>
          </p:cNvPr>
          <p:cNvSpPr/>
          <p:nvPr/>
        </p:nvSpPr>
        <p:spPr>
          <a:xfrm>
            <a:off x="4064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8A98E2A-9BA1-00C4-A5F1-1D63BCA376AB}"/>
              </a:ext>
            </a:extLst>
          </p:cNvPr>
          <p:cNvSpPr txBox="1"/>
          <p:nvPr/>
        </p:nvSpPr>
        <p:spPr>
          <a:xfrm>
            <a:off x="6604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01</a:t>
            </a:r>
          </a:p>
        </p:txBody>
      </p:sp>
      <p:sp>
        <p:nvSpPr>
          <p:cNvPr id="7" name="TextBox 6">
            <a:extLst>
              <a:ext uri="{FF2B5EF4-FFF2-40B4-BE49-F238E27FC236}">
                <a16:creationId xmlns:a16="http://schemas.microsoft.com/office/drawing/2014/main" id="{17D4255C-EB5D-127F-3CB5-534718565103}"/>
              </a:ext>
            </a:extLst>
          </p:cNvPr>
          <p:cNvSpPr txBox="1"/>
          <p:nvPr/>
        </p:nvSpPr>
        <p:spPr>
          <a:xfrm>
            <a:off x="6604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Windows .NET MAUI</a:t>
            </a:r>
          </a:p>
        </p:txBody>
      </p:sp>
      <p:sp>
        <p:nvSpPr>
          <p:cNvPr id="8" name="TextBox 7">
            <a:extLst>
              <a:ext uri="{FF2B5EF4-FFF2-40B4-BE49-F238E27FC236}">
                <a16:creationId xmlns:a16="http://schemas.microsoft.com/office/drawing/2014/main" id="{6D1F639A-A4B8-0A9E-1DC2-5A73DE17A5AF}"/>
              </a:ext>
            </a:extLst>
          </p:cNvPr>
          <p:cNvSpPr txBox="1"/>
          <p:nvPr/>
        </p:nvSpPr>
        <p:spPr>
          <a:xfrm>
            <a:off x="660400" y="3937000"/>
            <a:ext cx="3619500" cy="615553"/>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Synthetic staff workbench; exact C# rules; reviewer control.</a:t>
            </a:r>
          </a:p>
        </p:txBody>
      </p:sp>
      <p:sp>
        <p:nvSpPr>
          <p:cNvPr id="9" name="Rectangle: Rounded Corners 8">
            <a:extLst>
              <a:ext uri="{FF2B5EF4-FFF2-40B4-BE49-F238E27FC236}">
                <a16:creationId xmlns:a16="http://schemas.microsoft.com/office/drawing/2014/main" id="{FCAFCE38-8CDE-A716-B219-315E89C9E7F0}"/>
              </a:ext>
            </a:extLst>
          </p:cNvPr>
          <p:cNvSpPr/>
          <p:nvPr/>
        </p:nvSpPr>
        <p:spPr>
          <a:xfrm>
            <a:off x="48768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372CFF2-7210-A059-CE8C-AB1FC5C47C0F}"/>
              </a:ext>
            </a:extLst>
          </p:cNvPr>
          <p:cNvSpPr txBox="1"/>
          <p:nvPr/>
        </p:nvSpPr>
        <p:spPr>
          <a:xfrm>
            <a:off x="51308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02</a:t>
            </a:r>
          </a:p>
        </p:txBody>
      </p:sp>
      <p:sp>
        <p:nvSpPr>
          <p:cNvPr id="11" name="TextBox 10">
            <a:extLst>
              <a:ext uri="{FF2B5EF4-FFF2-40B4-BE49-F238E27FC236}">
                <a16:creationId xmlns:a16="http://schemas.microsoft.com/office/drawing/2014/main" id="{1242EF54-0F2C-86ED-4DC0-D4EEA9476723}"/>
              </a:ext>
            </a:extLst>
          </p:cNvPr>
          <p:cNvSpPr txBox="1"/>
          <p:nvPr/>
        </p:nvSpPr>
        <p:spPr>
          <a:xfrm>
            <a:off x="51308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Azure SQL - private</a:t>
            </a:r>
          </a:p>
        </p:txBody>
      </p:sp>
      <p:sp>
        <p:nvSpPr>
          <p:cNvPr id="12" name="TextBox 11">
            <a:extLst>
              <a:ext uri="{FF2B5EF4-FFF2-40B4-BE49-F238E27FC236}">
                <a16:creationId xmlns:a16="http://schemas.microsoft.com/office/drawing/2014/main" id="{8F2E008D-10D5-8310-65A0-61856C6CC5F8}"/>
              </a:ext>
            </a:extLst>
          </p:cNvPr>
          <p:cNvSpPr txBox="1"/>
          <p:nvPr/>
        </p:nvSpPr>
        <p:spPr>
          <a:xfrm>
            <a:off x="51308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Fixture snapshots, review versions, audit events and idempotent internal outbox.</a:t>
            </a:r>
          </a:p>
        </p:txBody>
      </p:sp>
      <p:sp>
        <p:nvSpPr>
          <p:cNvPr id="13" name="Rectangle: Rounded Corners 12">
            <a:extLst>
              <a:ext uri="{FF2B5EF4-FFF2-40B4-BE49-F238E27FC236}">
                <a16:creationId xmlns:a16="http://schemas.microsoft.com/office/drawing/2014/main" id="{E9A29121-6256-7D92-525D-68761BAA87AF}"/>
              </a:ext>
            </a:extLst>
          </p:cNvPr>
          <p:cNvSpPr/>
          <p:nvPr/>
        </p:nvSpPr>
        <p:spPr>
          <a:xfrm>
            <a:off x="93472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A02C4FB-2BF3-3925-3E7A-0C8F8DE58A80}"/>
              </a:ext>
            </a:extLst>
          </p:cNvPr>
          <p:cNvSpPr txBox="1"/>
          <p:nvPr/>
        </p:nvSpPr>
        <p:spPr>
          <a:xfrm>
            <a:off x="96012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03</a:t>
            </a:r>
          </a:p>
        </p:txBody>
      </p:sp>
      <p:sp>
        <p:nvSpPr>
          <p:cNvPr id="15" name="TextBox 14">
            <a:extLst>
              <a:ext uri="{FF2B5EF4-FFF2-40B4-BE49-F238E27FC236}">
                <a16:creationId xmlns:a16="http://schemas.microsoft.com/office/drawing/2014/main" id="{EDAAA245-861C-3D69-8D98-4F2F2AEE3D92}"/>
              </a:ext>
            </a:extLst>
          </p:cNvPr>
          <p:cNvSpPr txBox="1"/>
          <p:nvPr/>
        </p:nvSpPr>
        <p:spPr>
          <a:xfrm>
            <a:off x="96012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Azure AI services</a:t>
            </a:r>
          </a:p>
        </p:txBody>
      </p:sp>
      <p:sp>
        <p:nvSpPr>
          <p:cNvPr id="16" name="TextBox 15">
            <a:extLst>
              <a:ext uri="{FF2B5EF4-FFF2-40B4-BE49-F238E27FC236}">
                <a16:creationId xmlns:a16="http://schemas.microsoft.com/office/drawing/2014/main" id="{F8A8EEFD-1F40-057B-966C-F367A5E30860}"/>
              </a:ext>
            </a:extLst>
          </p:cNvPr>
          <p:cNvSpPr txBox="1"/>
          <p:nvPr/>
        </p:nvSpPr>
        <p:spPr>
          <a:xfrm>
            <a:off x="96012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OpenAI structured draft + Content Safety + filtered AI Search</a:t>
            </a:r>
          </a:p>
        </p:txBody>
      </p:sp>
      <p:sp>
        <p:nvSpPr>
          <p:cNvPr id="17" name="Rectangle: Rounded Corners 16">
            <a:extLst>
              <a:ext uri="{FF2B5EF4-FFF2-40B4-BE49-F238E27FC236}">
                <a16:creationId xmlns:a16="http://schemas.microsoft.com/office/drawing/2014/main" id="{8EFCE549-8CF6-9FCB-3FBF-3DCF42848144}"/>
              </a:ext>
            </a:extLst>
          </p:cNvPr>
          <p:cNvSpPr/>
          <p:nvPr/>
        </p:nvSpPr>
        <p:spPr>
          <a:xfrm>
            <a:off x="138176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F3E6DE4-2B61-250F-B3B0-88CB2419D2C2}"/>
              </a:ext>
            </a:extLst>
          </p:cNvPr>
          <p:cNvSpPr txBox="1"/>
          <p:nvPr/>
        </p:nvSpPr>
        <p:spPr>
          <a:xfrm>
            <a:off x="140716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04</a:t>
            </a:r>
          </a:p>
        </p:txBody>
      </p:sp>
      <p:sp>
        <p:nvSpPr>
          <p:cNvPr id="19" name="TextBox 18">
            <a:extLst>
              <a:ext uri="{FF2B5EF4-FFF2-40B4-BE49-F238E27FC236}">
                <a16:creationId xmlns:a16="http://schemas.microsoft.com/office/drawing/2014/main" id="{E52B16BF-F167-680E-BD52-65945FBA74F1}"/>
              </a:ext>
            </a:extLst>
          </p:cNvPr>
          <p:cNvSpPr txBox="1"/>
          <p:nvPr/>
        </p:nvSpPr>
        <p:spPr>
          <a:xfrm>
            <a:off x="140716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Internal review / demo sink</a:t>
            </a:r>
          </a:p>
        </p:txBody>
      </p:sp>
      <p:sp>
        <p:nvSpPr>
          <p:cNvPr id="20" name="TextBox 19">
            <a:extLst>
              <a:ext uri="{FF2B5EF4-FFF2-40B4-BE49-F238E27FC236}">
                <a16:creationId xmlns:a16="http://schemas.microsoft.com/office/drawing/2014/main" id="{00ADDA48-4E0A-B856-8528-E8540C4D18FB}"/>
              </a:ext>
            </a:extLst>
          </p:cNvPr>
          <p:cNvSpPr txBox="1"/>
          <p:nvPr/>
        </p:nvSpPr>
        <p:spPr>
          <a:xfrm>
            <a:off x="140716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Recorded approval; Simulated notification. External connectors disabled.</a:t>
            </a:r>
          </a:p>
        </p:txBody>
      </p:sp>
      <p:sp>
        <p:nvSpPr>
          <p:cNvPr id="21" name="TextBox 20">
            <a:extLst>
              <a:ext uri="{FF2B5EF4-FFF2-40B4-BE49-F238E27FC236}">
                <a16:creationId xmlns:a16="http://schemas.microsoft.com/office/drawing/2014/main" id="{2FCF58BA-2502-0AA6-4F1B-2E4D25A67EF6}"/>
              </a:ext>
            </a:extLst>
          </p:cNvPr>
          <p:cNvSpPr txBox="1"/>
          <p:nvPr/>
        </p:nvSpPr>
        <p:spPr>
          <a:xfrm>
            <a:off x="508000" y="6032500"/>
            <a:ext cx="16764000" cy="1061829"/>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Live validation: 2026-10-28T15:22:18.0700587+00:00
Resource group: rg-demo-maintenance
Model deployment: brief / gpt-4.1-mini | Tokens: 6827 in / 1198 out</a:t>
            </a:r>
          </a:p>
        </p:txBody>
      </p:sp>
      <p:sp>
        <p:nvSpPr>
          <p:cNvPr id="22" name="TextBox 21">
            <a:extLst>
              <a:ext uri="{FF2B5EF4-FFF2-40B4-BE49-F238E27FC236}">
                <a16:creationId xmlns:a16="http://schemas.microsoft.com/office/drawing/2014/main" id="{EFED9947-1DE4-14C9-03B0-A5BB4E3DD83F}"/>
              </a:ext>
            </a:extLst>
          </p:cNvPr>
          <p:cNvSpPr txBox="1"/>
          <p:nvPr/>
        </p:nvSpPr>
        <p:spPr>
          <a:xfrm>
            <a:off x="508000" y="7493000"/>
            <a:ext cx="16764000" cy="707886"/>
          </a:xfrm>
          <a:prstGeom prst="rect">
            <a:avLst/>
          </a:prstGeom>
          <a:noFill/>
        </p:spPr>
        <p:txBody>
          <a:bodyPr vert="horz" wrap="square" lIns="0" tIns="0" rIns="0" bIns="0" rtlCol="0">
            <a:spAutoFit/>
          </a:bodyPr>
          <a:lstStyle/>
          <a:p>
            <a:r>
              <a:rPr lang="en-US" sz="2300">
                <a:solidFill>
                  <a:srgbClr val="007F85"/>
                </a:solidFill>
                <a:latin typeface="Aptos" panose="020B0004020202020204" pitchFamily="34" charset="0"/>
              </a:rPr>
              <a:t>SQL public access stays disabled. An ephemeral Azure container executes inside the private VNet; desktop screens replay its recorded outputs.</a:t>
            </a:r>
          </a:p>
        </p:txBody>
      </p:sp>
      <p:sp>
        <p:nvSpPr>
          <p:cNvPr id="23" name="TextBox 22">
            <a:extLst>
              <a:ext uri="{FF2B5EF4-FFF2-40B4-BE49-F238E27FC236}">
                <a16:creationId xmlns:a16="http://schemas.microsoft.com/office/drawing/2014/main" id="{5CB0AAF8-B0A1-81AA-A83E-E17D3C2A2909}"/>
              </a:ext>
            </a:extLst>
          </p:cNvPr>
          <p:cNvSpPr txBox="1"/>
          <p:nvPr/>
        </p:nvSpPr>
        <p:spPr>
          <a:xfrm>
            <a:off x="508000" y="8572500"/>
            <a:ext cx="16764000" cy="307777"/>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Limits: curated documents only; no arbitrary upload/scanning claim; no public production API; Search is filtered keyword retrieval.</a:t>
            </a:r>
          </a:p>
        </p:txBody>
      </p:sp>
      <p:sp>
        <p:nvSpPr>
          <p:cNvPr id="24" name="TextBox 23">
            <a:hlinkClick r:id="rId3" action="ppaction://hlinksldjump"/>
            <a:extLst>
              <a:ext uri="{FF2B5EF4-FFF2-40B4-BE49-F238E27FC236}">
                <a16:creationId xmlns:a16="http://schemas.microsoft.com/office/drawing/2014/main" id="{0A17B038-8EDF-9935-135B-232BB16CB05A}"/>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25" name="TextBox 24">
            <a:hlinkClick r:id="rId4" action="ppaction://hlinksldjump"/>
            <a:extLst>
              <a:ext uri="{FF2B5EF4-FFF2-40B4-BE49-F238E27FC236}">
                <a16:creationId xmlns:a16="http://schemas.microsoft.com/office/drawing/2014/main" id="{A2253F62-AA52-5B5D-C21C-63A47B11BFAE}"/>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26" name="TextBox 25">
            <a:hlinkClick r:id="rId5" action="ppaction://hlinksldjump"/>
            <a:extLst>
              <a:ext uri="{FF2B5EF4-FFF2-40B4-BE49-F238E27FC236}">
                <a16:creationId xmlns:a16="http://schemas.microsoft.com/office/drawing/2014/main" id="{EB5032BC-3B41-4146-6708-3E78F7E9F3C1}"/>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142677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85FAA0-AF84-C041-7142-D2931738801D}"/>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4C26AD18-9E8D-D22B-3E71-64FFCF96ABE9}"/>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01: Verified asset</a:t>
            </a:r>
          </a:p>
        </p:txBody>
      </p:sp>
      <p:sp>
        <p:nvSpPr>
          <p:cNvPr id="4" name="TextBox 3">
            <a:extLst>
              <a:ext uri="{FF2B5EF4-FFF2-40B4-BE49-F238E27FC236}">
                <a16:creationId xmlns:a16="http://schemas.microsoft.com/office/drawing/2014/main" id="{8252FD28-AC75-0546-FF71-865F396140F3}"/>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7485CB91-D261-75F7-8AFC-D54819C5FE2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BB533D99-422F-F147-B56F-E9FC5787A842}"/>
              </a:ext>
            </a:extLst>
          </p:cNvPr>
          <p:cNvSpPr/>
          <p:nvPr/>
        </p:nvSpPr>
        <p:spPr>
          <a:xfrm>
            <a:off x="611815" y="355135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62144749-C921-86BC-CDE8-33DC31F31148}"/>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9184602D-99DF-04F5-13E7-96748087E5B7}"/>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01 in the left-hand flow.</a:t>
            </a:r>
          </a:p>
        </p:txBody>
      </p:sp>
      <p:sp>
        <p:nvSpPr>
          <p:cNvPr id="10" name="TextBox 9">
            <a:extLst>
              <a:ext uri="{FF2B5EF4-FFF2-40B4-BE49-F238E27FC236}">
                <a16:creationId xmlns:a16="http://schemas.microsoft.com/office/drawing/2014/main" id="{1BF26CD9-BA19-85B2-3C3C-AAFFBDCC4436}"/>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6E11C307-09C0-1FBE-B9F0-72547A217BB9}"/>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4375A170-7B72-DEA3-23C6-C0DCD5635545}"/>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7D5641AD-AF87-9EBE-6CA1-32625D014908}"/>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877C81FF-4ED4-1A43-6841-8AC8C3326A62}"/>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4" action="ppaction://hlinksldjump"/>
            <a:extLst>
              <a:ext uri="{FF2B5EF4-FFF2-40B4-BE49-F238E27FC236}">
                <a16:creationId xmlns:a16="http://schemas.microsoft.com/office/drawing/2014/main" id="{C91B8657-6466-6F88-CC7B-734397515F38}"/>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5" action="ppaction://hlinksldjump"/>
            <a:extLst>
              <a:ext uri="{FF2B5EF4-FFF2-40B4-BE49-F238E27FC236}">
                <a16:creationId xmlns:a16="http://schemas.microsoft.com/office/drawing/2014/main" id="{B4AE3091-B966-CAB9-4061-90EB75587198}"/>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40422058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9763D1-6A47-6CFB-01A2-675679C0424A}"/>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73A1B84C-042A-982E-C5CD-357A8A706F8E}"/>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02: Missing symptoms</a:t>
            </a:r>
          </a:p>
        </p:txBody>
      </p:sp>
      <p:sp>
        <p:nvSpPr>
          <p:cNvPr id="4" name="TextBox 3">
            <a:extLst>
              <a:ext uri="{FF2B5EF4-FFF2-40B4-BE49-F238E27FC236}">
                <a16:creationId xmlns:a16="http://schemas.microsoft.com/office/drawing/2014/main" id="{3AEEF1BC-4CC4-C574-2773-EC4B19372EC7}"/>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C6C7EB3C-C433-6D30-F790-9E7FE4C670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6A47FF77-DCCD-38F8-A698-8CF0B26A23C0}"/>
              </a:ext>
            </a:extLst>
          </p:cNvPr>
          <p:cNvSpPr/>
          <p:nvPr/>
        </p:nvSpPr>
        <p:spPr>
          <a:xfrm>
            <a:off x="611815" y="429263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E4DF220-FACA-D769-2B16-4C5A6A83DF32}"/>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1B151ED6-5BDD-2AE0-3B8F-EC3C49B7FFFC}"/>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02 in the left-hand flow.</a:t>
            </a:r>
          </a:p>
        </p:txBody>
      </p:sp>
      <p:sp>
        <p:nvSpPr>
          <p:cNvPr id="10" name="TextBox 9">
            <a:extLst>
              <a:ext uri="{FF2B5EF4-FFF2-40B4-BE49-F238E27FC236}">
                <a16:creationId xmlns:a16="http://schemas.microsoft.com/office/drawing/2014/main" id="{62CE4670-8FC5-FF55-2277-C71FB0E8794D}"/>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A448608E-4563-0767-FF3D-1183A8699C48}"/>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NeedsInformation: MISSING_SYMPTOMS. The finding remains visible beside the evidence and approved sources.</a:t>
            </a:r>
          </a:p>
        </p:txBody>
      </p:sp>
      <p:sp>
        <p:nvSpPr>
          <p:cNvPr id="12" name="TextBox 11">
            <a:extLst>
              <a:ext uri="{FF2B5EF4-FFF2-40B4-BE49-F238E27FC236}">
                <a16:creationId xmlns:a16="http://schemas.microsoft.com/office/drawing/2014/main" id="{CD35C384-9607-D823-F342-30B288345ED1}"/>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D1C62748-50FE-9D66-01A9-9979D119B9C5}"/>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A42545F6-DC68-62A1-3884-688FE30B11C3}"/>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3740BB60-FD33-4C58-2B8C-D40ADB6FE2FF}"/>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790B9B69-FD5C-7B28-6692-AA702BC8472C}"/>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631701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78F740-5B66-98B6-A1BF-A93C31D007FB}"/>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9373F12C-F1A6-FC9C-DE6F-EF966F7A5D06}"/>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03: Exact-model manual</a:t>
            </a:r>
          </a:p>
        </p:txBody>
      </p:sp>
      <p:sp>
        <p:nvSpPr>
          <p:cNvPr id="4" name="TextBox 3">
            <a:extLst>
              <a:ext uri="{FF2B5EF4-FFF2-40B4-BE49-F238E27FC236}">
                <a16:creationId xmlns:a16="http://schemas.microsoft.com/office/drawing/2014/main" id="{5AAE86E2-B0AB-B820-C2AC-FA3220FB57A7}"/>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87F8E109-2BB1-A106-6C0E-0B6D5A6BD15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69A600E2-53D8-97CA-03CD-A68AF6F80042}"/>
              </a:ext>
            </a:extLst>
          </p:cNvPr>
          <p:cNvSpPr/>
          <p:nvPr/>
        </p:nvSpPr>
        <p:spPr>
          <a:xfrm>
            <a:off x="611815" y="503391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94CCA97-33B8-7BB2-0FD5-E463963FC51F}"/>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07A9BFE5-36DF-ABEE-9293-7447E720C860}"/>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03 in the left-hand flow.</a:t>
            </a:r>
          </a:p>
        </p:txBody>
      </p:sp>
      <p:sp>
        <p:nvSpPr>
          <p:cNvPr id="10" name="TextBox 9">
            <a:extLst>
              <a:ext uri="{FF2B5EF4-FFF2-40B4-BE49-F238E27FC236}">
                <a16:creationId xmlns:a16="http://schemas.microsoft.com/office/drawing/2014/main" id="{3EEE2E57-6F58-11BE-D9A9-3AC5C1DEB3EE}"/>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87D8FBF2-C0A9-72BB-790B-16EA3BCF78AE}"/>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050B38A2-62AD-7387-7D97-99A910014FC4}"/>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A8389FCA-546E-10ED-5041-309230CE9CCE}"/>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15EA8619-BE7F-C844-0344-6A12FAE87208}"/>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FEA246DE-25B2-00B4-CCDE-02B70B941F44}"/>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FD1171F8-4E6F-D7F3-7B28-3CE0536522A6}"/>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767337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5EFF98-BA76-E910-4F88-439ABC9442A5}"/>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CDFD73B0-3D50-04FE-6B48-B091AE74DEE5}"/>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04: Unknown asset</a:t>
            </a:r>
          </a:p>
        </p:txBody>
      </p:sp>
      <p:sp>
        <p:nvSpPr>
          <p:cNvPr id="4" name="TextBox 3">
            <a:extLst>
              <a:ext uri="{FF2B5EF4-FFF2-40B4-BE49-F238E27FC236}">
                <a16:creationId xmlns:a16="http://schemas.microsoft.com/office/drawing/2014/main" id="{8955EC2D-5377-2A02-E81B-495C22A3A780}"/>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DC753160-04B8-A8CD-EA9F-63EE333C5BD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BC6E44A1-4E68-5BDD-81D0-D51A2BA0546E}"/>
              </a:ext>
            </a:extLst>
          </p:cNvPr>
          <p:cNvSpPr/>
          <p:nvPr/>
        </p:nvSpPr>
        <p:spPr>
          <a:xfrm>
            <a:off x="611815" y="577519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638ED1C-ED46-8762-ED43-82410D8C92FF}"/>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3F77EDD8-8F82-DA32-43D1-1DBEB57D702E}"/>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04 in the left-hand flow.</a:t>
            </a:r>
          </a:p>
        </p:txBody>
      </p:sp>
      <p:sp>
        <p:nvSpPr>
          <p:cNvPr id="10" name="TextBox 9">
            <a:extLst>
              <a:ext uri="{FF2B5EF4-FFF2-40B4-BE49-F238E27FC236}">
                <a16:creationId xmlns:a16="http://schemas.microsoft.com/office/drawing/2014/main" id="{F4C465BE-24DE-A107-CCC0-2BCA3B4998A6}"/>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91D5AFF8-DCA1-80DE-B372-4507E41D4D59}"/>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NeedsInformation: UNKNOWN_ASSET. The finding remains visible beside the evidence and approved sources.</a:t>
            </a:r>
          </a:p>
        </p:txBody>
      </p:sp>
      <p:sp>
        <p:nvSpPr>
          <p:cNvPr id="12" name="TextBox 11">
            <a:extLst>
              <a:ext uri="{FF2B5EF4-FFF2-40B4-BE49-F238E27FC236}">
                <a16:creationId xmlns:a16="http://schemas.microsoft.com/office/drawing/2014/main" id="{ED3B7087-DCF2-0771-37D5-0422523ACF87}"/>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6EBBA300-1CBD-39BE-60F2-B81D299527B5}"/>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E4E9EE1A-35AB-F7F3-3DAD-E551B9BB3090}"/>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590D93A9-DBB2-28AE-B242-9E965193D6FC}"/>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CF9390BF-6D7F-A705-ED0E-D1321E178D6F}"/>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187804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53B76D-F3FB-622D-C9A7-0F7D2D965F08}"/>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A3CB7E17-5F6F-1045-E422-85F77D2F4961}"/>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05: Supervisor gate</a:t>
            </a:r>
          </a:p>
        </p:txBody>
      </p:sp>
      <p:sp>
        <p:nvSpPr>
          <p:cNvPr id="4" name="TextBox 3">
            <a:extLst>
              <a:ext uri="{FF2B5EF4-FFF2-40B4-BE49-F238E27FC236}">
                <a16:creationId xmlns:a16="http://schemas.microsoft.com/office/drawing/2014/main" id="{C2900B17-DF5B-B3CB-0BE6-3AF92BB712B4}"/>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53681246-3E29-5DB0-0283-DF71B2A981A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B27579F0-576F-80A3-0EDC-025D29EF2E69}"/>
              </a:ext>
            </a:extLst>
          </p:cNvPr>
          <p:cNvSpPr/>
          <p:nvPr/>
        </p:nvSpPr>
        <p:spPr>
          <a:xfrm>
            <a:off x="611815" y="6516475"/>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B30B60D-3C39-EBB6-C025-31BDC82C0D1F}"/>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30DA144C-7CD0-5075-BD59-08C09FFD46B0}"/>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05 in the left-hand flow.</a:t>
            </a:r>
          </a:p>
        </p:txBody>
      </p:sp>
      <p:sp>
        <p:nvSpPr>
          <p:cNvPr id="10" name="TextBox 9">
            <a:extLst>
              <a:ext uri="{FF2B5EF4-FFF2-40B4-BE49-F238E27FC236}">
                <a16:creationId xmlns:a16="http://schemas.microsoft.com/office/drawing/2014/main" id="{235FFCBB-BB3B-9989-F6F4-CE7C6A0D1223}"/>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7A8C566B-FFE6-C1E6-EC59-41FAA6C8F929}"/>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HumanReviewRequired: SUPERVISOR_ESCALATION. The finding remains visible beside the evidence and approved sources.</a:t>
            </a:r>
          </a:p>
        </p:txBody>
      </p:sp>
      <p:sp>
        <p:nvSpPr>
          <p:cNvPr id="12" name="TextBox 11">
            <a:extLst>
              <a:ext uri="{FF2B5EF4-FFF2-40B4-BE49-F238E27FC236}">
                <a16:creationId xmlns:a16="http://schemas.microsoft.com/office/drawing/2014/main" id="{E250FEAC-3B27-B212-C2C6-76DAB5E31562}"/>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43CDAD9D-AF79-007F-80B9-08AF6ED4AE32}"/>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C3CEE4C5-94B4-ACCC-6DA3-FB166EB2B9FC}"/>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14B2DAA7-37F9-24C1-4CB6-096CF5D69C1A}"/>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87DCA865-E2F4-A8F1-72C7-B2287CCB10A3}"/>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312446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8F68B1-F261-DB2A-ED47-BB6490D9E12E}"/>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244FF491-1B41-C438-3A81-FAC052EE6F1A}"/>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06: Work-order draft</a:t>
            </a:r>
          </a:p>
        </p:txBody>
      </p:sp>
      <p:sp>
        <p:nvSpPr>
          <p:cNvPr id="4" name="TextBox 3">
            <a:extLst>
              <a:ext uri="{FF2B5EF4-FFF2-40B4-BE49-F238E27FC236}">
                <a16:creationId xmlns:a16="http://schemas.microsoft.com/office/drawing/2014/main" id="{35B81121-7C21-2E78-7210-B31E434F0BFE}"/>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6FAEE6D3-9385-83B8-7AB5-70600B99B5E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188D94A4-F84A-5E41-5D6C-CFF9B3FC67B8}"/>
              </a:ext>
            </a:extLst>
          </p:cNvPr>
          <p:cNvSpPr/>
          <p:nvPr/>
        </p:nvSpPr>
        <p:spPr>
          <a:xfrm>
            <a:off x="611815" y="7257755"/>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751F835-9A3A-1D5E-AE50-A3A3D6D27125}"/>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55F02A3C-767B-21D4-AD00-5A8534A0A81E}"/>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06 in the left-hand flow.</a:t>
            </a:r>
          </a:p>
        </p:txBody>
      </p:sp>
      <p:sp>
        <p:nvSpPr>
          <p:cNvPr id="10" name="TextBox 9">
            <a:extLst>
              <a:ext uri="{FF2B5EF4-FFF2-40B4-BE49-F238E27FC236}">
                <a16:creationId xmlns:a16="http://schemas.microsoft.com/office/drawing/2014/main" id="{FD90A080-E9AC-EADB-A2D3-EC5BE1A14006}"/>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26B3699F-1F60-8821-3417-4EE1AEA85184}"/>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A persisted internal approval, duplicate-safe operation key, audit timeline and explicitly Simulated handoff.</a:t>
            </a:r>
          </a:p>
        </p:txBody>
      </p:sp>
      <p:sp>
        <p:nvSpPr>
          <p:cNvPr id="12" name="TextBox 11">
            <a:extLst>
              <a:ext uri="{FF2B5EF4-FFF2-40B4-BE49-F238E27FC236}">
                <a16:creationId xmlns:a16="http://schemas.microsoft.com/office/drawing/2014/main" id="{19099C8F-3EDB-DE51-0D2E-B167ACD0317B}"/>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86187B19-5A16-2CD4-6F23-C136A53E55C4}"/>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Traceable handoff without silently executing a consequential business action.</a:t>
            </a:r>
          </a:p>
        </p:txBody>
      </p:sp>
      <p:sp>
        <p:nvSpPr>
          <p:cNvPr id="14" name="TextBox 13">
            <a:hlinkClick r:id="rId4" action="ppaction://hlinksldjump"/>
            <a:extLst>
              <a:ext uri="{FF2B5EF4-FFF2-40B4-BE49-F238E27FC236}">
                <a16:creationId xmlns:a16="http://schemas.microsoft.com/office/drawing/2014/main" id="{7C13B328-33A4-5412-EBB2-50F9AA0FDE67}"/>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D6067E5B-5815-5B2E-32D7-85C5875D033F}"/>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C8895415-3AF0-4052-4D8D-6E254079FBB4}"/>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891061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57D112-3B81-426A-EB07-EF40D58C650E}"/>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09 / DEMO HANDOFF</a:t>
            </a:r>
          </a:p>
        </p:txBody>
      </p:sp>
      <p:sp>
        <p:nvSpPr>
          <p:cNvPr id="3" name="TextBox 2">
            <a:extLst>
              <a:ext uri="{FF2B5EF4-FFF2-40B4-BE49-F238E27FC236}">
                <a16:creationId xmlns:a16="http://schemas.microsoft.com/office/drawing/2014/main" id="{3EC4E9E8-54EE-FBF4-3DD9-4E1AEF2CE311}"/>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Verified outcome and honest operating limits</a:t>
            </a:r>
          </a:p>
        </p:txBody>
      </p:sp>
      <p:sp>
        <p:nvSpPr>
          <p:cNvPr id="4" name="TextBox 3">
            <a:extLst>
              <a:ext uri="{FF2B5EF4-FFF2-40B4-BE49-F238E27FC236}">
                <a16:creationId xmlns:a16="http://schemas.microsoft.com/office/drawing/2014/main" id="{A29DF89B-0972-A09E-06AE-CB8B5D823CE4}"/>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TextBox 4">
            <a:extLst>
              <a:ext uri="{FF2B5EF4-FFF2-40B4-BE49-F238E27FC236}">
                <a16:creationId xmlns:a16="http://schemas.microsoft.com/office/drawing/2014/main" id="{DFC63938-13B0-576F-3475-5F2E1477ED12}"/>
              </a:ext>
            </a:extLst>
          </p:cNvPr>
          <p:cNvSpPr txBox="1"/>
          <p:nvPr/>
        </p:nvSpPr>
        <p:spPr>
          <a:xfrm>
            <a:off x="635000" y="1968500"/>
            <a:ext cx="10287000" cy="2077492"/>
          </a:xfrm>
          <a:prstGeom prst="rect">
            <a:avLst/>
          </a:prstGeom>
          <a:noFill/>
        </p:spPr>
        <p:txBody>
          <a:bodyPr vert="horz" wrap="square" lIns="0" tIns="0" rIns="0" bIns="0" rtlCol="0">
            <a:spAutoFit/>
          </a:bodyPr>
          <a:lstStyle/>
          <a:p>
            <a:r>
              <a:rPr lang="en-US" sz="2700">
                <a:solidFill>
                  <a:srgbClr val="122D46"/>
                </a:solidFill>
                <a:latin typeface="Aptos" panose="020B0004020202020204" pitchFamily="34" charset="0"/>
              </a:rPr>
              <a:t>LIVE EVIDENCE
17 recorded service requests
6827 input / 1198 output tokens
0 extracted document pages
SQL approval + duplicate, owner, stale-input and expiry guards</a:t>
            </a:r>
          </a:p>
        </p:txBody>
      </p:sp>
      <p:sp>
        <p:nvSpPr>
          <p:cNvPr id="6" name="TextBox 5">
            <a:extLst>
              <a:ext uri="{FF2B5EF4-FFF2-40B4-BE49-F238E27FC236}">
                <a16:creationId xmlns:a16="http://schemas.microsoft.com/office/drawing/2014/main" id="{F2525C9F-456B-EBED-866B-C895815EE65C}"/>
              </a:ext>
            </a:extLst>
          </p:cNvPr>
          <p:cNvSpPr txBox="1"/>
          <p:nvPr/>
        </p:nvSpPr>
        <p:spPr>
          <a:xfrm>
            <a:off x="12065000" y="1968500"/>
            <a:ext cx="5397500" cy="1600438"/>
          </a:xfrm>
          <a:prstGeom prst="rect">
            <a:avLst/>
          </a:prstGeom>
          <a:noFill/>
        </p:spPr>
        <p:txBody>
          <a:bodyPr vert="horz" wrap="square" lIns="0" tIns="0" rIns="0" bIns="0" rtlCol="0">
            <a:spAutoFit/>
          </a:bodyPr>
          <a:lstStyle/>
          <a:p>
            <a:r>
              <a:rPr lang="en-US" sz="2600" b="1">
                <a:solidFill>
                  <a:srgbClr val="007F85"/>
                </a:solidFill>
                <a:latin typeface="Aptos" panose="020B0004020202020204" pitchFamily="34" charset="0"/>
              </a:rPr>
              <a:t>VISIBLE DEMO OUTCOME
InternalBriefOnly
Notification sink: Simulated
External notifications: 0</a:t>
            </a:r>
          </a:p>
        </p:txBody>
      </p:sp>
      <p:sp>
        <p:nvSpPr>
          <p:cNvPr id="7" name="TextBox 6">
            <a:extLst>
              <a:ext uri="{FF2B5EF4-FFF2-40B4-BE49-F238E27FC236}">
                <a16:creationId xmlns:a16="http://schemas.microsoft.com/office/drawing/2014/main" id="{847BE9D4-2558-8AC1-5858-93233C0857D3}"/>
              </a:ext>
            </a:extLst>
          </p:cNvPr>
          <p:cNvSpPr txBox="1"/>
          <p:nvPr/>
        </p:nvSpPr>
        <p:spPr>
          <a:xfrm>
            <a:off x="635000" y="5905500"/>
            <a:ext cx="16764000" cy="2031325"/>
          </a:xfrm>
          <a:prstGeom prst="rect">
            <a:avLst/>
          </a:prstGeom>
          <a:noFill/>
        </p:spPr>
        <p:txBody>
          <a:bodyPr vert="horz" wrap="square" lIns="0" tIns="0" rIns="0" bIns="0" rtlCol="0">
            <a:spAutoFit/>
          </a:bodyPr>
          <a:lstStyle/>
          <a:p>
            <a:r>
              <a:rPr lang="en-US" sz="2200">
                <a:solidFill>
                  <a:srgbClr val="516478"/>
                </a:solidFill>
                <a:latin typeface="Aptos" panose="020B0004020202020204" pitchFamily="34" charset="0"/>
              </a:rPr>
              <a:t>Synthetic single-operator desktop demonstration, not production public intake.
No malware-scanned arbitrary upload pipeline; only curated local fixtures.
No hosted API, unattended durable worker or external operational connector.
No measured business-time baseline or current-price cost estimate.
Search is filtered keyword retrieval, not hybrid/vector retrieval.
Screenshots are replay of these saved live results; slide advance never calls Azure.</a:t>
            </a:r>
          </a:p>
        </p:txBody>
      </p:sp>
      <p:sp>
        <p:nvSpPr>
          <p:cNvPr id="8" name="TextBox 7">
            <a:hlinkClick r:id="rId3" action="ppaction://hlinksldjump"/>
            <a:extLst>
              <a:ext uri="{FF2B5EF4-FFF2-40B4-BE49-F238E27FC236}">
                <a16:creationId xmlns:a16="http://schemas.microsoft.com/office/drawing/2014/main" id="{BB223CC1-1816-EC9F-C22D-C3E932F83936}"/>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9" name="TextBox 8">
            <a:hlinkClick r:id="rId4" action="ppaction://hlinksldjump"/>
            <a:extLst>
              <a:ext uri="{FF2B5EF4-FFF2-40B4-BE49-F238E27FC236}">
                <a16:creationId xmlns:a16="http://schemas.microsoft.com/office/drawing/2014/main" id="{B8D3BC61-8C4E-6DF8-9982-8D70756327D0}"/>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0" name="TextBox 9">
            <a:hlinkClick r:id="rId5" action="ppaction://hlinksldjump"/>
            <a:extLst>
              <a:ext uri="{FF2B5EF4-FFF2-40B4-BE49-F238E27FC236}">
                <a16:creationId xmlns:a16="http://schemas.microsoft.com/office/drawing/2014/main" id="{17673AE0-ABA1-7578-4536-E4A7ACCCCD07}"/>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8117788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2772</Words>
  <Application>Microsoft Office PowerPoint</Application>
  <PresentationFormat>Custom</PresentationFormat>
  <Paragraphs>172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MOD Administrator</dc:creator>
  <cp:lastModifiedBy>MOD Administrator</cp:lastModifiedBy>
  <cp:revision>1</cp:revision>
  <dcterms:created xsi:type="dcterms:W3CDTF">2026-10-28T15:36:56Z</dcterms:created>
  <dcterms:modified xsi:type="dcterms:W3CDTF">2026-10-28T15:36:56Z</dcterms:modified>
</cp:coreProperties>
</file>