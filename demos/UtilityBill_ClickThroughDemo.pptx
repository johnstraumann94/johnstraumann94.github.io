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18288000" cy="10287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32F874E-52E1-4A9E-99B0-DA3879466CF6}" type="datetimeFigureOut">
              <a:rPr lang="en-US" smtClean="0"/>
              <a:t>10/28/2026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B457770-CE16-459F-AA24-28B276ED5956}" type="slidenum">
              <a:rPr lang="en-US" smtClean="0"/>
              <a:t>‹#›</a:t>
            </a:fld>
            <a:endParaRPr lang="en-US"/>
          </a:p>
        </p:txBody>
      </p:sp>
    </p:spTree>
    <p:extLst>
      <p:ext uri="{BB962C8B-B14F-4D97-AF65-F5344CB8AC3E}">
        <p14:creationId xmlns:p14="http://schemas.microsoft.com/office/powerpoint/2010/main" val="183202659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Business challenge: Customers struggle to understand usage changes, rate components and adjustments. Billing specialists must reconstruct the calculation and separate explanation from a genuine dispute.</a:t>
            </a:r>
          </a:p>
          <a:p>
            <a:r>
              <a:rPr lang="en-US"/>
              <a:t>Business value: Show a reproducible bill calculation, a grounded plain-language explanation and a reviewable dispute packet. Measure numeric fidelity and clarification completeness, not automatic dispute resolution.</a:t>
            </a:r>
          </a:p>
          <a:p>
            <a:r>
              <a:rPr lang="en-US"/>
              <a:t>Measurement targets are hypotheses: no analyst-time baseline or monetary savings was measured. MVP: MVP boundary: One fictional utility, one tariff version and synthetic meter/billing snapshots. Explain charges and route disputes; no collections, disconnections, credit decisions or account adjustments.</a:t>
            </a:r>
          </a:p>
          <a:p>
            <a:r>
              <a:rPr lang="en-US"/>
              <a:t>Boundary: Human boundary: Never infer hardship, eligibility or customer reliability from writing style or demographics. A disputed bill cannot trigger a payment demand, adverse action or automatic adjustment.</a:t>
            </a:r>
          </a:p>
        </p:txBody>
      </p:sp>
      <p:sp>
        <p:nvSpPr>
          <p:cNvPr id="4" name="Slide Number Placeholder 3"/>
          <p:cNvSpPr>
            <a:spLocks noGrp="1"/>
          </p:cNvSpPr>
          <p:nvPr>
            <p:ph type="sldNum" sz="quarter" idx="5"/>
          </p:nvPr>
        </p:nvSpPr>
        <p:spPr/>
        <p:txBody>
          <a:bodyPr/>
          <a:lstStyle/>
          <a:p>
            <a:fld id="{2B457770-CE16-459F-AA24-28B276ED5956}" type="slidenum">
              <a:rPr lang="en-US" smtClean="0"/>
              <a:t>1</a:t>
            </a:fld>
            <a:endParaRPr lang="en-US"/>
          </a:p>
        </p:txBody>
      </p:sp>
    </p:spTree>
    <p:extLst>
      <p:ext uri="{BB962C8B-B14F-4D97-AF65-F5344CB8AC3E}">
        <p14:creationId xmlns:p14="http://schemas.microsoft.com/office/powerpoint/2010/main" val="166088575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Actual deployed Azure inventory is in Infrastructure\deployed-resources.json. Each use case has a separate resource group in subscription dfc418e8-191e-453b-ad84-a10e863314ca. A shared private execution network lives in the invoice resource group; SQL private endpoints live with each demo. The temporary container is deleted after execution. Azure CLI operator tokens are supplied as secure container environment values, not embedded credentials. This desktop demo does not claim hosted managed-identity APIs or production app roles. Business benefit: a repeatable, evidence-visible workflow with exact rules outside the model. Screenshots are replay of saved live service output, not fresh calls from PowerPoint. Existing Key Vault is unnecessary because the app has no stored secrets.</a:t>
            </a:r>
          </a:p>
        </p:txBody>
      </p:sp>
      <p:sp>
        <p:nvSpPr>
          <p:cNvPr id="4" name="Slide Number Placeholder 3"/>
          <p:cNvSpPr>
            <a:spLocks noGrp="1"/>
          </p:cNvSpPr>
          <p:nvPr>
            <p:ph type="sldNum" sz="quarter" idx="5"/>
          </p:nvPr>
        </p:nvSpPr>
        <p:spPr/>
        <p:txBody>
          <a:bodyPr/>
          <a:lstStyle/>
          <a:p>
            <a:fld id="{2B457770-CE16-459F-AA24-28B276ED5956}" type="slidenum">
              <a:rPr lang="en-US" smtClean="0"/>
              <a:t>2</a:t>
            </a:fld>
            <a:endParaRPr lang="en-US"/>
          </a:p>
        </p:txBody>
      </p:sp>
    </p:spTree>
    <p:extLst>
      <p:ext uri="{BB962C8B-B14F-4D97-AF65-F5344CB8AC3E}">
        <p14:creationId xmlns:p14="http://schemas.microsoft.com/office/powerpoint/2010/main" val="219975610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Action: Open an authorized synthetic account and select the billing period.</a:t>
            </a:r>
          </a:p>
          <a:p>
            <a:r>
              <a:rPr lang="en-US"/>
              <a:t>Fixture: normal-01. Capture timestamp: 2026-10-28T15:36:33.6990527Z. State: ReviewReady. Rule findings: .</a:t>
            </a:r>
          </a:p>
          <a:p>
            <a:r>
              <a:rPr lang="en-US"/>
              <a:t>Business value and benefits: Show a reproducible bill calculation, a grounded plain-language explanation and a reviewable dispute packet. Measure numeric fidelity and clarification completeness, not automatic dispute resolution. This step makes the evidence, uncertainty or human boundary visible. Human boundary: Never infer hardship, eligibility or customer reliability from writing style or demographics. A disputed bill cannot trigger a payment demand, adverse action or automatic adjustment.</a:t>
            </a:r>
          </a:p>
          <a:p>
            <a:r>
              <a:rPr lang="en-US"/>
              <a:t>What the user sees: Exact fixture facts and deterministic checks, a source-linked internal AI draft, and explicit human-review limits.</a:t>
            </a:r>
          </a:p>
          <a:p>
            <a:r>
              <a:rPr lang="en-US"/>
              <a:t>Evidence: saved live run 2026-10-28T15:22:01.7747067+00:00, mode Live Azure captured; 3 calls recorded for this fixture. Service request IDs, latency and usage are in Evidence. The screenshot itself is a Windows UI Automation-driven replay. Red rectangles identify the actual native control invoked during capture; they do not represent a new Azure request. Slide navigation advances screenshots only.</a:t>
            </a:r>
          </a:p>
          <a:p>
            <a:r>
              <a:rPr lang="en-US"/>
              <a:t>Boundary: Human boundary: Never infer hardship, eligibility or customer reliability from writing style or demographics. A disputed bill cannot trigger a payment demand, adverse action or automatic adjustment.</a:t>
            </a:r>
          </a:p>
          <a:p>
            <a:r>
              <a:rPr lang="en-US"/>
              <a:t>No measured time savings or production performance is asserted.</a:t>
            </a:r>
          </a:p>
        </p:txBody>
      </p:sp>
      <p:sp>
        <p:nvSpPr>
          <p:cNvPr id="4" name="Slide Number Placeholder 3"/>
          <p:cNvSpPr>
            <a:spLocks noGrp="1"/>
          </p:cNvSpPr>
          <p:nvPr>
            <p:ph type="sldNum" sz="quarter" idx="5"/>
          </p:nvPr>
        </p:nvSpPr>
        <p:spPr/>
        <p:txBody>
          <a:bodyPr/>
          <a:lstStyle/>
          <a:p>
            <a:fld id="{2B457770-CE16-459F-AA24-28B276ED5956}" type="slidenum">
              <a:rPr lang="en-US" smtClean="0"/>
              <a:t>3</a:t>
            </a:fld>
            <a:endParaRPr lang="en-US"/>
          </a:p>
        </p:txBody>
      </p:sp>
    </p:spTree>
    <p:extLst>
      <p:ext uri="{BB962C8B-B14F-4D97-AF65-F5344CB8AC3E}">
        <p14:creationId xmlns:p14="http://schemas.microsoft.com/office/powerpoint/2010/main" val="360929115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Action: Expand the deterministic usage and tariff calculation.</a:t>
            </a:r>
          </a:p>
          <a:p>
            <a:r>
              <a:rPr lang="en-US"/>
              <a:t>Fixture: normal-01. Capture timestamp: 2026-10-28T15:36:34.7060239Z. State: ReviewReady. Rule findings: .</a:t>
            </a:r>
          </a:p>
          <a:p>
            <a:r>
              <a:rPr lang="en-US"/>
              <a:t>Business value and benefits: Show a reproducible bill calculation, a grounded plain-language explanation and a reviewable dispute packet. Measure numeric fidelity and clarification completeness, not automatic dispute resolution. This step makes the evidence, uncertainty or human boundary visible. Human boundary: Never infer hardship, eligibility or customer reliability from writing style or demographics. A disputed bill cannot trigger a payment demand, adverse action or automatic adjustment.</a:t>
            </a:r>
          </a:p>
          <a:p>
            <a:r>
              <a:rPr lang="en-US"/>
              <a:t>What the user sees: Exact fixture facts and deterministic checks, a source-linked internal AI draft, and explicit human-review limits.</a:t>
            </a:r>
          </a:p>
          <a:p>
            <a:r>
              <a:rPr lang="en-US"/>
              <a:t>Evidence: saved live run 2026-10-28T15:22:01.7747067+00:00, mode Live Azure captured; 3 calls recorded for this fixture. Service request IDs, latency and usage are in Evidence. The screenshot itself is a Windows UI Automation-driven replay. Red rectangles identify the actual native control invoked during capture; they do not represent a new Azure request. Slide navigation advances screenshots only.</a:t>
            </a:r>
          </a:p>
          <a:p>
            <a:r>
              <a:rPr lang="en-US"/>
              <a:t>Boundary: Human boundary: Never infer hardship, eligibility or customer reliability from writing style or demographics. A disputed bill cannot trigger a payment demand, adverse action or automatic adjustment.</a:t>
            </a:r>
          </a:p>
          <a:p>
            <a:r>
              <a:rPr lang="en-US"/>
              <a:t>No measured time savings or production performance is asserted.</a:t>
            </a:r>
          </a:p>
        </p:txBody>
      </p:sp>
      <p:sp>
        <p:nvSpPr>
          <p:cNvPr id="4" name="Slide Number Placeholder 3"/>
          <p:cNvSpPr>
            <a:spLocks noGrp="1"/>
          </p:cNvSpPr>
          <p:nvPr>
            <p:ph type="sldNum" sz="quarter" idx="5"/>
          </p:nvPr>
        </p:nvSpPr>
        <p:spPr/>
        <p:txBody>
          <a:bodyPr/>
          <a:lstStyle/>
          <a:p>
            <a:fld id="{2B457770-CE16-459F-AA24-28B276ED5956}" type="slidenum">
              <a:rPr lang="en-US" smtClean="0"/>
              <a:t>4</a:t>
            </a:fld>
            <a:endParaRPr lang="en-US"/>
          </a:p>
        </p:txBody>
      </p:sp>
    </p:spTree>
    <p:extLst>
      <p:ext uri="{BB962C8B-B14F-4D97-AF65-F5344CB8AC3E}">
        <p14:creationId xmlns:p14="http://schemas.microsoft.com/office/powerpoint/2010/main" val="287355854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Action: Ask why the bill changed and inspect cited guidance and verified amounts.</a:t>
            </a:r>
          </a:p>
          <a:p>
            <a:r>
              <a:rPr lang="en-US"/>
              <a:t>Fixture: normal-01. Capture timestamp: 2026-10-28T15:36:35.7070502Z. State: ReviewReady. Rule findings: .</a:t>
            </a:r>
          </a:p>
          <a:p>
            <a:r>
              <a:rPr lang="en-US"/>
              <a:t>Business value and benefits: Show a reproducible bill calculation, a grounded plain-language explanation and a reviewable dispute packet. Measure numeric fidelity and clarification completeness, not automatic dispute resolution. This step makes the evidence, uncertainty or human boundary visible. Human boundary: Never infer hardship, eligibility or customer reliability from writing style or demographics. A disputed bill cannot trigger a payment demand, adverse action or automatic adjustment.</a:t>
            </a:r>
          </a:p>
          <a:p>
            <a:r>
              <a:rPr lang="en-US"/>
              <a:t>What the user sees: Exact fixture facts and deterministic checks, a source-linked internal AI draft, and explicit human-review limits.</a:t>
            </a:r>
          </a:p>
          <a:p>
            <a:r>
              <a:rPr lang="en-US"/>
              <a:t>Evidence: saved live run 2026-10-28T15:22:01.7747067+00:00, mode Live Azure captured; 3 calls recorded for this fixture. Service request IDs, latency and usage are in Evidence. The screenshot itself is a Windows UI Automation-driven replay. Red rectangles identify the actual native control invoked during capture; they do not represent a new Azure request. Slide navigation advances screenshots only.</a:t>
            </a:r>
          </a:p>
          <a:p>
            <a:r>
              <a:rPr lang="en-US"/>
              <a:t>Boundary: Human boundary: Never infer hardship, eligibility or customer reliability from writing style or demographics. A disputed bill cannot trigger a payment demand, adverse action or automatic adjustment.</a:t>
            </a:r>
          </a:p>
          <a:p>
            <a:r>
              <a:rPr lang="en-US"/>
              <a:t>No measured time savings or production performance is asserted.</a:t>
            </a:r>
          </a:p>
        </p:txBody>
      </p:sp>
      <p:sp>
        <p:nvSpPr>
          <p:cNvPr id="4" name="Slide Number Placeholder 3"/>
          <p:cNvSpPr>
            <a:spLocks noGrp="1"/>
          </p:cNvSpPr>
          <p:nvPr>
            <p:ph type="sldNum" sz="quarter" idx="5"/>
          </p:nvPr>
        </p:nvSpPr>
        <p:spPr/>
        <p:txBody>
          <a:bodyPr/>
          <a:lstStyle/>
          <a:p>
            <a:fld id="{2B457770-CE16-459F-AA24-28B276ED5956}" type="slidenum">
              <a:rPr lang="en-US" smtClean="0"/>
              <a:t>5</a:t>
            </a:fld>
            <a:endParaRPr lang="en-US"/>
          </a:p>
        </p:txBody>
      </p:sp>
    </p:spTree>
    <p:extLst>
      <p:ext uri="{BB962C8B-B14F-4D97-AF65-F5344CB8AC3E}">
        <p14:creationId xmlns:p14="http://schemas.microsoft.com/office/powerpoint/2010/main" val="57520468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Action: Load a missing-meter fixture; show uncertainty instead of invented usage.</a:t>
            </a:r>
          </a:p>
          <a:p>
            <a:r>
              <a:rPr lang="en-US"/>
              <a:t>Fixture: incomplete-01. Capture timestamp: 2026-10-28T15:36:36.7048866Z. State: NeedsInformation. Rule findings: READING_UNKNOWN.</a:t>
            </a:r>
          </a:p>
          <a:p>
            <a:r>
              <a:rPr lang="en-US"/>
              <a:t>Business value and benefits: Show a reproducible bill calculation, a grounded plain-language explanation and a reviewable dispute packet. Measure numeric fidelity and clarification completeness, not automatic dispute resolution. This step makes the evidence, uncertainty or human boundary visible. Human boundary: Never infer hardship, eligibility or customer reliability from writing style or demographics. A disputed bill cannot trigger a payment demand, adverse action or automatic adjustment.</a:t>
            </a:r>
          </a:p>
          <a:p>
            <a:r>
              <a:rPr lang="en-US"/>
              <a:t>What the user sees: NeedsInformation: READING_UNKNOWN. The finding remains visible beside the evidence and approved sources.</a:t>
            </a:r>
          </a:p>
          <a:p>
            <a:r>
              <a:rPr lang="en-US"/>
              <a:t>Evidence: saved live run 2026-10-28T15:22:05.1245291+00:00, mode Live Azure captured; 3 calls recorded for this fixture. Service request IDs, latency and usage are in Evidence. The screenshot itself is a Windows UI Automation-driven replay. Red rectangles identify the actual native control invoked during capture; they do not represent a new Azure request. Slide navigation advances screenshots only.</a:t>
            </a:r>
          </a:p>
          <a:p>
            <a:r>
              <a:rPr lang="en-US"/>
              <a:t>Boundary: Human boundary: Never infer hardship, eligibility or customer reliability from writing style or demographics. A disputed bill cannot trigger a payment demand, adverse action or automatic adjustment.</a:t>
            </a:r>
          </a:p>
          <a:p>
            <a:r>
              <a:rPr lang="en-US"/>
              <a:t>No measured time savings or production performance is asserted.</a:t>
            </a:r>
          </a:p>
        </p:txBody>
      </p:sp>
      <p:sp>
        <p:nvSpPr>
          <p:cNvPr id="4" name="Slide Number Placeholder 3"/>
          <p:cNvSpPr>
            <a:spLocks noGrp="1"/>
          </p:cNvSpPr>
          <p:nvPr>
            <p:ph type="sldNum" sz="quarter" idx="5"/>
          </p:nvPr>
        </p:nvSpPr>
        <p:spPr/>
        <p:txBody>
          <a:bodyPr/>
          <a:lstStyle/>
          <a:p>
            <a:fld id="{2B457770-CE16-459F-AA24-28B276ED5956}" type="slidenum">
              <a:rPr lang="en-US" smtClean="0"/>
              <a:t>6</a:t>
            </a:fld>
            <a:endParaRPr lang="en-US"/>
          </a:p>
        </p:txBody>
      </p:sp>
    </p:spTree>
    <p:extLst>
      <p:ext uri="{BB962C8B-B14F-4D97-AF65-F5344CB8AC3E}">
        <p14:creationId xmlns:p14="http://schemas.microsoft.com/office/powerpoint/2010/main" val="403739121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Action: Mark a disputed adjustment and prepare a specialist review packet.</a:t>
            </a:r>
          </a:p>
          <a:p>
            <a:r>
              <a:rPr lang="en-US"/>
              <a:t>Fixture: contradictory-02. Capture timestamp: 2026-10-28T15:36:37.7409497Z. State: NeedsInformation. Rule findings: DISPUTE_REVIEW.</a:t>
            </a:r>
          </a:p>
          <a:p>
            <a:r>
              <a:rPr lang="en-US"/>
              <a:t>Business value and benefits: Show a reproducible bill calculation, a grounded plain-language explanation and a reviewable dispute packet. Measure numeric fidelity and clarification completeness, not automatic dispute resolution. This step makes the evidence, uncertainty or human boundary visible. Human boundary: Never infer hardship, eligibility or customer reliability from writing style or demographics. A disputed bill cannot trigger a payment demand, adverse action or automatic adjustment.</a:t>
            </a:r>
          </a:p>
          <a:p>
            <a:r>
              <a:rPr lang="en-US"/>
              <a:t>What the user sees: NeedsInformation: DISPUTE_REVIEW. The finding remains visible beside the evidence and approved sources.</a:t>
            </a:r>
          </a:p>
          <a:p>
            <a:r>
              <a:rPr lang="en-US"/>
              <a:t>Evidence: saved live run 2026-10-28T15:22:09.6407003+00:00, mode Live Azure captured; 3 calls recorded for this fixture. Service request IDs, latency and usage are in Evidence. The screenshot itself is a Windows UI Automation-driven replay. Red rectangles identify the actual native control invoked during capture; they do not represent a new Azure request. Slide navigation advances screenshots only.</a:t>
            </a:r>
          </a:p>
          <a:p>
            <a:r>
              <a:rPr lang="en-US"/>
              <a:t>Boundary: Human boundary: Never infer hardship, eligibility or customer reliability from writing style or demographics. A disputed bill cannot trigger a payment demand, adverse action or automatic adjustment.</a:t>
            </a:r>
          </a:p>
          <a:p>
            <a:r>
              <a:rPr lang="en-US"/>
              <a:t>No measured time savings or production performance is asserted.</a:t>
            </a:r>
          </a:p>
        </p:txBody>
      </p:sp>
      <p:sp>
        <p:nvSpPr>
          <p:cNvPr id="4" name="Slide Number Placeholder 3"/>
          <p:cNvSpPr>
            <a:spLocks noGrp="1"/>
          </p:cNvSpPr>
          <p:nvPr>
            <p:ph type="sldNum" sz="quarter" idx="5"/>
          </p:nvPr>
        </p:nvSpPr>
        <p:spPr/>
        <p:txBody>
          <a:bodyPr/>
          <a:lstStyle/>
          <a:p>
            <a:fld id="{2B457770-CE16-459F-AA24-28B276ED5956}" type="slidenum">
              <a:rPr lang="en-US" smtClean="0"/>
              <a:t>7</a:t>
            </a:fld>
            <a:endParaRPr lang="en-US"/>
          </a:p>
        </p:txBody>
      </p:sp>
    </p:spTree>
    <p:extLst>
      <p:ext uri="{BB962C8B-B14F-4D97-AF65-F5344CB8AC3E}">
        <p14:creationId xmlns:p14="http://schemas.microsoft.com/office/powerpoint/2010/main" val="156503169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Action: Approve the response draft; show no balance, collection status or service state changed.</a:t>
            </a:r>
          </a:p>
          <a:p>
            <a:r>
              <a:rPr lang="en-US"/>
              <a:t>Fixture: normal-01. Capture timestamp: 2026-10-28T15:36:38.7601562Z. State: ReviewReady. Rule findings: .</a:t>
            </a:r>
          </a:p>
          <a:p>
            <a:r>
              <a:rPr lang="en-US"/>
              <a:t>Business value and benefits: Show a reproducible bill calculation, a grounded plain-language explanation and a reviewable dispute packet. Measure numeric fidelity and clarification completeness, not automatic dispute resolution. This step makes the evidence, uncertainty or human boundary visible. Human boundary: Never infer hardship, eligibility or customer reliability from writing style or demographics. A disputed bill cannot trigger a payment demand, adverse action or automatic adjustment.</a:t>
            </a:r>
          </a:p>
          <a:p>
            <a:r>
              <a:rPr lang="en-US"/>
              <a:t>What the user sees: A persisted internal approval, duplicate-safe operation key, audit timeline and explicitly Simulated handoff.</a:t>
            </a:r>
          </a:p>
          <a:p>
            <a:r>
              <a:rPr lang="en-US"/>
              <a:t>Evidence: saved live run 2026-10-28T15:22:01.7747067+00:00, mode Live Azure captured; 3 calls recorded for this fixture. Service request IDs, latency and usage are in Evidence. The screenshot itself is a Windows UI Automation-driven replay. Red rectangles identify the actual native control invoked during capture; they do not represent a new Azure request. Slide navigation advances screenshots only.</a:t>
            </a:r>
          </a:p>
          <a:p>
            <a:r>
              <a:rPr lang="en-US"/>
              <a:t>Boundary: Human boundary: Never infer hardship, eligibility or customer reliability from writing style or demographics. A disputed bill cannot trigger a payment demand, adverse action or automatic adjustment.</a:t>
            </a:r>
          </a:p>
          <a:p>
            <a:r>
              <a:rPr lang="en-US"/>
              <a:t>No measured time savings or production performance is asserted.</a:t>
            </a:r>
          </a:p>
        </p:txBody>
      </p:sp>
      <p:sp>
        <p:nvSpPr>
          <p:cNvPr id="4" name="Slide Number Placeholder 3"/>
          <p:cNvSpPr>
            <a:spLocks noGrp="1"/>
          </p:cNvSpPr>
          <p:nvPr>
            <p:ph type="sldNum" sz="quarter" idx="5"/>
          </p:nvPr>
        </p:nvSpPr>
        <p:spPr/>
        <p:txBody>
          <a:bodyPr/>
          <a:lstStyle/>
          <a:p>
            <a:fld id="{2B457770-CE16-459F-AA24-28B276ED5956}" type="slidenum">
              <a:rPr lang="en-US" smtClean="0"/>
              <a:t>8</a:t>
            </a:fld>
            <a:endParaRPr lang="en-US"/>
          </a:p>
        </p:txBody>
      </p:sp>
    </p:spTree>
    <p:extLst>
      <p:ext uri="{BB962C8B-B14F-4D97-AF65-F5344CB8AC3E}">
        <p14:creationId xmlns:p14="http://schemas.microsoft.com/office/powerpoint/2010/main" val="327618255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Business value: staff receive a reproducible internal review packet with source provenance, exact calculations where relevant, visible uncertainty and a traceable human decision. Benefits are demonstrated workflow properties, not measured economic gains. Setup, source, fixtures, raw Azure evidence, screenshots and IaC are retained in the demo folder. The source blueprint contains a larger production backlog; these deliverables intentionally do not claim a public intake service, malware-scanned upload path, durable background worker or operational integration. Azure SQL, Search and shared NAT/private networking have recurring costs until deliberately decommissioned.</a:t>
            </a:r>
          </a:p>
        </p:txBody>
      </p:sp>
      <p:sp>
        <p:nvSpPr>
          <p:cNvPr id="4" name="Slide Number Placeholder 3"/>
          <p:cNvSpPr>
            <a:spLocks noGrp="1"/>
          </p:cNvSpPr>
          <p:nvPr>
            <p:ph type="sldNum" sz="quarter" idx="5"/>
          </p:nvPr>
        </p:nvSpPr>
        <p:spPr/>
        <p:txBody>
          <a:bodyPr/>
          <a:lstStyle/>
          <a:p>
            <a:fld id="{2B457770-CE16-459F-AA24-28B276ED5956}" type="slidenum">
              <a:rPr lang="en-US" smtClean="0"/>
              <a:t>9</a:t>
            </a:fld>
            <a:endParaRPr lang="en-US"/>
          </a:p>
        </p:txBody>
      </p:sp>
    </p:spTree>
    <p:extLst>
      <p:ext uri="{BB962C8B-B14F-4D97-AF65-F5344CB8AC3E}">
        <p14:creationId xmlns:p14="http://schemas.microsoft.com/office/powerpoint/2010/main" val="361315101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00DB28-9FD9-BAD6-1759-E89B805746D1}"/>
              </a:ext>
            </a:extLst>
          </p:cNvPr>
          <p:cNvSpPr>
            <a:spLocks noGrp="1"/>
          </p:cNvSpPr>
          <p:nvPr>
            <p:ph type="ctrTitle"/>
          </p:nvPr>
        </p:nvSpPr>
        <p:spPr>
          <a:xfrm>
            <a:off x="2286000" y="1683545"/>
            <a:ext cx="13716000" cy="35814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66ADE5B-EE6B-75A9-0374-A9BCC4D6A31B}"/>
              </a:ext>
            </a:extLst>
          </p:cNvPr>
          <p:cNvSpPr>
            <a:spLocks noGrp="1"/>
          </p:cNvSpPr>
          <p:nvPr>
            <p:ph type="subTitle" idx="1"/>
          </p:nvPr>
        </p:nvSpPr>
        <p:spPr>
          <a:xfrm>
            <a:off x="2286000" y="5403057"/>
            <a:ext cx="13716000" cy="2483643"/>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DAB2271-E49B-FFD5-7D6D-6C88411EEC6E}"/>
              </a:ext>
            </a:extLst>
          </p:cNvPr>
          <p:cNvSpPr>
            <a:spLocks noGrp="1"/>
          </p:cNvSpPr>
          <p:nvPr>
            <p:ph type="dt" sz="half" idx="10"/>
          </p:nvPr>
        </p:nvSpPr>
        <p:spPr/>
        <p:txBody>
          <a:bodyPr/>
          <a:lstStyle/>
          <a:p>
            <a:fld id="{3206D9F6-80D5-4710-8983-58850AB3EFB2}" type="datetimeFigureOut">
              <a:rPr lang="en-US" smtClean="0"/>
              <a:t>10/28/2026</a:t>
            </a:fld>
            <a:endParaRPr lang="en-US"/>
          </a:p>
        </p:txBody>
      </p:sp>
      <p:sp>
        <p:nvSpPr>
          <p:cNvPr id="5" name="Footer Placeholder 4">
            <a:extLst>
              <a:ext uri="{FF2B5EF4-FFF2-40B4-BE49-F238E27FC236}">
                <a16:creationId xmlns:a16="http://schemas.microsoft.com/office/drawing/2014/main" id="{5B0116B5-B43B-6E1A-93EC-3B0720C45C2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2157341-7F43-CD41-940D-9A70FB417B81}"/>
              </a:ext>
            </a:extLst>
          </p:cNvPr>
          <p:cNvSpPr>
            <a:spLocks noGrp="1"/>
          </p:cNvSpPr>
          <p:nvPr>
            <p:ph type="sldNum" sz="quarter" idx="12"/>
          </p:nvPr>
        </p:nvSpPr>
        <p:spPr/>
        <p:txBody>
          <a:bodyPr/>
          <a:lstStyle/>
          <a:p>
            <a:fld id="{8221E334-4F62-4076-9144-80144406D001}" type="slidenum">
              <a:rPr lang="en-US" smtClean="0"/>
              <a:t>‹#›</a:t>
            </a:fld>
            <a:endParaRPr lang="en-US"/>
          </a:p>
        </p:txBody>
      </p:sp>
    </p:spTree>
    <p:extLst>
      <p:ext uri="{BB962C8B-B14F-4D97-AF65-F5344CB8AC3E}">
        <p14:creationId xmlns:p14="http://schemas.microsoft.com/office/powerpoint/2010/main" val="37787503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FEFCA3-15CB-54C0-A062-80C37375FA1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9CDC4AE-CB07-0839-0CB3-7C5168495C6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71D3FC1-6FE9-2155-36BD-918551E164E3}"/>
              </a:ext>
            </a:extLst>
          </p:cNvPr>
          <p:cNvSpPr>
            <a:spLocks noGrp="1"/>
          </p:cNvSpPr>
          <p:nvPr>
            <p:ph type="dt" sz="half" idx="10"/>
          </p:nvPr>
        </p:nvSpPr>
        <p:spPr/>
        <p:txBody>
          <a:bodyPr/>
          <a:lstStyle/>
          <a:p>
            <a:fld id="{3206D9F6-80D5-4710-8983-58850AB3EFB2}" type="datetimeFigureOut">
              <a:rPr lang="en-US" smtClean="0"/>
              <a:t>10/28/2026</a:t>
            </a:fld>
            <a:endParaRPr lang="en-US"/>
          </a:p>
        </p:txBody>
      </p:sp>
      <p:sp>
        <p:nvSpPr>
          <p:cNvPr id="5" name="Footer Placeholder 4">
            <a:extLst>
              <a:ext uri="{FF2B5EF4-FFF2-40B4-BE49-F238E27FC236}">
                <a16:creationId xmlns:a16="http://schemas.microsoft.com/office/drawing/2014/main" id="{CF570AFD-5C44-BB4D-039A-68036F49DC1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3DF0ABA-8DF4-C342-981C-541C772C4C65}"/>
              </a:ext>
            </a:extLst>
          </p:cNvPr>
          <p:cNvSpPr>
            <a:spLocks noGrp="1"/>
          </p:cNvSpPr>
          <p:nvPr>
            <p:ph type="sldNum" sz="quarter" idx="12"/>
          </p:nvPr>
        </p:nvSpPr>
        <p:spPr/>
        <p:txBody>
          <a:bodyPr/>
          <a:lstStyle/>
          <a:p>
            <a:fld id="{8221E334-4F62-4076-9144-80144406D001}" type="slidenum">
              <a:rPr lang="en-US" smtClean="0"/>
              <a:t>‹#›</a:t>
            </a:fld>
            <a:endParaRPr lang="en-US"/>
          </a:p>
        </p:txBody>
      </p:sp>
    </p:spTree>
    <p:extLst>
      <p:ext uri="{BB962C8B-B14F-4D97-AF65-F5344CB8AC3E}">
        <p14:creationId xmlns:p14="http://schemas.microsoft.com/office/powerpoint/2010/main" val="13186666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2A01AC-B072-7F62-4709-82440D29242B}"/>
              </a:ext>
            </a:extLst>
          </p:cNvPr>
          <p:cNvSpPr>
            <a:spLocks noGrp="1"/>
          </p:cNvSpPr>
          <p:nvPr>
            <p:ph type="title"/>
          </p:nvPr>
        </p:nvSpPr>
        <p:spPr>
          <a:xfrm>
            <a:off x="1247775" y="2564609"/>
            <a:ext cx="15773400" cy="4279106"/>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68DF17E3-9F51-FD29-8E71-506805927E2A}"/>
              </a:ext>
            </a:extLst>
          </p:cNvPr>
          <p:cNvSpPr>
            <a:spLocks noGrp="1"/>
          </p:cNvSpPr>
          <p:nvPr>
            <p:ph type="body" idx="1"/>
          </p:nvPr>
        </p:nvSpPr>
        <p:spPr>
          <a:xfrm>
            <a:off x="1247775" y="6884197"/>
            <a:ext cx="15773400" cy="2250281"/>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5F55352-2385-810F-6C83-A68972B69426}"/>
              </a:ext>
            </a:extLst>
          </p:cNvPr>
          <p:cNvSpPr>
            <a:spLocks noGrp="1"/>
          </p:cNvSpPr>
          <p:nvPr>
            <p:ph type="dt" sz="half" idx="10"/>
          </p:nvPr>
        </p:nvSpPr>
        <p:spPr/>
        <p:txBody>
          <a:bodyPr/>
          <a:lstStyle/>
          <a:p>
            <a:fld id="{3206D9F6-80D5-4710-8983-58850AB3EFB2}" type="datetimeFigureOut">
              <a:rPr lang="en-US" smtClean="0"/>
              <a:t>10/28/2026</a:t>
            </a:fld>
            <a:endParaRPr lang="en-US"/>
          </a:p>
        </p:txBody>
      </p:sp>
      <p:sp>
        <p:nvSpPr>
          <p:cNvPr id="5" name="Footer Placeholder 4">
            <a:extLst>
              <a:ext uri="{FF2B5EF4-FFF2-40B4-BE49-F238E27FC236}">
                <a16:creationId xmlns:a16="http://schemas.microsoft.com/office/drawing/2014/main" id="{B17C853D-00C4-775B-438D-04D941C8F47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83219E1-CE65-83F7-D197-FD5E2F3411C5}"/>
              </a:ext>
            </a:extLst>
          </p:cNvPr>
          <p:cNvSpPr>
            <a:spLocks noGrp="1"/>
          </p:cNvSpPr>
          <p:nvPr>
            <p:ph type="sldNum" sz="quarter" idx="12"/>
          </p:nvPr>
        </p:nvSpPr>
        <p:spPr/>
        <p:txBody>
          <a:bodyPr/>
          <a:lstStyle/>
          <a:p>
            <a:fld id="{8221E334-4F62-4076-9144-80144406D001}" type="slidenum">
              <a:rPr lang="en-US" smtClean="0"/>
              <a:t>‹#›</a:t>
            </a:fld>
            <a:endParaRPr lang="en-US"/>
          </a:p>
        </p:txBody>
      </p:sp>
    </p:spTree>
    <p:extLst>
      <p:ext uri="{BB962C8B-B14F-4D97-AF65-F5344CB8AC3E}">
        <p14:creationId xmlns:p14="http://schemas.microsoft.com/office/powerpoint/2010/main" val="30253748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A7A5AD-20B7-4581-9376-757F6025636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B1E23C2-BEC0-CFA6-BDCC-8CE675CB0573}"/>
              </a:ext>
            </a:extLst>
          </p:cNvPr>
          <p:cNvSpPr>
            <a:spLocks noGrp="1"/>
          </p:cNvSpPr>
          <p:nvPr>
            <p:ph sz="half" idx="1"/>
          </p:nvPr>
        </p:nvSpPr>
        <p:spPr>
          <a:xfrm>
            <a:off x="1257300" y="2738438"/>
            <a:ext cx="7772400" cy="65270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E4495022-6212-D870-F972-E352FA3B9D09}"/>
              </a:ext>
            </a:extLst>
          </p:cNvPr>
          <p:cNvSpPr>
            <a:spLocks noGrp="1"/>
          </p:cNvSpPr>
          <p:nvPr>
            <p:ph sz="half" idx="2"/>
          </p:nvPr>
        </p:nvSpPr>
        <p:spPr>
          <a:xfrm>
            <a:off x="9258300" y="2738438"/>
            <a:ext cx="7772400" cy="65270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7EEA977E-FCCF-99AB-25CD-30D00D48C866}"/>
              </a:ext>
            </a:extLst>
          </p:cNvPr>
          <p:cNvSpPr>
            <a:spLocks noGrp="1"/>
          </p:cNvSpPr>
          <p:nvPr>
            <p:ph type="dt" sz="half" idx="10"/>
          </p:nvPr>
        </p:nvSpPr>
        <p:spPr/>
        <p:txBody>
          <a:bodyPr/>
          <a:lstStyle/>
          <a:p>
            <a:fld id="{3206D9F6-80D5-4710-8983-58850AB3EFB2}" type="datetimeFigureOut">
              <a:rPr lang="en-US" smtClean="0"/>
              <a:t>10/28/2026</a:t>
            </a:fld>
            <a:endParaRPr lang="en-US"/>
          </a:p>
        </p:txBody>
      </p:sp>
      <p:sp>
        <p:nvSpPr>
          <p:cNvPr id="6" name="Footer Placeholder 5">
            <a:extLst>
              <a:ext uri="{FF2B5EF4-FFF2-40B4-BE49-F238E27FC236}">
                <a16:creationId xmlns:a16="http://schemas.microsoft.com/office/drawing/2014/main" id="{F52D865C-47FC-253F-997B-0CAF922DA92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42EED58-6673-7F52-83C1-174818A9D2F9}"/>
              </a:ext>
            </a:extLst>
          </p:cNvPr>
          <p:cNvSpPr>
            <a:spLocks noGrp="1"/>
          </p:cNvSpPr>
          <p:nvPr>
            <p:ph type="sldNum" sz="quarter" idx="12"/>
          </p:nvPr>
        </p:nvSpPr>
        <p:spPr/>
        <p:txBody>
          <a:bodyPr/>
          <a:lstStyle/>
          <a:p>
            <a:fld id="{8221E334-4F62-4076-9144-80144406D001}" type="slidenum">
              <a:rPr lang="en-US" smtClean="0"/>
              <a:t>‹#›</a:t>
            </a:fld>
            <a:endParaRPr lang="en-US"/>
          </a:p>
        </p:txBody>
      </p:sp>
    </p:spTree>
    <p:extLst>
      <p:ext uri="{BB962C8B-B14F-4D97-AF65-F5344CB8AC3E}">
        <p14:creationId xmlns:p14="http://schemas.microsoft.com/office/powerpoint/2010/main" val="88026000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1788DE-F218-CEA7-ADDF-75C3B23211E2}"/>
              </a:ext>
            </a:extLst>
          </p:cNvPr>
          <p:cNvSpPr>
            <a:spLocks noGrp="1"/>
          </p:cNvSpPr>
          <p:nvPr>
            <p:ph type="title"/>
          </p:nvPr>
        </p:nvSpPr>
        <p:spPr>
          <a:xfrm>
            <a:off x="1259682" y="547690"/>
            <a:ext cx="15773400" cy="1988345"/>
          </a:xfrm>
        </p:spPr>
        <p:txBody>
          <a:bodyPr/>
          <a:lstStyle/>
          <a:p>
            <a:r>
              <a:rPr lang="en-US"/>
              <a:t>Click to edit Master title style</a:t>
            </a:r>
          </a:p>
        </p:txBody>
      </p:sp>
      <p:sp>
        <p:nvSpPr>
          <p:cNvPr id="3" name="Text Placeholder 2">
            <a:extLst>
              <a:ext uri="{FF2B5EF4-FFF2-40B4-BE49-F238E27FC236}">
                <a16:creationId xmlns:a16="http://schemas.microsoft.com/office/drawing/2014/main" id="{8D6C9DCA-A13C-44C0-2866-39AF78FE48B5}"/>
              </a:ext>
            </a:extLst>
          </p:cNvPr>
          <p:cNvSpPr>
            <a:spLocks noGrp="1"/>
          </p:cNvSpPr>
          <p:nvPr>
            <p:ph type="body" idx="1"/>
          </p:nvPr>
        </p:nvSpPr>
        <p:spPr>
          <a:xfrm>
            <a:off x="1259684" y="2521745"/>
            <a:ext cx="7736681" cy="1235868"/>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DBBEB61-A63D-2173-FB28-422C0183E39B}"/>
              </a:ext>
            </a:extLst>
          </p:cNvPr>
          <p:cNvSpPr>
            <a:spLocks noGrp="1"/>
          </p:cNvSpPr>
          <p:nvPr>
            <p:ph sz="half" idx="2"/>
          </p:nvPr>
        </p:nvSpPr>
        <p:spPr>
          <a:xfrm>
            <a:off x="1259684" y="3757613"/>
            <a:ext cx="7736681" cy="55268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6C24D0C7-6607-C869-2C66-793FCD01B1A2}"/>
              </a:ext>
            </a:extLst>
          </p:cNvPr>
          <p:cNvSpPr>
            <a:spLocks noGrp="1"/>
          </p:cNvSpPr>
          <p:nvPr>
            <p:ph type="body" sz="quarter" idx="3"/>
          </p:nvPr>
        </p:nvSpPr>
        <p:spPr>
          <a:xfrm>
            <a:off x="9258300" y="2521745"/>
            <a:ext cx="7774782" cy="1235868"/>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8774297-F16A-4F08-9756-3D7D7B56D9E2}"/>
              </a:ext>
            </a:extLst>
          </p:cNvPr>
          <p:cNvSpPr>
            <a:spLocks noGrp="1"/>
          </p:cNvSpPr>
          <p:nvPr>
            <p:ph sz="quarter" idx="4"/>
          </p:nvPr>
        </p:nvSpPr>
        <p:spPr>
          <a:xfrm>
            <a:off x="9258300" y="3757613"/>
            <a:ext cx="7774782" cy="55268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249BD89-5269-1005-BA21-9BF8BD5E442B}"/>
              </a:ext>
            </a:extLst>
          </p:cNvPr>
          <p:cNvSpPr>
            <a:spLocks noGrp="1"/>
          </p:cNvSpPr>
          <p:nvPr>
            <p:ph type="dt" sz="half" idx="10"/>
          </p:nvPr>
        </p:nvSpPr>
        <p:spPr/>
        <p:txBody>
          <a:bodyPr/>
          <a:lstStyle/>
          <a:p>
            <a:fld id="{3206D9F6-80D5-4710-8983-58850AB3EFB2}" type="datetimeFigureOut">
              <a:rPr lang="en-US" smtClean="0"/>
              <a:t>10/28/2026</a:t>
            </a:fld>
            <a:endParaRPr lang="en-US"/>
          </a:p>
        </p:txBody>
      </p:sp>
      <p:sp>
        <p:nvSpPr>
          <p:cNvPr id="8" name="Footer Placeholder 7">
            <a:extLst>
              <a:ext uri="{FF2B5EF4-FFF2-40B4-BE49-F238E27FC236}">
                <a16:creationId xmlns:a16="http://schemas.microsoft.com/office/drawing/2014/main" id="{1BDF8150-6A87-A304-845C-7294E1DABE1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882436C-361A-2BF6-9D70-9A933F44AADE}"/>
              </a:ext>
            </a:extLst>
          </p:cNvPr>
          <p:cNvSpPr>
            <a:spLocks noGrp="1"/>
          </p:cNvSpPr>
          <p:nvPr>
            <p:ph type="sldNum" sz="quarter" idx="12"/>
          </p:nvPr>
        </p:nvSpPr>
        <p:spPr/>
        <p:txBody>
          <a:bodyPr/>
          <a:lstStyle/>
          <a:p>
            <a:fld id="{8221E334-4F62-4076-9144-80144406D001}" type="slidenum">
              <a:rPr lang="en-US" smtClean="0"/>
              <a:t>‹#›</a:t>
            </a:fld>
            <a:endParaRPr lang="en-US"/>
          </a:p>
        </p:txBody>
      </p:sp>
    </p:spTree>
    <p:extLst>
      <p:ext uri="{BB962C8B-B14F-4D97-AF65-F5344CB8AC3E}">
        <p14:creationId xmlns:p14="http://schemas.microsoft.com/office/powerpoint/2010/main" val="49904245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50B841-9879-47E4-9E62-1DD873CC4F00}"/>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DCD9995D-6A2D-9F3C-17CA-F5138FEAE92C}"/>
              </a:ext>
            </a:extLst>
          </p:cNvPr>
          <p:cNvSpPr>
            <a:spLocks noGrp="1"/>
          </p:cNvSpPr>
          <p:nvPr>
            <p:ph type="dt" sz="half" idx="10"/>
          </p:nvPr>
        </p:nvSpPr>
        <p:spPr/>
        <p:txBody>
          <a:bodyPr/>
          <a:lstStyle/>
          <a:p>
            <a:fld id="{3206D9F6-80D5-4710-8983-58850AB3EFB2}" type="datetimeFigureOut">
              <a:rPr lang="en-US" smtClean="0"/>
              <a:t>10/28/2026</a:t>
            </a:fld>
            <a:endParaRPr lang="en-US"/>
          </a:p>
        </p:txBody>
      </p:sp>
      <p:sp>
        <p:nvSpPr>
          <p:cNvPr id="4" name="Footer Placeholder 3">
            <a:extLst>
              <a:ext uri="{FF2B5EF4-FFF2-40B4-BE49-F238E27FC236}">
                <a16:creationId xmlns:a16="http://schemas.microsoft.com/office/drawing/2014/main" id="{A6E264F1-23F3-36C8-89BE-FC007B513B2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E1DE9093-4C98-C991-4AA9-D1C531DC4006}"/>
              </a:ext>
            </a:extLst>
          </p:cNvPr>
          <p:cNvSpPr>
            <a:spLocks noGrp="1"/>
          </p:cNvSpPr>
          <p:nvPr>
            <p:ph type="sldNum" sz="quarter" idx="12"/>
          </p:nvPr>
        </p:nvSpPr>
        <p:spPr/>
        <p:txBody>
          <a:bodyPr/>
          <a:lstStyle/>
          <a:p>
            <a:fld id="{8221E334-4F62-4076-9144-80144406D001}" type="slidenum">
              <a:rPr lang="en-US" smtClean="0"/>
              <a:t>‹#›</a:t>
            </a:fld>
            <a:endParaRPr lang="en-US"/>
          </a:p>
        </p:txBody>
      </p:sp>
    </p:spTree>
    <p:extLst>
      <p:ext uri="{BB962C8B-B14F-4D97-AF65-F5344CB8AC3E}">
        <p14:creationId xmlns:p14="http://schemas.microsoft.com/office/powerpoint/2010/main" val="3680354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B62B95C-C715-B00E-E434-F348CFA88D33}"/>
              </a:ext>
            </a:extLst>
          </p:cNvPr>
          <p:cNvSpPr>
            <a:spLocks noGrp="1"/>
          </p:cNvSpPr>
          <p:nvPr>
            <p:ph type="dt" sz="half" idx="10"/>
          </p:nvPr>
        </p:nvSpPr>
        <p:spPr/>
        <p:txBody>
          <a:bodyPr/>
          <a:lstStyle/>
          <a:p>
            <a:fld id="{3206D9F6-80D5-4710-8983-58850AB3EFB2}" type="datetimeFigureOut">
              <a:rPr lang="en-US" smtClean="0"/>
              <a:t>10/28/2026</a:t>
            </a:fld>
            <a:endParaRPr lang="en-US"/>
          </a:p>
        </p:txBody>
      </p:sp>
      <p:sp>
        <p:nvSpPr>
          <p:cNvPr id="3" name="Footer Placeholder 2">
            <a:extLst>
              <a:ext uri="{FF2B5EF4-FFF2-40B4-BE49-F238E27FC236}">
                <a16:creationId xmlns:a16="http://schemas.microsoft.com/office/drawing/2014/main" id="{ACF9A46A-ACE0-04D9-B420-D96231DF4F4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409ED0F1-7716-EA89-3CE5-6D4A6EAB441E}"/>
              </a:ext>
            </a:extLst>
          </p:cNvPr>
          <p:cNvSpPr>
            <a:spLocks noGrp="1"/>
          </p:cNvSpPr>
          <p:nvPr>
            <p:ph type="sldNum" sz="quarter" idx="12"/>
          </p:nvPr>
        </p:nvSpPr>
        <p:spPr/>
        <p:txBody>
          <a:bodyPr/>
          <a:lstStyle/>
          <a:p>
            <a:fld id="{8221E334-4F62-4076-9144-80144406D001}" type="slidenum">
              <a:rPr lang="en-US" smtClean="0"/>
              <a:t>‹#›</a:t>
            </a:fld>
            <a:endParaRPr lang="en-US"/>
          </a:p>
        </p:txBody>
      </p:sp>
    </p:spTree>
    <p:extLst>
      <p:ext uri="{BB962C8B-B14F-4D97-AF65-F5344CB8AC3E}">
        <p14:creationId xmlns:p14="http://schemas.microsoft.com/office/powerpoint/2010/main" val="225046504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318E2A-0D71-DEBD-5193-0B020836A079}"/>
              </a:ext>
            </a:extLst>
          </p:cNvPr>
          <p:cNvSpPr>
            <a:spLocks noGrp="1"/>
          </p:cNvSpPr>
          <p:nvPr>
            <p:ph type="title"/>
          </p:nvPr>
        </p:nvSpPr>
        <p:spPr>
          <a:xfrm>
            <a:off x="1259683" y="685800"/>
            <a:ext cx="5898356" cy="24003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4580211D-4DAF-F323-5037-517713B21D73}"/>
              </a:ext>
            </a:extLst>
          </p:cNvPr>
          <p:cNvSpPr>
            <a:spLocks noGrp="1"/>
          </p:cNvSpPr>
          <p:nvPr>
            <p:ph idx="1"/>
          </p:nvPr>
        </p:nvSpPr>
        <p:spPr>
          <a:xfrm>
            <a:off x="7774782" y="1481140"/>
            <a:ext cx="9258300" cy="7310438"/>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26E863C1-6902-3E2D-FCFE-C08E0D95738D}"/>
              </a:ext>
            </a:extLst>
          </p:cNvPr>
          <p:cNvSpPr>
            <a:spLocks noGrp="1"/>
          </p:cNvSpPr>
          <p:nvPr>
            <p:ph type="body" sz="half" idx="2"/>
          </p:nvPr>
        </p:nvSpPr>
        <p:spPr>
          <a:xfrm>
            <a:off x="1259683" y="3086100"/>
            <a:ext cx="5898356" cy="5717382"/>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BA3D9F1-F29A-2759-5908-66383CBE0A79}"/>
              </a:ext>
            </a:extLst>
          </p:cNvPr>
          <p:cNvSpPr>
            <a:spLocks noGrp="1"/>
          </p:cNvSpPr>
          <p:nvPr>
            <p:ph type="dt" sz="half" idx="10"/>
          </p:nvPr>
        </p:nvSpPr>
        <p:spPr/>
        <p:txBody>
          <a:bodyPr/>
          <a:lstStyle/>
          <a:p>
            <a:fld id="{3206D9F6-80D5-4710-8983-58850AB3EFB2}" type="datetimeFigureOut">
              <a:rPr lang="en-US" smtClean="0"/>
              <a:t>10/28/2026</a:t>
            </a:fld>
            <a:endParaRPr lang="en-US"/>
          </a:p>
        </p:txBody>
      </p:sp>
      <p:sp>
        <p:nvSpPr>
          <p:cNvPr id="6" name="Footer Placeholder 5">
            <a:extLst>
              <a:ext uri="{FF2B5EF4-FFF2-40B4-BE49-F238E27FC236}">
                <a16:creationId xmlns:a16="http://schemas.microsoft.com/office/drawing/2014/main" id="{97836E40-C873-7807-A1DA-FB587F064AD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496BAC0-C414-5C30-96E4-D1607A14D218}"/>
              </a:ext>
            </a:extLst>
          </p:cNvPr>
          <p:cNvSpPr>
            <a:spLocks noGrp="1"/>
          </p:cNvSpPr>
          <p:nvPr>
            <p:ph type="sldNum" sz="quarter" idx="12"/>
          </p:nvPr>
        </p:nvSpPr>
        <p:spPr/>
        <p:txBody>
          <a:bodyPr/>
          <a:lstStyle/>
          <a:p>
            <a:fld id="{8221E334-4F62-4076-9144-80144406D001}" type="slidenum">
              <a:rPr lang="en-US" smtClean="0"/>
              <a:t>‹#›</a:t>
            </a:fld>
            <a:endParaRPr lang="en-US"/>
          </a:p>
        </p:txBody>
      </p:sp>
    </p:spTree>
    <p:extLst>
      <p:ext uri="{BB962C8B-B14F-4D97-AF65-F5344CB8AC3E}">
        <p14:creationId xmlns:p14="http://schemas.microsoft.com/office/powerpoint/2010/main" val="24384332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66D910-C686-ED52-2A28-4DA78781DE60}"/>
              </a:ext>
            </a:extLst>
          </p:cNvPr>
          <p:cNvSpPr>
            <a:spLocks noGrp="1"/>
          </p:cNvSpPr>
          <p:nvPr>
            <p:ph type="title"/>
          </p:nvPr>
        </p:nvSpPr>
        <p:spPr>
          <a:xfrm>
            <a:off x="1259683" y="685800"/>
            <a:ext cx="5898356" cy="24003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70EA6E1B-5AEC-D647-8008-0EB8992979D7}"/>
              </a:ext>
            </a:extLst>
          </p:cNvPr>
          <p:cNvSpPr>
            <a:spLocks noGrp="1" noChangeAspect="1"/>
          </p:cNvSpPr>
          <p:nvPr>
            <p:ph type="pic" idx="1"/>
          </p:nvPr>
        </p:nvSpPr>
        <p:spPr>
          <a:xfrm>
            <a:off x="7774782" y="1481140"/>
            <a:ext cx="9258300" cy="7310438"/>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04557FB-EB0B-58D4-6992-121BBFC59FC9}"/>
              </a:ext>
            </a:extLst>
          </p:cNvPr>
          <p:cNvSpPr>
            <a:spLocks noGrp="1"/>
          </p:cNvSpPr>
          <p:nvPr>
            <p:ph type="body" sz="half" idx="2"/>
          </p:nvPr>
        </p:nvSpPr>
        <p:spPr>
          <a:xfrm>
            <a:off x="1259683" y="3086100"/>
            <a:ext cx="5898356" cy="5717382"/>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B33C07D-38AF-1548-B015-663C503E0F07}"/>
              </a:ext>
            </a:extLst>
          </p:cNvPr>
          <p:cNvSpPr>
            <a:spLocks noGrp="1"/>
          </p:cNvSpPr>
          <p:nvPr>
            <p:ph type="dt" sz="half" idx="10"/>
          </p:nvPr>
        </p:nvSpPr>
        <p:spPr/>
        <p:txBody>
          <a:bodyPr/>
          <a:lstStyle/>
          <a:p>
            <a:fld id="{3206D9F6-80D5-4710-8983-58850AB3EFB2}" type="datetimeFigureOut">
              <a:rPr lang="en-US" smtClean="0"/>
              <a:t>10/28/2026</a:t>
            </a:fld>
            <a:endParaRPr lang="en-US"/>
          </a:p>
        </p:txBody>
      </p:sp>
      <p:sp>
        <p:nvSpPr>
          <p:cNvPr id="6" name="Footer Placeholder 5">
            <a:extLst>
              <a:ext uri="{FF2B5EF4-FFF2-40B4-BE49-F238E27FC236}">
                <a16:creationId xmlns:a16="http://schemas.microsoft.com/office/drawing/2014/main" id="{00BE7611-3C62-4315-734F-8CCBB7DEC5D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1FDC208-5CDC-A65C-F7C8-72E45CD6890B}"/>
              </a:ext>
            </a:extLst>
          </p:cNvPr>
          <p:cNvSpPr>
            <a:spLocks noGrp="1"/>
          </p:cNvSpPr>
          <p:nvPr>
            <p:ph type="sldNum" sz="quarter" idx="12"/>
          </p:nvPr>
        </p:nvSpPr>
        <p:spPr/>
        <p:txBody>
          <a:bodyPr/>
          <a:lstStyle/>
          <a:p>
            <a:fld id="{8221E334-4F62-4076-9144-80144406D001}" type="slidenum">
              <a:rPr lang="en-US" smtClean="0"/>
              <a:t>‹#›</a:t>
            </a:fld>
            <a:endParaRPr lang="en-US"/>
          </a:p>
        </p:txBody>
      </p:sp>
    </p:spTree>
    <p:extLst>
      <p:ext uri="{BB962C8B-B14F-4D97-AF65-F5344CB8AC3E}">
        <p14:creationId xmlns:p14="http://schemas.microsoft.com/office/powerpoint/2010/main" val="327535990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A27EFD-B683-C697-4EFE-893B890B58B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4F3EEA09-02D7-EEA8-94A9-308D2CCF817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D69FBA2-A97A-1CC6-D7B8-5E4F2436CDB3}"/>
              </a:ext>
            </a:extLst>
          </p:cNvPr>
          <p:cNvSpPr>
            <a:spLocks noGrp="1"/>
          </p:cNvSpPr>
          <p:nvPr>
            <p:ph type="dt" sz="half" idx="10"/>
          </p:nvPr>
        </p:nvSpPr>
        <p:spPr/>
        <p:txBody>
          <a:bodyPr/>
          <a:lstStyle/>
          <a:p>
            <a:fld id="{3206D9F6-80D5-4710-8983-58850AB3EFB2}" type="datetimeFigureOut">
              <a:rPr lang="en-US" smtClean="0"/>
              <a:t>10/28/2026</a:t>
            </a:fld>
            <a:endParaRPr lang="en-US"/>
          </a:p>
        </p:txBody>
      </p:sp>
      <p:sp>
        <p:nvSpPr>
          <p:cNvPr id="5" name="Footer Placeholder 4">
            <a:extLst>
              <a:ext uri="{FF2B5EF4-FFF2-40B4-BE49-F238E27FC236}">
                <a16:creationId xmlns:a16="http://schemas.microsoft.com/office/drawing/2014/main" id="{7DD2DFF1-53FB-4B0F-7FEF-ACEC5B48430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F0CF14F-B0E0-CC38-5888-BEBC867BE9A2}"/>
              </a:ext>
            </a:extLst>
          </p:cNvPr>
          <p:cNvSpPr>
            <a:spLocks noGrp="1"/>
          </p:cNvSpPr>
          <p:nvPr>
            <p:ph type="sldNum" sz="quarter" idx="12"/>
          </p:nvPr>
        </p:nvSpPr>
        <p:spPr/>
        <p:txBody>
          <a:bodyPr/>
          <a:lstStyle/>
          <a:p>
            <a:fld id="{8221E334-4F62-4076-9144-80144406D001}" type="slidenum">
              <a:rPr lang="en-US" smtClean="0"/>
              <a:t>‹#›</a:t>
            </a:fld>
            <a:endParaRPr lang="en-US"/>
          </a:p>
        </p:txBody>
      </p:sp>
    </p:spTree>
    <p:extLst>
      <p:ext uri="{BB962C8B-B14F-4D97-AF65-F5344CB8AC3E}">
        <p14:creationId xmlns:p14="http://schemas.microsoft.com/office/powerpoint/2010/main" val="42326898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402BE5B-2F76-5FFF-4B7D-D538BB372FE7}"/>
              </a:ext>
            </a:extLst>
          </p:cNvPr>
          <p:cNvSpPr>
            <a:spLocks noGrp="1"/>
          </p:cNvSpPr>
          <p:nvPr>
            <p:ph type="title" orient="vert"/>
          </p:nvPr>
        </p:nvSpPr>
        <p:spPr>
          <a:xfrm>
            <a:off x="13087350" y="547688"/>
            <a:ext cx="3943350" cy="8717757"/>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19F3DCF-6703-BB49-BD1E-CEC1F3A02A44}"/>
              </a:ext>
            </a:extLst>
          </p:cNvPr>
          <p:cNvSpPr>
            <a:spLocks noGrp="1"/>
          </p:cNvSpPr>
          <p:nvPr>
            <p:ph type="body" orient="vert" idx="1"/>
          </p:nvPr>
        </p:nvSpPr>
        <p:spPr>
          <a:xfrm>
            <a:off x="1257300" y="547688"/>
            <a:ext cx="11601450" cy="871775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2A55027-2ADD-D143-6DAB-E1000F9FCC3D}"/>
              </a:ext>
            </a:extLst>
          </p:cNvPr>
          <p:cNvSpPr>
            <a:spLocks noGrp="1"/>
          </p:cNvSpPr>
          <p:nvPr>
            <p:ph type="dt" sz="half" idx="10"/>
          </p:nvPr>
        </p:nvSpPr>
        <p:spPr/>
        <p:txBody>
          <a:bodyPr/>
          <a:lstStyle/>
          <a:p>
            <a:fld id="{3206D9F6-80D5-4710-8983-58850AB3EFB2}" type="datetimeFigureOut">
              <a:rPr lang="en-US" smtClean="0"/>
              <a:t>10/28/2026</a:t>
            </a:fld>
            <a:endParaRPr lang="en-US"/>
          </a:p>
        </p:txBody>
      </p:sp>
      <p:sp>
        <p:nvSpPr>
          <p:cNvPr id="5" name="Footer Placeholder 4">
            <a:extLst>
              <a:ext uri="{FF2B5EF4-FFF2-40B4-BE49-F238E27FC236}">
                <a16:creationId xmlns:a16="http://schemas.microsoft.com/office/drawing/2014/main" id="{D5F6E311-DAAE-B46B-5294-A3F0188183D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34B3827-9C31-D487-5800-F42901C56780}"/>
              </a:ext>
            </a:extLst>
          </p:cNvPr>
          <p:cNvSpPr>
            <a:spLocks noGrp="1"/>
          </p:cNvSpPr>
          <p:nvPr>
            <p:ph type="sldNum" sz="quarter" idx="12"/>
          </p:nvPr>
        </p:nvSpPr>
        <p:spPr/>
        <p:txBody>
          <a:bodyPr/>
          <a:lstStyle/>
          <a:p>
            <a:fld id="{8221E334-4F62-4076-9144-80144406D001}" type="slidenum">
              <a:rPr lang="en-US" smtClean="0"/>
              <a:t>‹#›</a:t>
            </a:fld>
            <a:endParaRPr lang="en-US"/>
          </a:p>
        </p:txBody>
      </p:sp>
    </p:spTree>
    <p:extLst>
      <p:ext uri="{BB962C8B-B14F-4D97-AF65-F5344CB8AC3E}">
        <p14:creationId xmlns:p14="http://schemas.microsoft.com/office/powerpoint/2010/main" val="24646032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DBB0CE2-FB6F-18CA-0DB5-ABF158E6B9F4}"/>
              </a:ext>
            </a:extLst>
          </p:cNvPr>
          <p:cNvSpPr>
            <a:spLocks noGrp="1"/>
          </p:cNvSpPr>
          <p:nvPr>
            <p:ph type="title"/>
          </p:nvPr>
        </p:nvSpPr>
        <p:spPr>
          <a:xfrm>
            <a:off x="1257300" y="547690"/>
            <a:ext cx="15773400" cy="1988345"/>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24E6F62-1D22-7BAB-8399-8FFE2C2339D9}"/>
              </a:ext>
            </a:extLst>
          </p:cNvPr>
          <p:cNvSpPr>
            <a:spLocks noGrp="1"/>
          </p:cNvSpPr>
          <p:nvPr>
            <p:ph type="body" idx="1"/>
          </p:nvPr>
        </p:nvSpPr>
        <p:spPr>
          <a:xfrm>
            <a:off x="1257300" y="2738438"/>
            <a:ext cx="15773400" cy="652700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BF773A3-60FA-D80C-09E1-26A447A05A95}"/>
              </a:ext>
            </a:extLst>
          </p:cNvPr>
          <p:cNvSpPr>
            <a:spLocks noGrp="1"/>
          </p:cNvSpPr>
          <p:nvPr>
            <p:ph type="dt" sz="half" idx="2"/>
          </p:nvPr>
        </p:nvSpPr>
        <p:spPr>
          <a:xfrm>
            <a:off x="1257300" y="9534527"/>
            <a:ext cx="4114800" cy="547688"/>
          </a:xfrm>
          <a:prstGeom prst="rect">
            <a:avLst/>
          </a:prstGeom>
        </p:spPr>
        <p:txBody>
          <a:bodyPr vert="horz" lIns="91440" tIns="45720" rIns="91440" bIns="45720" rtlCol="0" anchor="ctr"/>
          <a:lstStyle>
            <a:lvl1pPr algn="l">
              <a:defRPr sz="1200">
                <a:solidFill>
                  <a:schemeClr val="tx1">
                    <a:tint val="82000"/>
                  </a:schemeClr>
                </a:solidFill>
              </a:defRPr>
            </a:lvl1pPr>
          </a:lstStyle>
          <a:p>
            <a:fld id="{3206D9F6-80D5-4710-8983-58850AB3EFB2}" type="datetimeFigureOut">
              <a:rPr lang="en-US" smtClean="0"/>
              <a:t>10/28/2026</a:t>
            </a:fld>
            <a:endParaRPr lang="en-US"/>
          </a:p>
        </p:txBody>
      </p:sp>
      <p:sp>
        <p:nvSpPr>
          <p:cNvPr id="5" name="Footer Placeholder 4">
            <a:extLst>
              <a:ext uri="{FF2B5EF4-FFF2-40B4-BE49-F238E27FC236}">
                <a16:creationId xmlns:a16="http://schemas.microsoft.com/office/drawing/2014/main" id="{EEACED1B-0DD1-DE48-8C11-524208A3897C}"/>
              </a:ext>
            </a:extLst>
          </p:cNvPr>
          <p:cNvSpPr>
            <a:spLocks noGrp="1"/>
          </p:cNvSpPr>
          <p:nvPr>
            <p:ph type="ftr" sz="quarter" idx="3"/>
          </p:nvPr>
        </p:nvSpPr>
        <p:spPr>
          <a:xfrm>
            <a:off x="6057900" y="9534527"/>
            <a:ext cx="6172200" cy="547688"/>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B8B0538B-921A-FD62-4CB1-4A7208C0948A}"/>
              </a:ext>
            </a:extLst>
          </p:cNvPr>
          <p:cNvSpPr>
            <a:spLocks noGrp="1"/>
          </p:cNvSpPr>
          <p:nvPr>
            <p:ph type="sldNum" sz="quarter" idx="4"/>
          </p:nvPr>
        </p:nvSpPr>
        <p:spPr>
          <a:xfrm>
            <a:off x="12915900" y="9534527"/>
            <a:ext cx="4114800" cy="547688"/>
          </a:xfrm>
          <a:prstGeom prst="rect">
            <a:avLst/>
          </a:prstGeom>
        </p:spPr>
        <p:txBody>
          <a:bodyPr vert="horz" lIns="91440" tIns="45720" rIns="91440" bIns="45720" rtlCol="0" anchor="ctr"/>
          <a:lstStyle>
            <a:lvl1pPr algn="r">
              <a:defRPr sz="1200">
                <a:solidFill>
                  <a:schemeClr val="tx1">
                    <a:tint val="82000"/>
                  </a:schemeClr>
                </a:solidFill>
              </a:defRPr>
            </a:lvl1pPr>
          </a:lstStyle>
          <a:p>
            <a:fld id="{8221E334-4F62-4076-9144-80144406D001}" type="slidenum">
              <a:rPr lang="en-US" smtClean="0"/>
              <a:t>‹#›</a:t>
            </a:fld>
            <a:endParaRPr lang="en-US"/>
          </a:p>
        </p:txBody>
      </p:sp>
    </p:spTree>
    <p:extLst>
      <p:ext uri="{BB962C8B-B14F-4D97-AF65-F5344CB8AC3E}">
        <p14:creationId xmlns:p14="http://schemas.microsoft.com/office/powerpoint/2010/main" val="114361624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slide" Target="slide2.xml"/></Relationships>
</file>

<file path=ppt/slides/_rels/slide2.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notesSlide" Target="../notesSlides/notesSlide2.xml"/><Relationship Id="rId1" Type="http://schemas.openxmlformats.org/officeDocument/2006/relationships/slideLayout" Target="../slideLayouts/slideLayout7.xml"/><Relationship Id="rId5" Type="http://schemas.openxmlformats.org/officeDocument/2006/relationships/slide" Target="slide3.xml"/><Relationship Id="rId4" Type="http://schemas.openxmlformats.org/officeDocument/2006/relationships/slide" Target="slide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7.xml"/><Relationship Id="rId5" Type="http://schemas.openxmlformats.org/officeDocument/2006/relationships/slide" Target="slide4.xml"/><Relationship Id="rId4" Type="http://schemas.openxmlformats.org/officeDocument/2006/relationships/slide" Target="slide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slide" Target="slide5.xml"/><Relationship Id="rId5" Type="http://schemas.openxmlformats.org/officeDocument/2006/relationships/slide" Target="slide2.xml"/><Relationship Id="rId4" Type="http://schemas.openxmlformats.org/officeDocument/2006/relationships/slide" Target="slide3.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slide" Target="slide6.xml"/><Relationship Id="rId5" Type="http://schemas.openxmlformats.org/officeDocument/2006/relationships/slide" Target="slide2.xml"/><Relationship Id="rId4" Type="http://schemas.openxmlformats.org/officeDocument/2006/relationships/slide" Target="slide4.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slide" Target="slide7.xml"/><Relationship Id="rId5" Type="http://schemas.openxmlformats.org/officeDocument/2006/relationships/slide" Target="slide2.xml"/><Relationship Id="rId4" Type="http://schemas.openxmlformats.org/officeDocument/2006/relationships/slide" Target="slide5.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openxmlformats.org/officeDocument/2006/relationships/slide" Target="slide8.xml"/><Relationship Id="rId5" Type="http://schemas.openxmlformats.org/officeDocument/2006/relationships/slide" Target="slide2.xml"/><Relationship Id="rId4" Type="http://schemas.openxmlformats.org/officeDocument/2006/relationships/slide" Target="slide6.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7.xml"/><Relationship Id="rId6" Type="http://schemas.openxmlformats.org/officeDocument/2006/relationships/slide" Target="slide9.xml"/><Relationship Id="rId5" Type="http://schemas.openxmlformats.org/officeDocument/2006/relationships/slide" Target="slide2.xml"/><Relationship Id="rId4" Type="http://schemas.openxmlformats.org/officeDocument/2006/relationships/slide" Target="slide7.xml"/></Relationships>
</file>

<file path=ppt/slides/_rels/slide9.xml.rels><?xml version="1.0" encoding="UTF-8" standalone="yes"?>
<Relationships xmlns="http://schemas.openxmlformats.org/package/2006/relationships"><Relationship Id="rId3" Type="http://schemas.openxmlformats.org/officeDocument/2006/relationships/slide" Target="slide8.xml"/><Relationship Id="rId2" Type="http://schemas.openxmlformats.org/officeDocument/2006/relationships/notesSlide" Target="../notesSlides/notesSlide9.xml"/><Relationship Id="rId1" Type="http://schemas.openxmlformats.org/officeDocument/2006/relationships/slideLayout" Target="../slideLayouts/slideLayout7.xml"/><Relationship Id="rId5" Type="http://schemas.openxmlformats.org/officeDocument/2006/relationships/slide" Target="slide9.xml"/><Relationship Id="rId4" Type="http://schemas.openxmlformats.org/officeDocument/2006/relationships/slide" Target="slide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4F7FB"/>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4ECFDDD-1F18-07EE-1E04-8335B5EFA3B1}"/>
              </a:ext>
            </a:extLst>
          </p:cNvPr>
          <p:cNvSpPr txBox="1"/>
          <p:nvPr/>
        </p:nvSpPr>
        <p:spPr>
          <a:xfrm>
            <a:off x="406400" y="279400"/>
            <a:ext cx="16891000" cy="200055"/>
          </a:xfrm>
          <a:prstGeom prst="rect">
            <a:avLst/>
          </a:prstGeom>
          <a:noFill/>
        </p:spPr>
        <p:txBody>
          <a:bodyPr vert="horz" wrap="square" lIns="0" tIns="0" rIns="0" bIns="0" rtlCol="0">
            <a:spAutoFit/>
          </a:bodyPr>
          <a:lstStyle/>
          <a:p>
            <a:r>
              <a:rPr lang="en-US" sz="1300" b="1">
                <a:solidFill>
                  <a:srgbClr val="007F85"/>
                </a:solidFill>
                <a:latin typeface="Aptos" panose="020B0004020202020204" pitchFamily="34" charset="0"/>
              </a:rPr>
              <a:t>01 / BUSINESS CONTEXT</a:t>
            </a:r>
          </a:p>
        </p:txBody>
      </p:sp>
      <p:sp>
        <p:nvSpPr>
          <p:cNvPr id="3" name="TextBox 2">
            <a:extLst>
              <a:ext uri="{FF2B5EF4-FFF2-40B4-BE49-F238E27FC236}">
                <a16:creationId xmlns:a16="http://schemas.microsoft.com/office/drawing/2014/main" id="{3C59C090-9E86-45F3-63A7-DE9140FEE58A}"/>
              </a:ext>
            </a:extLst>
          </p:cNvPr>
          <p:cNvSpPr txBox="1"/>
          <p:nvPr/>
        </p:nvSpPr>
        <p:spPr>
          <a:xfrm>
            <a:off x="406400" y="698500"/>
            <a:ext cx="17272000" cy="461665"/>
          </a:xfrm>
          <a:prstGeom prst="rect">
            <a:avLst/>
          </a:prstGeom>
          <a:noFill/>
        </p:spPr>
        <p:txBody>
          <a:bodyPr vert="horz" wrap="square" lIns="0" tIns="0" rIns="0" bIns="0" rtlCol="0">
            <a:spAutoFit/>
          </a:bodyPr>
          <a:lstStyle/>
          <a:p>
            <a:r>
              <a:rPr lang="en-US" sz="3000" b="1">
                <a:solidFill>
                  <a:srgbClr val="122D46"/>
                </a:solidFill>
                <a:latin typeface="Aptos" panose="020B0004020202020204" pitchFamily="34" charset="0"/>
              </a:rPr>
              <a:t>Utility Bill Explanation and Dispute Desk</a:t>
            </a:r>
          </a:p>
        </p:txBody>
      </p:sp>
      <p:sp>
        <p:nvSpPr>
          <p:cNvPr id="4" name="TextBox 3">
            <a:extLst>
              <a:ext uri="{FF2B5EF4-FFF2-40B4-BE49-F238E27FC236}">
                <a16:creationId xmlns:a16="http://schemas.microsoft.com/office/drawing/2014/main" id="{964622ED-4EAA-3E0B-FD2A-D13C4EDA9A85}"/>
              </a:ext>
            </a:extLst>
          </p:cNvPr>
          <p:cNvSpPr txBox="1"/>
          <p:nvPr/>
        </p:nvSpPr>
        <p:spPr>
          <a:xfrm>
            <a:off x="406400" y="9906000"/>
            <a:ext cx="14605000" cy="184666"/>
          </a:xfrm>
          <a:prstGeom prst="rect">
            <a:avLst/>
          </a:prstGeom>
          <a:noFill/>
        </p:spPr>
        <p:txBody>
          <a:bodyPr vert="horz" wrap="square" lIns="0" tIns="0" rIns="0" bIns="0" rtlCol="0">
            <a:spAutoFit/>
          </a:bodyPr>
          <a:lstStyle/>
          <a:p>
            <a:r>
              <a:rPr lang="en-US" sz="1200">
                <a:solidFill>
                  <a:srgbClr val="516478"/>
                </a:solidFill>
                <a:latin typeface="Aptos" panose="020B0004020202020204" pitchFamily="34" charset="0"/>
              </a:rPr>
              <a:t>Synthetic demonstration | Captured replay, not a live slide | Human decisions remain explicit</a:t>
            </a:r>
          </a:p>
        </p:txBody>
      </p:sp>
      <p:sp>
        <p:nvSpPr>
          <p:cNvPr id="5" name="Rectangle: Rounded Corners 4">
            <a:extLst>
              <a:ext uri="{FF2B5EF4-FFF2-40B4-BE49-F238E27FC236}">
                <a16:creationId xmlns:a16="http://schemas.microsoft.com/office/drawing/2014/main" id="{BDACC03E-60FD-F710-681C-3E04936892DC}"/>
              </a:ext>
            </a:extLst>
          </p:cNvPr>
          <p:cNvSpPr/>
          <p:nvPr/>
        </p:nvSpPr>
        <p:spPr>
          <a:xfrm>
            <a:off x="406400" y="1651000"/>
            <a:ext cx="11049000" cy="7175500"/>
          </a:xfrm>
          <a:prstGeom prst="round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179A6735-EAEA-3AAC-B99C-600653FB936F}"/>
              </a:ext>
            </a:extLst>
          </p:cNvPr>
          <p:cNvSpPr txBox="1"/>
          <p:nvPr/>
        </p:nvSpPr>
        <p:spPr>
          <a:xfrm>
            <a:off x="762000" y="2006600"/>
            <a:ext cx="10287000" cy="276999"/>
          </a:xfrm>
          <a:prstGeom prst="rect">
            <a:avLst/>
          </a:prstGeom>
          <a:noFill/>
        </p:spPr>
        <p:txBody>
          <a:bodyPr vert="horz" wrap="square" lIns="0" tIns="0" rIns="0" bIns="0" rtlCol="0">
            <a:spAutoFit/>
          </a:bodyPr>
          <a:lstStyle/>
          <a:p>
            <a:r>
              <a:rPr lang="en-US" b="1">
                <a:solidFill>
                  <a:srgbClr val="007F85"/>
                </a:solidFill>
                <a:latin typeface="Aptos" panose="020B0004020202020204" pitchFamily="34" charset="0"/>
              </a:rPr>
              <a:t>THE CHALLENGE</a:t>
            </a:r>
          </a:p>
        </p:txBody>
      </p:sp>
      <p:sp>
        <p:nvSpPr>
          <p:cNvPr id="7" name="TextBox 6">
            <a:extLst>
              <a:ext uri="{FF2B5EF4-FFF2-40B4-BE49-F238E27FC236}">
                <a16:creationId xmlns:a16="http://schemas.microsoft.com/office/drawing/2014/main" id="{DDE44C67-0251-F2BA-42E5-4F77A708FB9C}"/>
              </a:ext>
            </a:extLst>
          </p:cNvPr>
          <p:cNvSpPr txBox="1"/>
          <p:nvPr/>
        </p:nvSpPr>
        <p:spPr>
          <a:xfrm>
            <a:off x="762000" y="2565400"/>
            <a:ext cx="10287000" cy="1246495"/>
          </a:xfrm>
          <a:prstGeom prst="rect">
            <a:avLst/>
          </a:prstGeom>
          <a:noFill/>
        </p:spPr>
        <p:txBody>
          <a:bodyPr vert="horz" wrap="square" lIns="0" tIns="0" rIns="0" bIns="0" rtlCol="0">
            <a:spAutoFit/>
          </a:bodyPr>
          <a:lstStyle/>
          <a:p>
            <a:r>
              <a:rPr lang="en-US" sz="2700">
                <a:solidFill>
                  <a:srgbClr val="122D46"/>
                </a:solidFill>
                <a:latin typeface="Aptos" panose="020B0004020202020204" pitchFamily="34" charset="0"/>
              </a:rPr>
              <a:t>Customers struggle to understand usage changes, rate components and adjustments. Billing specialists must reconstruct the calculation and separate explanation from a genuine dispute.</a:t>
            </a:r>
          </a:p>
        </p:txBody>
      </p:sp>
      <p:sp>
        <p:nvSpPr>
          <p:cNvPr id="8" name="TextBox 7">
            <a:extLst>
              <a:ext uri="{FF2B5EF4-FFF2-40B4-BE49-F238E27FC236}">
                <a16:creationId xmlns:a16="http://schemas.microsoft.com/office/drawing/2014/main" id="{FCBC6C94-711E-E1D4-3D27-79454D81C8CF}"/>
              </a:ext>
            </a:extLst>
          </p:cNvPr>
          <p:cNvSpPr txBox="1"/>
          <p:nvPr/>
        </p:nvSpPr>
        <p:spPr>
          <a:xfrm>
            <a:off x="762000" y="4800600"/>
            <a:ext cx="10287000" cy="276999"/>
          </a:xfrm>
          <a:prstGeom prst="rect">
            <a:avLst/>
          </a:prstGeom>
          <a:noFill/>
        </p:spPr>
        <p:txBody>
          <a:bodyPr vert="horz" wrap="square" lIns="0" tIns="0" rIns="0" bIns="0" rtlCol="0">
            <a:spAutoFit/>
          </a:bodyPr>
          <a:lstStyle/>
          <a:p>
            <a:r>
              <a:rPr lang="en-US" b="1">
                <a:solidFill>
                  <a:srgbClr val="007F85"/>
                </a:solidFill>
                <a:latin typeface="Aptos" panose="020B0004020202020204" pitchFamily="34" charset="0"/>
              </a:rPr>
              <a:t>THE REVIEWABLE OUTCOME</a:t>
            </a:r>
          </a:p>
        </p:txBody>
      </p:sp>
      <p:sp>
        <p:nvSpPr>
          <p:cNvPr id="9" name="TextBox 8">
            <a:extLst>
              <a:ext uri="{FF2B5EF4-FFF2-40B4-BE49-F238E27FC236}">
                <a16:creationId xmlns:a16="http://schemas.microsoft.com/office/drawing/2014/main" id="{6D9AD6D9-4C46-351E-5F71-D31AEF8627FC}"/>
              </a:ext>
            </a:extLst>
          </p:cNvPr>
          <p:cNvSpPr txBox="1"/>
          <p:nvPr/>
        </p:nvSpPr>
        <p:spPr>
          <a:xfrm>
            <a:off x="762000" y="5397500"/>
            <a:ext cx="10287000" cy="1154162"/>
          </a:xfrm>
          <a:prstGeom prst="rect">
            <a:avLst/>
          </a:prstGeom>
          <a:noFill/>
        </p:spPr>
        <p:txBody>
          <a:bodyPr vert="horz" wrap="square" lIns="0" tIns="0" rIns="0" bIns="0" rtlCol="0">
            <a:spAutoFit/>
          </a:bodyPr>
          <a:lstStyle/>
          <a:p>
            <a:r>
              <a:rPr lang="en-US" sz="2500">
                <a:solidFill>
                  <a:srgbClr val="122D46"/>
                </a:solidFill>
                <a:latin typeface="Aptos" panose="020B0004020202020204" pitchFamily="34" charset="0"/>
              </a:rPr>
              <a:t>Show a reproducible bill calculation, a grounded plain-language explanation and a reviewable dispute packet. Measure numeric fidelity and clarification completeness, not automatic dispute resolution.</a:t>
            </a:r>
          </a:p>
        </p:txBody>
      </p:sp>
      <p:sp>
        <p:nvSpPr>
          <p:cNvPr id="10" name="TextBox 9">
            <a:extLst>
              <a:ext uri="{FF2B5EF4-FFF2-40B4-BE49-F238E27FC236}">
                <a16:creationId xmlns:a16="http://schemas.microsoft.com/office/drawing/2014/main" id="{9E398C2B-D621-8585-8A84-46AD88D43F39}"/>
              </a:ext>
            </a:extLst>
          </p:cNvPr>
          <p:cNvSpPr txBox="1"/>
          <p:nvPr/>
        </p:nvSpPr>
        <p:spPr>
          <a:xfrm>
            <a:off x="12065000" y="2006600"/>
            <a:ext cx="5461000" cy="276999"/>
          </a:xfrm>
          <a:prstGeom prst="rect">
            <a:avLst/>
          </a:prstGeom>
          <a:noFill/>
        </p:spPr>
        <p:txBody>
          <a:bodyPr vert="horz" wrap="square" lIns="0" tIns="0" rIns="0" bIns="0" rtlCol="0">
            <a:spAutoFit/>
          </a:bodyPr>
          <a:lstStyle/>
          <a:p>
            <a:r>
              <a:rPr lang="en-US" b="1">
                <a:solidFill>
                  <a:srgbClr val="D22525"/>
                </a:solidFill>
                <a:latin typeface="Aptos" panose="020B0004020202020204" pitchFamily="34" charset="0"/>
              </a:rPr>
              <a:t>TRUST BOUNDARY</a:t>
            </a:r>
          </a:p>
        </p:txBody>
      </p:sp>
      <p:sp>
        <p:nvSpPr>
          <p:cNvPr id="11" name="TextBox 10">
            <a:extLst>
              <a:ext uri="{FF2B5EF4-FFF2-40B4-BE49-F238E27FC236}">
                <a16:creationId xmlns:a16="http://schemas.microsoft.com/office/drawing/2014/main" id="{1E789E7E-44E1-9F08-7EF4-DC1F013BBABE}"/>
              </a:ext>
            </a:extLst>
          </p:cNvPr>
          <p:cNvSpPr txBox="1"/>
          <p:nvPr/>
        </p:nvSpPr>
        <p:spPr>
          <a:xfrm>
            <a:off x="12065000" y="2628900"/>
            <a:ext cx="5461000" cy="1769715"/>
          </a:xfrm>
          <a:prstGeom prst="rect">
            <a:avLst/>
          </a:prstGeom>
          <a:noFill/>
        </p:spPr>
        <p:txBody>
          <a:bodyPr vert="horz" wrap="square" lIns="0" tIns="0" rIns="0" bIns="0" rtlCol="0">
            <a:spAutoFit/>
          </a:bodyPr>
          <a:lstStyle/>
          <a:p>
            <a:r>
              <a:rPr lang="en-US" sz="2300">
                <a:solidFill>
                  <a:srgbClr val="122D46"/>
                </a:solidFill>
                <a:latin typeface="Aptos" panose="020B0004020202020204" pitchFamily="34" charset="0"/>
              </a:rPr>
              <a:t>Human boundary: Never infer hardship, eligibility or customer reliability from writing style or demographics. A disputed bill cannot trigger a payment demand, adverse action or automatic adjustment.</a:t>
            </a:r>
          </a:p>
        </p:txBody>
      </p:sp>
      <p:sp>
        <p:nvSpPr>
          <p:cNvPr id="12" name="TextBox 11">
            <a:extLst>
              <a:ext uri="{FF2B5EF4-FFF2-40B4-BE49-F238E27FC236}">
                <a16:creationId xmlns:a16="http://schemas.microsoft.com/office/drawing/2014/main" id="{7A9B2095-6FC5-0C54-B062-4372E7961D68}"/>
              </a:ext>
            </a:extLst>
          </p:cNvPr>
          <p:cNvSpPr txBox="1"/>
          <p:nvPr/>
        </p:nvSpPr>
        <p:spPr>
          <a:xfrm>
            <a:off x="12065000" y="6731000"/>
            <a:ext cx="5461000" cy="1015663"/>
          </a:xfrm>
          <a:prstGeom prst="rect">
            <a:avLst/>
          </a:prstGeom>
          <a:noFill/>
        </p:spPr>
        <p:txBody>
          <a:bodyPr vert="horz" wrap="square" lIns="0" tIns="0" rIns="0" bIns="0" rtlCol="0">
            <a:spAutoFit/>
          </a:bodyPr>
          <a:lstStyle/>
          <a:p>
            <a:r>
              <a:rPr lang="en-US" sz="2200">
                <a:solidFill>
                  <a:srgbClr val="516478"/>
                </a:solidFill>
                <a:latin typeface="Aptos" panose="020B0004020202020204" pitchFamily="34" charset="0"/>
              </a:rPr>
              <a:t>Six-step native .NET MAUI walkthrough. All people, records, policies and evidence are fictional.</a:t>
            </a:r>
          </a:p>
        </p:txBody>
      </p:sp>
      <p:sp>
        <p:nvSpPr>
          <p:cNvPr id="13" name="TextBox 12">
            <a:hlinkClick r:id="rId3" action="ppaction://hlinksldjump"/>
            <a:extLst>
              <a:ext uri="{FF2B5EF4-FFF2-40B4-BE49-F238E27FC236}">
                <a16:creationId xmlns:a16="http://schemas.microsoft.com/office/drawing/2014/main" id="{C56BE2DF-0FDA-8604-E8FC-E6749A75E34D}"/>
              </a:ext>
            </a:extLst>
          </p:cNvPr>
          <p:cNvSpPr txBox="1"/>
          <p:nvPr/>
        </p:nvSpPr>
        <p:spPr>
          <a:xfrm>
            <a:off x="14859000" y="9906000"/>
            <a:ext cx="914400" cy="200055"/>
          </a:xfrm>
          <a:prstGeom prst="rect">
            <a:avLst/>
          </a:prstGeom>
          <a:noFill/>
        </p:spPr>
        <p:txBody>
          <a:bodyPr vert="horz" wrap="square" lIns="0" tIns="0" rIns="0" bIns="0" rtlCol="0">
            <a:spAutoFit/>
          </a:bodyPr>
          <a:lstStyle/>
          <a:p>
            <a:r>
              <a:rPr lang="en-US" sz="1300" b="1">
                <a:solidFill>
                  <a:srgbClr val="007F85"/>
                </a:solidFill>
                <a:latin typeface="Aptos" panose="020B0004020202020204" pitchFamily="34" charset="0"/>
              </a:rPr>
              <a:t>PREV</a:t>
            </a:r>
          </a:p>
        </p:txBody>
      </p:sp>
      <p:sp>
        <p:nvSpPr>
          <p:cNvPr id="14" name="TextBox 13">
            <a:hlinkClick r:id="rId4" action="ppaction://hlinksldjump"/>
            <a:extLst>
              <a:ext uri="{FF2B5EF4-FFF2-40B4-BE49-F238E27FC236}">
                <a16:creationId xmlns:a16="http://schemas.microsoft.com/office/drawing/2014/main" id="{1EDC80ED-A9F8-222E-A5DF-2A3CF31003DF}"/>
              </a:ext>
            </a:extLst>
          </p:cNvPr>
          <p:cNvSpPr txBox="1"/>
          <p:nvPr/>
        </p:nvSpPr>
        <p:spPr>
          <a:xfrm>
            <a:off x="15875000" y="9906000"/>
            <a:ext cx="914400" cy="200055"/>
          </a:xfrm>
          <a:prstGeom prst="rect">
            <a:avLst/>
          </a:prstGeom>
          <a:noFill/>
        </p:spPr>
        <p:txBody>
          <a:bodyPr vert="horz" wrap="square" lIns="0" tIns="0" rIns="0" bIns="0" rtlCol="0">
            <a:spAutoFit/>
          </a:bodyPr>
          <a:lstStyle/>
          <a:p>
            <a:r>
              <a:rPr lang="en-US" sz="1300" b="1">
                <a:solidFill>
                  <a:srgbClr val="007F85"/>
                </a:solidFill>
                <a:latin typeface="Aptos" panose="020B0004020202020204" pitchFamily="34" charset="0"/>
              </a:rPr>
              <a:t>MENU</a:t>
            </a:r>
          </a:p>
        </p:txBody>
      </p:sp>
      <p:sp>
        <p:nvSpPr>
          <p:cNvPr id="15" name="TextBox 14">
            <a:hlinkClick r:id="rId4" action="ppaction://hlinksldjump"/>
            <a:extLst>
              <a:ext uri="{FF2B5EF4-FFF2-40B4-BE49-F238E27FC236}">
                <a16:creationId xmlns:a16="http://schemas.microsoft.com/office/drawing/2014/main" id="{C488FF2A-553E-6FBA-D5C3-D1554D75D77A}"/>
              </a:ext>
            </a:extLst>
          </p:cNvPr>
          <p:cNvSpPr txBox="1"/>
          <p:nvPr/>
        </p:nvSpPr>
        <p:spPr>
          <a:xfrm>
            <a:off x="16891000" y="9906000"/>
            <a:ext cx="914400" cy="200055"/>
          </a:xfrm>
          <a:prstGeom prst="rect">
            <a:avLst/>
          </a:prstGeom>
          <a:noFill/>
        </p:spPr>
        <p:txBody>
          <a:bodyPr vert="horz" wrap="square" lIns="0" tIns="0" rIns="0" bIns="0" rtlCol="0">
            <a:spAutoFit/>
          </a:bodyPr>
          <a:lstStyle/>
          <a:p>
            <a:r>
              <a:rPr lang="en-US" sz="1300" b="1">
                <a:solidFill>
                  <a:srgbClr val="007F85"/>
                </a:solidFill>
                <a:latin typeface="Aptos" panose="020B0004020202020204" pitchFamily="34" charset="0"/>
              </a:rPr>
              <a:t>NEXT</a:t>
            </a:r>
          </a:p>
        </p:txBody>
      </p:sp>
    </p:spTree>
    <p:extLst>
      <p:ext uri="{BB962C8B-B14F-4D97-AF65-F5344CB8AC3E}">
        <p14:creationId xmlns:p14="http://schemas.microsoft.com/office/powerpoint/2010/main" val="33110393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4F7FB"/>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9FE0C83-116B-1AF0-C83F-35D59FBACC4A}"/>
              </a:ext>
            </a:extLst>
          </p:cNvPr>
          <p:cNvSpPr txBox="1"/>
          <p:nvPr/>
        </p:nvSpPr>
        <p:spPr>
          <a:xfrm>
            <a:off x="406400" y="279400"/>
            <a:ext cx="16891000" cy="200055"/>
          </a:xfrm>
          <a:prstGeom prst="rect">
            <a:avLst/>
          </a:prstGeom>
          <a:noFill/>
        </p:spPr>
        <p:txBody>
          <a:bodyPr vert="horz" wrap="square" lIns="0" tIns="0" rIns="0" bIns="0" rtlCol="0">
            <a:spAutoFit/>
          </a:bodyPr>
          <a:lstStyle/>
          <a:p>
            <a:r>
              <a:rPr lang="en-US" sz="1300" b="1">
                <a:solidFill>
                  <a:srgbClr val="007F85"/>
                </a:solidFill>
                <a:latin typeface="Aptos" panose="020B0004020202020204" pitchFamily="34" charset="0"/>
              </a:rPr>
              <a:t>02 / PRODUCTS, FLOW AND EVIDENCE</a:t>
            </a:r>
          </a:p>
        </p:txBody>
      </p:sp>
      <p:sp>
        <p:nvSpPr>
          <p:cNvPr id="3" name="TextBox 2">
            <a:extLst>
              <a:ext uri="{FF2B5EF4-FFF2-40B4-BE49-F238E27FC236}">
                <a16:creationId xmlns:a16="http://schemas.microsoft.com/office/drawing/2014/main" id="{A6C98102-CB53-673E-7FA2-484EE50F49B8}"/>
              </a:ext>
            </a:extLst>
          </p:cNvPr>
          <p:cNvSpPr txBox="1"/>
          <p:nvPr/>
        </p:nvSpPr>
        <p:spPr>
          <a:xfrm>
            <a:off x="406400" y="698500"/>
            <a:ext cx="17272000" cy="461665"/>
          </a:xfrm>
          <a:prstGeom prst="rect">
            <a:avLst/>
          </a:prstGeom>
          <a:noFill/>
        </p:spPr>
        <p:txBody>
          <a:bodyPr vert="horz" wrap="square" lIns="0" tIns="0" rIns="0" bIns="0" rtlCol="0">
            <a:spAutoFit/>
          </a:bodyPr>
          <a:lstStyle/>
          <a:p>
            <a:r>
              <a:rPr lang="en-US" sz="3000" b="1">
                <a:solidFill>
                  <a:srgbClr val="122D46"/>
                </a:solidFill>
                <a:latin typeface="Aptos" panose="020B0004020202020204" pitchFamily="34" charset="0"/>
              </a:rPr>
              <a:t>How this demo is implemented</a:t>
            </a:r>
          </a:p>
        </p:txBody>
      </p:sp>
      <p:sp>
        <p:nvSpPr>
          <p:cNvPr id="4" name="TextBox 3">
            <a:extLst>
              <a:ext uri="{FF2B5EF4-FFF2-40B4-BE49-F238E27FC236}">
                <a16:creationId xmlns:a16="http://schemas.microsoft.com/office/drawing/2014/main" id="{F59BD096-58E1-A6E1-1767-B54A1DA52D60}"/>
              </a:ext>
            </a:extLst>
          </p:cNvPr>
          <p:cNvSpPr txBox="1"/>
          <p:nvPr/>
        </p:nvSpPr>
        <p:spPr>
          <a:xfrm>
            <a:off x="406400" y="9906000"/>
            <a:ext cx="14605000" cy="184666"/>
          </a:xfrm>
          <a:prstGeom prst="rect">
            <a:avLst/>
          </a:prstGeom>
          <a:noFill/>
        </p:spPr>
        <p:txBody>
          <a:bodyPr vert="horz" wrap="square" lIns="0" tIns="0" rIns="0" bIns="0" rtlCol="0">
            <a:spAutoFit/>
          </a:bodyPr>
          <a:lstStyle/>
          <a:p>
            <a:r>
              <a:rPr lang="en-US" sz="1200">
                <a:solidFill>
                  <a:srgbClr val="516478"/>
                </a:solidFill>
                <a:latin typeface="Aptos" panose="020B0004020202020204" pitchFamily="34" charset="0"/>
              </a:rPr>
              <a:t>Synthetic demonstration | Captured replay, not a live slide | Human decisions remain explicit</a:t>
            </a:r>
          </a:p>
        </p:txBody>
      </p:sp>
      <p:sp>
        <p:nvSpPr>
          <p:cNvPr id="5" name="Rectangle: Rounded Corners 4">
            <a:extLst>
              <a:ext uri="{FF2B5EF4-FFF2-40B4-BE49-F238E27FC236}">
                <a16:creationId xmlns:a16="http://schemas.microsoft.com/office/drawing/2014/main" id="{8503EA5F-3257-B086-608C-A3DB2DD31FA8}"/>
              </a:ext>
            </a:extLst>
          </p:cNvPr>
          <p:cNvSpPr/>
          <p:nvPr/>
        </p:nvSpPr>
        <p:spPr>
          <a:xfrm>
            <a:off x="406400" y="1968500"/>
            <a:ext cx="4165600" cy="3492500"/>
          </a:xfrm>
          <a:prstGeom prst="round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5E70B391-C11C-D007-741D-47043CB8C9E9}"/>
              </a:ext>
            </a:extLst>
          </p:cNvPr>
          <p:cNvSpPr txBox="1"/>
          <p:nvPr/>
        </p:nvSpPr>
        <p:spPr>
          <a:xfrm>
            <a:off x="660400" y="2222500"/>
            <a:ext cx="3492500" cy="461665"/>
          </a:xfrm>
          <a:prstGeom prst="rect">
            <a:avLst/>
          </a:prstGeom>
          <a:noFill/>
        </p:spPr>
        <p:txBody>
          <a:bodyPr vert="horz" wrap="square" lIns="0" tIns="0" rIns="0" bIns="0" rtlCol="0">
            <a:spAutoFit/>
          </a:bodyPr>
          <a:lstStyle/>
          <a:p>
            <a:r>
              <a:rPr lang="en-US" sz="3000" b="1">
                <a:solidFill>
                  <a:srgbClr val="007F85"/>
                </a:solidFill>
                <a:latin typeface="Aptos" panose="020B0004020202020204" pitchFamily="34" charset="0"/>
              </a:rPr>
              <a:t>01</a:t>
            </a:r>
          </a:p>
        </p:txBody>
      </p:sp>
      <p:sp>
        <p:nvSpPr>
          <p:cNvPr id="7" name="TextBox 6">
            <a:extLst>
              <a:ext uri="{FF2B5EF4-FFF2-40B4-BE49-F238E27FC236}">
                <a16:creationId xmlns:a16="http://schemas.microsoft.com/office/drawing/2014/main" id="{0C7D9978-894C-EAAE-9646-5466F74D573B}"/>
              </a:ext>
            </a:extLst>
          </p:cNvPr>
          <p:cNvSpPr txBox="1"/>
          <p:nvPr/>
        </p:nvSpPr>
        <p:spPr>
          <a:xfrm>
            <a:off x="660400" y="2984500"/>
            <a:ext cx="3619500" cy="353943"/>
          </a:xfrm>
          <a:prstGeom prst="rect">
            <a:avLst/>
          </a:prstGeom>
          <a:noFill/>
        </p:spPr>
        <p:txBody>
          <a:bodyPr vert="horz" wrap="square" lIns="0" tIns="0" rIns="0" bIns="0" rtlCol="0">
            <a:spAutoFit/>
          </a:bodyPr>
          <a:lstStyle/>
          <a:p>
            <a:r>
              <a:rPr lang="en-US" sz="2300" b="1">
                <a:solidFill>
                  <a:srgbClr val="122D46"/>
                </a:solidFill>
                <a:latin typeface="Aptos" panose="020B0004020202020204" pitchFamily="34" charset="0"/>
              </a:rPr>
              <a:t>Windows .NET MAUI</a:t>
            </a:r>
          </a:p>
        </p:txBody>
      </p:sp>
      <p:sp>
        <p:nvSpPr>
          <p:cNvPr id="8" name="TextBox 7">
            <a:extLst>
              <a:ext uri="{FF2B5EF4-FFF2-40B4-BE49-F238E27FC236}">
                <a16:creationId xmlns:a16="http://schemas.microsoft.com/office/drawing/2014/main" id="{E3222038-8602-D7D5-75E4-09A7783B0815}"/>
              </a:ext>
            </a:extLst>
          </p:cNvPr>
          <p:cNvSpPr txBox="1"/>
          <p:nvPr/>
        </p:nvSpPr>
        <p:spPr>
          <a:xfrm>
            <a:off x="660400" y="3937000"/>
            <a:ext cx="3619500" cy="615553"/>
          </a:xfrm>
          <a:prstGeom prst="rect">
            <a:avLst/>
          </a:prstGeom>
          <a:noFill/>
        </p:spPr>
        <p:txBody>
          <a:bodyPr vert="horz" wrap="square" lIns="0" tIns="0" rIns="0" bIns="0" rtlCol="0">
            <a:spAutoFit/>
          </a:bodyPr>
          <a:lstStyle/>
          <a:p>
            <a:r>
              <a:rPr lang="en-US" sz="2000">
                <a:solidFill>
                  <a:srgbClr val="516478"/>
                </a:solidFill>
                <a:latin typeface="Aptos" panose="020B0004020202020204" pitchFamily="34" charset="0"/>
              </a:rPr>
              <a:t>Synthetic staff workbench; exact C# rules; reviewer control.</a:t>
            </a:r>
          </a:p>
        </p:txBody>
      </p:sp>
      <p:sp>
        <p:nvSpPr>
          <p:cNvPr id="9" name="Rectangle: Rounded Corners 8">
            <a:extLst>
              <a:ext uri="{FF2B5EF4-FFF2-40B4-BE49-F238E27FC236}">
                <a16:creationId xmlns:a16="http://schemas.microsoft.com/office/drawing/2014/main" id="{D2968B05-762B-AD65-0426-D7F43C31CF1D}"/>
              </a:ext>
            </a:extLst>
          </p:cNvPr>
          <p:cNvSpPr/>
          <p:nvPr/>
        </p:nvSpPr>
        <p:spPr>
          <a:xfrm>
            <a:off x="4876800" y="1968500"/>
            <a:ext cx="4165600" cy="3492500"/>
          </a:xfrm>
          <a:prstGeom prst="round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90D79438-2171-1FA4-D086-DB0EB6721D06}"/>
              </a:ext>
            </a:extLst>
          </p:cNvPr>
          <p:cNvSpPr txBox="1"/>
          <p:nvPr/>
        </p:nvSpPr>
        <p:spPr>
          <a:xfrm>
            <a:off x="5130800" y="2222500"/>
            <a:ext cx="3492500" cy="461665"/>
          </a:xfrm>
          <a:prstGeom prst="rect">
            <a:avLst/>
          </a:prstGeom>
          <a:noFill/>
        </p:spPr>
        <p:txBody>
          <a:bodyPr vert="horz" wrap="square" lIns="0" tIns="0" rIns="0" bIns="0" rtlCol="0">
            <a:spAutoFit/>
          </a:bodyPr>
          <a:lstStyle/>
          <a:p>
            <a:r>
              <a:rPr lang="en-US" sz="3000" b="1">
                <a:solidFill>
                  <a:srgbClr val="007F85"/>
                </a:solidFill>
                <a:latin typeface="Aptos" panose="020B0004020202020204" pitchFamily="34" charset="0"/>
              </a:rPr>
              <a:t>02</a:t>
            </a:r>
          </a:p>
        </p:txBody>
      </p:sp>
      <p:sp>
        <p:nvSpPr>
          <p:cNvPr id="11" name="TextBox 10">
            <a:extLst>
              <a:ext uri="{FF2B5EF4-FFF2-40B4-BE49-F238E27FC236}">
                <a16:creationId xmlns:a16="http://schemas.microsoft.com/office/drawing/2014/main" id="{506E6AB9-7871-B44F-0CBE-3C50E366B947}"/>
              </a:ext>
            </a:extLst>
          </p:cNvPr>
          <p:cNvSpPr txBox="1"/>
          <p:nvPr/>
        </p:nvSpPr>
        <p:spPr>
          <a:xfrm>
            <a:off x="5130800" y="2984500"/>
            <a:ext cx="3619500" cy="353943"/>
          </a:xfrm>
          <a:prstGeom prst="rect">
            <a:avLst/>
          </a:prstGeom>
          <a:noFill/>
        </p:spPr>
        <p:txBody>
          <a:bodyPr vert="horz" wrap="square" lIns="0" tIns="0" rIns="0" bIns="0" rtlCol="0">
            <a:spAutoFit/>
          </a:bodyPr>
          <a:lstStyle/>
          <a:p>
            <a:r>
              <a:rPr lang="en-US" sz="2300" b="1">
                <a:solidFill>
                  <a:srgbClr val="122D46"/>
                </a:solidFill>
                <a:latin typeface="Aptos" panose="020B0004020202020204" pitchFamily="34" charset="0"/>
              </a:rPr>
              <a:t>Azure SQL - private</a:t>
            </a:r>
          </a:p>
        </p:txBody>
      </p:sp>
      <p:sp>
        <p:nvSpPr>
          <p:cNvPr id="12" name="TextBox 11">
            <a:extLst>
              <a:ext uri="{FF2B5EF4-FFF2-40B4-BE49-F238E27FC236}">
                <a16:creationId xmlns:a16="http://schemas.microsoft.com/office/drawing/2014/main" id="{6B5DB954-8FD9-4B31-D8B2-9B5AADC36F25}"/>
              </a:ext>
            </a:extLst>
          </p:cNvPr>
          <p:cNvSpPr txBox="1"/>
          <p:nvPr/>
        </p:nvSpPr>
        <p:spPr>
          <a:xfrm>
            <a:off x="5130800" y="3937000"/>
            <a:ext cx="3619500" cy="923330"/>
          </a:xfrm>
          <a:prstGeom prst="rect">
            <a:avLst/>
          </a:prstGeom>
          <a:noFill/>
        </p:spPr>
        <p:txBody>
          <a:bodyPr vert="horz" wrap="square" lIns="0" tIns="0" rIns="0" bIns="0" rtlCol="0">
            <a:spAutoFit/>
          </a:bodyPr>
          <a:lstStyle/>
          <a:p>
            <a:r>
              <a:rPr lang="en-US" sz="2000">
                <a:solidFill>
                  <a:srgbClr val="516478"/>
                </a:solidFill>
                <a:latin typeface="Aptos" panose="020B0004020202020204" pitchFamily="34" charset="0"/>
              </a:rPr>
              <a:t>Fixture snapshots, review versions, audit events and idempotent internal outbox.</a:t>
            </a:r>
          </a:p>
        </p:txBody>
      </p:sp>
      <p:sp>
        <p:nvSpPr>
          <p:cNvPr id="13" name="Rectangle: Rounded Corners 12">
            <a:extLst>
              <a:ext uri="{FF2B5EF4-FFF2-40B4-BE49-F238E27FC236}">
                <a16:creationId xmlns:a16="http://schemas.microsoft.com/office/drawing/2014/main" id="{8849A4EF-AB5A-2D31-B079-DC0FE9E7E5BA}"/>
              </a:ext>
            </a:extLst>
          </p:cNvPr>
          <p:cNvSpPr/>
          <p:nvPr/>
        </p:nvSpPr>
        <p:spPr>
          <a:xfrm>
            <a:off x="9347200" y="1968500"/>
            <a:ext cx="4165600" cy="3492500"/>
          </a:xfrm>
          <a:prstGeom prst="round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AA0BA6C8-54AA-8812-26C0-0B6C163E261F}"/>
              </a:ext>
            </a:extLst>
          </p:cNvPr>
          <p:cNvSpPr txBox="1"/>
          <p:nvPr/>
        </p:nvSpPr>
        <p:spPr>
          <a:xfrm>
            <a:off x="9601200" y="2222500"/>
            <a:ext cx="3492500" cy="461665"/>
          </a:xfrm>
          <a:prstGeom prst="rect">
            <a:avLst/>
          </a:prstGeom>
          <a:noFill/>
        </p:spPr>
        <p:txBody>
          <a:bodyPr vert="horz" wrap="square" lIns="0" tIns="0" rIns="0" bIns="0" rtlCol="0">
            <a:spAutoFit/>
          </a:bodyPr>
          <a:lstStyle/>
          <a:p>
            <a:r>
              <a:rPr lang="en-US" sz="3000" b="1">
                <a:solidFill>
                  <a:srgbClr val="007F85"/>
                </a:solidFill>
                <a:latin typeface="Aptos" panose="020B0004020202020204" pitchFamily="34" charset="0"/>
              </a:rPr>
              <a:t>03</a:t>
            </a:r>
          </a:p>
        </p:txBody>
      </p:sp>
      <p:sp>
        <p:nvSpPr>
          <p:cNvPr id="15" name="TextBox 14">
            <a:extLst>
              <a:ext uri="{FF2B5EF4-FFF2-40B4-BE49-F238E27FC236}">
                <a16:creationId xmlns:a16="http://schemas.microsoft.com/office/drawing/2014/main" id="{8922736B-4A96-E38E-1FA0-9AA24D3BFDBB}"/>
              </a:ext>
            </a:extLst>
          </p:cNvPr>
          <p:cNvSpPr txBox="1"/>
          <p:nvPr/>
        </p:nvSpPr>
        <p:spPr>
          <a:xfrm>
            <a:off x="9601200" y="2984500"/>
            <a:ext cx="3619500" cy="353943"/>
          </a:xfrm>
          <a:prstGeom prst="rect">
            <a:avLst/>
          </a:prstGeom>
          <a:noFill/>
        </p:spPr>
        <p:txBody>
          <a:bodyPr vert="horz" wrap="square" lIns="0" tIns="0" rIns="0" bIns="0" rtlCol="0">
            <a:spAutoFit/>
          </a:bodyPr>
          <a:lstStyle/>
          <a:p>
            <a:r>
              <a:rPr lang="en-US" sz="2300" b="1">
                <a:solidFill>
                  <a:srgbClr val="122D46"/>
                </a:solidFill>
                <a:latin typeface="Aptos" panose="020B0004020202020204" pitchFamily="34" charset="0"/>
              </a:rPr>
              <a:t>Azure AI services</a:t>
            </a:r>
          </a:p>
        </p:txBody>
      </p:sp>
      <p:sp>
        <p:nvSpPr>
          <p:cNvPr id="16" name="TextBox 15">
            <a:extLst>
              <a:ext uri="{FF2B5EF4-FFF2-40B4-BE49-F238E27FC236}">
                <a16:creationId xmlns:a16="http://schemas.microsoft.com/office/drawing/2014/main" id="{BF477976-4C50-75CD-EDDB-7C2B70C98AFF}"/>
              </a:ext>
            </a:extLst>
          </p:cNvPr>
          <p:cNvSpPr txBox="1"/>
          <p:nvPr/>
        </p:nvSpPr>
        <p:spPr>
          <a:xfrm>
            <a:off x="9601200" y="3937000"/>
            <a:ext cx="3619500" cy="923330"/>
          </a:xfrm>
          <a:prstGeom prst="rect">
            <a:avLst/>
          </a:prstGeom>
          <a:noFill/>
        </p:spPr>
        <p:txBody>
          <a:bodyPr vert="horz" wrap="square" lIns="0" tIns="0" rIns="0" bIns="0" rtlCol="0">
            <a:spAutoFit/>
          </a:bodyPr>
          <a:lstStyle/>
          <a:p>
            <a:r>
              <a:rPr lang="en-US" sz="2000">
                <a:solidFill>
                  <a:srgbClr val="516478"/>
                </a:solidFill>
                <a:latin typeface="Aptos" panose="020B0004020202020204" pitchFamily="34" charset="0"/>
              </a:rPr>
              <a:t>OpenAI structured draft + Content Safety + filtered AI Search</a:t>
            </a:r>
          </a:p>
        </p:txBody>
      </p:sp>
      <p:sp>
        <p:nvSpPr>
          <p:cNvPr id="17" name="Rectangle: Rounded Corners 16">
            <a:extLst>
              <a:ext uri="{FF2B5EF4-FFF2-40B4-BE49-F238E27FC236}">
                <a16:creationId xmlns:a16="http://schemas.microsoft.com/office/drawing/2014/main" id="{798C627E-3A3A-A138-F628-D2AC5A97BF3E}"/>
              </a:ext>
            </a:extLst>
          </p:cNvPr>
          <p:cNvSpPr/>
          <p:nvPr/>
        </p:nvSpPr>
        <p:spPr>
          <a:xfrm>
            <a:off x="13817600" y="1968500"/>
            <a:ext cx="4165600" cy="3492500"/>
          </a:xfrm>
          <a:prstGeom prst="round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5C4C1539-BE86-1951-6BBC-1F3BB3D721FD}"/>
              </a:ext>
            </a:extLst>
          </p:cNvPr>
          <p:cNvSpPr txBox="1"/>
          <p:nvPr/>
        </p:nvSpPr>
        <p:spPr>
          <a:xfrm>
            <a:off x="14071600" y="2222500"/>
            <a:ext cx="3492500" cy="461665"/>
          </a:xfrm>
          <a:prstGeom prst="rect">
            <a:avLst/>
          </a:prstGeom>
          <a:noFill/>
        </p:spPr>
        <p:txBody>
          <a:bodyPr vert="horz" wrap="square" lIns="0" tIns="0" rIns="0" bIns="0" rtlCol="0">
            <a:spAutoFit/>
          </a:bodyPr>
          <a:lstStyle/>
          <a:p>
            <a:r>
              <a:rPr lang="en-US" sz="3000" b="1">
                <a:solidFill>
                  <a:srgbClr val="007F85"/>
                </a:solidFill>
                <a:latin typeface="Aptos" panose="020B0004020202020204" pitchFamily="34" charset="0"/>
              </a:rPr>
              <a:t>04</a:t>
            </a:r>
          </a:p>
        </p:txBody>
      </p:sp>
      <p:sp>
        <p:nvSpPr>
          <p:cNvPr id="19" name="TextBox 18">
            <a:extLst>
              <a:ext uri="{FF2B5EF4-FFF2-40B4-BE49-F238E27FC236}">
                <a16:creationId xmlns:a16="http://schemas.microsoft.com/office/drawing/2014/main" id="{870E02FD-714A-9418-8493-69976216DD99}"/>
              </a:ext>
            </a:extLst>
          </p:cNvPr>
          <p:cNvSpPr txBox="1"/>
          <p:nvPr/>
        </p:nvSpPr>
        <p:spPr>
          <a:xfrm>
            <a:off x="14071600" y="2984500"/>
            <a:ext cx="3619500" cy="353943"/>
          </a:xfrm>
          <a:prstGeom prst="rect">
            <a:avLst/>
          </a:prstGeom>
          <a:noFill/>
        </p:spPr>
        <p:txBody>
          <a:bodyPr vert="horz" wrap="square" lIns="0" tIns="0" rIns="0" bIns="0" rtlCol="0">
            <a:spAutoFit/>
          </a:bodyPr>
          <a:lstStyle/>
          <a:p>
            <a:r>
              <a:rPr lang="en-US" sz="2300" b="1">
                <a:solidFill>
                  <a:srgbClr val="122D46"/>
                </a:solidFill>
                <a:latin typeface="Aptos" panose="020B0004020202020204" pitchFamily="34" charset="0"/>
              </a:rPr>
              <a:t>Internal review / demo sink</a:t>
            </a:r>
          </a:p>
        </p:txBody>
      </p:sp>
      <p:sp>
        <p:nvSpPr>
          <p:cNvPr id="20" name="TextBox 19">
            <a:extLst>
              <a:ext uri="{FF2B5EF4-FFF2-40B4-BE49-F238E27FC236}">
                <a16:creationId xmlns:a16="http://schemas.microsoft.com/office/drawing/2014/main" id="{27E465BF-D90D-FBEE-8871-C2000731AB5F}"/>
              </a:ext>
            </a:extLst>
          </p:cNvPr>
          <p:cNvSpPr txBox="1"/>
          <p:nvPr/>
        </p:nvSpPr>
        <p:spPr>
          <a:xfrm>
            <a:off x="14071600" y="3937000"/>
            <a:ext cx="3619500" cy="923330"/>
          </a:xfrm>
          <a:prstGeom prst="rect">
            <a:avLst/>
          </a:prstGeom>
          <a:noFill/>
        </p:spPr>
        <p:txBody>
          <a:bodyPr vert="horz" wrap="square" lIns="0" tIns="0" rIns="0" bIns="0" rtlCol="0">
            <a:spAutoFit/>
          </a:bodyPr>
          <a:lstStyle/>
          <a:p>
            <a:r>
              <a:rPr lang="en-US" sz="2000">
                <a:solidFill>
                  <a:srgbClr val="516478"/>
                </a:solidFill>
                <a:latin typeface="Aptos" panose="020B0004020202020204" pitchFamily="34" charset="0"/>
              </a:rPr>
              <a:t>Recorded approval; Simulated notification. External connectors disabled.</a:t>
            </a:r>
          </a:p>
        </p:txBody>
      </p:sp>
      <p:sp>
        <p:nvSpPr>
          <p:cNvPr id="21" name="TextBox 20">
            <a:extLst>
              <a:ext uri="{FF2B5EF4-FFF2-40B4-BE49-F238E27FC236}">
                <a16:creationId xmlns:a16="http://schemas.microsoft.com/office/drawing/2014/main" id="{6393DBB5-136C-2BC7-2E14-E60DC6FCDB01}"/>
              </a:ext>
            </a:extLst>
          </p:cNvPr>
          <p:cNvSpPr txBox="1"/>
          <p:nvPr/>
        </p:nvSpPr>
        <p:spPr>
          <a:xfrm>
            <a:off x="508000" y="6032500"/>
            <a:ext cx="16764000" cy="1061829"/>
          </a:xfrm>
          <a:prstGeom prst="rect">
            <a:avLst/>
          </a:prstGeom>
          <a:noFill/>
        </p:spPr>
        <p:txBody>
          <a:bodyPr vert="horz" wrap="square" lIns="0" tIns="0" rIns="0" bIns="0" rtlCol="0">
            <a:spAutoFit/>
          </a:bodyPr>
          <a:lstStyle/>
          <a:p>
            <a:r>
              <a:rPr lang="en-US" sz="2300">
                <a:solidFill>
                  <a:srgbClr val="122D46"/>
                </a:solidFill>
                <a:latin typeface="Aptos" panose="020B0004020202020204" pitchFamily="34" charset="0"/>
              </a:rPr>
              <a:t>Live validation: 2026-10-28T15:22:14.3071789+00:00
Resource group: rg-demo-utility
Model deployment: brief / gpt-4.1-mini | Tokens: 6353 in / 1227 out</a:t>
            </a:r>
          </a:p>
        </p:txBody>
      </p:sp>
      <p:sp>
        <p:nvSpPr>
          <p:cNvPr id="22" name="TextBox 21">
            <a:extLst>
              <a:ext uri="{FF2B5EF4-FFF2-40B4-BE49-F238E27FC236}">
                <a16:creationId xmlns:a16="http://schemas.microsoft.com/office/drawing/2014/main" id="{EC119961-610E-F467-59AC-3BEB7ECB2C6D}"/>
              </a:ext>
            </a:extLst>
          </p:cNvPr>
          <p:cNvSpPr txBox="1"/>
          <p:nvPr/>
        </p:nvSpPr>
        <p:spPr>
          <a:xfrm>
            <a:off x="508000" y="7493000"/>
            <a:ext cx="16764000" cy="707886"/>
          </a:xfrm>
          <a:prstGeom prst="rect">
            <a:avLst/>
          </a:prstGeom>
          <a:noFill/>
        </p:spPr>
        <p:txBody>
          <a:bodyPr vert="horz" wrap="square" lIns="0" tIns="0" rIns="0" bIns="0" rtlCol="0">
            <a:spAutoFit/>
          </a:bodyPr>
          <a:lstStyle/>
          <a:p>
            <a:r>
              <a:rPr lang="en-US" sz="2300">
                <a:solidFill>
                  <a:srgbClr val="007F85"/>
                </a:solidFill>
                <a:latin typeface="Aptos" panose="020B0004020202020204" pitchFamily="34" charset="0"/>
              </a:rPr>
              <a:t>SQL public access stays disabled. An ephemeral Azure container executes inside the private VNet; desktop screens replay its recorded outputs.</a:t>
            </a:r>
          </a:p>
        </p:txBody>
      </p:sp>
      <p:sp>
        <p:nvSpPr>
          <p:cNvPr id="23" name="TextBox 22">
            <a:extLst>
              <a:ext uri="{FF2B5EF4-FFF2-40B4-BE49-F238E27FC236}">
                <a16:creationId xmlns:a16="http://schemas.microsoft.com/office/drawing/2014/main" id="{30E64AE3-1CDC-301D-F862-00E8B380EBF8}"/>
              </a:ext>
            </a:extLst>
          </p:cNvPr>
          <p:cNvSpPr txBox="1"/>
          <p:nvPr/>
        </p:nvSpPr>
        <p:spPr>
          <a:xfrm>
            <a:off x="508000" y="8572500"/>
            <a:ext cx="16764000" cy="307777"/>
          </a:xfrm>
          <a:prstGeom prst="rect">
            <a:avLst/>
          </a:prstGeom>
          <a:noFill/>
        </p:spPr>
        <p:txBody>
          <a:bodyPr vert="horz" wrap="square" lIns="0" tIns="0" rIns="0" bIns="0" rtlCol="0">
            <a:spAutoFit/>
          </a:bodyPr>
          <a:lstStyle/>
          <a:p>
            <a:r>
              <a:rPr lang="en-US" sz="2000">
                <a:solidFill>
                  <a:srgbClr val="516478"/>
                </a:solidFill>
                <a:latin typeface="Aptos" panose="020B0004020202020204" pitchFamily="34" charset="0"/>
              </a:rPr>
              <a:t>Limits: curated documents only; no arbitrary upload/scanning claim; no public production API; Search is filtered keyword retrieval.</a:t>
            </a:r>
          </a:p>
        </p:txBody>
      </p:sp>
      <p:sp>
        <p:nvSpPr>
          <p:cNvPr id="24" name="TextBox 23">
            <a:hlinkClick r:id="rId3" action="ppaction://hlinksldjump"/>
            <a:extLst>
              <a:ext uri="{FF2B5EF4-FFF2-40B4-BE49-F238E27FC236}">
                <a16:creationId xmlns:a16="http://schemas.microsoft.com/office/drawing/2014/main" id="{1C70062E-992A-45E4-2DD2-FE5E55D11577}"/>
              </a:ext>
            </a:extLst>
          </p:cNvPr>
          <p:cNvSpPr txBox="1"/>
          <p:nvPr/>
        </p:nvSpPr>
        <p:spPr>
          <a:xfrm>
            <a:off x="14859000" y="9906000"/>
            <a:ext cx="914400" cy="200055"/>
          </a:xfrm>
          <a:prstGeom prst="rect">
            <a:avLst/>
          </a:prstGeom>
          <a:noFill/>
        </p:spPr>
        <p:txBody>
          <a:bodyPr vert="horz" wrap="square" lIns="0" tIns="0" rIns="0" bIns="0" rtlCol="0">
            <a:spAutoFit/>
          </a:bodyPr>
          <a:lstStyle/>
          <a:p>
            <a:r>
              <a:rPr lang="en-US" sz="1300" b="1">
                <a:solidFill>
                  <a:srgbClr val="007F85"/>
                </a:solidFill>
                <a:latin typeface="Aptos" panose="020B0004020202020204" pitchFamily="34" charset="0"/>
              </a:rPr>
              <a:t>PREV</a:t>
            </a:r>
          </a:p>
        </p:txBody>
      </p:sp>
      <p:sp>
        <p:nvSpPr>
          <p:cNvPr id="25" name="TextBox 24">
            <a:hlinkClick r:id="rId4" action="ppaction://hlinksldjump"/>
            <a:extLst>
              <a:ext uri="{FF2B5EF4-FFF2-40B4-BE49-F238E27FC236}">
                <a16:creationId xmlns:a16="http://schemas.microsoft.com/office/drawing/2014/main" id="{64D7A937-D4E9-1192-174C-45A1FB49BF62}"/>
              </a:ext>
            </a:extLst>
          </p:cNvPr>
          <p:cNvSpPr txBox="1"/>
          <p:nvPr/>
        </p:nvSpPr>
        <p:spPr>
          <a:xfrm>
            <a:off x="15875000" y="9906000"/>
            <a:ext cx="914400" cy="200055"/>
          </a:xfrm>
          <a:prstGeom prst="rect">
            <a:avLst/>
          </a:prstGeom>
          <a:noFill/>
        </p:spPr>
        <p:txBody>
          <a:bodyPr vert="horz" wrap="square" lIns="0" tIns="0" rIns="0" bIns="0" rtlCol="0">
            <a:spAutoFit/>
          </a:bodyPr>
          <a:lstStyle/>
          <a:p>
            <a:r>
              <a:rPr lang="en-US" sz="1300" b="1">
                <a:solidFill>
                  <a:srgbClr val="007F85"/>
                </a:solidFill>
                <a:latin typeface="Aptos" panose="020B0004020202020204" pitchFamily="34" charset="0"/>
              </a:rPr>
              <a:t>MENU</a:t>
            </a:r>
          </a:p>
        </p:txBody>
      </p:sp>
      <p:sp>
        <p:nvSpPr>
          <p:cNvPr id="26" name="TextBox 25">
            <a:hlinkClick r:id="rId5" action="ppaction://hlinksldjump"/>
            <a:extLst>
              <a:ext uri="{FF2B5EF4-FFF2-40B4-BE49-F238E27FC236}">
                <a16:creationId xmlns:a16="http://schemas.microsoft.com/office/drawing/2014/main" id="{A6EBFFAE-0B69-8808-C693-FFB1CDD99888}"/>
              </a:ext>
            </a:extLst>
          </p:cNvPr>
          <p:cNvSpPr txBox="1"/>
          <p:nvPr/>
        </p:nvSpPr>
        <p:spPr>
          <a:xfrm>
            <a:off x="16891000" y="9906000"/>
            <a:ext cx="914400" cy="200055"/>
          </a:xfrm>
          <a:prstGeom prst="rect">
            <a:avLst/>
          </a:prstGeom>
          <a:noFill/>
        </p:spPr>
        <p:txBody>
          <a:bodyPr vert="horz" wrap="square" lIns="0" tIns="0" rIns="0" bIns="0" rtlCol="0">
            <a:spAutoFit/>
          </a:bodyPr>
          <a:lstStyle/>
          <a:p>
            <a:r>
              <a:rPr lang="en-US" sz="1300" b="1">
                <a:solidFill>
                  <a:srgbClr val="007F85"/>
                </a:solidFill>
                <a:latin typeface="Aptos" panose="020B0004020202020204" pitchFamily="34" charset="0"/>
              </a:rPr>
              <a:t>NEXT</a:t>
            </a:r>
          </a:p>
        </p:txBody>
      </p:sp>
    </p:spTree>
    <p:extLst>
      <p:ext uri="{BB962C8B-B14F-4D97-AF65-F5344CB8AC3E}">
        <p14:creationId xmlns:p14="http://schemas.microsoft.com/office/powerpoint/2010/main" val="34643366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4F7FB"/>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2D031CF-B7CA-4DA7-0966-9E42B3332368}"/>
              </a:ext>
            </a:extLst>
          </p:cNvPr>
          <p:cNvSpPr txBox="1"/>
          <p:nvPr/>
        </p:nvSpPr>
        <p:spPr>
          <a:xfrm>
            <a:off x="406400" y="279400"/>
            <a:ext cx="16891000" cy="200055"/>
          </a:xfrm>
          <a:prstGeom prst="rect">
            <a:avLst/>
          </a:prstGeom>
          <a:noFill/>
        </p:spPr>
        <p:txBody>
          <a:bodyPr vert="horz" wrap="square" lIns="0" tIns="0" rIns="0" bIns="0" rtlCol="0">
            <a:spAutoFit/>
          </a:bodyPr>
          <a:lstStyle/>
          <a:p>
            <a:r>
              <a:rPr lang="en-US" sz="1300" b="1">
                <a:solidFill>
                  <a:srgbClr val="007F85"/>
                </a:solidFill>
                <a:latin typeface="Aptos" panose="020B0004020202020204" pitchFamily="34" charset="0"/>
              </a:rPr>
              <a:t>NATIVE MAUI / REPLAY OF CAPTURED AZURE RUN</a:t>
            </a:r>
          </a:p>
        </p:txBody>
      </p:sp>
      <p:sp>
        <p:nvSpPr>
          <p:cNvPr id="3" name="TextBox 2">
            <a:extLst>
              <a:ext uri="{FF2B5EF4-FFF2-40B4-BE49-F238E27FC236}">
                <a16:creationId xmlns:a16="http://schemas.microsoft.com/office/drawing/2014/main" id="{5D57D4C0-EB96-F897-BE60-4DD683F8C5DD}"/>
              </a:ext>
            </a:extLst>
          </p:cNvPr>
          <p:cNvSpPr txBox="1"/>
          <p:nvPr/>
        </p:nvSpPr>
        <p:spPr>
          <a:xfrm>
            <a:off x="406400" y="698500"/>
            <a:ext cx="17272000" cy="461665"/>
          </a:xfrm>
          <a:prstGeom prst="rect">
            <a:avLst/>
          </a:prstGeom>
          <a:noFill/>
        </p:spPr>
        <p:txBody>
          <a:bodyPr vert="horz" wrap="square" lIns="0" tIns="0" rIns="0" bIns="0" rtlCol="0">
            <a:spAutoFit/>
          </a:bodyPr>
          <a:lstStyle/>
          <a:p>
            <a:r>
              <a:rPr lang="en-US" sz="3000" b="1">
                <a:solidFill>
                  <a:srgbClr val="122D46"/>
                </a:solidFill>
                <a:latin typeface="Aptos" panose="020B0004020202020204" pitchFamily="34" charset="0"/>
              </a:rPr>
              <a:t>Step 01: Authorized account</a:t>
            </a:r>
          </a:p>
        </p:txBody>
      </p:sp>
      <p:sp>
        <p:nvSpPr>
          <p:cNvPr id="4" name="TextBox 3">
            <a:extLst>
              <a:ext uri="{FF2B5EF4-FFF2-40B4-BE49-F238E27FC236}">
                <a16:creationId xmlns:a16="http://schemas.microsoft.com/office/drawing/2014/main" id="{49EFE47B-2B11-A76A-C324-A99D900C6B06}"/>
              </a:ext>
            </a:extLst>
          </p:cNvPr>
          <p:cNvSpPr txBox="1"/>
          <p:nvPr/>
        </p:nvSpPr>
        <p:spPr>
          <a:xfrm>
            <a:off x="406400" y="9906000"/>
            <a:ext cx="14605000" cy="184666"/>
          </a:xfrm>
          <a:prstGeom prst="rect">
            <a:avLst/>
          </a:prstGeom>
          <a:noFill/>
        </p:spPr>
        <p:txBody>
          <a:bodyPr vert="horz" wrap="square" lIns="0" tIns="0" rIns="0" bIns="0" rtlCol="0">
            <a:spAutoFit/>
          </a:bodyPr>
          <a:lstStyle/>
          <a:p>
            <a:r>
              <a:rPr lang="en-US" sz="1200">
                <a:solidFill>
                  <a:srgbClr val="516478"/>
                </a:solidFill>
                <a:latin typeface="Aptos" panose="020B0004020202020204" pitchFamily="34" charset="0"/>
              </a:rPr>
              <a:t>Synthetic demonstration | Captured replay, not a live slide | Human decisions remain explicit</a:t>
            </a:r>
          </a:p>
        </p:txBody>
      </p:sp>
      <p:pic>
        <p:nvPicPr>
          <p:cNvPr id="6" name="Picture 5">
            <a:extLst>
              <a:ext uri="{FF2B5EF4-FFF2-40B4-BE49-F238E27FC236}">
                <a16:creationId xmlns:a16="http://schemas.microsoft.com/office/drawing/2014/main" id="{98A87F17-646B-34DD-9D42-0A8142B8D433}"/>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406400" y="1524000"/>
            <a:ext cx="12700000" cy="8020113"/>
          </a:xfrm>
          <a:prstGeom prst="rect">
            <a:avLst/>
          </a:prstGeom>
        </p:spPr>
      </p:pic>
      <p:sp>
        <p:nvSpPr>
          <p:cNvPr id="7" name="Rectangle 6">
            <a:extLst>
              <a:ext uri="{FF2B5EF4-FFF2-40B4-BE49-F238E27FC236}">
                <a16:creationId xmlns:a16="http://schemas.microsoft.com/office/drawing/2014/main" id="{294795E6-38EF-78A4-F46D-13FD021256FC}"/>
              </a:ext>
            </a:extLst>
          </p:cNvPr>
          <p:cNvSpPr/>
          <p:nvPr/>
        </p:nvSpPr>
        <p:spPr>
          <a:xfrm>
            <a:off x="611815" y="3551356"/>
            <a:ext cx="2188115" cy="660900"/>
          </a:xfrm>
          <a:prstGeom prst="rect">
            <a:avLst/>
          </a:prstGeom>
          <a:noFill/>
          <a:ln w="38100" cap="flat" cmpd="sng" algn="ctr">
            <a:solidFill>
              <a:srgbClr val="D22525"/>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E71E16C7-FF40-4C77-FAA9-A6CA5FC83645}"/>
              </a:ext>
            </a:extLst>
          </p:cNvPr>
          <p:cNvSpPr txBox="1"/>
          <p:nvPr/>
        </p:nvSpPr>
        <p:spPr>
          <a:xfrm>
            <a:off x="13462000" y="1714500"/>
            <a:ext cx="4191000" cy="276999"/>
          </a:xfrm>
          <a:prstGeom prst="rect">
            <a:avLst/>
          </a:prstGeom>
          <a:noFill/>
        </p:spPr>
        <p:txBody>
          <a:bodyPr vert="horz" wrap="square" lIns="0" tIns="0" rIns="0" bIns="0" rtlCol="0">
            <a:spAutoFit/>
          </a:bodyPr>
          <a:lstStyle/>
          <a:p>
            <a:r>
              <a:rPr lang="en-US" b="1">
                <a:solidFill>
                  <a:srgbClr val="D22525"/>
                </a:solidFill>
                <a:latin typeface="Aptos" panose="020B0004020202020204" pitchFamily="34" charset="0"/>
              </a:rPr>
              <a:t>CLICK</a:t>
            </a:r>
          </a:p>
        </p:txBody>
      </p:sp>
      <p:sp>
        <p:nvSpPr>
          <p:cNvPr id="9" name="TextBox 8">
            <a:extLst>
              <a:ext uri="{FF2B5EF4-FFF2-40B4-BE49-F238E27FC236}">
                <a16:creationId xmlns:a16="http://schemas.microsoft.com/office/drawing/2014/main" id="{819E6DFE-2CB8-72D8-3166-C69EB50F1232}"/>
              </a:ext>
            </a:extLst>
          </p:cNvPr>
          <p:cNvSpPr txBox="1"/>
          <p:nvPr/>
        </p:nvSpPr>
        <p:spPr>
          <a:xfrm>
            <a:off x="13462000" y="2222500"/>
            <a:ext cx="4254500" cy="707886"/>
          </a:xfrm>
          <a:prstGeom prst="rect">
            <a:avLst/>
          </a:prstGeom>
          <a:noFill/>
        </p:spPr>
        <p:txBody>
          <a:bodyPr vert="horz" wrap="square" lIns="0" tIns="0" rIns="0" bIns="0" rtlCol="0">
            <a:spAutoFit/>
          </a:bodyPr>
          <a:lstStyle/>
          <a:p>
            <a:r>
              <a:rPr lang="en-US" sz="2300">
                <a:solidFill>
                  <a:srgbClr val="122D46"/>
                </a:solidFill>
                <a:latin typeface="Aptos" panose="020B0004020202020204" pitchFamily="34" charset="0"/>
              </a:rPr>
              <a:t>Select step 01 in the left-hand flow.</a:t>
            </a:r>
          </a:p>
        </p:txBody>
      </p:sp>
      <p:sp>
        <p:nvSpPr>
          <p:cNvPr id="10" name="TextBox 9">
            <a:extLst>
              <a:ext uri="{FF2B5EF4-FFF2-40B4-BE49-F238E27FC236}">
                <a16:creationId xmlns:a16="http://schemas.microsoft.com/office/drawing/2014/main" id="{CF307ED3-C1D9-FAAF-BE1B-CC4DCA6945E1}"/>
              </a:ext>
            </a:extLst>
          </p:cNvPr>
          <p:cNvSpPr txBox="1"/>
          <p:nvPr/>
        </p:nvSpPr>
        <p:spPr>
          <a:xfrm>
            <a:off x="13462000" y="3556000"/>
            <a:ext cx="4254500" cy="261610"/>
          </a:xfrm>
          <a:prstGeom prst="rect">
            <a:avLst/>
          </a:prstGeom>
          <a:noFill/>
        </p:spPr>
        <p:txBody>
          <a:bodyPr vert="horz" wrap="square" lIns="0" tIns="0" rIns="0" bIns="0" rtlCol="0">
            <a:spAutoFit/>
          </a:bodyPr>
          <a:lstStyle/>
          <a:p>
            <a:r>
              <a:rPr lang="en-US" sz="1700" b="1">
                <a:solidFill>
                  <a:srgbClr val="007F85"/>
                </a:solidFill>
                <a:latin typeface="Aptos" panose="020B0004020202020204" pitchFamily="34" charset="0"/>
              </a:rPr>
              <a:t>WHAT YOU ARE SEEING</a:t>
            </a:r>
          </a:p>
        </p:txBody>
      </p:sp>
      <p:sp>
        <p:nvSpPr>
          <p:cNvPr id="11" name="TextBox 10">
            <a:extLst>
              <a:ext uri="{FF2B5EF4-FFF2-40B4-BE49-F238E27FC236}">
                <a16:creationId xmlns:a16="http://schemas.microsoft.com/office/drawing/2014/main" id="{918C7A57-25FF-BFED-2BEE-7F8B163D192E}"/>
              </a:ext>
            </a:extLst>
          </p:cNvPr>
          <p:cNvSpPr txBox="1"/>
          <p:nvPr/>
        </p:nvSpPr>
        <p:spPr>
          <a:xfrm>
            <a:off x="13462000" y="4089400"/>
            <a:ext cx="4254500" cy="1354217"/>
          </a:xfrm>
          <a:prstGeom prst="rect">
            <a:avLst/>
          </a:prstGeom>
          <a:noFill/>
        </p:spPr>
        <p:txBody>
          <a:bodyPr vert="horz" wrap="square" lIns="0" tIns="0" rIns="0" bIns="0" rtlCol="0">
            <a:spAutoFit/>
          </a:bodyPr>
          <a:lstStyle/>
          <a:p>
            <a:r>
              <a:rPr lang="en-US" sz="2200">
                <a:solidFill>
                  <a:srgbClr val="122D46"/>
                </a:solidFill>
                <a:latin typeface="Aptos" panose="020B0004020202020204" pitchFamily="34" charset="0"/>
              </a:rPr>
              <a:t>Exact fixture facts and deterministic checks, a source-linked internal AI draft, and explicit human-review limits.</a:t>
            </a:r>
          </a:p>
        </p:txBody>
      </p:sp>
      <p:sp>
        <p:nvSpPr>
          <p:cNvPr id="12" name="TextBox 11">
            <a:extLst>
              <a:ext uri="{FF2B5EF4-FFF2-40B4-BE49-F238E27FC236}">
                <a16:creationId xmlns:a16="http://schemas.microsoft.com/office/drawing/2014/main" id="{94D98BF6-06F0-3D21-94CC-C4D64E4130D9}"/>
              </a:ext>
            </a:extLst>
          </p:cNvPr>
          <p:cNvSpPr txBox="1"/>
          <p:nvPr/>
        </p:nvSpPr>
        <p:spPr>
          <a:xfrm>
            <a:off x="13462000" y="7239000"/>
            <a:ext cx="4254500" cy="261610"/>
          </a:xfrm>
          <a:prstGeom prst="rect">
            <a:avLst/>
          </a:prstGeom>
          <a:noFill/>
        </p:spPr>
        <p:txBody>
          <a:bodyPr vert="horz" wrap="square" lIns="0" tIns="0" rIns="0" bIns="0" rtlCol="0">
            <a:spAutoFit/>
          </a:bodyPr>
          <a:lstStyle/>
          <a:p>
            <a:r>
              <a:rPr lang="en-US" sz="1700" b="1">
                <a:solidFill>
                  <a:srgbClr val="007F85"/>
                </a:solidFill>
                <a:latin typeface="Aptos" panose="020B0004020202020204" pitchFamily="34" charset="0"/>
              </a:rPr>
              <a:t>BUSINESS VALUE</a:t>
            </a:r>
          </a:p>
        </p:txBody>
      </p:sp>
      <p:sp>
        <p:nvSpPr>
          <p:cNvPr id="13" name="TextBox 12">
            <a:extLst>
              <a:ext uri="{FF2B5EF4-FFF2-40B4-BE49-F238E27FC236}">
                <a16:creationId xmlns:a16="http://schemas.microsoft.com/office/drawing/2014/main" id="{5527078D-FA26-3DD1-7731-F1BE7BAD213F}"/>
              </a:ext>
            </a:extLst>
          </p:cNvPr>
          <p:cNvSpPr txBox="1"/>
          <p:nvPr/>
        </p:nvSpPr>
        <p:spPr>
          <a:xfrm>
            <a:off x="13462000" y="7772400"/>
            <a:ext cx="4254500" cy="969496"/>
          </a:xfrm>
          <a:prstGeom prst="rect">
            <a:avLst/>
          </a:prstGeom>
          <a:noFill/>
        </p:spPr>
        <p:txBody>
          <a:bodyPr vert="horz" wrap="square" lIns="0" tIns="0" rIns="0" bIns="0" rtlCol="0">
            <a:spAutoFit/>
          </a:bodyPr>
          <a:lstStyle/>
          <a:p>
            <a:r>
              <a:rPr lang="en-US" sz="2100">
                <a:solidFill>
                  <a:srgbClr val="516478"/>
                </a:solidFill>
                <a:latin typeface="Aptos" panose="020B0004020202020204" pitchFamily="34" charset="0"/>
              </a:rPr>
              <a:t>Reduce reassembly of context while keeping the source and decision boundary visible.</a:t>
            </a:r>
          </a:p>
        </p:txBody>
      </p:sp>
      <p:sp>
        <p:nvSpPr>
          <p:cNvPr id="14" name="TextBox 13">
            <a:hlinkClick r:id="rId4" action="ppaction://hlinksldjump"/>
            <a:extLst>
              <a:ext uri="{FF2B5EF4-FFF2-40B4-BE49-F238E27FC236}">
                <a16:creationId xmlns:a16="http://schemas.microsoft.com/office/drawing/2014/main" id="{CE1365FC-2EF0-8718-5D70-364FD2760A03}"/>
              </a:ext>
            </a:extLst>
          </p:cNvPr>
          <p:cNvSpPr txBox="1"/>
          <p:nvPr/>
        </p:nvSpPr>
        <p:spPr>
          <a:xfrm>
            <a:off x="14859000" y="9906000"/>
            <a:ext cx="914400" cy="200055"/>
          </a:xfrm>
          <a:prstGeom prst="rect">
            <a:avLst/>
          </a:prstGeom>
          <a:noFill/>
        </p:spPr>
        <p:txBody>
          <a:bodyPr vert="horz" wrap="square" lIns="0" tIns="0" rIns="0" bIns="0" rtlCol="0">
            <a:spAutoFit/>
          </a:bodyPr>
          <a:lstStyle/>
          <a:p>
            <a:r>
              <a:rPr lang="en-US" sz="1300" b="1">
                <a:solidFill>
                  <a:srgbClr val="007F85"/>
                </a:solidFill>
                <a:latin typeface="Aptos" panose="020B0004020202020204" pitchFamily="34" charset="0"/>
              </a:rPr>
              <a:t>PREV</a:t>
            </a:r>
          </a:p>
        </p:txBody>
      </p:sp>
      <p:sp>
        <p:nvSpPr>
          <p:cNvPr id="15" name="TextBox 14">
            <a:hlinkClick r:id="rId4" action="ppaction://hlinksldjump"/>
            <a:extLst>
              <a:ext uri="{FF2B5EF4-FFF2-40B4-BE49-F238E27FC236}">
                <a16:creationId xmlns:a16="http://schemas.microsoft.com/office/drawing/2014/main" id="{84D77346-748E-C13C-104B-C574367D9316}"/>
              </a:ext>
            </a:extLst>
          </p:cNvPr>
          <p:cNvSpPr txBox="1"/>
          <p:nvPr/>
        </p:nvSpPr>
        <p:spPr>
          <a:xfrm>
            <a:off x="15875000" y="9906000"/>
            <a:ext cx="914400" cy="200055"/>
          </a:xfrm>
          <a:prstGeom prst="rect">
            <a:avLst/>
          </a:prstGeom>
          <a:noFill/>
        </p:spPr>
        <p:txBody>
          <a:bodyPr vert="horz" wrap="square" lIns="0" tIns="0" rIns="0" bIns="0" rtlCol="0">
            <a:spAutoFit/>
          </a:bodyPr>
          <a:lstStyle/>
          <a:p>
            <a:r>
              <a:rPr lang="en-US" sz="1300" b="1">
                <a:solidFill>
                  <a:srgbClr val="007F85"/>
                </a:solidFill>
                <a:latin typeface="Aptos" panose="020B0004020202020204" pitchFamily="34" charset="0"/>
              </a:rPr>
              <a:t>MENU</a:t>
            </a:r>
          </a:p>
        </p:txBody>
      </p:sp>
      <p:sp>
        <p:nvSpPr>
          <p:cNvPr id="16" name="TextBox 15">
            <a:hlinkClick r:id="rId5" action="ppaction://hlinksldjump"/>
            <a:extLst>
              <a:ext uri="{FF2B5EF4-FFF2-40B4-BE49-F238E27FC236}">
                <a16:creationId xmlns:a16="http://schemas.microsoft.com/office/drawing/2014/main" id="{5E5D363A-EB50-BE76-AEB1-860F7D60261A}"/>
              </a:ext>
            </a:extLst>
          </p:cNvPr>
          <p:cNvSpPr txBox="1"/>
          <p:nvPr/>
        </p:nvSpPr>
        <p:spPr>
          <a:xfrm>
            <a:off x="16891000" y="9906000"/>
            <a:ext cx="914400" cy="200055"/>
          </a:xfrm>
          <a:prstGeom prst="rect">
            <a:avLst/>
          </a:prstGeom>
          <a:noFill/>
        </p:spPr>
        <p:txBody>
          <a:bodyPr vert="horz" wrap="square" lIns="0" tIns="0" rIns="0" bIns="0" rtlCol="0">
            <a:spAutoFit/>
          </a:bodyPr>
          <a:lstStyle/>
          <a:p>
            <a:r>
              <a:rPr lang="en-US" sz="1300" b="1">
                <a:solidFill>
                  <a:srgbClr val="007F85"/>
                </a:solidFill>
                <a:latin typeface="Aptos" panose="020B0004020202020204" pitchFamily="34" charset="0"/>
              </a:rPr>
              <a:t>NEXT</a:t>
            </a:r>
          </a:p>
        </p:txBody>
      </p:sp>
    </p:spTree>
    <p:extLst>
      <p:ext uri="{BB962C8B-B14F-4D97-AF65-F5344CB8AC3E}">
        <p14:creationId xmlns:p14="http://schemas.microsoft.com/office/powerpoint/2010/main" val="403749192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4F7FB"/>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3A31FA6-BD32-A7E3-22E5-0753E5FF7B43}"/>
              </a:ext>
            </a:extLst>
          </p:cNvPr>
          <p:cNvSpPr txBox="1"/>
          <p:nvPr/>
        </p:nvSpPr>
        <p:spPr>
          <a:xfrm>
            <a:off x="406400" y="279400"/>
            <a:ext cx="16891000" cy="200055"/>
          </a:xfrm>
          <a:prstGeom prst="rect">
            <a:avLst/>
          </a:prstGeom>
          <a:noFill/>
        </p:spPr>
        <p:txBody>
          <a:bodyPr vert="horz" wrap="square" lIns="0" tIns="0" rIns="0" bIns="0" rtlCol="0">
            <a:spAutoFit/>
          </a:bodyPr>
          <a:lstStyle/>
          <a:p>
            <a:r>
              <a:rPr lang="en-US" sz="1300" b="1">
                <a:solidFill>
                  <a:srgbClr val="007F85"/>
                </a:solidFill>
                <a:latin typeface="Aptos" panose="020B0004020202020204" pitchFamily="34" charset="0"/>
              </a:rPr>
              <a:t>NATIVE MAUI / REPLAY OF CAPTURED AZURE RUN</a:t>
            </a:r>
          </a:p>
        </p:txBody>
      </p:sp>
      <p:sp>
        <p:nvSpPr>
          <p:cNvPr id="3" name="TextBox 2">
            <a:extLst>
              <a:ext uri="{FF2B5EF4-FFF2-40B4-BE49-F238E27FC236}">
                <a16:creationId xmlns:a16="http://schemas.microsoft.com/office/drawing/2014/main" id="{5CA66DD7-3C70-DE56-951A-F48AF18B7D7C}"/>
              </a:ext>
            </a:extLst>
          </p:cNvPr>
          <p:cNvSpPr txBox="1"/>
          <p:nvPr/>
        </p:nvSpPr>
        <p:spPr>
          <a:xfrm>
            <a:off x="406400" y="698500"/>
            <a:ext cx="17272000" cy="461665"/>
          </a:xfrm>
          <a:prstGeom prst="rect">
            <a:avLst/>
          </a:prstGeom>
          <a:noFill/>
        </p:spPr>
        <p:txBody>
          <a:bodyPr vert="horz" wrap="square" lIns="0" tIns="0" rIns="0" bIns="0" rtlCol="0">
            <a:spAutoFit/>
          </a:bodyPr>
          <a:lstStyle/>
          <a:p>
            <a:r>
              <a:rPr lang="en-US" sz="3000" b="1">
                <a:solidFill>
                  <a:srgbClr val="122D46"/>
                </a:solidFill>
                <a:latin typeface="Aptos" panose="020B0004020202020204" pitchFamily="34" charset="0"/>
              </a:rPr>
              <a:t>Step 02: Tariff calculation</a:t>
            </a:r>
          </a:p>
        </p:txBody>
      </p:sp>
      <p:sp>
        <p:nvSpPr>
          <p:cNvPr id="4" name="TextBox 3">
            <a:extLst>
              <a:ext uri="{FF2B5EF4-FFF2-40B4-BE49-F238E27FC236}">
                <a16:creationId xmlns:a16="http://schemas.microsoft.com/office/drawing/2014/main" id="{474863AD-4E98-88F3-61BD-852B86663B8F}"/>
              </a:ext>
            </a:extLst>
          </p:cNvPr>
          <p:cNvSpPr txBox="1"/>
          <p:nvPr/>
        </p:nvSpPr>
        <p:spPr>
          <a:xfrm>
            <a:off x="406400" y="9906000"/>
            <a:ext cx="14605000" cy="184666"/>
          </a:xfrm>
          <a:prstGeom prst="rect">
            <a:avLst/>
          </a:prstGeom>
          <a:noFill/>
        </p:spPr>
        <p:txBody>
          <a:bodyPr vert="horz" wrap="square" lIns="0" tIns="0" rIns="0" bIns="0" rtlCol="0">
            <a:spAutoFit/>
          </a:bodyPr>
          <a:lstStyle/>
          <a:p>
            <a:r>
              <a:rPr lang="en-US" sz="1200">
                <a:solidFill>
                  <a:srgbClr val="516478"/>
                </a:solidFill>
                <a:latin typeface="Aptos" panose="020B0004020202020204" pitchFamily="34" charset="0"/>
              </a:rPr>
              <a:t>Synthetic demonstration | Captured replay, not a live slide | Human decisions remain explicit</a:t>
            </a:r>
          </a:p>
        </p:txBody>
      </p:sp>
      <p:pic>
        <p:nvPicPr>
          <p:cNvPr id="6" name="Picture 5">
            <a:extLst>
              <a:ext uri="{FF2B5EF4-FFF2-40B4-BE49-F238E27FC236}">
                <a16:creationId xmlns:a16="http://schemas.microsoft.com/office/drawing/2014/main" id="{8314DE72-D25C-B02C-A0AE-0C36BE90E718}"/>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406400" y="1524000"/>
            <a:ext cx="12700000" cy="8020113"/>
          </a:xfrm>
          <a:prstGeom prst="rect">
            <a:avLst/>
          </a:prstGeom>
        </p:spPr>
      </p:pic>
      <p:sp>
        <p:nvSpPr>
          <p:cNvPr id="7" name="Rectangle 6">
            <a:extLst>
              <a:ext uri="{FF2B5EF4-FFF2-40B4-BE49-F238E27FC236}">
                <a16:creationId xmlns:a16="http://schemas.microsoft.com/office/drawing/2014/main" id="{81A3B206-F757-1DC1-845D-8E0F84386AAF}"/>
              </a:ext>
            </a:extLst>
          </p:cNvPr>
          <p:cNvSpPr/>
          <p:nvPr/>
        </p:nvSpPr>
        <p:spPr>
          <a:xfrm>
            <a:off x="611815" y="4292636"/>
            <a:ext cx="2188115" cy="660900"/>
          </a:xfrm>
          <a:prstGeom prst="rect">
            <a:avLst/>
          </a:prstGeom>
          <a:noFill/>
          <a:ln w="38100" cap="flat" cmpd="sng" algn="ctr">
            <a:solidFill>
              <a:srgbClr val="D22525"/>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263AB93C-4318-3476-067C-1FB0E02BB3AD}"/>
              </a:ext>
            </a:extLst>
          </p:cNvPr>
          <p:cNvSpPr txBox="1"/>
          <p:nvPr/>
        </p:nvSpPr>
        <p:spPr>
          <a:xfrm>
            <a:off x="13462000" y="1714500"/>
            <a:ext cx="4191000" cy="276999"/>
          </a:xfrm>
          <a:prstGeom prst="rect">
            <a:avLst/>
          </a:prstGeom>
          <a:noFill/>
        </p:spPr>
        <p:txBody>
          <a:bodyPr vert="horz" wrap="square" lIns="0" tIns="0" rIns="0" bIns="0" rtlCol="0">
            <a:spAutoFit/>
          </a:bodyPr>
          <a:lstStyle/>
          <a:p>
            <a:r>
              <a:rPr lang="en-US" b="1">
                <a:solidFill>
                  <a:srgbClr val="D22525"/>
                </a:solidFill>
                <a:latin typeface="Aptos" panose="020B0004020202020204" pitchFamily="34" charset="0"/>
              </a:rPr>
              <a:t>CLICK</a:t>
            </a:r>
          </a:p>
        </p:txBody>
      </p:sp>
      <p:sp>
        <p:nvSpPr>
          <p:cNvPr id="9" name="TextBox 8">
            <a:extLst>
              <a:ext uri="{FF2B5EF4-FFF2-40B4-BE49-F238E27FC236}">
                <a16:creationId xmlns:a16="http://schemas.microsoft.com/office/drawing/2014/main" id="{16E33146-B271-8A00-D255-76B39CB7DD15}"/>
              </a:ext>
            </a:extLst>
          </p:cNvPr>
          <p:cNvSpPr txBox="1"/>
          <p:nvPr/>
        </p:nvSpPr>
        <p:spPr>
          <a:xfrm>
            <a:off x="13462000" y="2222500"/>
            <a:ext cx="4254500" cy="707886"/>
          </a:xfrm>
          <a:prstGeom prst="rect">
            <a:avLst/>
          </a:prstGeom>
          <a:noFill/>
        </p:spPr>
        <p:txBody>
          <a:bodyPr vert="horz" wrap="square" lIns="0" tIns="0" rIns="0" bIns="0" rtlCol="0">
            <a:spAutoFit/>
          </a:bodyPr>
          <a:lstStyle/>
          <a:p>
            <a:r>
              <a:rPr lang="en-US" sz="2300">
                <a:solidFill>
                  <a:srgbClr val="122D46"/>
                </a:solidFill>
                <a:latin typeface="Aptos" panose="020B0004020202020204" pitchFamily="34" charset="0"/>
              </a:rPr>
              <a:t>Select step 02 in the left-hand flow.</a:t>
            </a:r>
          </a:p>
        </p:txBody>
      </p:sp>
      <p:sp>
        <p:nvSpPr>
          <p:cNvPr id="10" name="TextBox 9">
            <a:extLst>
              <a:ext uri="{FF2B5EF4-FFF2-40B4-BE49-F238E27FC236}">
                <a16:creationId xmlns:a16="http://schemas.microsoft.com/office/drawing/2014/main" id="{9A20D0E5-DE85-B0B8-6C26-BBD3786C7572}"/>
              </a:ext>
            </a:extLst>
          </p:cNvPr>
          <p:cNvSpPr txBox="1"/>
          <p:nvPr/>
        </p:nvSpPr>
        <p:spPr>
          <a:xfrm>
            <a:off x="13462000" y="3556000"/>
            <a:ext cx="4254500" cy="261610"/>
          </a:xfrm>
          <a:prstGeom prst="rect">
            <a:avLst/>
          </a:prstGeom>
          <a:noFill/>
        </p:spPr>
        <p:txBody>
          <a:bodyPr vert="horz" wrap="square" lIns="0" tIns="0" rIns="0" bIns="0" rtlCol="0">
            <a:spAutoFit/>
          </a:bodyPr>
          <a:lstStyle/>
          <a:p>
            <a:r>
              <a:rPr lang="en-US" sz="1700" b="1">
                <a:solidFill>
                  <a:srgbClr val="007F85"/>
                </a:solidFill>
                <a:latin typeface="Aptos" panose="020B0004020202020204" pitchFamily="34" charset="0"/>
              </a:rPr>
              <a:t>WHAT YOU ARE SEEING</a:t>
            </a:r>
          </a:p>
        </p:txBody>
      </p:sp>
      <p:sp>
        <p:nvSpPr>
          <p:cNvPr id="11" name="TextBox 10">
            <a:extLst>
              <a:ext uri="{FF2B5EF4-FFF2-40B4-BE49-F238E27FC236}">
                <a16:creationId xmlns:a16="http://schemas.microsoft.com/office/drawing/2014/main" id="{40070471-D6F7-12D4-DD87-A58333C89C78}"/>
              </a:ext>
            </a:extLst>
          </p:cNvPr>
          <p:cNvSpPr txBox="1"/>
          <p:nvPr/>
        </p:nvSpPr>
        <p:spPr>
          <a:xfrm>
            <a:off x="13462000" y="4089400"/>
            <a:ext cx="4254500" cy="1354217"/>
          </a:xfrm>
          <a:prstGeom prst="rect">
            <a:avLst/>
          </a:prstGeom>
          <a:noFill/>
        </p:spPr>
        <p:txBody>
          <a:bodyPr vert="horz" wrap="square" lIns="0" tIns="0" rIns="0" bIns="0" rtlCol="0">
            <a:spAutoFit/>
          </a:bodyPr>
          <a:lstStyle/>
          <a:p>
            <a:r>
              <a:rPr lang="en-US" sz="2200">
                <a:solidFill>
                  <a:srgbClr val="122D46"/>
                </a:solidFill>
                <a:latin typeface="Aptos" panose="020B0004020202020204" pitchFamily="34" charset="0"/>
              </a:rPr>
              <a:t>Exact fixture facts and deterministic checks, a source-linked internal AI draft, and explicit human-review limits.</a:t>
            </a:r>
          </a:p>
        </p:txBody>
      </p:sp>
      <p:sp>
        <p:nvSpPr>
          <p:cNvPr id="12" name="TextBox 11">
            <a:extLst>
              <a:ext uri="{FF2B5EF4-FFF2-40B4-BE49-F238E27FC236}">
                <a16:creationId xmlns:a16="http://schemas.microsoft.com/office/drawing/2014/main" id="{8C0B463F-2B51-9076-1776-F8EFE57E63B1}"/>
              </a:ext>
            </a:extLst>
          </p:cNvPr>
          <p:cNvSpPr txBox="1"/>
          <p:nvPr/>
        </p:nvSpPr>
        <p:spPr>
          <a:xfrm>
            <a:off x="13462000" y="7239000"/>
            <a:ext cx="4254500" cy="261610"/>
          </a:xfrm>
          <a:prstGeom prst="rect">
            <a:avLst/>
          </a:prstGeom>
          <a:noFill/>
        </p:spPr>
        <p:txBody>
          <a:bodyPr vert="horz" wrap="square" lIns="0" tIns="0" rIns="0" bIns="0" rtlCol="0">
            <a:spAutoFit/>
          </a:bodyPr>
          <a:lstStyle/>
          <a:p>
            <a:r>
              <a:rPr lang="en-US" sz="1700" b="1">
                <a:solidFill>
                  <a:srgbClr val="007F85"/>
                </a:solidFill>
                <a:latin typeface="Aptos" panose="020B0004020202020204" pitchFamily="34" charset="0"/>
              </a:rPr>
              <a:t>BUSINESS VALUE</a:t>
            </a:r>
          </a:p>
        </p:txBody>
      </p:sp>
      <p:sp>
        <p:nvSpPr>
          <p:cNvPr id="13" name="TextBox 12">
            <a:extLst>
              <a:ext uri="{FF2B5EF4-FFF2-40B4-BE49-F238E27FC236}">
                <a16:creationId xmlns:a16="http://schemas.microsoft.com/office/drawing/2014/main" id="{4AB21C8F-4A57-BA54-A2CA-4589D176DAEB}"/>
              </a:ext>
            </a:extLst>
          </p:cNvPr>
          <p:cNvSpPr txBox="1"/>
          <p:nvPr/>
        </p:nvSpPr>
        <p:spPr>
          <a:xfrm>
            <a:off x="13462000" y="7772400"/>
            <a:ext cx="4254500" cy="969496"/>
          </a:xfrm>
          <a:prstGeom prst="rect">
            <a:avLst/>
          </a:prstGeom>
          <a:noFill/>
        </p:spPr>
        <p:txBody>
          <a:bodyPr vert="horz" wrap="square" lIns="0" tIns="0" rIns="0" bIns="0" rtlCol="0">
            <a:spAutoFit/>
          </a:bodyPr>
          <a:lstStyle/>
          <a:p>
            <a:r>
              <a:rPr lang="en-US" sz="2100">
                <a:solidFill>
                  <a:srgbClr val="516478"/>
                </a:solidFill>
                <a:latin typeface="Aptos" panose="020B0004020202020204" pitchFamily="34" charset="0"/>
              </a:rPr>
              <a:t>Reduce reassembly of context while keeping the source and decision boundary visible.</a:t>
            </a:r>
          </a:p>
        </p:txBody>
      </p:sp>
      <p:sp>
        <p:nvSpPr>
          <p:cNvPr id="14" name="TextBox 13">
            <a:hlinkClick r:id="rId4" action="ppaction://hlinksldjump"/>
            <a:extLst>
              <a:ext uri="{FF2B5EF4-FFF2-40B4-BE49-F238E27FC236}">
                <a16:creationId xmlns:a16="http://schemas.microsoft.com/office/drawing/2014/main" id="{F5C9276C-BCDD-7F88-893F-06A30F3BC76B}"/>
              </a:ext>
            </a:extLst>
          </p:cNvPr>
          <p:cNvSpPr txBox="1"/>
          <p:nvPr/>
        </p:nvSpPr>
        <p:spPr>
          <a:xfrm>
            <a:off x="14859000" y="9906000"/>
            <a:ext cx="914400" cy="200055"/>
          </a:xfrm>
          <a:prstGeom prst="rect">
            <a:avLst/>
          </a:prstGeom>
          <a:noFill/>
        </p:spPr>
        <p:txBody>
          <a:bodyPr vert="horz" wrap="square" lIns="0" tIns="0" rIns="0" bIns="0" rtlCol="0">
            <a:spAutoFit/>
          </a:bodyPr>
          <a:lstStyle/>
          <a:p>
            <a:r>
              <a:rPr lang="en-US" sz="1300" b="1">
                <a:solidFill>
                  <a:srgbClr val="007F85"/>
                </a:solidFill>
                <a:latin typeface="Aptos" panose="020B0004020202020204" pitchFamily="34" charset="0"/>
              </a:rPr>
              <a:t>PREV</a:t>
            </a:r>
          </a:p>
        </p:txBody>
      </p:sp>
      <p:sp>
        <p:nvSpPr>
          <p:cNvPr id="15" name="TextBox 14">
            <a:hlinkClick r:id="rId5" action="ppaction://hlinksldjump"/>
            <a:extLst>
              <a:ext uri="{FF2B5EF4-FFF2-40B4-BE49-F238E27FC236}">
                <a16:creationId xmlns:a16="http://schemas.microsoft.com/office/drawing/2014/main" id="{E38237B9-8E64-689D-EBF3-72344AE010D4}"/>
              </a:ext>
            </a:extLst>
          </p:cNvPr>
          <p:cNvSpPr txBox="1"/>
          <p:nvPr/>
        </p:nvSpPr>
        <p:spPr>
          <a:xfrm>
            <a:off x="15875000" y="9906000"/>
            <a:ext cx="914400" cy="200055"/>
          </a:xfrm>
          <a:prstGeom prst="rect">
            <a:avLst/>
          </a:prstGeom>
          <a:noFill/>
        </p:spPr>
        <p:txBody>
          <a:bodyPr vert="horz" wrap="square" lIns="0" tIns="0" rIns="0" bIns="0" rtlCol="0">
            <a:spAutoFit/>
          </a:bodyPr>
          <a:lstStyle/>
          <a:p>
            <a:r>
              <a:rPr lang="en-US" sz="1300" b="1">
                <a:solidFill>
                  <a:srgbClr val="007F85"/>
                </a:solidFill>
                <a:latin typeface="Aptos" panose="020B0004020202020204" pitchFamily="34" charset="0"/>
              </a:rPr>
              <a:t>MENU</a:t>
            </a:r>
          </a:p>
        </p:txBody>
      </p:sp>
      <p:sp>
        <p:nvSpPr>
          <p:cNvPr id="16" name="TextBox 15">
            <a:hlinkClick r:id="rId6" action="ppaction://hlinksldjump"/>
            <a:extLst>
              <a:ext uri="{FF2B5EF4-FFF2-40B4-BE49-F238E27FC236}">
                <a16:creationId xmlns:a16="http://schemas.microsoft.com/office/drawing/2014/main" id="{1556149A-9EFF-B8BD-7B9A-7FDBC29A2A43}"/>
              </a:ext>
            </a:extLst>
          </p:cNvPr>
          <p:cNvSpPr txBox="1"/>
          <p:nvPr/>
        </p:nvSpPr>
        <p:spPr>
          <a:xfrm>
            <a:off x="16891000" y="9906000"/>
            <a:ext cx="914400" cy="200055"/>
          </a:xfrm>
          <a:prstGeom prst="rect">
            <a:avLst/>
          </a:prstGeom>
          <a:noFill/>
        </p:spPr>
        <p:txBody>
          <a:bodyPr vert="horz" wrap="square" lIns="0" tIns="0" rIns="0" bIns="0" rtlCol="0">
            <a:spAutoFit/>
          </a:bodyPr>
          <a:lstStyle/>
          <a:p>
            <a:r>
              <a:rPr lang="en-US" sz="1300" b="1">
                <a:solidFill>
                  <a:srgbClr val="007F85"/>
                </a:solidFill>
                <a:latin typeface="Aptos" panose="020B0004020202020204" pitchFamily="34" charset="0"/>
              </a:rPr>
              <a:t>NEXT</a:t>
            </a:r>
          </a:p>
        </p:txBody>
      </p:sp>
    </p:spTree>
    <p:extLst>
      <p:ext uri="{BB962C8B-B14F-4D97-AF65-F5344CB8AC3E}">
        <p14:creationId xmlns:p14="http://schemas.microsoft.com/office/powerpoint/2010/main" val="14966350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4F7FB"/>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9168B06-C35F-F8FE-35B7-C4BA5D71836F}"/>
              </a:ext>
            </a:extLst>
          </p:cNvPr>
          <p:cNvSpPr txBox="1"/>
          <p:nvPr/>
        </p:nvSpPr>
        <p:spPr>
          <a:xfrm>
            <a:off x="406400" y="279400"/>
            <a:ext cx="16891000" cy="200055"/>
          </a:xfrm>
          <a:prstGeom prst="rect">
            <a:avLst/>
          </a:prstGeom>
          <a:noFill/>
        </p:spPr>
        <p:txBody>
          <a:bodyPr vert="horz" wrap="square" lIns="0" tIns="0" rIns="0" bIns="0" rtlCol="0">
            <a:spAutoFit/>
          </a:bodyPr>
          <a:lstStyle/>
          <a:p>
            <a:r>
              <a:rPr lang="en-US" sz="1300" b="1">
                <a:solidFill>
                  <a:srgbClr val="007F85"/>
                </a:solidFill>
                <a:latin typeface="Aptos" panose="020B0004020202020204" pitchFamily="34" charset="0"/>
              </a:rPr>
              <a:t>NATIVE MAUI / REPLAY OF CAPTURED AZURE RUN</a:t>
            </a:r>
          </a:p>
        </p:txBody>
      </p:sp>
      <p:sp>
        <p:nvSpPr>
          <p:cNvPr id="3" name="TextBox 2">
            <a:extLst>
              <a:ext uri="{FF2B5EF4-FFF2-40B4-BE49-F238E27FC236}">
                <a16:creationId xmlns:a16="http://schemas.microsoft.com/office/drawing/2014/main" id="{253C0D53-D3C7-2662-D027-C89B0F0583BB}"/>
              </a:ext>
            </a:extLst>
          </p:cNvPr>
          <p:cNvSpPr txBox="1"/>
          <p:nvPr/>
        </p:nvSpPr>
        <p:spPr>
          <a:xfrm>
            <a:off x="406400" y="698500"/>
            <a:ext cx="17272000" cy="461665"/>
          </a:xfrm>
          <a:prstGeom prst="rect">
            <a:avLst/>
          </a:prstGeom>
          <a:noFill/>
        </p:spPr>
        <p:txBody>
          <a:bodyPr vert="horz" wrap="square" lIns="0" tIns="0" rIns="0" bIns="0" rtlCol="0">
            <a:spAutoFit/>
          </a:bodyPr>
          <a:lstStyle/>
          <a:p>
            <a:r>
              <a:rPr lang="en-US" sz="3000" b="1">
                <a:solidFill>
                  <a:srgbClr val="122D46"/>
                </a:solidFill>
                <a:latin typeface="Aptos" panose="020B0004020202020204" pitchFamily="34" charset="0"/>
              </a:rPr>
              <a:t>Step 03: Cited explanation</a:t>
            </a:r>
          </a:p>
        </p:txBody>
      </p:sp>
      <p:sp>
        <p:nvSpPr>
          <p:cNvPr id="4" name="TextBox 3">
            <a:extLst>
              <a:ext uri="{FF2B5EF4-FFF2-40B4-BE49-F238E27FC236}">
                <a16:creationId xmlns:a16="http://schemas.microsoft.com/office/drawing/2014/main" id="{4B8A3BAC-72F5-8C53-A3D2-79A2FCC3BCC2}"/>
              </a:ext>
            </a:extLst>
          </p:cNvPr>
          <p:cNvSpPr txBox="1"/>
          <p:nvPr/>
        </p:nvSpPr>
        <p:spPr>
          <a:xfrm>
            <a:off x="406400" y="9906000"/>
            <a:ext cx="14605000" cy="184666"/>
          </a:xfrm>
          <a:prstGeom prst="rect">
            <a:avLst/>
          </a:prstGeom>
          <a:noFill/>
        </p:spPr>
        <p:txBody>
          <a:bodyPr vert="horz" wrap="square" lIns="0" tIns="0" rIns="0" bIns="0" rtlCol="0">
            <a:spAutoFit/>
          </a:bodyPr>
          <a:lstStyle/>
          <a:p>
            <a:r>
              <a:rPr lang="en-US" sz="1200">
                <a:solidFill>
                  <a:srgbClr val="516478"/>
                </a:solidFill>
                <a:latin typeface="Aptos" panose="020B0004020202020204" pitchFamily="34" charset="0"/>
              </a:rPr>
              <a:t>Synthetic demonstration | Captured replay, not a live slide | Human decisions remain explicit</a:t>
            </a:r>
          </a:p>
        </p:txBody>
      </p:sp>
      <p:pic>
        <p:nvPicPr>
          <p:cNvPr id="6" name="Picture 5">
            <a:extLst>
              <a:ext uri="{FF2B5EF4-FFF2-40B4-BE49-F238E27FC236}">
                <a16:creationId xmlns:a16="http://schemas.microsoft.com/office/drawing/2014/main" id="{6C181E21-C714-3C89-77D7-0E56B88AA7CC}"/>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406400" y="1524000"/>
            <a:ext cx="12700000" cy="8020113"/>
          </a:xfrm>
          <a:prstGeom prst="rect">
            <a:avLst/>
          </a:prstGeom>
        </p:spPr>
      </p:pic>
      <p:sp>
        <p:nvSpPr>
          <p:cNvPr id="7" name="Rectangle 6">
            <a:extLst>
              <a:ext uri="{FF2B5EF4-FFF2-40B4-BE49-F238E27FC236}">
                <a16:creationId xmlns:a16="http://schemas.microsoft.com/office/drawing/2014/main" id="{2D356D64-08C3-9687-9CAF-22CBDC8337DE}"/>
              </a:ext>
            </a:extLst>
          </p:cNvPr>
          <p:cNvSpPr/>
          <p:nvPr/>
        </p:nvSpPr>
        <p:spPr>
          <a:xfrm>
            <a:off x="611815" y="5033916"/>
            <a:ext cx="2188115" cy="660900"/>
          </a:xfrm>
          <a:prstGeom prst="rect">
            <a:avLst/>
          </a:prstGeom>
          <a:noFill/>
          <a:ln w="38100" cap="flat" cmpd="sng" algn="ctr">
            <a:solidFill>
              <a:srgbClr val="D22525"/>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CA723D1C-8C1F-76FF-514B-BB4020651CE0}"/>
              </a:ext>
            </a:extLst>
          </p:cNvPr>
          <p:cNvSpPr txBox="1"/>
          <p:nvPr/>
        </p:nvSpPr>
        <p:spPr>
          <a:xfrm>
            <a:off x="13462000" y="1714500"/>
            <a:ext cx="4191000" cy="276999"/>
          </a:xfrm>
          <a:prstGeom prst="rect">
            <a:avLst/>
          </a:prstGeom>
          <a:noFill/>
        </p:spPr>
        <p:txBody>
          <a:bodyPr vert="horz" wrap="square" lIns="0" tIns="0" rIns="0" bIns="0" rtlCol="0">
            <a:spAutoFit/>
          </a:bodyPr>
          <a:lstStyle/>
          <a:p>
            <a:r>
              <a:rPr lang="en-US" b="1">
                <a:solidFill>
                  <a:srgbClr val="D22525"/>
                </a:solidFill>
                <a:latin typeface="Aptos" panose="020B0004020202020204" pitchFamily="34" charset="0"/>
              </a:rPr>
              <a:t>CLICK</a:t>
            </a:r>
          </a:p>
        </p:txBody>
      </p:sp>
      <p:sp>
        <p:nvSpPr>
          <p:cNvPr id="9" name="TextBox 8">
            <a:extLst>
              <a:ext uri="{FF2B5EF4-FFF2-40B4-BE49-F238E27FC236}">
                <a16:creationId xmlns:a16="http://schemas.microsoft.com/office/drawing/2014/main" id="{5B437310-1A35-618A-104A-7E26C1ACDF17}"/>
              </a:ext>
            </a:extLst>
          </p:cNvPr>
          <p:cNvSpPr txBox="1"/>
          <p:nvPr/>
        </p:nvSpPr>
        <p:spPr>
          <a:xfrm>
            <a:off x="13462000" y="2222500"/>
            <a:ext cx="4254500" cy="707886"/>
          </a:xfrm>
          <a:prstGeom prst="rect">
            <a:avLst/>
          </a:prstGeom>
          <a:noFill/>
        </p:spPr>
        <p:txBody>
          <a:bodyPr vert="horz" wrap="square" lIns="0" tIns="0" rIns="0" bIns="0" rtlCol="0">
            <a:spAutoFit/>
          </a:bodyPr>
          <a:lstStyle/>
          <a:p>
            <a:r>
              <a:rPr lang="en-US" sz="2300">
                <a:solidFill>
                  <a:srgbClr val="122D46"/>
                </a:solidFill>
                <a:latin typeface="Aptos" panose="020B0004020202020204" pitchFamily="34" charset="0"/>
              </a:rPr>
              <a:t>Select step 03 in the left-hand flow.</a:t>
            </a:r>
          </a:p>
        </p:txBody>
      </p:sp>
      <p:sp>
        <p:nvSpPr>
          <p:cNvPr id="10" name="TextBox 9">
            <a:extLst>
              <a:ext uri="{FF2B5EF4-FFF2-40B4-BE49-F238E27FC236}">
                <a16:creationId xmlns:a16="http://schemas.microsoft.com/office/drawing/2014/main" id="{CC887E7A-DE90-A363-66F9-8DCBD5983E0F}"/>
              </a:ext>
            </a:extLst>
          </p:cNvPr>
          <p:cNvSpPr txBox="1"/>
          <p:nvPr/>
        </p:nvSpPr>
        <p:spPr>
          <a:xfrm>
            <a:off x="13462000" y="3556000"/>
            <a:ext cx="4254500" cy="261610"/>
          </a:xfrm>
          <a:prstGeom prst="rect">
            <a:avLst/>
          </a:prstGeom>
          <a:noFill/>
        </p:spPr>
        <p:txBody>
          <a:bodyPr vert="horz" wrap="square" lIns="0" tIns="0" rIns="0" bIns="0" rtlCol="0">
            <a:spAutoFit/>
          </a:bodyPr>
          <a:lstStyle/>
          <a:p>
            <a:r>
              <a:rPr lang="en-US" sz="1700" b="1">
                <a:solidFill>
                  <a:srgbClr val="007F85"/>
                </a:solidFill>
                <a:latin typeface="Aptos" panose="020B0004020202020204" pitchFamily="34" charset="0"/>
              </a:rPr>
              <a:t>WHAT YOU ARE SEEING</a:t>
            </a:r>
          </a:p>
        </p:txBody>
      </p:sp>
      <p:sp>
        <p:nvSpPr>
          <p:cNvPr id="11" name="TextBox 10">
            <a:extLst>
              <a:ext uri="{FF2B5EF4-FFF2-40B4-BE49-F238E27FC236}">
                <a16:creationId xmlns:a16="http://schemas.microsoft.com/office/drawing/2014/main" id="{93253665-A1A6-9C56-A6B0-5516264D04C7}"/>
              </a:ext>
            </a:extLst>
          </p:cNvPr>
          <p:cNvSpPr txBox="1"/>
          <p:nvPr/>
        </p:nvSpPr>
        <p:spPr>
          <a:xfrm>
            <a:off x="13462000" y="4089400"/>
            <a:ext cx="4254500" cy="1354217"/>
          </a:xfrm>
          <a:prstGeom prst="rect">
            <a:avLst/>
          </a:prstGeom>
          <a:noFill/>
        </p:spPr>
        <p:txBody>
          <a:bodyPr vert="horz" wrap="square" lIns="0" tIns="0" rIns="0" bIns="0" rtlCol="0">
            <a:spAutoFit/>
          </a:bodyPr>
          <a:lstStyle/>
          <a:p>
            <a:r>
              <a:rPr lang="en-US" sz="2200">
                <a:solidFill>
                  <a:srgbClr val="122D46"/>
                </a:solidFill>
                <a:latin typeface="Aptos" panose="020B0004020202020204" pitchFamily="34" charset="0"/>
              </a:rPr>
              <a:t>Exact fixture facts and deterministic checks, a source-linked internal AI draft, and explicit human-review limits.</a:t>
            </a:r>
          </a:p>
        </p:txBody>
      </p:sp>
      <p:sp>
        <p:nvSpPr>
          <p:cNvPr id="12" name="TextBox 11">
            <a:extLst>
              <a:ext uri="{FF2B5EF4-FFF2-40B4-BE49-F238E27FC236}">
                <a16:creationId xmlns:a16="http://schemas.microsoft.com/office/drawing/2014/main" id="{27B0A5E0-2DAD-DF19-51A6-944CFA515BA7}"/>
              </a:ext>
            </a:extLst>
          </p:cNvPr>
          <p:cNvSpPr txBox="1"/>
          <p:nvPr/>
        </p:nvSpPr>
        <p:spPr>
          <a:xfrm>
            <a:off x="13462000" y="7239000"/>
            <a:ext cx="4254500" cy="261610"/>
          </a:xfrm>
          <a:prstGeom prst="rect">
            <a:avLst/>
          </a:prstGeom>
          <a:noFill/>
        </p:spPr>
        <p:txBody>
          <a:bodyPr vert="horz" wrap="square" lIns="0" tIns="0" rIns="0" bIns="0" rtlCol="0">
            <a:spAutoFit/>
          </a:bodyPr>
          <a:lstStyle/>
          <a:p>
            <a:r>
              <a:rPr lang="en-US" sz="1700" b="1">
                <a:solidFill>
                  <a:srgbClr val="007F85"/>
                </a:solidFill>
                <a:latin typeface="Aptos" panose="020B0004020202020204" pitchFamily="34" charset="0"/>
              </a:rPr>
              <a:t>BUSINESS VALUE</a:t>
            </a:r>
          </a:p>
        </p:txBody>
      </p:sp>
      <p:sp>
        <p:nvSpPr>
          <p:cNvPr id="13" name="TextBox 12">
            <a:extLst>
              <a:ext uri="{FF2B5EF4-FFF2-40B4-BE49-F238E27FC236}">
                <a16:creationId xmlns:a16="http://schemas.microsoft.com/office/drawing/2014/main" id="{B98CEDC4-8192-D6B5-17D1-F528EC1A9443}"/>
              </a:ext>
            </a:extLst>
          </p:cNvPr>
          <p:cNvSpPr txBox="1"/>
          <p:nvPr/>
        </p:nvSpPr>
        <p:spPr>
          <a:xfrm>
            <a:off x="13462000" y="7772400"/>
            <a:ext cx="4254500" cy="969496"/>
          </a:xfrm>
          <a:prstGeom prst="rect">
            <a:avLst/>
          </a:prstGeom>
          <a:noFill/>
        </p:spPr>
        <p:txBody>
          <a:bodyPr vert="horz" wrap="square" lIns="0" tIns="0" rIns="0" bIns="0" rtlCol="0">
            <a:spAutoFit/>
          </a:bodyPr>
          <a:lstStyle/>
          <a:p>
            <a:r>
              <a:rPr lang="en-US" sz="2100">
                <a:solidFill>
                  <a:srgbClr val="516478"/>
                </a:solidFill>
                <a:latin typeface="Aptos" panose="020B0004020202020204" pitchFamily="34" charset="0"/>
              </a:rPr>
              <a:t>Reduce reassembly of context while keeping the source and decision boundary visible.</a:t>
            </a:r>
          </a:p>
        </p:txBody>
      </p:sp>
      <p:sp>
        <p:nvSpPr>
          <p:cNvPr id="14" name="TextBox 13">
            <a:hlinkClick r:id="rId4" action="ppaction://hlinksldjump"/>
            <a:extLst>
              <a:ext uri="{FF2B5EF4-FFF2-40B4-BE49-F238E27FC236}">
                <a16:creationId xmlns:a16="http://schemas.microsoft.com/office/drawing/2014/main" id="{64F7DE2B-B4FC-6595-DCD3-97F82B2CDD93}"/>
              </a:ext>
            </a:extLst>
          </p:cNvPr>
          <p:cNvSpPr txBox="1"/>
          <p:nvPr/>
        </p:nvSpPr>
        <p:spPr>
          <a:xfrm>
            <a:off x="14859000" y="9906000"/>
            <a:ext cx="914400" cy="200055"/>
          </a:xfrm>
          <a:prstGeom prst="rect">
            <a:avLst/>
          </a:prstGeom>
          <a:noFill/>
        </p:spPr>
        <p:txBody>
          <a:bodyPr vert="horz" wrap="square" lIns="0" tIns="0" rIns="0" bIns="0" rtlCol="0">
            <a:spAutoFit/>
          </a:bodyPr>
          <a:lstStyle/>
          <a:p>
            <a:r>
              <a:rPr lang="en-US" sz="1300" b="1">
                <a:solidFill>
                  <a:srgbClr val="007F85"/>
                </a:solidFill>
                <a:latin typeface="Aptos" panose="020B0004020202020204" pitchFamily="34" charset="0"/>
              </a:rPr>
              <a:t>PREV</a:t>
            </a:r>
          </a:p>
        </p:txBody>
      </p:sp>
      <p:sp>
        <p:nvSpPr>
          <p:cNvPr id="15" name="TextBox 14">
            <a:hlinkClick r:id="rId5" action="ppaction://hlinksldjump"/>
            <a:extLst>
              <a:ext uri="{FF2B5EF4-FFF2-40B4-BE49-F238E27FC236}">
                <a16:creationId xmlns:a16="http://schemas.microsoft.com/office/drawing/2014/main" id="{BA199C55-66A3-5772-0515-3A96FAECE3C2}"/>
              </a:ext>
            </a:extLst>
          </p:cNvPr>
          <p:cNvSpPr txBox="1"/>
          <p:nvPr/>
        </p:nvSpPr>
        <p:spPr>
          <a:xfrm>
            <a:off x="15875000" y="9906000"/>
            <a:ext cx="914400" cy="200055"/>
          </a:xfrm>
          <a:prstGeom prst="rect">
            <a:avLst/>
          </a:prstGeom>
          <a:noFill/>
        </p:spPr>
        <p:txBody>
          <a:bodyPr vert="horz" wrap="square" lIns="0" tIns="0" rIns="0" bIns="0" rtlCol="0">
            <a:spAutoFit/>
          </a:bodyPr>
          <a:lstStyle/>
          <a:p>
            <a:r>
              <a:rPr lang="en-US" sz="1300" b="1">
                <a:solidFill>
                  <a:srgbClr val="007F85"/>
                </a:solidFill>
                <a:latin typeface="Aptos" panose="020B0004020202020204" pitchFamily="34" charset="0"/>
              </a:rPr>
              <a:t>MENU</a:t>
            </a:r>
          </a:p>
        </p:txBody>
      </p:sp>
      <p:sp>
        <p:nvSpPr>
          <p:cNvPr id="16" name="TextBox 15">
            <a:hlinkClick r:id="rId6" action="ppaction://hlinksldjump"/>
            <a:extLst>
              <a:ext uri="{FF2B5EF4-FFF2-40B4-BE49-F238E27FC236}">
                <a16:creationId xmlns:a16="http://schemas.microsoft.com/office/drawing/2014/main" id="{4C631073-1AD9-0F98-1DEC-34B4C7A54E98}"/>
              </a:ext>
            </a:extLst>
          </p:cNvPr>
          <p:cNvSpPr txBox="1"/>
          <p:nvPr/>
        </p:nvSpPr>
        <p:spPr>
          <a:xfrm>
            <a:off x="16891000" y="9906000"/>
            <a:ext cx="914400" cy="200055"/>
          </a:xfrm>
          <a:prstGeom prst="rect">
            <a:avLst/>
          </a:prstGeom>
          <a:noFill/>
        </p:spPr>
        <p:txBody>
          <a:bodyPr vert="horz" wrap="square" lIns="0" tIns="0" rIns="0" bIns="0" rtlCol="0">
            <a:spAutoFit/>
          </a:bodyPr>
          <a:lstStyle/>
          <a:p>
            <a:r>
              <a:rPr lang="en-US" sz="1300" b="1">
                <a:solidFill>
                  <a:srgbClr val="007F85"/>
                </a:solidFill>
                <a:latin typeface="Aptos" panose="020B0004020202020204" pitchFamily="34" charset="0"/>
              </a:rPr>
              <a:t>NEXT</a:t>
            </a:r>
          </a:p>
        </p:txBody>
      </p:sp>
    </p:spTree>
    <p:extLst>
      <p:ext uri="{BB962C8B-B14F-4D97-AF65-F5344CB8AC3E}">
        <p14:creationId xmlns:p14="http://schemas.microsoft.com/office/powerpoint/2010/main" val="33698465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4F7FB"/>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C692197-1619-50FF-C26A-58E067937BEA}"/>
              </a:ext>
            </a:extLst>
          </p:cNvPr>
          <p:cNvSpPr txBox="1"/>
          <p:nvPr/>
        </p:nvSpPr>
        <p:spPr>
          <a:xfrm>
            <a:off x="406400" y="279400"/>
            <a:ext cx="16891000" cy="200055"/>
          </a:xfrm>
          <a:prstGeom prst="rect">
            <a:avLst/>
          </a:prstGeom>
          <a:noFill/>
        </p:spPr>
        <p:txBody>
          <a:bodyPr vert="horz" wrap="square" lIns="0" tIns="0" rIns="0" bIns="0" rtlCol="0">
            <a:spAutoFit/>
          </a:bodyPr>
          <a:lstStyle/>
          <a:p>
            <a:r>
              <a:rPr lang="en-US" sz="1300" b="1">
                <a:solidFill>
                  <a:srgbClr val="007F85"/>
                </a:solidFill>
                <a:latin typeface="Aptos" panose="020B0004020202020204" pitchFamily="34" charset="0"/>
              </a:rPr>
              <a:t>NATIVE MAUI / REPLAY OF CAPTURED AZURE RUN</a:t>
            </a:r>
          </a:p>
        </p:txBody>
      </p:sp>
      <p:sp>
        <p:nvSpPr>
          <p:cNvPr id="3" name="TextBox 2">
            <a:extLst>
              <a:ext uri="{FF2B5EF4-FFF2-40B4-BE49-F238E27FC236}">
                <a16:creationId xmlns:a16="http://schemas.microsoft.com/office/drawing/2014/main" id="{40528A0B-E2E7-01AA-F074-08D4224A3DBC}"/>
              </a:ext>
            </a:extLst>
          </p:cNvPr>
          <p:cNvSpPr txBox="1"/>
          <p:nvPr/>
        </p:nvSpPr>
        <p:spPr>
          <a:xfrm>
            <a:off x="406400" y="698500"/>
            <a:ext cx="17272000" cy="461665"/>
          </a:xfrm>
          <a:prstGeom prst="rect">
            <a:avLst/>
          </a:prstGeom>
          <a:noFill/>
        </p:spPr>
        <p:txBody>
          <a:bodyPr vert="horz" wrap="square" lIns="0" tIns="0" rIns="0" bIns="0" rtlCol="0">
            <a:spAutoFit/>
          </a:bodyPr>
          <a:lstStyle/>
          <a:p>
            <a:r>
              <a:rPr lang="en-US" sz="3000" b="1">
                <a:solidFill>
                  <a:srgbClr val="122D46"/>
                </a:solidFill>
                <a:latin typeface="Aptos" panose="020B0004020202020204" pitchFamily="34" charset="0"/>
              </a:rPr>
              <a:t>Step 04: Missing reading</a:t>
            </a:r>
          </a:p>
        </p:txBody>
      </p:sp>
      <p:sp>
        <p:nvSpPr>
          <p:cNvPr id="4" name="TextBox 3">
            <a:extLst>
              <a:ext uri="{FF2B5EF4-FFF2-40B4-BE49-F238E27FC236}">
                <a16:creationId xmlns:a16="http://schemas.microsoft.com/office/drawing/2014/main" id="{DFF38F81-5DD4-4F36-6501-1F0A74CE6620}"/>
              </a:ext>
            </a:extLst>
          </p:cNvPr>
          <p:cNvSpPr txBox="1"/>
          <p:nvPr/>
        </p:nvSpPr>
        <p:spPr>
          <a:xfrm>
            <a:off x="406400" y="9906000"/>
            <a:ext cx="14605000" cy="184666"/>
          </a:xfrm>
          <a:prstGeom prst="rect">
            <a:avLst/>
          </a:prstGeom>
          <a:noFill/>
        </p:spPr>
        <p:txBody>
          <a:bodyPr vert="horz" wrap="square" lIns="0" tIns="0" rIns="0" bIns="0" rtlCol="0">
            <a:spAutoFit/>
          </a:bodyPr>
          <a:lstStyle/>
          <a:p>
            <a:r>
              <a:rPr lang="en-US" sz="1200">
                <a:solidFill>
                  <a:srgbClr val="516478"/>
                </a:solidFill>
                <a:latin typeface="Aptos" panose="020B0004020202020204" pitchFamily="34" charset="0"/>
              </a:rPr>
              <a:t>Synthetic demonstration | Captured replay, not a live slide | Human decisions remain explicit</a:t>
            </a:r>
          </a:p>
        </p:txBody>
      </p:sp>
      <p:pic>
        <p:nvPicPr>
          <p:cNvPr id="6" name="Picture 5">
            <a:extLst>
              <a:ext uri="{FF2B5EF4-FFF2-40B4-BE49-F238E27FC236}">
                <a16:creationId xmlns:a16="http://schemas.microsoft.com/office/drawing/2014/main" id="{8C7A63F6-5793-A003-5807-D973FE22672A}"/>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406400" y="1524000"/>
            <a:ext cx="12700000" cy="8020113"/>
          </a:xfrm>
          <a:prstGeom prst="rect">
            <a:avLst/>
          </a:prstGeom>
        </p:spPr>
      </p:pic>
      <p:sp>
        <p:nvSpPr>
          <p:cNvPr id="7" name="Rectangle 6">
            <a:extLst>
              <a:ext uri="{FF2B5EF4-FFF2-40B4-BE49-F238E27FC236}">
                <a16:creationId xmlns:a16="http://schemas.microsoft.com/office/drawing/2014/main" id="{4AB31F07-00A0-3687-C471-B112F93D5BD1}"/>
              </a:ext>
            </a:extLst>
          </p:cNvPr>
          <p:cNvSpPr/>
          <p:nvPr/>
        </p:nvSpPr>
        <p:spPr>
          <a:xfrm>
            <a:off x="611815" y="5775196"/>
            <a:ext cx="2188115" cy="660900"/>
          </a:xfrm>
          <a:prstGeom prst="rect">
            <a:avLst/>
          </a:prstGeom>
          <a:noFill/>
          <a:ln w="38100" cap="flat" cmpd="sng" algn="ctr">
            <a:solidFill>
              <a:srgbClr val="D22525"/>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E822E66E-877C-183A-D504-3CC2095D3D09}"/>
              </a:ext>
            </a:extLst>
          </p:cNvPr>
          <p:cNvSpPr txBox="1"/>
          <p:nvPr/>
        </p:nvSpPr>
        <p:spPr>
          <a:xfrm>
            <a:off x="13462000" y="1714500"/>
            <a:ext cx="4191000" cy="276999"/>
          </a:xfrm>
          <a:prstGeom prst="rect">
            <a:avLst/>
          </a:prstGeom>
          <a:noFill/>
        </p:spPr>
        <p:txBody>
          <a:bodyPr vert="horz" wrap="square" lIns="0" tIns="0" rIns="0" bIns="0" rtlCol="0">
            <a:spAutoFit/>
          </a:bodyPr>
          <a:lstStyle/>
          <a:p>
            <a:r>
              <a:rPr lang="en-US" b="1">
                <a:solidFill>
                  <a:srgbClr val="D22525"/>
                </a:solidFill>
                <a:latin typeface="Aptos" panose="020B0004020202020204" pitchFamily="34" charset="0"/>
              </a:rPr>
              <a:t>CLICK</a:t>
            </a:r>
          </a:p>
        </p:txBody>
      </p:sp>
      <p:sp>
        <p:nvSpPr>
          <p:cNvPr id="9" name="TextBox 8">
            <a:extLst>
              <a:ext uri="{FF2B5EF4-FFF2-40B4-BE49-F238E27FC236}">
                <a16:creationId xmlns:a16="http://schemas.microsoft.com/office/drawing/2014/main" id="{1C820B72-0CFF-840E-51BD-924B74B73CD5}"/>
              </a:ext>
            </a:extLst>
          </p:cNvPr>
          <p:cNvSpPr txBox="1"/>
          <p:nvPr/>
        </p:nvSpPr>
        <p:spPr>
          <a:xfrm>
            <a:off x="13462000" y="2222500"/>
            <a:ext cx="4254500" cy="707886"/>
          </a:xfrm>
          <a:prstGeom prst="rect">
            <a:avLst/>
          </a:prstGeom>
          <a:noFill/>
        </p:spPr>
        <p:txBody>
          <a:bodyPr vert="horz" wrap="square" lIns="0" tIns="0" rIns="0" bIns="0" rtlCol="0">
            <a:spAutoFit/>
          </a:bodyPr>
          <a:lstStyle/>
          <a:p>
            <a:r>
              <a:rPr lang="en-US" sz="2300">
                <a:solidFill>
                  <a:srgbClr val="122D46"/>
                </a:solidFill>
                <a:latin typeface="Aptos" panose="020B0004020202020204" pitchFamily="34" charset="0"/>
              </a:rPr>
              <a:t>Select step 04 in the left-hand flow.</a:t>
            </a:r>
          </a:p>
        </p:txBody>
      </p:sp>
      <p:sp>
        <p:nvSpPr>
          <p:cNvPr id="10" name="TextBox 9">
            <a:extLst>
              <a:ext uri="{FF2B5EF4-FFF2-40B4-BE49-F238E27FC236}">
                <a16:creationId xmlns:a16="http://schemas.microsoft.com/office/drawing/2014/main" id="{8003AB9A-78FC-F889-8C21-B32BC9454F10}"/>
              </a:ext>
            </a:extLst>
          </p:cNvPr>
          <p:cNvSpPr txBox="1"/>
          <p:nvPr/>
        </p:nvSpPr>
        <p:spPr>
          <a:xfrm>
            <a:off x="13462000" y="3556000"/>
            <a:ext cx="4254500" cy="261610"/>
          </a:xfrm>
          <a:prstGeom prst="rect">
            <a:avLst/>
          </a:prstGeom>
          <a:noFill/>
        </p:spPr>
        <p:txBody>
          <a:bodyPr vert="horz" wrap="square" lIns="0" tIns="0" rIns="0" bIns="0" rtlCol="0">
            <a:spAutoFit/>
          </a:bodyPr>
          <a:lstStyle/>
          <a:p>
            <a:r>
              <a:rPr lang="en-US" sz="1700" b="1">
                <a:solidFill>
                  <a:srgbClr val="007F85"/>
                </a:solidFill>
                <a:latin typeface="Aptos" panose="020B0004020202020204" pitchFamily="34" charset="0"/>
              </a:rPr>
              <a:t>WHAT YOU ARE SEEING</a:t>
            </a:r>
          </a:p>
        </p:txBody>
      </p:sp>
      <p:sp>
        <p:nvSpPr>
          <p:cNvPr id="11" name="TextBox 10">
            <a:extLst>
              <a:ext uri="{FF2B5EF4-FFF2-40B4-BE49-F238E27FC236}">
                <a16:creationId xmlns:a16="http://schemas.microsoft.com/office/drawing/2014/main" id="{650EEC3F-D6BF-4335-0B6C-D05B9A3DE1C3}"/>
              </a:ext>
            </a:extLst>
          </p:cNvPr>
          <p:cNvSpPr txBox="1"/>
          <p:nvPr/>
        </p:nvSpPr>
        <p:spPr>
          <a:xfrm>
            <a:off x="13462000" y="4089400"/>
            <a:ext cx="4254500" cy="1354217"/>
          </a:xfrm>
          <a:prstGeom prst="rect">
            <a:avLst/>
          </a:prstGeom>
          <a:noFill/>
        </p:spPr>
        <p:txBody>
          <a:bodyPr vert="horz" wrap="square" lIns="0" tIns="0" rIns="0" bIns="0" rtlCol="0">
            <a:spAutoFit/>
          </a:bodyPr>
          <a:lstStyle/>
          <a:p>
            <a:r>
              <a:rPr lang="en-US" sz="2200">
                <a:solidFill>
                  <a:srgbClr val="122D46"/>
                </a:solidFill>
                <a:latin typeface="Aptos" panose="020B0004020202020204" pitchFamily="34" charset="0"/>
              </a:rPr>
              <a:t>NeedsInformation: READING_UNKNOWN. The finding remains visible beside the evidence and approved sources.</a:t>
            </a:r>
          </a:p>
        </p:txBody>
      </p:sp>
      <p:sp>
        <p:nvSpPr>
          <p:cNvPr id="12" name="TextBox 11">
            <a:extLst>
              <a:ext uri="{FF2B5EF4-FFF2-40B4-BE49-F238E27FC236}">
                <a16:creationId xmlns:a16="http://schemas.microsoft.com/office/drawing/2014/main" id="{9773ECE0-E2E0-430F-6F2B-29CBF3105CD9}"/>
              </a:ext>
            </a:extLst>
          </p:cNvPr>
          <p:cNvSpPr txBox="1"/>
          <p:nvPr/>
        </p:nvSpPr>
        <p:spPr>
          <a:xfrm>
            <a:off x="13462000" y="7239000"/>
            <a:ext cx="4254500" cy="261610"/>
          </a:xfrm>
          <a:prstGeom prst="rect">
            <a:avLst/>
          </a:prstGeom>
          <a:noFill/>
        </p:spPr>
        <p:txBody>
          <a:bodyPr vert="horz" wrap="square" lIns="0" tIns="0" rIns="0" bIns="0" rtlCol="0">
            <a:spAutoFit/>
          </a:bodyPr>
          <a:lstStyle/>
          <a:p>
            <a:r>
              <a:rPr lang="en-US" sz="1700" b="1">
                <a:solidFill>
                  <a:srgbClr val="007F85"/>
                </a:solidFill>
                <a:latin typeface="Aptos" panose="020B0004020202020204" pitchFamily="34" charset="0"/>
              </a:rPr>
              <a:t>BUSINESS VALUE</a:t>
            </a:r>
          </a:p>
        </p:txBody>
      </p:sp>
      <p:sp>
        <p:nvSpPr>
          <p:cNvPr id="13" name="TextBox 12">
            <a:extLst>
              <a:ext uri="{FF2B5EF4-FFF2-40B4-BE49-F238E27FC236}">
                <a16:creationId xmlns:a16="http://schemas.microsoft.com/office/drawing/2014/main" id="{F7223F62-3D1E-8D14-0D42-BD280832CDB9}"/>
              </a:ext>
            </a:extLst>
          </p:cNvPr>
          <p:cNvSpPr txBox="1"/>
          <p:nvPr/>
        </p:nvSpPr>
        <p:spPr>
          <a:xfrm>
            <a:off x="13462000" y="7772400"/>
            <a:ext cx="4254500" cy="969496"/>
          </a:xfrm>
          <a:prstGeom prst="rect">
            <a:avLst/>
          </a:prstGeom>
          <a:noFill/>
        </p:spPr>
        <p:txBody>
          <a:bodyPr vert="horz" wrap="square" lIns="0" tIns="0" rIns="0" bIns="0" rtlCol="0">
            <a:spAutoFit/>
          </a:bodyPr>
          <a:lstStyle/>
          <a:p>
            <a:r>
              <a:rPr lang="en-US" sz="2100">
                <a:solidFill>
                  <a:srgbClr val="516478"/>
                </a:solidFill>
                <a:latin typeface="Aptos" panose="020B0004020202020204" pitchFamily="34" charset="0"/>
              </a:rPr>
              <a:t>Surface the exception early and focus staff on the precise correction or escalation.</a:t>
            </a:r>
          </a:p>
        </p:txBody>
      </p:sp>
      <p:sp>
        <p:nvSpPr>
          <p:cNvPr id="14" name="TextBox 13">
            <a:hlinkClick r:id="rId4" action="ppaction://hlinksldjump"/>
            <a:extLst>
              <a:ext uri="{FF2B5EF4-FFF2-40B4-BE49-F238E27FC236}">
                <a16:creationId xmlns:a16="http://schemas.microsoft.com/office/drawing/2014/main" id="{C57BA337-BC49-28C8-665C-B1EAC8C24F5F}"/>
              </a:ext>
            </a:extLst>
          </p:cNvPr>
          <p:cNvSpPr txBox="1"/>
          <p:nvPr/>
        </p:nvSpPr>
        <p:spPr>
          <a:xfrm>
            <a:off x="14859000" y="9906000"/>
            <a:ext cx="914400" cy="200055"/>
          </a:xfrm>
          <a:prstGeom prst="rect">
            <a:avLst/>
          </a:prstGeom>
          <a:noFill/>
        </p:spPr>
        <p:txBody>
          <a:bodyPr vert="horz" wrap="square" lIns="0" tIns="0" rIns="0" bIns="0" rtlCol="0">
            <a:spAutoFit/>
          </a:bodyPr>
          <a:lstStyle/>
          <a:p>
            <a:r>
              <a:rPr lang="en-US" sz="1300" b="1">
                <a:solidFill>
                  <a:srgbClr val="007F85"/>
                </a:solidFill>
                <a:latin typeface="Aptos" panose="020B0004020202020204" pitchFamily="34" charset="0"/>
              </a:rPr>
              <a:t>PREV</a:t>
            </a:r>
          </a:p>
        </p:txBody>
      </p:sp>
      <p:sp>
        <p:nvSpPr>
          <p:cNvPr id="15" name="TextBox 14">
            <a:hlinkClick r:id="rId5" action="ppaction://hlinksldjump"/>
            <a:extLst>
              <a:ext uri="{FF2B5EF4-FFF2-40B4-BE49-F238E27FC236}">
                <a16:creationId xmlns:a16="http://schemas.microsoft.com/office/drawing/2014/main" id="{9283CD41-B41E-C689-ECF4-797CAF426994}"/>
              </a:ext>
            </a:extLst>
          </p:cNvPr>
          <p:cNvSpPr txBox="1"/>
          <p:nvPr/>
        </p:nvSpPr>
        <p:spPr>
          <a:xfrm>
            <a:off x="15875000" y="9906000"/>
            <a:ext cx="914400" cy="200055"/>
          </a:xfrm>
          <a:prstGeom prst="rect">
            <a:avLst/>
          </a:prstGeom>
          <a:noFill/>
        </p:spPr>
        <p:txBody>
          <a:bodyPr vert="horz" wrap="square" lIns="0" tIns="0" rIns="0" bIns="0" rtlCol="0">
            <a:spAutoFit/>
          </a:bodyPr>
          <a:lstStyle/>
          <a:p>
            <a:r>
              <a:rPr lang="en-US" sz="1300" b="1">
                <a:solidFill>
                  <a:srgbClr val="007F85"/>
                </a:solidFill>
                <a:latin typeface="Aptos" panose="020B0004020202020204" pitchFamily="34" charset="0"/>
              </a:rPr>
              <a:t>MENU</a:t>
            </a:r>
          </a:p>
        </p:txBody>
      </p:sp>
      <p:sp>
        <p:nvSpPr>
          <p:cNvPr id="16" name="TextBox 15">
            <a:hlinkClick r:id="rId6" action="ppaction://hlinksldjump"/>
            <a:extLst>
              <a:ext uri="{FF2B5EF4-FFF2-40B4-BE49-F238E27FC236}">
                <a16:creationId xmlns:a16="http://schemas.microsoft.com/office/drawing/2014/main" id="{36CC492F-72B8-AF49-77F2-30A47A3C3377}"/>
              </a:ext>
            </a:extLst>
          </p:cNvPr>
          <p:cNvSpPr txBox="1"/>
          <p:nvPr/>
        </p:nvSpPr>
        <p:spPr>
          <a:xfrm>
            <a:off x="16891000" y="9906000"/>
            <a:ext cx="914400" cy="200055"/>
          </a:xfrm>
          <a:prstGeom prst="rect">
            <a:avLst/>
          </a:prstGeom>
          <a:noFill/>
        </p:spPr>
        <p:txBody>
          <a:bodyPr vert="horz" wrap="square" lIns="0" tIns="0" rIns="0" bIns="0" rtlCol="0">
            <a:spAutoFit/>
          </a:bodyPr>
          <a:lstStyle/>
          <a:p>
            <a:r>
              <a:rPr lang="en-US" sz="1300" b="1">
                <a:solidFill>
                  <a:srgbClr val="007F85"/>
                </a:solidFill>
                <a:latin typeface="Aptos" panose="020B0004020202020204" pitchFamily="34" charset="0"/>
              </a:rPr>
              <a:t>NEXT</a:t>
            </a:r>
          </a:p>
        </p:txBody>
      </p:sp>
    </p:spTree>
    <p:extLst>
      <p:ext uri="{BB962C8B-B14F-4D97-AF65-F5344CB8AC3E}">
        <p14:creationId xmlns:p14="http://schemas.microsoft.com/office/powerpoint/2010/main" val="336127704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4F7FB"/>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F466717-14EB-37E2-1B36-C18CAFE36BF5}"/>
              </a:ext>
            </a:extLst>
          </p:cNvPr>
          <p:cNvSpPr txBox="1"/>
          <p:nvPr/>
        </p:nvSpPr>
        <p:spPr>
          <a:xfrm>
            <a:off x="406400" y="279400"/>
            <a:ext cx="16891000" cy="200055"/>
          </a:xfrm>
          <a:prstGeom prst="rect">
            <a:avLst/>
          </a:prstGeom>
          <a:noFill/>
        </p:spPr>
        <p:txBody>
          <a:bodyPr vert="horz" wrap="square" lIns="0" tIns="0" rIns="0" bIns="0" rtlCol="0">
            <a:spAutoFit/>
          </a:bodyPr>
          <a:lstStyle/>
          <a:p>
            <a:r>
              <a:rPr lang="en-US" sz="1300" b="1">
                <a:solidFill>
                  <a:srgbClr val="007F85"/>
                </a:solidFill>
                <a:latin typeface="Aptos" panose="020B0004020202020204" pitchFamily="34" charset="0"/>
              </a:rPr>
              <a:t>NATIVE MAUI / REPLAY OF CAPTURED AZURE RUN</a:t>
            </a:r>
          </a:p>
        </p:txBody>
      </p:sp>
      <p:sp>
        <p:nvSpPr>
          <p:cNvPr id="3" name="TextBox 2">
            <a:extLst>
              <a:ext uri="{FF2B5EF4-FFF2-40B4-BE49-F238E27FC236}">
                <a16:creationId xmlns:a16="http://schemas.microsoft.com/office/drawing/2014/main" id="{0A22DC8B-7AC7-384A-8FDF-A27C1EC4BA5E}"/>
              </a:ext>
            </a:extLst>
          </p:cNvPr>
          <p:cNvSpPr txBox="1"/>
          <p:nvPr/>
        </p:nvSpPr>
        <p:spPr>
          <a:xfrm>
            <a:off x="406400" y="698500"/>
            <a:ext cx="17272000" cy="461665"/>
          </a:xfrm>
          <a:prstGeom prst="rect">
            <a:avLst/>
          </a:prstGeom>
          <a:noFill/>
        </p:spPr>
        <p:txBody>
          <a:bodyPr vert="horz" wrap="square" lIns="0" tIns="0" rIns="0" bIns="0" rtlCol="0">
            <a:spAutoFit/>
          </a:bodyPr>
          <a:lstStyle/>
          <a:p>
            <a:r>
              <a:rPr lang="en-US" sz="3000" b="1">
                <a:solidFill>
                  <a:srgbClr val="122D46"/>
                </a:solidFill>
                <a:latin typeface="Aptos" panose="020B0004020202020204" pitchFamily="34" charset="0"/>
              </a:rPr>
              <a:t>Step 05: Dispute packet</a:t>
            </a:r>
          </a:p>
        </p:txBody>
      </p:sp>
      <p:sp>
        <p:nvSpPr>
          <p:cNvPr id="4" name="TextBox 3">
            <a:extLst>
              <a:ext uri="{FF2B5EF4-FFF2-40B4-BE49-F238E27FC236}">
                <a16:creationId xmlns:a16="http://schemas.microsoft.com/office/drawing/2014/main" id="{EB920CF2-905A-95EC-4E1B-6EA1FB8D6630}"/>
              </a:ext>
            </a:extLst>
          </p:cNvPr>
          <p:cNvSpPr txBox="1"/>
          <p:nvPr/>
        </p:nvSpPr>
        <p:spPr>
          <a:xfrm>
            <a:off x="406400" y="9906000"/>
            <a:ext cx="14605000" cy="184666"/>
          </a:xfrm>
          <a:prstGeom prst="rect">
            <a:avLst/>
          </a:prstGeom>
          <a:noFill/>
        </p:spPr>
        <p:txBody>
          <a:bodyPr vert="horz" wrap="square" lIns="0" tIns="0" rIns="0" bIns="0" rtlCol="0">
            <a:spAutoFit/>
          </a:bodyPr>
          <a:lstStyle/>
          <a:p>
            <a:r>
              <a:rPr lang="en-US" sz="1200">
                <a:solidFill>
                  <a:srgbClr val="516478"/>
                </a:solidFill>
                <a:latin typeface="Aptos" panose="020B0004020202020204" pitchFamily="34" charset="0"/>
              </a:rPr>
              <a:t>Synthetic demonstration | Captured replay, not a live slide | Human decisions remain explicit</a:t>
            </a:r>
          </a:p>
        </p:txBody>
      </p:sp>
      <p:pic>
        <p:nvPicPr>
          <p:cNvPr id="6" name="Picture 5">
            <a:extLst>
              <a:ext uri="{FF2B5EF4-FFF2-40B4-BE49-F238E27FC236}">
                <a16:creationId xmlns:a16="http://schemas.microsoft.com/office/drawing/2014/main" id="{7E22E85A-CB95-22C6-B471-DB66D3FC307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406400" y="1524000"/>
            <a:ext cx="12700000" cy="8020113"/>
          </a:xfrm>
          <a:prstGeom prst="rect">
            <a:avLst/>
          </a:prstGeom>
        </p:spPr>
      </p:pic>
      <p:sp>
        <p:nvSpPr>
          <p:cNvPr id="7" name="Rectangle 6">
            <a:extLst>
              <a:ext uri="{FF2B5EF4-FFF2-40B4-BE49-F238E27FC236}">
                <a16:creationId xmlns:a16="http://schemas.microsoft.com/office/drawing/2014/main" id="{238BCEA6-8526-261F-D0F9-8C4CC3FE63AD}"/>
              </a:ext>
            </a:extLst>
          </p:cNvPr>
          <p:cNvSpPr/>
          <p:nvPr/>
        </p:nvSpPr>
        <p:spPr>
          <a:xfrm>
            <a:off x="611815" y="6516475"/>
            <a:ext cx="2188115" cy="660900"/>
          </a:xfrm>
          <a:prstGeom prst="rect">
            <a:avLst/>
          </a:prstGeom>
          <a:noFill/>
          <a:ln w="38100" cap="flat" cmpd="sng" algn="ctr">
            <a:solidFill>
              <a:srgbClr val="D22525"/>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41630B20-2832-DAA6-8D73-76B6679E188E}"/>
              </a:ext>
            </a:extLst>
          </p:cNvPr>
          <p:cNvSpPr txBox="1"/>
          <p:nvPr/>
        </p:nvSpPr>
        <p:spPr>
          <a:xfrm>
            <a:off x="13462000" y="1714500"/>
            <a:ext cx="4191000" cy="276999"/>
          </a:xfrm>
          <a:prstGeom prst="rect">
            <a:avLst/>
          </a:prstGeom>
          <a:noFill/>
        </p:spPr>
        <p:txBody>
          <a:bodyPr vert="horz" wrap="square" lIns="0" tIns="0" rIns="0" bIns="0" rtlCol="0">
            <a:spAutoFit/>
          </a:bodyPr>
          <a:lstStyle/>
          <a:p>
            <a:r>
              <a:rPr lang="en-US" b="1">
                <a:solidFill>
                  <a:srgbClr val="D22525"/>
                </a:solidFill>
                <a:latin typeface="Aptos" panose="020B0004020202020204" pitchFamily="34" charset="0"/>
              </a:rPr>
              <a:t>CLICK</a:t>
            </a:r>
          </a:p>
        </p:txBody>
      </p:sp>
      <p:sp>
        <p:nvSpPr>
          <p:cNvPr id="9" name="TextBox 8">
            <a:extLst>
              <a:ext uri="{FF2B5EF4-FFF2-40B4-BE49-F238E27FC236}">
                <a16:creationId xmlns:a16="http://schemas.microsoft.com/office/drawing/2014/main" id="{BDF5AC78-AA93-971D-8FA8-1051B4A073E6}"/>
              </a:ext>
            </a:extLst>
          </p:cNvPr>
          <p:cNvSpPr txBox="1"/>
          <p:nvPr/>
        </p:nvSpPr>
        <p:spPr>
          <a:xfrm>
            <a:off x="13462000" y="2222500"/>
            <a:ext cx="4254500" cy="707886"/>
          </a:xfrm>
          <a:prstGeom prst="rect">
            <a:avLst/>
          </a:prstGeom>
          <a:noFill/>
        </p:spPr>
        <p:txBody>
          <a:bodyPr vert="horz" wrap="square" lIns="0" tIns="0" rIns="0" bIns="0" rtlCol="0">
            <a:spAutoFit/>
          </a:bodyPr>
          <a:lstStyle/>
          <a:p>
            <a:r>
              <a:rPr lang="en-US" sz="2300">
                <a:solidFill>
                  <a:srgbClr val="122D46"/>
                </a:solidFill>
                <a:latin typeface="Aptos" panose="020B0004020202020204" pitchFamily="34" charset="0"/>
              </a:rPr>
              <a:t>Select step 05 in the left-hand flow.</a:t>
            </a:r>
          </a:p>
        </p:txBody>
      </p:sp>
      <p:sp>
        <p:nvSpPr>
          <p:cNvPr id="10" name="TextBox 9">
            <a:extLst>
              <a:ext uri="{FF2B5EF4-FFF2-40B4-BE49-F238E27FC236}">
                <a16:creationId xmlns:a16="http://schemas.microsoft.com/office/drawing/2014/main" id="{8B4BC8A4-610D-1735-17D8-3CDD209D679B}"/>
              </a:ext>
            </a:extLst>
          </p:cNvPr>
          <p:cNvSpPr txBox="1"/>
          <p:nvPr/>
        </p:nvSpPr>
        <p:spPr>
          <a:xfrm>
            <a:off x="13462000" y="3556000"/>
            <a:ext cx="4254500" cy="261610"/>
          </a:xfrm>
          <a:prstGeom prst="rect">
            <a:avLst/>
          </a:prstGeom>
          <a:noFill/>
        </p:spPr>
        <p:txBody>
          <a:bodyPr vert="horz" wrap="square" lIns="0" tIns="0" rIns="0" bIns="0" rtlCol="0">
            <a:spAutoFit/>
          </a:bodyPr>
          <a:lstStyle/>
          <a:p>
            <a:r>
              <a:rPr lang="en-US" sz="1700" b="1">
                <a:solidFill>
                  <a:srgbClr val="007F85"/>
                </a:solidFill>
                <a:latin typeface="Aptos" panose="020B0004020202020204" pitchFamily="34" charset="0"/>
              </a:rPr>
              <a:t>WHAT YOU ARE SEEING</a:t>
            </a:r>
          </a:p>
        </p:txBody>
      </p:sp>
      <p:sp>
        <p:nvSpPr>
          <p:cNvPr id="11" name="TextBox 10">
            <a:extLst>
              <a:ext uri="{FF2B5EF4-FFF2-40B4-BE49-F238E27FC236}">
                <a16:creationId xmlns:a16="http://schemas.microsoft.com/office/drawing/2014/main" id="{4B1F2514-D561-549B-2871-58EF1E3DAB4D}"/>
              </a:ext>
            </a:extLst>
          </p:cNvPr>
          <p:cNvSpPr txBox="1"/>
          <p:nvPr/>
        </p:nvSpPr>
        <p:spPr>
          <a:xfrm>
            <a:off x="13462000" y="4089400"/>
            <a:ext cx="4254500" cy="1354217"/>
          </a:xfrm>
          <a:prstGeom prst="rect">
            <a:avLst/>
          </a:prstGeom>
          <a:noFill/>
        </p:spPr>
        <p:txBody>
          <a:bodyPr vert="horz" wrap="square" lIns="0" tIns="0" rIns="0" bIns="0" rtlCol="0">
            <a:spAutoFit/>
          </a:bodyPr>
          <a:lstStyle/>
          <a:p>
            <a:r>
              <a:rPr lang="en-US" sz="2200">
                <a:solidFill>
                  <a:srgbClr val="122D46"/>
                </a:solidFill>
                <a:latin typeface="Aptos" panose="020B0004020202020204" pitchFamily="34" charset="0"/>
              </a:rPr>
              <a:t>NeedsInformation: DISPUTE_REVIEW. The finding remains visible beside the evidence and approved sources.</a:t>
            </a:r>
          </a:p>
        </p:txBody>
      </p:sp>
      <p:sp>
        <p:nvSpPr>
          <p:cNvPr id="12" name="TextBox 11">
            <a:extLst>
              <a:ext uri="{FF2B5EF4-FFF2-40B4-BE49-F238E27FC236}">
                <a16:creationId xmlns:a16="http://schemas.microsoft.com/office/drawing/2014/main" id="{17FF5803-C4DD-C373-5232-891E0FF7612A}"/>
              </a:ext>
            </a:extLst>
          </p:cNvPr>
          <p:cNvSpPr txBox="1"/>
          <p:nvPr/>
        </p:nvSpPr>
        <p:spPr>
          <a:xfrm>
            <a:off x="13462000" y="7239000"/>
            <a:ext cx="4254500" cy="261610"/>
          </a:xfrm>
          <a:prstGeom prst="rect">
            <a:avLst/>
          </a:prstGeom>
          <a:noFill/>
        </p:spPr>
        <p:txBody>
          <a:bodyPr vert="horz" wrap="square" lIns="0" tIns="0" rIns="0" bIns="0" rtlCol="0">
            <a:spAutoFit/>
          </a:bodyPr>
          <a:lstStyle/>
          <a:p>
            <a:r>
              <a:rPr lang="en-US" sz="1700" b="1">
                <a:solidFill>
                  <a:srgbClr val="007F85"/>
                </a:solidFill>
                <a:latin typeface="Aptos" panose="020B0004020202020204" pitchFamily="34" charset="0"/>
              </a:rPr>
              <a:t>BUSINESS VALUE</a:t>
            </a:r>
          </a:p>
        </p:txBody>
      </p:sp>
      <p:sp>
        <p:nvSpPr>
          <p:cNvPr id="13" name="TextBox 12">
            <a:extLst>
              <a:ext uri="{FF2B5EF4-FFF2-40B4-BE49-F238E27FC236}">
                <a16:creationId xmlns:a16="http://schemas.microsoft.com/office/drawing/2014/main" id="{A420D4FF-2616-A7EF-2616-9281CD32FA3B}"/>
              </a:ext>
            </a:extLst>
          </p:cNvPr>
          <p:cNvSpPr txBox="1"/>
          <p:nvPr/>
        </p:nvSpPr>
        <p:spPr>
          <a:xfrm>
            <a:off x="13462000" y="7772400"/>
            <a:ext cx="4254500" cy="969496"/>
          </a:xfrm>
          <a:prstGeom prst="rect">
            <a:avLst/>
          </a:prstGeom>
          <a:noFill/>
        </p:spPr>
        <p:txBody>
          <a:bodyPr vert="horz" wrap="square" lIns="0" tIns="0" rIns="0" bIns="0" rtlCol="0">
            <a:spAutoFit/>
          </a:bodyPr>
          <a:lstStyle/>
          <a:p>
            <a:r>
              <a:rPr lang="en-US" sz="2100">
                <a:solidFill>
                  <a:srgbClr val="516478"/>
                </a:solidFill>
                <a:latin typeface="Aptos" panose="020B0004020202020204" pitchFamily="34" charset="0"/>
              </a:rPr>
              <a:t>Surface the exception early and focus staff on the precise correction or escalation.</a:t>
            </a:r>
          </a:p>
        </p:txBody>
      </p:sp>
      <p:sp>
        <p:nvSpPr>
          <p:cNvPr id="14" name="TextBox 13">
            <a:hlinkClick r:id="rId4" action="ppaction://hlinksldjump"/>
            <a:extLst>
              <a:ext uri="{FF2B5EF4-FFF2-40B4-BE49-F238E27FC236}">
                <a16:creationId xmlns:a16="http://schemas.microsoft.com/office/drawing/2014/main" id="{A90BA6A8-0E75-599E-E7A1-0E456EC6CF3B}"/>
              </a:ext>
            </a:extLst>
          </p:cNvPr>
          <p:cNvSpPr txBox="1"/>
          <p:nvPr/>
        </p:nvSpPr>
        <p:spPr>
          <a:xfrm>
            <a:off x="14859000" y="9906000"/>
            <a:ext cx="914400" cy="200055"/>
          </a:xfrm>
          <a:prstGeom prst="rect">
            <a:avLst/>
          </a:prstGeom>
          <a:noFill/>
        </p:spPr>
        <p:txBody>
          <a:bodyPr vert="horz" wrap="square" lIns="0" tIns="0" rIns="0" bIns="0" rtlCol="0">
            <a:spAutoFit/>
          </a:bodyPr>
          <a:lstStyle/>
          <a:p>
            <a:r>
              <a:rPr lang="en-US" sz="1300" b="1">
                <a:solidFill>
                  <a:srgbClr val="007F85"/>
                </a:solidFill>
                <a:latin typeface="Aptos" panose="020B0004020202020204" pitchFamily="34" charset="0"/>
              </a:rPr>
              <a:t>PREV</a:t>
            </a:r>
          </a:p>
        </p:txBody>
      </p:sp>
      <p:sp>
        <p:nvSpPr>
          <p:cNvPr id="15" name="TextBox 14">
            <a:hlinkClick r:id="rId5" action="ppaction://hlinksldjump"/>
            <a:extLst>
              <a:ext uri="{FF2B5EF4-FFF2-40B4-BE49-F238E27FC236}">
                <a16:creationId xmlns:a16="http://schemas.microsoft.com/office/drawing/2014/main" id="{ECA53183-5306-EA4D-6F77-90DE8C63183B}"/>
              </a:ext>
            </a:extLst>
          </p:cNvPr>
          <p:cNvSpPr txBox="1"/>
          <p:nvPr/>
        </p:nvSpPr>
        <p:spPr>
          <a:xfrm>
            <a:off x="15875000" y="9906000"/>
            <a:ext cx="914400" cy="200055"/>
          </a:xfrm>
          <a:prstGeom prst="rect">
            <a:avLst/>
          </a:prstGeom>
          <a:noFill/>
        </p:spPr>
        <p:txBody>
          <a:bodyPr vert="horz" wrap="square" lIns="0" tIns="0" rIns="0" bIns="0" rtlCol="0">
            <a:spAutoFit/>
          </a:bodyPr>
          <a:lstStyle/>
          <a:p>
            <a:r>
              <a:rPr lang="en-US" sz="1300" b="1">
                <a:solidFill>
                  <a:srgbClr val="007F85"/>
                </a:solidFill>
                <a:latin typeface="Aptos" panose="020B0004020202020204" pitchFamily="34" charset="0"/>
              </a:rPr>
              <a:t>MENU</a:t>
            </a:r>
          </a:p>
        </p:txBody>
      </p:sp>
      <p:sp>
        <p:nvSpPr>
          <p:cNvPr id="16" name="TextBox 15">
            <a:hlinkClick r:id="rId6" action="ppaction://hlinksldjump"/>
            <a:extLst>
              <a:ext uri="{FF2B5EF4-FFF2-40B4-BE49-F238E27FC236}">
                <a16:creationId xmlns:a16="http://schemas.microsoft.com/office/drawing/2014/main" id="{299DB363-AF38-62CC-F7B0-AEB86C7DA9E6}"/>
              </a:ext>
            </a:extLst>
          </p:cNvPr>
          <p:cNvSpPr txBox="1"/>
          <p:nvPr/>
        </p:nvSpPr>
        <p:spPr>
          <a:xfrm>
            <a:off x="16891000" y="9906000"/>
            <a:ext cx="914400" cy="200055"/>
          </a:xfrm>
          <a:prstGeom prst="rect">
            <a:avLst/>
          </a:prstGeom>
          <a:noFill/>
        </p:spPr>
        <p:txBody>
          <a:bodyPr vert="horz" wrap="square" lIns="0" tIns="0" rIns="0" bIns="0" rtlCol="0">
            <a:spAutoFit/>
          </a:bodyPr>
          <a:lstStyle/>
          <a:p>
            <a:r>
              <a:rPr lang="en-US" sz="1300" b="1">
                <a:solidFill>
                  <a:srgbClr val="007F85"/>
                </a:solidFill>
                <a:latin typeface="Aptos" panose="020B0004020202020204" pitchFamily="34" charset="0"/>
              </a:rPr>
              <a:t>NEXT</a:t>
            </a:r>
          </a:p>
        </p:txBody>
      </p:sp>
    </p:spTree>
    <p:extLst>
      <p:ext uri="{BB962C8B-B14F-4D97-AF65-F5344CB8AC3E}">
        <p14:creationId xmlns:p14="http://schemas.microsoft.com/office/powerpoint/2010/main" val="223190512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4F7FB"/>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1CE2A35-EF6B-DE58-F93C-AF7A3D6DD5AF}"/>
              </a:ext>
            </a:extLst>
          </p:cNvPr>
          <p:cNvSpPr txBox="1"/>
          <p:nvPr/>
        </p:nvSpPr>
        <p:spPr>
          <a:xfrm>
            <a:off x="406400" y="279400"/>
            <a:ext cx="16891000" cy="200055"/>
          </a:xfrm>
          <a:prstGeom prst="rect">
            <a:avLst/>
          </a:prstGeom>
          <a:noFill/>
        </p:spPr>
        <p:txBody>
          <a:bodyPr vert="horz" wrap="square" lIns="0" tIns="0" rIns="0" bIns="0" rtlCol="0">
            <a:spAutoFit/>
          </a:bodyPr>
          <a:lstStyle/>
          <a:p>
            <a:r>
              <a:rPr lang="en-US" sz="1300" b="1">
                <a:solidFill>
                  <a:srgbClr val="007F85"/>
                </a:solidFill>
                <a:latin typeface="Aptos" panose="020B0004020202020204" pitchFamily="34" charset="0"/>
              </a:rPr>
              <a:t>NATIVE MAUI / REPLAY OF CAPTURED AZURE RUN</a:t>
            </a:r>
          </a:p>
        </p:txBody>
      </p:sp>
      <p:sp>
        <p:nvSpPr>
          <p:cNvPr id="3" name="TextBox 2">
            <a:extLst>
              <a:ext uri="{FF2B5EF4-FFF2-40B4-BE49-F238E27FC236}">
                <a16:creationId xmlns:a16="http://schemas.microsoft.com/office/drawing/2014/main" id="{F7402670-0947-E378-2CED-F04237C00129}"/>
              </a:ext>
            </a:extLst>
          </p:cNvPr>
          <p:cNvSpPr txBox="1"/>
          <p:nvPr/>
        </p:nvSpPr>
        <p:spPr>
          <a:xfrm>
            <a:off x="406400" y="698500"/>
            <a:ext cx="17272000" cy="461665"/>
          </a:xfrm>
          <a:prstGeom prst="rect">
            <a:avLst/>
          </a:prstGeom>
          <a:noFill/>
        </p:spPr>
        <p:txBody>
          <a:bodyPr vert="horz" wrap="square" lIns="0" tIns="0" rIns="0" bIns="0" rtlCol="0">
            <a:spAutoFit/>
          </a:bodyPr>
          <a:lstStyle/>
          <a:p>
            <a:r>
              <a:rPr lang="en-US" sz="3000" b="1">
                <a:solidFill>
                  <a:srgbClr val="122D46"/>
                </a:solidFill>
                <a:latin typeface="Aptos" panose="020B0004020202020204" pitchFamily="34" charset="0"/>
              </a:rPr>
              <a:t>Step 06: Approve / no change</a:t>
            </a:r>
          </a:p>
        </p:txBody>
      </p:sp>
      <p:sp>
        <p:nvSpPr>
          <p:cNvPr id="4" name="TextBox 3">
            <a:extLst>
              <a:ext uri="{FF2B5EF4-FFF2-40B4-BE49-F238E27FC236}">
                <a16:creationId xmlns:a16="http://schemas.microsoft.com/office/drawing/2014/main" id="{6E042CBF-4380-E03B-B364-8B712B0613C4}"/>
              </a:ext>
            </a:extLst>
          </p:cNvPr>
          <p:cNvSpPr txBox="1"/>
          <p:nvPr/>
        </p:nvSpPr>
        <p:spPr>
          <a:xfrm>
            <a:off x="406400" y="9906000"/>
            <a:ext cx="14605000" cy="184666"/>
          </a:xfrm>
          <a:prstGeom prst="rect">
            <a:avLst/>
          </a:prstGeom>
          <a:noFill/>
        </p:spPr>
        <p:txBody>
          <a:bodyPr vert="horz" wrap="square" lIns="0" tIns="0" rIns="0" bIns="0" rtlCol="0">
            <a:spAutoFit/>
          </a:bodyPr>
          <a:lstStyle/>
          <a:p>
            <a:r>
              <a:rPr lang="en-US" sz="1200">
                <a:solidFill>
                  <a:srgbClr val="516478"/>
                </a:solidFill>
                <a:latin typeface="Aptos" panose="020B0004020202020204" pitchFamily="34" charset="0"/>
              </a:rPr>
              <a:t>Synthetic demonstration | Captured replay, not a live slide | Human decisions remain explicit</a:t>
            </a:r>
          </a:p>
        </p:txBody>
      </p:sp>
      <p:pic>
        <p:nvPicPr>
          <p:cNvPr id="6" name="Picture 5">
            <a:extLst>
              <a:ext uri="{FF2B5EF4-FFF2-40B4-BE49-F238E27FC236}">
                <a16:creationId xmlns:a16="http://schemas.microsoft.com/office/drawing/2014/main" id="{9CB8CAB7-B9EE-FB7A-C51A-B8579A879D7C}"/>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406400" y="1524000"/>
            <a:ext cx="12700000" cy="8020113"/>
          </a:xfrm>
          <a:prstGeom prst="rect">
            <a:avLst/>
          </a:prstGeom>
        </p:spPr>
      </p:pic>
      <p:sp>
        <p:nvSpPr>
          <p:cNvPr id="7" name="Rectangle 6">
            <a:extLst>
              <a:ext uri="{FF2B5EF4-FFF2-40B4-BE49-F238E27FC236}">
                <a16:creationId xmlns:a16="http://schemas.microsoft.com/office/drawing/2014/main" id="{4EE5E49B-4F3A-BE1E-C1A2-5F2156C3B3A0}"/>
              </a:ext>
            </a:extLst>
          </p:cNvPr>
          <p:cNvSpPr/>
          <p:nvPr/>
        </p:nvSpPr>
        <p:spPr>
          <a:xfrm>
            <a:off x="611815" y="7257755"/>
            <a:ext cx="2188115" cy="660900"/>
          </a:xfrm>
          <a:prstGeom prst="rect">
            <a:avLst/>
          </a:prstGeom>
          <a:noFill/>
          <a:ln w="38100" cap="flat" cmpd="sng" algn="ctr">
            <a:solidFill>
              <a:srgbClr val="D22525"/>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A9429D63-9CAE-3D73-D3F8-AD488BCFC49D}"/>
              </a:ext>
            </a:extLst>
          </p:cNvPr>
          <p:cNvSpPr txBox="1"/>
          <p:nvPr/>
        </p:nvSpPr>
        <p:spPr>
          <a:xfrm>
            <a:off x="13462000" y="1714500"/>
            <a:ext cx="4191000" cy="276999"/>
          </a:xfrm>
          <a:prstGeom prst="rect">
            <a:avLst/>
          </a:prstGeom>
          <a:noFill/>
        </p:spPr>
        <p:txBody>
          <a:bodyPr vert="horz" wrap="square" lIns="0" tIns="0" rIns="0" bIns="0" rtlCol="0">
            <a:spAutoFit/>
          </a:bodyPr>
          <a:lstStyle/>
          <a:p>
            <a:r>
              <a:rPr lang="en-US" b="1">
                <a:solidFill>
                  <a:srgbClr val="D22525"/>
                </a:solidFill>
                <a:latin typeface="Aptos" panose="020B0004020202020204" pitchFamily="34" charset="0"/>
              </a:rPr>
              <a:t>CLICK</a:t>
            </a:r>
          </a:p>
        </p:txBody>
      </p:sp>
      <p:sp>
        <p:nvSpPr>
          <p:cNvPr id="9" name="TextBox 8">
            <a:extLst>
              <a:ext uri="{FF2B5EF4-FFF2-40B4-BE49-F238E27FC236}">
                <a16:creationId xmlns:a16="http://schemas.microsoft.com/office/drawing/2014/main" id="{5674162B-AF8D-57BD-E483-EC848A518C54}"/>
              </a:ext>
            </a:extLst>
          </p:cNvPr>
          <p:cNvSpPr txBox="1"/>
          <p:nvPr/>
        </p:nvSpPr>
        <p:spPr>
          <a:xfrm>
            <a:off x="13462000" y="2222500"/>
            <a:ext cx="4254500" cy="707886"/>
          </a:xfrm>
          <a:prstGeom prst="rect">
            <a:avLst/>
          </a:prstGeom>
          <a:noFill/>
        </p:spPr>
        <p:txBody>
          <a:bodyPr vert="horz" wrap="square" lIns="0" tIns="0" rIns="0" bIns="0" rtlCol="0">
            <a:spAutoFit/>
          </a:bodyPr>
          <a:lstStyle/>
          <a:p>
            <a:r>
              <a:rPr lang="en-US" sz="2300">
                <a:solidFill>
                  <a:srgbClr val="122D46"/>
                </a:solidFill>
                <a:latin typeface="Aptos" panose="020B0004020202020204" pitchFamily="34" charset="0"/>
              </a:rPr>
              <a:t>Select step 06 in the left-hand flow.</a:t>
            </a:r>
          </a:p>
        </p:txBody>
      </p:sp>
      <p:sp>
        <p:nvSpPr>
          <p:cNvPr id="10" name="TextBox 9">
            <a:extLst>
              <a:ext uri="{FF2B5EF4-FFF2-40B4-BE49-F238E27FC236}">
                <a16:creationId xmlns:a16="http://schemas.microsoft.com/office/drawing/2014/main" id="{F5D48216-1246-1BDF-3287-F7803C54330B}"/>
              </a:ext>
            </a:extLst>
          </p:cNvPr>
          <p:cNvSpPr txBox="1"/>
          <p:nvPr/>
        </p:nvSpPr>
        <p:spPr>
          <a:xfrm>
            <a:off x="13462000" y="3556000"/>
            <a:ext cx="4254500" cy="261610"/>
          </a:xfrm>
          <a:prstGeom prst="rect">
            <a:avLst/>
          </a:prstGeom>
          <a:noFill/>
        </p:spPr>
        <p:txBody>
          <a:bodyPr vert="horz" wrap="square" lIns="0" tIns="0" rIns="0" bIns="0" rtlCol="0">
            <a:spAutoFit/>
          </a:bodyPr>
          <a:lstStyle/>
          <a:p>
            <a:r>
              <a:rPr lang="en-US" sz="1700" b="1">
                <a:solidFill>
                  <a:srgbClr val="007F85"/>
                </a:solidFill>
                <a:latin typeface="Aptos" panose="020B0004020202020204" pitchFamily="34" charset="0"/>
              </a:rPr>
              <a:t>WHAT YOU ARE SEEING</a:t>
            </a:r>
          </a:p>
        </p:txBody>
      </p:sp>
      <p:sp>
        <p:nvSpPr>
          <p:cNvPr id="11" name="TextBox 10">
            <a:extLst>
              <a:ext uri="{FF2B5EF4-FFF2-40B4-BE49-F238E27FC236}">
                <a16:creationId xmlns:a16="http://schemas.microsoft.com/office/drawing/2014/main" id="{F07A3765-F992-5123-6F14-D7E596C62E83}"/>
              </a:ext>
            </a:extLst>
          </p:cNvPr>
          <p:cNvSpPr txBox="1"/>
          <p:nvPr/>
        </p:nvSpPr>
        <p:spPr>
          <a:xfrm>
            <a:off x="13462000" y="4089400"/>
            <a:ext cx="4254500" cy="1354217"/>
          </a:xfrm>
          <a:prstGeom prst="rect">
            <a:avLst/>
          </a:prstGeom>
          <a:noFill/>
        </p:spPr>
        <p:txBody>
          <a:bodyPr vert="horz" wrap="square" lIns="0" tIns="0" rIns="0" bIns="0" rtlCol="0">
            <a:spAutoFit/>
          </a:bodyPr>
          <a:lstStyle/>
          <a:p>
            <a:r>
              <a:rPr lang="en-US" sz="2200">
                <a:solidFill>
                  <a:srgbClr val="122D46"/>
                </a:solidFill>
                <a:latin typeface="Aptos" panose="020B0004020202020204" pitchFamily="34" charset="0"/>
              </a:rPr>
              <a:t>A persisted internal approval, duplicate-safe operation key, audit timeline and explicitly Simulated handoff.</a:t>
            </a:r>
          </a:p>
        </p:txBody>
      </p:sp>
      <p:sp>
        <p:nvSpPr>
          <p:cNvPr id="12" name="TextBox 11">
            <a:extLst>
              <a:ext uri="{FF2B5EF4-FFF2-40B4-BE49-F238E27FC236}">
                <a16:creationId xmlns:a16="http://schemas.microsoft.com/office/drawing/2014/main" id="{C43A07F5-93EE-C28F-3982-65902AFE2210}"/>
              </a:ext>
            </a:extLst>
          </p:cNvPr>
          <p:cNvSpPr txBox="1"/>
          <p:nvPr/>
        </p:nvSpPr>
        <p:spPr>
          <a:xfrm>
            <a:off x="13462000" y="7239000"/>
            <a:ext cx="4254500" cy="261610"/>
          </a:xfrm>
          <a:prstGeom prst="rect">
            <a:avLst/>
          </a:prstGeom>
          <a:noFill/>
        </p:spPr>
        <p:txBody>
          <a:bodyPr vert="horz" wrap="square" lIns="0" tIns="0" rIns="0" bIns="0" rtlCol="0">
            <a:spAutoFit/>
          </a:bodyPr>
          <a:lstStyle/>
          <a:p>
            <a:r>
              <a:rPr lang="en-US" sz="1700" b="1">
                <a:solidFill>
                  <a:srgbClr val="007F85"/>
                </a:solidFill>
                <a:latin typeface="Aptos" panose="020B0004020202020204" pitchFamily="34" charset="0"/>
              </a:rPr>
              <a:t>BUSINESS VALUE</a:t>
            </a:r>
          </a:p>
        </p:txBody>
      </p:sp>
      <p:sp>
        <p:nvSpPr>
          <p:cNvPr id="13" name="TextBox 12">
            <a:extLst>
              <a:ext uri="{FF2B5EF4-FFF2-40B4-BE49-F238E27FC236}">
                <a16:creationId xmlns:a16="http://schemas.microsoft.com/office/drawing/2014/main" id="{F156CFC0-B674-C511-3B31-B820AC7F384D}"/>
              </a:ext>
            </a:extLst>
          </p:cNvPr>
          <p:cNvSpPr txBox="1"/>
          <p:nvPr/>
        </p:nvSpPr>
        <p:spPr>
          <a:xfrm>
            <a:off x="13462000" y="7772400"/>
            <a:ext cx="4254500" cy="969496"/>
          </a:xfrm>
          <a:prstGeom prst="rect">
            <a:avLst/>
          </a:prstGeom>
          <a:noFill/>
        </p:spPr>
        <p:txBody>
          <a:bodyPr vert="horz" wrap="square" lIns="0" tIns="0" rIns="0" bIns="0" rtlCol="0">
            <a:spAutoFit/>
          </a:bodyPr>
          <a:lstStyle/>
          <a:p>
            <a:r>
              <a:rPr lang="en-US" sz="2100">
                <a:solidFill>
                  <a:srgbClr val="516478"/>
                </a:solidFill>
                <a:latin typeface="Aptos" panose="020B0004020202020204" pitchFamily="34" charset="0"/>
              </a:rPr>
              <a:t>Traceable handoff without silently executing a consequential business action.</a:t>
            </a:r>
          </a:p>
        </p:txBody>
      </p:sp>
      <p:sp>
        <p:nvSpPr>
          <p:cNvPr id="14" name="TextBox 13">
            <a:hlinkClick r:id="rId4" action="ppaction://hlinksldjump"/>
            <a:extLst>
              <a:ext uri="{FF2B5EF4-FFF2-40B4-BE49-F238E27FC236}">
                <a16:creationId xmlns:a16="http://schemas.microsoft.com/office/drawing/2014/main" id="{56953139-AF9C-DD52-190E-CF6B5CE3C16E}"/>
              </a:ext>
            </a:extLst>
          </p:cNvPr>
          <p:cNvSpPr txBox="1"/>
          <p:nvPr/>
        </p:nvSpPr>
        <p:spPr>
          <a:xfrm>
            <a:off x="14859000" y="9906000"/>
            <a:ext cx="914400" cy="200055"/>
          </a:xfrm>
          <a:prstGeom prst="rect">
            <a:avLst/>
          </a:prstGeom>
          <a:noFill/>
        </p:spPr>
        <p:txBody>
          <a:bodyPr vert="horz" wrap="square" lIns="0" tIns="0" rIns="0" bIns="0" rtlCol="0">
            <a:spAutoFit/>
          </a:bodyPr>
          <a:lstStyle/>
          <a:p>
            <a:r>
              <a:rPr lang="en-US" sz="1300" b="1">
                <a:solidFill>
                  <a:srgbClr val="007F85"/>
                </a:solidFill>
                <a:latin typeface="Aptos" panose="020B0004020202020204" pitchFamily="34" charset="0"/>
              </a:rPr>
              <a:t>PREV</a:t>
            </a:r>
          </a:p>
        </p:txBody>
      </p:sp>
      <p:sp>
        <p:nvSpPr>
          <p:cNvPr id="15" name="TextBox 14">
            <a:hlinkClick r:id="rId5" action="ppaction://hlinksldjump"/>
            <a:extLst>
              <a:ext uri="{FF2B5EF4-FFF2-40B4-BE49-F238E27FC236}">
                <a16:creationId xmlns:a16="http://schemas.microsoft.com/office/drawing/2014/main" id="{15CD7DE2-E5B7-CAA1-F268-A7581EDC5F6F}"/>
              </a:ext>
            </a:extLst>
          </p:cNvPr>
          <p:cNvSpPr txBox="1"/>
          <p:nvPr/>
        </p:nvSpPr>
        <p:spPr>
          <a:xfrm>
            <a:off x="15875000" y="9906000"/>
            <a:ext cx="914400" cy="200055"/>
          </a:xfrm>
          <a:prstGeom prst="rect">
            <a:avLst/>
          </a:prstGeom>
          <a:noFill/>
        </p:spPr>
        <p:txBody>
          <a:bodyPr vert="horz" wrap="square" lIns="0" tIns="0" rIns="0" bIns="0" rtlCol="0">
            <a:spAutoFit/>
          </a:bodyPr>
          <a:lstStyle/>
          <a:p>
            <a:r>
              <a:rPr lang="en-US" sz="1300" b="1">
                <a:solidFill>
                  <a:srgbClr val="007F85"/>
                </a:solidFill>
                <a:latin typeface="Aptos" panose="020B0004020202020204" pitchFamily="34" charset="0"/>
              </a:rPr>
              <a:t>MENU</a:t>
            </a:r>
          </a:p>
        </p:txBody>
      </p:sp>
      <p:sp>
        <p:nvSpPr>
          <p:cNvPr id="16" name="TextBox 15">
            <a:hlinkClick r:id="rId6" action="ppaction://hlinksldjump"/>
            <a:extLst>
              <a:ext uri="{FF2B5EF4-FFF2-40B4-BE49-F238E27FC236}">
                <a16:creationId xmlns:a16="http://schemas.microsoft.com/office/drawing/2014/main" id="{825C675E-0169-8277-3838-836455B1BC05}"/>
              </a:ext>
            </a:extLst>
          </p:cNvPr>
          <p:cNvSpPr txBox="1"/>
          <p:nvPr/>
        </p:nvSpPr>
        <p:spPr>
          <a:xfrm>
            <a:off x="16891000" y="9906000"/>
            <a:ext cx="914400" cy="200055"/>
          </a:xfrm>
          <a:prstGeom prst="rect">
            <a:avLst/>
          </a:prstGeom>
          <a:noFill/>
        </p:spPr>
        <p:txBody>
          <a:bodyPr vert="horz" wrap="square" lIns="0" tIns="0" rIns="0" bIns="0" rtlCol="0">
            <a:spAutoFit/>
          </a:bodyPr>
          <a:lstStyle/>
          <a:p>
            <a:r>
              <a:rPr lang="en-US" sz="1300" b="1">
                <a:solidFill>
                  <a:srgbClr val="007F85"/>
                </a:solidFill>
                <a:latin typeface="Aptos" panose="020B0004020202020204" pitchFamily="34" charset="0"/>
              </a:rPr>
              <a:t>NEXT</a:t>
            </a:r>
          </a:p>
        </p:txBody>
      </p:sp>
    </p:spTree>
    <p:extLst>
      <p:ext uri="{BB962C8B-B14F-4D97-AF65-F5344CB8AC3E}">
        <p14:creationId xmlns:p14="http://schemas.microsoft.com/office/powerpoint/2010/main" val="410903275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4F7FB"/>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87EFC23-5851-7034-549A-7E4DF530D398}"/>
              </a:ext>
            </a:extLst>
          </p:cNvPr>
          <p:cNvSpPr txBox="1"/>
          <p:nvPr/>
        </p:nvSpPr>
        <p:spPr>
          <a:xfrm>
            <a:off x="406400" y="279400"/>
            <a:ext cx="16891000" cy="200055"/>
          </a:xfrm>
          <a:prstGeom prst="rect">
            <a:avLst/>
          </a:prstGeom>
          <a:noFill/>
        </p:spPr>
        <p:txBody>
          <a:bodyPr vert="horz" wrap="square" lIns="0" tIns="0" rIns="0" bIns="0" rtlCol="0">
            <a:spAutoFit/>
          </a:bodyPr>
          <a:lstStyle/>
          <a:p>
            <a:r>
              <a:rPr lang="en-US" sz="1300" b="1">
                <a:solidFill>
                  <a:srgbClr val="007F85"/>
                </a:solidFill>
                <a:latin typeface="Aptos" panose="020B0004020202020204" pitchFamily="34" charset="0"/>
              </a:rPr>
              <a:t>09 / DEMO HANDOFF</a:t>
            </a:r>
          </a:p>
        </p:txBody>
      </p:sp>
      <p:sp>
        <p:nvSpPr>
          <p:cNvPr id="3" name="TextBox 2">
            <a:extLst>
              <a:ext uri="{FF2B5EF4-FFF2-40B4-BE49-F238E27FC236}">
                <a16:creationId xmlns:a16="http://schemas.microsoft.com/office/drawing/2014/main" id="{EBC074B0-E472-7E9F-DABA-C5748F53A1C9}"/>
              </a:ext>
            </a:extLst>
          </p:cNvPr>
          <p:cNvSpPr txBox="1"/>
          <p:nvPr/>
        </p:nvSpPr>
        <p:spPr>
          <a:xfrm>
            <a:off x="406400" y="698500"/>
            <a:ext cx="17272000" cy="461665"/>
          </a:xfrm>
          <a:prstGeom prst="rect">
            <a:avLst/>
          </a:prstGeom>
          <a:noFill/>
        </p:spPr>
        <p:txBody>
          <a:bodyPr vert="horz" wrap="square" lIns="0" tIns="0" rIns="0" bIns="0" rtlCol="0">
            <a:spAutoFit/>
          </a:bodyPr>
          <a:lstStyle/>
          <a:p>
            <a:r>
              <a:rPr lang="en-US" sz="3000" b="1">
                <a:solidFill>
                  <a:srgbClr val="122D46"/>
                </a:solidFill>
                <a:latin typeface="Aptos" panose="020B0004020202020204" pitchFamily="34" charset="0"/>
              </a:rPr>
              <a:t>Verified outcome and honest operating limits</a:t>
            </a:r>
          </a:p>
        </p:txBody>
      </p:sp>
      <p:sp>
        <p:nvSpPr>
          <p:cNvPr id="4" name="TextBox 3">
            <a:extLst>
              <a:ext uri="{FF2B5EF4-FFF2-40B4-BE49-F238E27FC236}">
                <a16:creationId xmlns:a16="http://schemas.microsoft.com/office/drawing/2014/main" id="{EBEB151A-7040-AF5E-D847-240980FCDC93}"/>
              </a:ext>
            </a:extLst>
          </p:cNvPr>
          <p:cNvSpPr txBox="1"/>
          <p:nvPr/>
        </p:nvSpPr>
        <p:spPr>
          <a:xfrm>
            <a:off x="406400" y="9906000"/>
            <a:ext cx="14605000" cy="184666"/>
          </a:xfrm>
          <a:prstGeom prst="rect">
            <a:avLst/>
          </a:prstGeom>
          <a:noFill/>
        </p:spPr>
        <p:txBody>
          <a:bodyPr vert="horz" wrap="square" lIns="0" tIns="0" rIns="0" bIns="0" rtlCol="0">
            <a:spAutoFit/>
          </a:bodyPr>
          <a:lstStyle/>
          <a:p>
            <a:r>
              <a:rPr lang="en-US" sz="1200">
                <a:solidFill>
                  <a:srgbClr val="516478"/>
                </a:solidFill>
                <a:latin typeface="Aptos" panose="020B0004020202020204" pitchFamily="34" charset="0"/>
              </a:rPr>
              <a:t>Synthetic demonstration | Captured replay, not a live slide | Human decisions remain explicit</a:t>
            </a:r>
          </a:p>
        </p:txBody>
      </p:sp>
      <p:sp>
        <p:nvSpPr>
          <p:cNvPr id="5" name="TextBox 4">
            <a:extLst>
              <a:ext uri="{FF2B5EF4-FFF2-40B4-BE49-F238E27FC236}">
                <a16:creationId xmlns:a16="http://schemas.microsoft.com/office/drawing/2014/main" id="{95245378-737C-CA7D-4FD9-5FD3442EA60E}"/>
              </a:ext>
            </a:extLst>
          </p:cNvPr>
          <p:cNvSpPr txBox="1"/>
          <p:nvPr/>
        </p:nvSpPr>
        <p:spPr>
          <a:xfrm>
            <a:off x="635000" y="1968500"/>
            <a:ext cx="10287000" cy="2077492"/>
          </a:xfrm>
          <a:prstGeom prst="rect">
            <a:avLst/>
          </a:prstGeom>
          <a:noFill/>
        </p:spPr>
        <p:txBody>
          <a:bodyPr vert="horz" wrap="square" lIns="0" tIns="0" rIns="0" bIns="0" rtlCol="0">
            <a:spAutoFit/>
          </a:bodyPr>
          <a:lstStyle/>
          <a:p>
            <a:r>
              <a:rPr lang="en-US" sz="2700">
                <a:solidFill>
                  <a:srgbClr val="122D46"/>
                </a:solidFill>
                <a:latin typeface="Aptos" panose="020B0004020202020204" pitchFamily="34" charset="0"/>
              </a:rPr>
              <a:t>LIVE EVIDENCE
14 recorded service requests
6353 input / 1227 output tokens
0 extracted document pages
SQL approval + duplicate, owner, stale-input and expiry guards</a:t>
            </a:r>
          </a:p>
        </p:txBody>
      </p:sp>
      <p:sp>
        <p:nvSpPr>
          <p:cNvPr id="6" name="TextBox 5">
            <a:extLst>
              <a:ext uri="{FF2B5EF4-FFF2-40B4-BE49-F238E27FC236}">
                <a16:creationId xmlns:a16="http://schemas.microsoft.com/office/drawing/2014/main" id="{8B59E8CA-C7AC-7FDD-1F52-425486B6AECB}"/>
              </a:ext>
            </a:extLst>
          </p:cNvPr>
          <p:cNvSpPr txBox="1"/>
          <p:nvPr/>
        </p:nvSpPr>
        <p:spPr>
          <a:xfrm>
            <a:off x="12065000" y="1968500"/>
            <a:ext cx="5397500" cy="1600438"/>
          </a:xfrm>
          <a:prstGeom prst="rect">
            <a:avLst/>
          </a:prstGeom>
          <a:noFill/>
        </p:spPr>
        <p:txBody>
          <a:bodyPr vert="horz" wrap="square" lIns="0" tIns="0" rIns="0" bIns="0" rtlCol="0">
            <a:spAutoFit/>
          </a:bodyPr>
          <a:lstStyle/>
          <a:p>
            <a:r>
              <a:rPr lang="en-US" sz="2600" b="1">
                <a:solidFill>
                  <a:srgbClr val="007F85"/>
                </a:solidFill>
                <a:latin typeface="Aptos" panose="020B0004020202020204" pitchFamily="34" charset="0"/>
              </a:rPr>
              <a:t>VISIBLE DEMO OUTCOME
InternalBriefOnly
Notification sink: Simulated
External notifications: 0</a:t>
            </a:r>
          </a:p>
        </p:txBody>
      </p:sp>
      <p:sp>
        <p:nvSpPr>
          <p:cNvPr id="7" name="TextBox 6">
            <a:extLst>
              <a:ext uri="{FF2B5EF4-FFF2-40B4-BE49-F238E27FC236}">
                <a16:creationId xmlns:a16="http://schemas.microsoft.com/office/drawing/2014/main" id="{5E9017C4-AF27-8E54-FD4B-1F27AEE5D4B3}"/>
              </a:ext>
            </a:extLst>
          </p:cNvPr>
          <p:cNvSpPr txBox="1"/>
          <p:nvPr/>
        </p:nvSpPr>
        <p:spPr>
          <a:xfrm>
            <a:off x="635000" y="5905500"/>
            <a:ext cx="16764000" cy="2031325"/>
          </a:xfrm>
          <a:prstGeom prst="rect">
            <a:avLst/>
          </a:prstGeom>
          <a:noFill/>
        </p:spPr>
        <p:txBody>
          <a:bodyPr vert="horz" wrap="square" lIns="0" tIns="0" rIns="0" bIns="0" rtlCol="0">
            <a:spAutoFit/>
          </a:bodyPr>
          <a:lstStyle/>
          <a:p>
            <a:r>
              <a:rPr lang="en-US" sz="2200">
                <a:solidFill>
                  <a:srgbClr val="516478"/>
                </a:solidFill>
                <a:latin typeface="Aptos" panose="020B0004020202020204" pitchFamily="34" charset="0"/>
              </a:rPr>
              <a:t>Synthetic single-operator desktop demonstration, not production public intake.
No malware-scanned arbitrary upload pipeline; only curated local fixtures.
No hosted API, unattended durable worker or external operational connector.
No measured business-time baseline or current-price cost estimate.
Search is filtered keyword retrieval, not hybrid/vector retrieval.
Screenshots are replay of these saved live results; slide advance never calls Azure.</a:t>
            </a:r>
          </a:p>
        </p:txBody>
      </p:sp>
      <p:sp>
        <p:nvSpPr>
          <p:cNvPr id="8" name="TextBox 7">
            <a:hlinkClick r:id="rId3" action="ppaction://hlinksldjump"/>
            <a:extLst>
              <a:ext uri="{FF2B5EF4-FFF2-40B4-BE49-F238E27FC236}">
                <a16:creationId xmlns:a16="http://schemas.microsoft.com/office/drawing/2014/main" id="{0BEE542B-A327-0B2B-5C66-440C0FD0443B}"/>
              </a:ext>
            </a:extLst>
          </p:cNvPr>
          <p:cNvSpPr txBox="1"/>
          <p:nvPr/>
        </p:nvSpPr>
        <p:spPr>
          <a:xfrm>
            <a:off x="14859000" y="9906000"/>
            <a:ext cx="914400" cy="200055"/>
          </a:xfrm>
          <a:prstGeom prst="rect">
            <a:avLst/>
          </a:prstGeom>
          <a:noFill/>
        </p:spPr>
        <p:txBody>
          <a:bodyPr vert="horz" wrap="square" lIns="0" tIns="0" rIns="0" bIns="0" rtlCol="0">
            <a:spAutoFit/>
          </a:bodyPr>
          <a:lstStyle/>
          <a:p>
            <a:r>
              <a:rPr lang="en-US" sz="1300" b="1">
                <a:solidFill>
                  <a:srgbClr val="007F85"/>
                </a:solidFill>
                <a:latin typeface="Aptos" panose="020B0004020202020204" pitchFamily="34" charset="0"/>
              </a:rPr>
              <a:t>PREV</a:t>
            </a:r>
          </a:p>
        </p:txBody>
      </p:sp>
      <p:sp>
        <p:nvSpPr>
          <p:cNvPr id="9" name="TextBox 8">
            <a:hlinkClick r:id="rId4" action="ppaction://hlinksldjump"/>
            <a:extLst>
              <a:ext uri="{FF2B5EF4-FFF2-40B4-BE49-F238E27FC236}">
                <a16:creationId xmlns:a16="http://schemas.microsoft.com/office/drawing/2014/main" id="{C465EF12-A5B9-A65E-5143-8FC3FE0AF269}"/>
              </a:ext>
            </a:extLst>
          </p:cNvPr>
          <p:cNvSpPr txBox="1"/>
          <p:nvPr/>
        </p:nvSpPr>
        <p:spPr>
          <a:xfrm>
            <a:off x="15875000" y="9906000"/>
            <a:ext cx="914400" cy="200055"/>
          </a:xfrm>
          <a:prstGeom prst="rect">
            <a:avLst/>
          </a:prstGeom>
          <a:noFill/>
        </p:spPr>
        <p:txBody>
          <a:bodyPr vert="horz" wrap="square" lIns="0" tIns="0" rIns="0" bIns="0" rtlCol="0">
            <a:spAutoFit/>
          </a:bodyPr>
          <a:lstStyle/>
          <a:p>
            <a:r>
              <a:rPr lang="en-US" sz="1300" b="1">
                <a:solidFill>
                  <a:srgbClr val="007F85"/>
                </a:solidFill>
                <a:latin typeface="Aptos" panose="020B0004020202020204" pitchFamily="34" charset="0"/>
              </a:rPr>
              <a:t>MENU</a:t>
            </a:r>
          </a:p>
        </p:txBody>
      </p:sp>
      <p:sp>
        <p:nvSpPr>
          <p:cNvPr id="10" name="TextBox 9">
            <a:hlinkClick r:id="rId5" action="ppaction://hlinksldjump"/>
            <a:extLst>
              <a:ext uri="{FF2B5EF4-FFF2-40B4-BE49-F238E27FC236}">
                <a16:creationId xmlns:a16="http://schemas.microsoft.com/office/drawing/2014/main" id="{28CF2319-9F49-BDF6-1FD4-76BEBA14AF00}"/>
              </a:ext>
            </a:extLst>
          </p:cNvPr>
          <p:cNvSpPr txBox="1"/>
          <p:nvPr/>
        </p:nvSpPr>
        <p:spPr>
          <a:xfrm>
            <a:off x="16891000" y="9906000"/>
            <a:ext cx="914400" cy="200055"/>
          </a:xfrm>
          <a:prstGeom prst="rect">
            <a:avLst/>
          </a:prstGeom>
          <a:noFill/>
        </p:spPr>
        <p:txBody>
          <a:bodyPr vert="horz" wrap="square" lIns="0" tIns="0" rIns="0" bIns="0" rtlCol="0">
            <a:spAutoFit/>
          </a:bodyPr>
          <a:lstStyle/>
          <a:p>
            <a:r>
              <a:rPr lang="en-US" sz="1300" b="1">
                <a:solidFill>
                  <a:srgbClr val="007F85"/>
                </a:solidFill>
                <a:latin typeface="Aptos" panose="020B0004020202020204" pitchFamily="34" charset="0"/>
              </a:rPr>
              <a:t>NEXT</a:t>
            </a:r>
          </a:p>
        </p:txBody>
      </p:sp>
    </p:spTree>
    <p:extLst>
      <p:ext uri="{BB962C8B-B14F-4D97-AF65-F5344CB8AC3E}">
        <p14:creationId xmlns:p14="http://schemas.microsoft.com/office/powerpoint/2010/main" val="349644990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2743</Words>
  <Application>Microsoft Office PowerPoint</Application>
  <PresentationFormat>Custom</PresentationFormat>
  <Paragraphs>172</Paragraphs>
  <Slides>9</Slides>
  <Notes>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Aptos</vt:lpstr>
      <vt:lpstr>Aptos Display</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MOD Administrator</dc:creator>
  <cp:lastModifiedBy>MOD Administrator</cp:lastModifiedBy>
  <cp:revision>1</cp:revision>
  <dcterms:created xsi:type="dcterms:W3CDTF">2026-10-28T15:37:36Z</dcterms:created>
  <dcterms:modified xsi:type="dcterms:W3CDTF">2026-10-28T15:37:36Z</dcterms:modified>
</cp:coreProperties>
</file>